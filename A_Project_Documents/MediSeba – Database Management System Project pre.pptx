
<file path=[Content_Types].xml><?xml version="1.0" encoding="utf-8"?>
<Types xmlns="http://schemas.openxmlformats.org/package/2006/content-types">
  <Default Extension="fntdata" ContentType="application/x-fontdata"/>
  <Default Extension="jpeg" ContentType="image/jpeg"/>
  <Default Extension="jpg" ContentType="image/jp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image2.jpg" ContentType="image/jpeg"/>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embeddedFontLst>
    <p:embeddedFont>
      <p:font typeface="Calibri" panose="020F0502020204030204" pitchFamily="34" charset="0"/>
      <p:regular r:id="rId14"/>
      <p:bold r:id="rId15"/>
      <p:italic r:id="rId16"/>
      <p:boldItalic r:id="rId17"/>
    </p:embeddedFont>
    <p:embeddedFont>
      <p:font typeface="Liter" panose="020B0604020202020204" charset="0"/>
      <p:regular r:id="rId18"/>
    </p:embeddedFont>
    <p:embeddedFont>
      <p:font typeface="Quattrocento Sans"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3" d="100"/>
          <a:sy n="113" d="100"/>
        </p:scale>
        <p:origin x="47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mon Hossain" userId="ae39ba0e2810d04a" providerId="LiveId" clId="{32C216DB-F097-449E-84EE-436832C1EE7F}"/>
    <pc:docChg chg="undo custSel modSld">
      <pc:chgData name="Emon Hossain" userId="ae39ba0e2810d04a" providerId="LiveId" clId="{32C216DB-F097-449E-84EE-436832C1EE7F}" dt="2026-03-14T22:43:09.094" v="22" actId="1076"/>
      <pc:docMkLst>
        <pc:docMk/>
      </pc:docMkLst>
      <pc:sldChg chg="modSp mod">
        <pc:chgData name="Emon Hossain" userId="ae39ba0e2810d04a" providerId="LiveId" clId="{32C216DB-F097-449E-84EE-436832C1EE7F}" dt="2026-03-14T20:11:53.030" v="5" actId="2711"/>
        <pc:sldMkLst>
          <pc:docMk/>
          <pc:sldMk cId="0" sldId="256"/>
        </pc:sldMkLst>
        <pc:spChg chg="mod">
          <ac:chgData name="Emon Hossain" userId="ae39ba0e2810d04a" providerId="LiveId" clId="{32C216DB-F097-449E-84EE-436832C1EE7F}" dt="2026-03-14T20:11:00.396" v="3" actId="2711"/>
          <ac:spMkLst>
            <pc:docMk/>
            <pc:sldMk cId="0" sldId="256"/>
            <ac:spMk id="3" creationId="{00000000-0000-0000-0000-000000000000}"/>
          </ac:spMkLst>
        </pc:spChg>
        <pc:spChg chg="mod">
          <ac:chgData name="Emon Hossain" userId="ae39ba0e2810d04a" providerId="LiveId" clId="{32C216DB-F097-449E-84EE-436832C1EE7F}" dt="2026-03-14T20:11:12.967" v="4" actId="2711"/>
          <ac:spMkLst>
            <pc:docMk/>
            <pc:sldMk cId="0" sldId="256"/>
            <ac:spMk id="12" creationId="{00000000-0000-0000-0000-000000000000}"/>
          </ac:spMkLst>
        </pc:spChg>
        <pc:spChg chg="mod">
          <ac:chgData name="Emon Hossain" userId="ae39ba0e2810d04a" providerId="LiveId" clId="{32C216DB-F097-449E-84EE-436832C1EE7F}" dt="2026-03-14T20:11:53.030" v="5" actId="2711"/>
          <ac:spMkLst>
            <pc:docMk/>
            <pc:sldMk cId="0" sldId="256"/>
            <ac:spMk id="13" creationId="{00000000-0000-0000-0000-000000000000}"/>
          </ac:spMkLst>
        </pc:spChg>
      </pc:sldChg>
      <pc:sldChg chg="addSp delSp modSp mod">
        <pc:chgData name="Emon Hossain" userId="ae39ba0e2810d04a" providerId="LiveId" clId="{32C216DB-F097-449E-84EE-436832C1EE7F}" dt="2026-03-14T20:24:24.232" v="21" actId="1076"/>
        <pc:sldMkLst>
          <pc:docMk/>
          <pc:sldMk cId="0" sldId="263"/>
        </pc:sldMkLst>
        <pc:spChg chg="mod">
          <ac:chgData name="Emon Hossain" userId="ae39ba0e2810d04a" providerId="LiveId" clId="{32C216DB-F097-449E-84EE-436832C1EE7F}" dt="2026-03-14T20:17:54.522" v="17" actId="20577"/>
          <ac:spMkLst>
            <pc:docMk/>
            <pc:sldMk cId="0" sldId="263"/>
            <ac:spMk id="2" creationId="{00000000-0000-0000-0000-000000000000}"/>
          </ac:spMkLst>
        </pc:spChg>
        <pc:spChg chg="mod">
          <ac:chgData name="Emon Hossain" userId="ae39ba0e2810d04a" providerId="LiveId" clId="{32C216DB-F097-449E-84EE-436832C1EE7F}" dt="2026-03-14T20:17:47.775" v="16" actId="20577"/>
          <ac:spMkLst>
            <pc:docMk/>
            <pc:sldMk cId="0" sldId="263"/>
            <ac:spMk id="3" creationId="{00000000-0000-0000-0000-000000000000}"/>
          </ac:spMkLst>
        </pc:spChg>
        <pc:spChg chg="del">
          <ac:chgData name="Emon Hossain" userId="ae39ba0e2810d04a" providerId="LiveId" clId="{32C216DB-F097-449E-84EE-436832C1EE7F}" dt="2026-03-14T20:17:38.935" v="15" actId="478"/>
          <ac:spMkLst>
            <pc:docMk/>
            <pc:sldMk cId="0" sldId="263"/>
            <ac:spMk id="4" creationId="{00000000-0000-0000-0000-000000000000}"/>
          </ac:spMkLst>
        </pc:spChg>
        <pc:spChg chg="del">
          <ac:chgData name="Emon Hossain" userId="ae39ba0e2810d04a" providerId="LiveId" clId="{32C216DB-F097-449E-84EE-436832C1EE7F}" dt="2026-03-14T20:17:03.343" v="7" actId="478"/>
          <ac:spMkLst>
            <pc:docMk/>
            <pc:sldMk cId="0" sldId="263"/>
            <ac:spMk id="5" creationId="{00000000-0000-0000-0000-000000000000}"/>
          </ac:spMkLst>
        </pc:spChg>
        <pc:spChg chg="del">
          <ac:chgData name="Emon Hossain" userId="ae39ba0e2810d04a" providerId="LiveId" clId="{32C216DB-F097-449E-84EE-436832C1EE7F}" dt="2026-03-14T20:17:15.161" v="8" actId="478"/>
          <ac:spMkLst>
            <pc:docMk/>
            <pc:sldMk cId="0" sldId="263"/>
            <ac:spMk id="6" creationId="{00000000-0000-0000-0000-000000000000}"/>
          </ac:spMkLst>
        </pc:spChg>
        <pc:spChg chg="del">
          <ac:chgData name="Emon Hossain" userId="ae39ba0e2810d04a" providerId="LiveId" clId="{32C216DB-F097-449E-84EE-436832C1EE7F}" dt="2026-03-14T20:17:15.161" v="8" actId="478"/>
          <ac:spMkLst>
            <pc:docMk/>
            <pc:sldMk cId="0" sldId="263"/>
            <ac:spMk id="7" creationId="{00000000-0000-0000-0000-000000000000}"/>
          </ac:spMkLst>
        </pc:spChg>
        <pc:spChg chg="del">
          <ac:chgData name="Emon Hossain" userId="ae39ba0e2810d04a" providerId="LiveId" clId="{32C216DB-F097-449E-84EE-436832C1EE7F}" dt="2026-03-14T20:17:15.161" v="8" actId="478"/>
          <ac:spMkLst>
            <pc:docMk/>
            <pc:sldMk cId="0" sldId="263"/>
            <ac:spMk id="8" creationId="{00000000-0000-0000-0000-000000000000}"/>
          </ac:spMkLst>
        </pc:spChg>
        <pc:spChg chg="del">
          <ac:chgData name="Emon Hossain" userId="ae39ba0e2810d04a" providerId="LiveId" clId="{32C216DB-F097-449E-84EE-436832C1EE7F}" dt="2026-03-14T20:17:15.161" v="8" actId="478"/>
          <ac:spMkLst>
            <pc:docMk/>
            <pc:sldMk cId="0" sldId="263"/>
            <ac:spMk id="9" creationId="{00000000-0000-0000-0000-000000000000}"/>
          </ac:spMkLst>
        </pc:spChg>
        <pc:spChg chg="del">
          <ac:chgData name="Emon Hossain" userId="ae39ba0e2810d04a" providerId="LiveId" clId="{32C216DB-F097-449E-84EE-436832C1EE7F}" dt="2026-03-14T20:17:15.161" v="8" actId="478"/>
          <ac:spMkLst>
            <pc:docMk/>
            <pc:sldMk cId="0" sldId="263"/>
            <ac:spMk id="10" creationId="{00000000-0000-0000-0000-000000000000}"/>
          </ac:spMkLst>
        </pc:spChg>
        <pc:spChg chg="del">
          <ac:chgData name="Emon Hossain" userId="ae39ba0e2810d04a" providerId="LiveId" clId="{32C216DB-F097-449E-84EE-436832C1EE7F}" dt="2026-03-14T20:17:15.161" v="8" actId="478"/>
          <ac:spMkLst>
            <pc:docMk/>
            <pc:sldMk cId="0" sldId="263"/>
            <ac:spMk id="11" creationId="{00000000-0000-0000-0000-000000000000}"/>
          </ac:spMkLst>
        </pc:spChg>
        <pc:spChg chg="del">
          <ac:chgData name="Emon Hossain" userId="ae39ba0e2810d04a" providerId="LiveId" clId="{32C216DB-F097-449E-84EE-436832C1EE7F}" dt="2026-03-14T20:17:15.161" v="8" actId="478"/>
          <ac:spMkLst>
            <pc:docMk/>
            <pc:sldMk cId="0" sldId="263"/>
            <ac:spMk id="12" creationId="{00000000-0000-0000-0000-000000000000}"/>
          </ac:spMkLst>
        </pc:spChg>
        <pc:spChg chg="del">
          <ac:chgData name="Emon Hossain" userId="ae39ba0e2810d04a" providerId="LiveId" clId="{32C216DB-F097-449E-84EE-436832C1EE7F}" dt="2026-03-14T20:17:15.161" v="8" actId="478"/>
          <ac:spMkLst>
            <pc:docMk/>
            <pc:sldMk cId="0" sldId="263"/>
            <ac:spMk id="13" creationId="{00000000-0000-0000-0000-000000000000}"/>
          </ac:spMkLst>
        </pc:spChg>
        <pc:spChg chg="del">
          <ac:chgData name="Emon Hossain" userId="ae39ba0e2810d04a" providerId="LiveId" clId="{32C216DB-F097-449E-84EE-436832C1EE7F}" dt="2026-03-14T20:17:15.161" v="8" actId="478"/>
          <ac:spMkLst>
            <pc:docMk/>
            <pc:sldMk cId="0" sldId="263"/>
            <ac:spMk id="14" creationId="{00000000-0000-0000-0000-000000000000}"/>
          </ac:spMkLst>
        </pc:spChg>
        <pc:spChg chg="del">
          <ac:chgData name="Emon Hossain" userId="ae39ba0e2810d04a" providerId="LiveId" clId="{32C216DB-F097-449E-84EE-436832C1EE7F}" dt="2026-03-14T20:17:15.161" v="8" actId="478"/>
          <ac:spMkLst>
            <pc:docMk/>
            <pc:sldMk cId="0" sldId="263"/>
            <ac:spMk id="15" creationId="{00000000-0000-0000-0000-000000000000}"/>
          </ac:spMkLst>
        </pc:spChg>
        <pc:spChg chg="del">
          <ac:chgData name="Emon Hossain" userId="ae39ba0e2810d04a" providerId="LiveId" clId="{32C216DB-F097-449E-84EE-436832C1EE7F}" dt="2026-03-14T20:17:15.161" v="8" actId="478"/>
          <ac:spMkLst>
            <pc:docMk/>
            <pc:sldMk cId="0" sldId="263"/>
            <ac:spMk id="16" creationId="{00000000-0000-0000-0000-000000000000}"/>
          </ac:spMkLst>
        </pc:spChg>
        <pc:spChg chg="del">
          <ac:chgData name="Emon Hossain" userId="ae39ba0e2810d04a" providerId="LiveId" clId="{32C216DB-F097-449E-84EE-436832C1EE7F}" dt="2026-03-14T20:17:15.161" v="8" actId="478"/>
          <ac:spMkLst>
            <pc:docMk/>
            <pc:sldMk cId="0" sldId="263"/>
            <ac:spMk id="17" creationId="{00000000-0000-0000-0000-000000000000}"/>
          </ac:spMkLst>
        </pc:spChg>
        <pc:spChg chg="del">
          <ac:chgData name="Emon Hossain" userId="ae39ba0e2810d04a" providerId="LiveId" clId="{32C216DB-F097-449E-84EE-436832C1EE7F}" dt="2026-03-14T20:17:15.161" v="8" actId="478"/>
          <ac:spMkLst>
            <pc:docMk/>
            <pc:sldMk cId="0" sldId="263"/>
            <ac:spMk id="18" creationId="{00000000-0000-0000-0000-000000000000}"/>
          </ac:spMkLst>
        </pc:spChg>
        <pc:spChg chg="del">
          <ac:chgData name="Emon Hossain" userId="ae39ba0e2810d04a" providerId="LiveId" clId="{32C216DB-F097-449E-84EE-436832C1EE7F}" dt="2026-03-14T20:17:15.161" v="8" actId="478"/>
          <ac:spMkLst>
            <pc:docMk/>
            <pc:sldMk cId="0" sldId="263"/>
            <ac:spMk id="19" creationId="{00000000-0000-0000-0000-000000000000}"/>
          </ac:spMkLst>
        </pc:spChg>
        <pc:spChg chg="del">
          <ac:chgData name="Emon Hossain" userId="ae39ba0e2810d04a" providerId="LiveId" clId="{32C216DB-F097-449E-84EE-436832C1EE7F}" dt="2026-03-14T20:17:15.161" v="8" actId="478"/>
          <ac:spMkLst>
            <pc:docMk/>
            <pc:sldMk cId="0" sldId="263"/>
            <ac:spMk id="20" creationId="{00000000-0000-0000-0000-000000000000}"/>
          </ac:spMkLst>
        </pc:spChg>
        <pc:spChg chg="del">
          <ac:chgData name="Emon Hossain" userId="ae39ba0e2810d04a" providerId="LiveId" clId="{32C216DB-F097-449E-84EE-436832C1EE7F}" dt="2026-03-14T20:17:15.161" v="8" actId="478"/>
          <ac:spMkLst>
            <pc:docMk/>
            <pc:sldMk cId="0" sldId="263"/>
            <ac:spMk id="21" creationId="{00000000-0000-0000-0000-000000000000}"/>
          </ac:spMkLst>
        </pc:spChg>
        <pc:spChg chg="del">
          <ac:chgData name="Emon Hossain" userId="ae39ba0e2810d04a" providerId="LiveId" clId="{32C216DB-F097-449E-84EE-436832C1EE7F}" dt="2026-03-14T20:17:15.161" v="8" actId="478"/>
          <ac:spMkLst>
            <pc:docMk/>
            <pc:sldMk cId="0" sldId="263"/>
            <ac:spMk id="22" creationId="{00000000-0000-0000-0000-000000000000}"/>
          </ac:spMkLst>
        </pc:spChg>
        <pc:spChg chg="del">
          <ac:chgData name="Emon Hossain" userId="ae39ba0e2810d04a" providerId="LiveId" clId="{32C216DB-F097-449E-84EE-436832C1EE7F}" dt="2026-03-14T20:17:15.161" v="8" actId="478"/>
          <ac:spMkLst>
            <pc:docMk/>
            <pc:sldMk cId="0" sldId="263"/>
            <ac:spMk id="23" creationId="{00000000-0000-0000-0000-000000000000}"/>
          </ac:spMkLst>
        </pc:spChg>
        <pc:spChg chg="del">
          <ac:chgData name="Emon Hossain" userId="ae39ba0e2810d04a" providerId="LiveId" clId="{32C216DB-F097-449E-84EE-436832C1EE7F}" dt="2026-03-14T20:17:15.161" v="8" actId="478"/>
          <ac:spMkLst>
            <pc:docMk/>
            <pc:sldMk cId="0" sldId="263"/>
            <ac:spMk id="24" creationId="{00000000-0000-0000-0000-000000000000}"/>
          </ac:spMkLst>
        </pc:spChg>
        <pc:spChg chg="del">
          <ac:chgData name="Emon Hossain" userId="ae39ba0e2810d04a" providerId="LiveId" clId="{32C216DB-F097-449E-84EE-436832C1EE7F}" dt="2026-03-14T20:17:15.161" v="8" actId="478"/>
          <ac:spMkLst>
            <pc:docMk/>
            <pc:sldMk cId="0" sldId="263"/>
            <ac:spMk id="25" creationId="{00000000-0000-0000-0000-000000000000}"/>
          </ac:spMkLst>
        </pc:spChg>
        <pc:spChg chg="del">
          <ac:chgData name="Emon Hossain" userId="ae39ba0e2810d04a" providerId="LiveId" clId="{32C216DB-F097-449E-84EE-436832C1EE7F}" dt="2026-03-14T20:17:15.161" v="8" actId="478"/>
          <ac:spMkLst>
            <pc:docMk/>
            <pc:sldMk cId="0" sldId="263"/>
            <ac:spMk id="26" creationId="{00000000-0000-0000-0000-000000000000}"/>
          </ac:spMkLst>
        </pc:spChg>
        <pc:spChg chg="del">
          <ac:chgData name="Emon Hossain" userId="ae39ba0e2810d04a" providerId="LiveId" clId="{32C216DB-F097-449E-84EE-436832C1EE7F}" dt="2026-03-14T20:17:15.161" v="8" actId="478"/>
          <ac:spMkLst>
            <pc:docMk/>
            <pc:sldMk cId="0" sldId="263"/>
            <ac:spMk id="27" creationId="{00000000-0000-0000-0000-000000000000}"/>
          </ac:spMkLst>
        </pc:spChg>
        <pc:spChg chg="del">
          <ac:chgData name="Emon Hossain" userId="ae39ba0e2810d04a" providerId="LiveId" clId="{32C216DB-F097-449E-84EE-436832C1EE7F}" dt="2026-03-14T20:17:15.161" v="8" actId="478"/>
          <ac:spMkLst>
            <pc:docMk/>
            <pc:sldMk cId="0" sldId="263"/>
            <ac:spMk id="28" creationId="{00000000-0000-0000-0000-000000000000}"/>
          </ac:spMkLst>
        </pc:spChg>
        <pc:spChg chg="del">
          <ac:chgData name="Emon Hossain" userId="ae39ba0e2810d04a" providerId="LiveId" clId="{32C216DB-F097-449E-84EE-436832C1EE7F}" dt="2026-03-14T20:17:15.161" v="8" actId="478"/>
          <ac:spMkLst>
            <pc:docMk/>
            <pc:sldMk cId="0" sldId="263"/>
            <ac:spMk id="29" creationId="{00000000-0000-0000-0000-000000000000}"/>
          </ac:spMkLst>
        </pc:spChg>
        <pc:spChg chg="del">
          <ac:chgData name="Emon Hossain" userId="ae39ba0e2810d04a" providerId="LiveId" clId="{32C216DB-F097-449E-84EE-436832C1EE7F}" dt="2026-03-14T20:17:15.161" v="8" actId="478"/>
          <ac:spMkLst>
            <pc:docMk/>
            <pc:sldMk cId="0" sldId="263"/>
            <ac:spMk id="30" creationId="{00000000-0000-0000-0000-000000000000}"/>
          </ac:spMkLst>
        </pc:spChg>
        <pc:spChg chg="del">
          <ac:chgData name="Emon Hossain" userId="ae39ba0e2810d04a" providerId="LiveId" clId="{32C216DB-F097-449E-84EE-436832C1EE7F}" dt="2026-03-14T20:17:15.161" v="8" actId="478"/>
          <ac:spMkLst>
            <pc:docMk/>
            <pc:sldMk cId="0" sldId="263"/>
            <ac:spMk id="31" creationId="{00000000-0000-0000-0000-000000000000}"/>
          </ac:spMkLst>
        </pc:spChg>
        <pc:spChg chg="del">
          <ac:chgData name="Emon Hossain" userId="ae39ba0e2810d04a" providerId="LiveId" clId="{32C216DB-F097-449E-84EE-436832C1EE7F}" dt="2026-03-14T20:17:15.161" v="8" actId="478"/>
          <ac:spMkLst>
            <pc:docMk/>
            <pc:sldMk cId="0" sldId="263"/>
            <ac:spMk id="32" creationId="{00000000-0000-0000-0000-000000000000}"/>
          </ac:spMkLst>
        </pc:spChg>
        <pc:spChg chg="del">
          <ac:chgData name="Emon Hossain" userId="ae39ba0e2810d04a" providerId="LiveId" clId="{32C216DB-F097-449E-84EE-436832C1EE7F}" dt="2026-03-14T20:17:15.161" v="8" actId="478"/>
          <ac:spMkLst>
            <pc:docMk/>
            <pc:sldMk cId="0" sldId="263"/>
            <ac:spMk id="33" creationId="{00000000-0000-0000-0000-000000000000}"/>
          </ac:spMkLst>
        </pc:spChg>
        <pc:spChg chg="del">
          <ac:chgData name="Emon Hossain" userId="ae39ba0e2810d04a" providerId="LiveId" clId="{32C216DB-F097-449E-84EE-436832C1EE7F}" dt="2026-03-14T20:17:15.161" v="8" actId="478"/>
          <ac:spMkLst>
            <pc:docMk/>
            <pc:sldMk cId="0" sldId="263"/>
            <ac:spMk id="34" creationId="{00000000-0000-0000-0000-000000000000}"/>
          </ac:spMkLst>
        </pc:spChg>
        <pc:spChg chg="del">
          <ac:chgData name="Emon Hossain" userId="ae39ba0e2810d04a" providerId="LiveId" clId="{32C216DB-F097-449E-84EE-436832C1EE7F}" dt="2026-03-14T20:17:15.161" v="8" actId="478"/>
          <ac:spMkLst>
            <pc:docMk/>
            <pc:sldMk cId="0" sldId="263"/>
            <ac:spMk id="35" creationId="{00000000-0000-0000-0000-000000000000}"/>
          </ac:spMkLst>
        </pc:spChg>
        <pc:spChg chg="del">
          <ac:chgData name="Emon Hossain" userId="ae39ba0e2810d04a" providerId="LiveId" clId="{32C216DB-F097-449E-84EE-436832C1EE7F}" dt="2026-03-14T20:17:15.161" v="8" actId="478"/>
          <ac:spMkLst>
            <pc:docMk/>
            <pc:sldMk cId="0" sldId="263"/>
            <ac:spMk id="36" creationId="{00000000-0000-0000-0000-000000000000}"/>
          </ac:spMkLst>
        </pc:spChg>
        <pc:spChg chg="del">
          <ac:chgData name="Emon Hossain" userId="ae39ba0e2810d04a" providerId="LiveId" clId="{32C216DB-F097-449E-84EE-436832C1EE7F}" dt="2026-03-14T20:17:15.161" v="8" actId="478"/>
          <ac:spMkLst>
            <pc:docMk/>
            <pc:sldMk cId="0" sldId="263"/>
            <ac:spMk id="37" creationId="{00000000-0000-0000-0000-000000000000}"/>
          </ac:spMkLst>
        </pc:spChg>
        <pc:spChg chg="del">
          <ac:chgData name="Emon Hossain" userId="ae39ba0e2810d04a" providerId="LiveId" clId="{32C216DB-F097-449E-84EE-436832C1EE7F}" dt="2026-03-14T20:17:15.161" v="8" actId="478"/>
          <ac:spMkLst>
            <pc:docMk/>
            <pc:sldMk cId="0" sldId="263"/>
            <ac:spMk id="38" creationId="{00000000-0000-0000-0000-000000000000}"/>
          </ac:spMkLst>
        </pc:spChg>
        <pc:spChg chg="del">
          <ac:chgData name="Emon Hossain" userId="ae39ba0e2810d04a" providerId="LiveId" clId="{32C216DB-F097-449E-84EE-436832C1EE7F}" dt="2026-03-14T20:17:15.161" v="8" actId="478"/>
          <ac:spMkLst>
            <pc:docMk/>
            <pc:sldMk cId="0" sldId="263"/>
            <ac:spMk id="39" creationId="{00000000-0000-0000-0000-000000000000}"/>
          </ac:spMkLst>
        </pc:spChg>
        <pc:spChg chg="del">
          <ac:chgData name="Emon Hossain" userId="ae39ba0e2810d04a" providerId="LiveId" clId="{32C216DB-F097-449E-84EE-436832C1EE7F}" dt="2026-03-14T20:17:15.161" v="8" actId="478"/>
          <ac:spMkLst>
            <pc:docMk/>
            <pc:sldMk cId="0" sldId="263"/>
            <ac:spMk id="40" creationId="{00000000-0000-0000-0000-000000000000}"/>
          </ac:spMkLst>
        </pc:spChg>
        <pc:spChg chg="del">
          <ac:chgData name="Emon Hossain" userId="ae39ba0e2810d04a" providerId="LiveId" clId="{32C216DB-F097-449E-84EE-436832C1EE7F}" dt="2026-03-14T20:17:15.161" v="8" actId="478"/>
          <ac:spMkLst>
            <pc:docMk/>
            <pc:sldMk cId="0" sldId="263"/>
            <ac:spMk id="41" creationId="{00000000-0000-0000-0000-000000000000}"/>
          </ac:spMkLst>
        </pc:spChg>
        <pc:spChg chg="del">
          <ac:chgData name="Emon Hossain" userId="ae39ba0e2810d04a" providerId="LiveId" clId="{32C216DB-F097-449E-84EE-436832C1EE7F}" dt="2026-03-14T20:17:15.161" v="8" actId="478"/>
          <ac:spMkLst>
            <pc:docMk/>
            <pc:sldMk cId="0" sldId="263"/>
            <ac:spMk id="42" creationId="{00000000-0000-0000-0000-000000000000}"/>
          </ac:spMkLst>
        </pc:spChg>
        <pc:spChg chg="del">
          <ac:chgData name="Emon Hossain" userId="ae39ba0e2810d04a" providerId="LiveId" clId="{32C216DB-F097-449E-84EE-436832C1EE7F}" dt="2026-03-14T20:17:15.161" v="8" actId="478"/>
          <ac:spMkLst>
            <pc:docMk/>
            <pc:sldMk cId="0" sldId="263"/>
            <ac:spMk id="43" creationId="{00000000-0000-0000-0000-000000000000}"/>
          </ac:spMkLst>
        </pc:spChg>
        <pc:spChg chg="del">
          <ac:chgData name="Emon Hossain" userId="ae39ba0e2810d04a" providerId="LiveId" clId="{32C216DB-F097-449E-84EE-436832C1EE7F}" dt="2026-03-14T20:17:15.161" v="8" actId="478"/>
          <ac:spMkLst>
            <pc:docMk/>
            <pc:sldMk cId="0" sldId="263"/>
            <ac:spMk id="44" creationId="{00000000-0000-0000-0000-000000000000}"/>
          </ac:spMkLst>
        </pc:spChg>
        <pc:spChg chg="del">
          <ac:chgData name="Emon Hossain" userId="ae39ba0e2810d04a" providerId="LiveId" clId="{32C216DB-F097-449E-84EE-436832C1EE7F}" dt="2026-03-14T20:17:23.712" v="11" actId="478"/>
          <ac:spMkLst>
            <pc:docMk/>
            <pc:sldMk cId="0" sldId="263"/>
            <ac:spMk id="45" creationId="{00000000-0000-0000-0000-000000000000}"/>
          </ac:spMkLst>
        </pc:spChg>
        <pc:spChg chg="del">
          <ac:chgData name="Emon Hossain" userId="ae39ba0e2810d04a" providerId="LiveId" clId="{32C216DB-F097-449E-84EE-436832C1EE7F}" dt="2026-03-14T20:17:27.595" v="12" actId="478"/>
          <ac:spMkLst>
            <pc:docMk/>
            <pc:sldMk cId="0" sldId="263"/>
            <ac:spMk id="46" creationId="{00000000-0000-0000-0000-000000000000}"/>
          </ac:spMkLst>
        </pc:spChg>
        <pc:spChg chg="del">
          <ac:chgData name="Emon Hossain" userId="ae39ba0e2810d04a" providerId="LiveId" clId="{32C216DB-F097-449E-84EE-436832C1EE7F}" dt="2026-03-14T20:17:15.161" v="8" actId="478"/>
          <ac:spMkLst>
            <pc:docMk/>
            <pc:sldMk cId="0" sldId="263"/>
            <ac:spMk id="47" creationId="{00000000-0000-0000-0000-000000000000}"/>
          </ac:spMkLst>
        </pc:spChg>
        <pc:spChg chg="del">
          <ac:chgData name="Emon Hossain" userId="ae39ba0e2810d04a" providerId="LiveId" clId="{32C216DB-F097-449E-84EE-436832C1EE7F}" dt="2026-03-14T20:17:21.580" v="10" actId="478"/>
          <ac:spMkLst>
            <pc:docMk/>
            <pc:sldMk cId="0" sldId="263"/>
            <ac:spMk id="48" creationId="{00000000-0000-0000-0000-000000000000}"/>
          </ac:spMkLst>
        </pc:spChg>
        <pc:spChg chg="del">
          <ac:chgData name="Emon Hossain" userId="ae39ba0e2810d04a" providerId="LiveId" clId="{32C216DB-F097-449E-84EE-436832C1EE7F}" dt="2026-03-14T20:17:30.286" v="13" actId="478"/>
          <ac:spMkLst>
            <pc:docMk/>
            <pc:sldMk cId="0" sldId="263"/>
            <ac:spMk id="49" creationId="{00000000-0000-0000-0000-000000000000}"/>
          </ac:spMkLst>
        </pc:spChg>
        <pc:spChg chg="del">
          <ac:chgData name="Emon Hossain" userId="ae39ba0e2810d04a" providerId="LiveId" clId="{32C216DB-F097-449E-84EE-436832C1EE7F}" dt="2026-03-14T20:17:15.161" v="8" actId="478"/>
          <ac:spMkLst>
            <pc:docMk/>
            <pc:sldMk cId="0" sldId="263"/>
            <ac:spMk id="50" creationId="{00000000-0000-0000-0000-000000000000}"/>
          </ac:spMkLst>
        </pc:spChg>
        <pc:spChg chg="del">
          <ac:chgData name="Emon Hossain" userId="ae39ba0e2810d04a" providerId="LiveId" clId="{32C216DB-F097-449E-84EE-436832C1EE7F}" dt="2026-03-14T20:17:19.482" v="9" actId="478"/>
          <ac:spMkLst>
            <pc:docMk/>
            <pc:sldMk cId="0" sldId="263"/>
            <ac:spMk id="51" creationId="{00000000-0000-0000-0000-000000000000}"/>
          </ac:spMkLst>
        </pc:spChg>
        <pc:spChg chg="del">
          <ac:chgData name="Emon Hossain" userId="ae39ba0e2810d04a" providerId="LiveId" clId="{32C216DB-F097-449E-84EE-436832C1EE7F}" dt="2026-03-14T20:17:15.161" v="8" actId="478"/>
          <ac:spMkLst>
            <pc:docMk/>
            <pc:sldMk cId="0" sldId="263"/>
            <ac:spMk id="52" creationId="{00000000-0000-0000-0000-000000000000}"/>
          </ac:spMkLst>
        </pc:spChg>
        <pc:spChg chg="del">
          <ac:chgData name="Emon Hossain" userId="ae39ba0e2810d04a" providerId="LiveId" clId="{32C216DB-F097-449E-84EE-436832C1EE7F}" dt="2026-03-14T20:17:15.161" v="8" actId="478"/>
          <ac:spMkLst>
            <pc:docMk/>
            <pc:sldMk cId="0" sldId="263"/>
            <ac:spMk id="53" creationId="{00000000-0000-0000-0000-000000000000}"/>
          </ac:spMkLst>
        </pc:spChg>
        <pc:spChg chg="mod">
          <ac:chgData name="Emon Hossain" userId="ae39ba0e2810d04a" providerId="LiveId" clId="{32C216DB-F097-449E-84EE-436832C1EE7F}" dt="2026-03-14T20:17:00.837" v="6" actId="1076"/>
          <ac:spMkLst>
            <pc:docMk/>
            <pc:sldMk cId="0" sldId="263"/>
            <ac:spMk id="54" creationId="{00000000-0000-0000-0000-000000000000}"/>
          </ac:spMkLst>
        </pc:spChg>
        <pc:picChg chg="add mod">
          <ac:chgData name="Emon Hossain" userId="ae39ba0e2810d04a" providerId="LiveId" clId="{32C216DB-F097-449E-84EE-436832C1EE7F}" dt="2026-03-14T20:24:24.232" v="21" actId="1076"/>
          <ac:picMkLst>
            <pc:docMk/>
            <pc:sldMk cId="0" sldId="263"/>
            <ac:picMk id="72" creationId="{DF270A33-259F-4DF5-9C64-2D4E39E7F637}"/>
          </ac:picMkLst>
        </pc:picChg>
      </pc:sldChg>
      <pc:sldChg chg="modSp mod">
        <pc:chgData name="Emon Hossain" userId="ae39ba0e2810d04a" providerId="LiveId" clId="{32C216DB-F097-449E-84EE-436832C1EE7F}" dt="2026-03-14T22:43:09.094" v="22" actId="1076"/>
        <pc:sldMkLst>
          <pc:docMk/>
          <pc:sldMk cId="0" sldId="265"/>
        </pc:sldMkLst>
        <pc:spChg chg="mod">
          <ac:chgData name="Emon Hossain" userId="ae39ba0e2810d04a" providerId="LiveId" clId="{32C216DB-F097-449E-84EE-436832C1EE7F}" dt="2026-03-14T22:43:09.094" v="22" actId="1076"/>
          <ac:spMkLst>
            <pc:docMk/>
            <pc:sldMk cId="0" sldId="265"/>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95710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7.jpeg"/><Relationship Id="rId7"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11.xml.rels><?xml version="1.0" encoding="UTF-8" standalone="yes"?>
<Relationships xmlns="http://schemas.openxmlformats.org/package/2006/relationships"><Relationship Id="rId3" Type="http://schemas.openxmlformats.org/officeDocument/2006/relationships/image" Target="../media/image12.webp"/><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5F"/>
        </a:solidFill>
        <a:effectLst/>
      </p:bgPr>
    </p:bg>
    <p:spTree>
      <p:nvGrpSpPr>
        <p:cNvPr id="1" name=""/>
        <p:cNvGrpSpPr/>
        <p:nvPr/>
      </p:nvGrpSpPr>
      <p:grpSpPr>
        <a:xfrm>
          <a:off x="0" y="0"/>
          <a:ext cx="0" cy="0"/>
          <a:chOff x="0" y="0"/>
          <a:chExt cx="0" cy="0"/>
        </a:xfrm>
      </p:grpSpPr>
      <p:pic>
        <p:nvPicPr>
          <p:cNvPr id="2" name="Image 0" descr="https://kimi-web-img.moonshot.cn/img/static.vecteezy.com/4862f7db1dc0f6504d305e13193f7289523ac998.jpg"/>
          <p:cNvPicPr>
            <a:picLocks noChangeAspect="1"/>
          </p:cNvPicPr>
          <p:nvPr/>
        </p:nvPicPr>
        <p:blipFill>
          <a:blip r:embed="rId3">
            <a:alphaModFix amt="20000"/>
          </a:blip>
          <a:srcRect t="781" b="781"/>
          <a:stretch/>
        </p:blipFill>
        <p:spPr>
          <a:xfrm>
            <a:off x="0" y="0"/>
            <a:ext cx="12192000" cy="6858000"/>
          </a:xfrm>
          <a:prstGeom prst="roundRect">
            <a:avLst>
              <a:gd name="adj" fmla="val 0"/>
            </a:avLst>
          </a:prstGeom>
        </p:spPr>
      </p:pic>
      <p:sp>
        <p:nvSpPr>
          <p:cNvPr id="3" name="Shape 0"/>
          <p:cNvSpPr/>
          <p:nvPr/>
        </p:nvSpPr>
        <p:spPr>
          <a:xfrm>
            <a:off x="33337" y="10477"/>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1E3A5F">
                  <a:alpha val="95000"/>
                </a:srgbClr>
              </a:gs>
              <a:gs pos="50000">
                <a:srgbClr val="1E3A5F">
                  <a:alpha val="90000"/>
                </a:srgbClr>
              </a:gs>
              <a:gs pos="100000">
                <a:srgbClr val="3B82F6">
                  <a:alpha val="85000"/>
                </a:srgbClr>
              </a:gs>
            </a:gsLst>
            <a:lin ang="2700000" scaled="1"/>
          </a:gradFill>
          <a:ln/>
        </p:spPr>
        <p:txBody>
          <a:bodyPr/>
          <a:lstStyle/>
          <a:p>
            <a:endParaRPr lang="en-US" dirty="0">
              <a:latin typeface="Times New Roman" panose="02020603050405020304" pitchFamily="18" charset="0"/>
              <a:cs typeface="Times New Roman" panose="02020603050405020304" pitchFamily="18" charset="0"/>
            </a:endParaRPr>
          </a:p>
        </p:txBody>
      </p:sp>
      <p:sp>
        <p:nvSpPr>
          <p:cNvPr id="4" name="Shape 1"/>
          <p:cNvSpPr/>
          <p:nvPr/>
        </p:nvSpPr>
        <p:spPr>
          <a:xfrm>
            <a:off x="381000" y="381000"/>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10B981"/>
          </a:solidFill>
          <a:ln/>
        </p:spPr>
      </p:sp>
      <p:sp>
        <p:nvSpPr>
          <p:cNvPr id="5" name="Shape 2"/>
          <p:cNvSpPr/>
          <p:nvPr/>
        </p:nvSpPr>
        <p:spPr>
          <a:xfrm>
            <a:off x="495300" y="495300"/>
            <a:ext cx="228600" cy="228600"/>
          </a:xfrm>
          <a:custGeom>
            <a:avLst/>
            <a:gdLst/>
            <a:ahLst/>
            <a:cxnLst/>
            <a:rect l="l" t="t" r="r" b="b"/>
            <a:pathLst>
              <a:path w="228600" h="228600">
                <a:moveTo>
                  <a:pt x="114300" y="48176"/>
                </a:moveTo>
                <a:lnTo>
                  <a:pt x="107603" y="38889"/>
                </a:lnTo>
                <a:cubicBezTo>
                  <a:pt x="96441" y="23440"/>
                  <a:pt x="78537" y="14288"/>
                  <a:pt x="59427" y="14288"/>
                </a:cubicBezTo>
                <a:cubicBezTo>
                  <a:pt x="26610" y="14288"/>
                  <a:pt x="0" y="40898"/>
                  <a:pt x="0" y="73715"/>
                </a:cubicBezTo>
                <a:lnTo>
                  <a:pt x="0" y="74875"/>
                </a:lnTo>
                <a:cubicBezTo>
                  <a:pt x="0" y="85412"/>
                  <a:pt x="2768" y="96307"/>
                  <a:pt x="7412" y="107156"/>
                </a:cubicBezTo>
                <a:lnTo>
                  <a:pt x="54739" y="107156"/>
                </a:lnTo>
                <a:cubicBezTo>
                  <a:pt x="56168" y="107156"/>
                  <a:pt x="57463" y="106308"/>
                  <a:pt x="58043" y="104968"/>
                </a:cubicBezTo>
                <a:lnTo>
                  <a:pt x="72241" y="70902"/>
                </a:lnTo>
                <a:cubicBezTo>
                  <a:pt x="73893" y="66973"/>
                  <a:pt x="77733" y="64383"/>
                  <a:pt x="81975" y="64294"/>
                </a:cubicBezTo>
                <a:cubicBezTo>
                  <a:pt x="86216" y="64204"/>
                  <a:pt x="90145" y="66705"/>
                  <a:pt x="91886" y="70589"/>
                </a:cubicBezTo>
                <a:lnTo>
                  <a:pt x="114791" y="121444"/>
                </a:lnTo>
                <a:lnTo>
                  <a:pt x="133276" y="84475"/>
                </a:lnTo>
                <a:cubicBezTo>
                  <a:pt x="135106" y="80858"/>
                  <a:pt x="138812" y="78537"/>
                  <a:pt x="142875" y="78537"/>
                </a:cubicBezTo>
                <a:cubicBezTo>
                  <a:pt x="146938" y="78537"/>
                  <a:pt x="150644" y="80814"/>
                  <a:pt x="152474" y="84475"/>
                </a:cubicBezTo>
                <a:lnTo>
                  <a:pt x="162833" y="105147"/>
                </a:lnTo>
                <a:cubicBezTo>
                  <a:pt x="163458" y="106353"/>
                  <a:pt x="164663" y="107112"/>
                  <a:pt x="166048" y="107112"/>
                </a:cubicBezTo>
                <a:lnTo>
                  <a:pt x="221233" y="107112"/>
                </a:lnTo>
                <a:cubicBezTo>
                  <a:pt x="225921" y="96262"/>
                  <a:pt x="228645" y="85368"/>
                  <a:pt x="228645" y="74831"/>
                </a:cubicBezTo>
                <a:lnTo>
                  <a:pt x="228645" y="73670"/>
                </a:lnTo>
                <a:cubicBezTo>
                  <a:pt x="228600" y="40898"/>
                  <a:pt x="201990" y="14288"/>
                  <a:pt x="169173" y="14288"/>
                </a:cubicBezTo>
                <a:cubicBezTo>
                  <a:pt x="150108" y="14288"/>
                  <a:pt x="132159" y="23440"/>
                  <a:pt x="120997" y="38889"/>
                </a:cubicBezTo>
                <a:lnTo>
                  <a:pt x="114300" y="48131"/>
                </a:lnTo>
                <a:close/>
                <a:moveTo>
                  <a:pt x="209669" y="128588"/>
                </a:moveTo>
                <a:lnTo>
                  <a:pt x="166003" y="128588"/>
                </a:lnTo>
                <a:cubicBezTo>
                  <a:pt x="156537" y="128588"/>
                  <a:pt x="147876" y="123230"/>
                  <a:pt x="143634" y="114746"/>
                </a:cubicBezTo>
                <a:lnTo>
                  <a:pt x="142875" y="113228"/>
                </a:lnTo>
                <a:lnTo>
                  <a:pt x="123899" y="151224"/>
                </a:lnTo>
                <a:cubicBezTo>
                  <a:pt x="122069" y="154930"/>
                  <a:pt x="118229" y="157252"/>
                  <a:pt x="114077" y="157163"/>
                </a:cubicBezTo>
                <a:cubicBezTo>
                  <a:pt x="109924" y="157073"/>
                  <a:pt x="106219" y="154618"/>
                  <a:pt x="104522" y="150867"/>
                </a:cubicBezTo>
                <a:lnTo>
                  <a:pt x="82510" y="101977"/>
                </a:lnTo>
                <a:lnTo>
                  <a:pt x="77822" y="113228"/>
                </a:lnTo>
                <a:cubicBezTo>
                  <a:pt x="73938" y="122560"/>
                  <a:pt x="64830" y="128632"/>
                  <a:pt x="54739" y="128632"/>
                </a:cubicBezTo>
                <a:lnTo>
                  <a:pt x="18931" y="128632"/>
                </a:lnTo>
                <a:cubicBezTo>
                  <a:pt x="40005" y="161583"/>
                  <a:pt x="73849" y="191899"/>
                  <a:pt x="95012" y="208062"/>
                </a:cubicBezTo>
                <a:cubicBezTo>
                  <a:pt x="100548" y="212259"/>
                  <a:pt x="107335" y="214357"/>
                  <a:pt x="114255" y="214357"/>
                </a:cubicBezTo>
                <a:cubicBezTo>
                  <a:pt x="121176" y="214357"/>
                  <a:pt x="128007" y="212303"/>
                  <a:pt x="133499" y="208062"/>
                </a:cubicBezTo>
                <a:cubicBezTo>
                  <a:pt x="154751" y="191854"/>
                  <a:pt x="188595" y="161538"/>
                  <a:pt x="209669" y="128588"/>
                </a:cubicBezTo>
                <a:close/>
              </a:path>
            </a:pathLst>
          </a:custGeom>
          <a:solidFill>
            <a:srgbClr val="FFFFFF"/>
          </a:solidFill>
          <a:ln/>
        </p:spPr>
      </p:sp>
      <p:sp>
        <p:nvSpPr>
          <p:cNvPr id="6" name="Text 3"/>
          <p:cNvSpPr/>
          <p:nvPr/>
        </p:nvSpPr>
        <p:spPr>
          <a:xfrm>
            <a:off x="952500" y="438150"/>
            <a:ext cx="1800225" cy="190500"/>
          </a:xfrm>
          <a:prstGeom prst="rect">
            <a:avLst/>
          </a:prstGeom>
          <a:noFill/>
          <a:ln/>
        </p:spPr>
        <p:txBody>
          <a:bodyPr wrap="square" lIns="0" tIns="0" rIns="0" bIns="0" rtlCol="0" anchor="ctr"/>
          <a:lstStyle/>
          <a:p>
            <a:pPr>
              <a:lnSpc>
                <a:spcPct val="120000"/>
              </a:lnSpc>
            </a:pPr>
            <a:r>
              <a:rPr lang="en-US" sz="1050" b="1" kern="0" spc="53" dirty="0">
                <a:solidFill>
                  <a:srgbClr val="F1F5F9"/>
                </a:solidFill>
                <a:latin typeface="Quattrocento Sans" pitchFamily="34" charset="0"/>
                <a:ea typeface="Quattrocento Sans" pitchFamily="34" charset="-122"/>
                <a:cs typeface="Quattrocento Sans" pitchFamily="34" charset="-120"/>
              </a:rPr>
              <a:t>CSE312</a:t>
            </a:r>
            <a:endParaRPr lang="en-US" sz="1600" dirty="0"/>
          </a:p>
        </p:txBody>
      </p:sp>
      <p:sp>
        <p:nvSpPr>
          <p:cNvPr id="7" name="Text 4"/>
          <p:cNvSpPr/>
          <p:nvPr/>
        </p:nvSpPr>
        <p:spPr>
          <a:xfrm>
            <a:off x="952500" y="628650"/>
            <a:ext cx="1790700" cy="152400"/>
          </a:xfrm>
          <a:prstGeom prst="rect">
            <a:avLst/>
          </a:prstGeom>
          <a:noFill/>
          <a:ln/>
        </p:spPr>
        <p:txBody>
          <a:bodyPr wrap="square" lIns="0" tIns="0" rIns="0" bIns="0" rtlCol="0" anchor="ctr"/>
          <a:lstStyle/>
          <a:p>
            <a:pPr>
              <a:lnSpc>
                <a:spcPct val="110000"/>
              </a:lnSpc>
            </a:pPr>
            <a:r>
              <a:rPr lang="en-US" sz="900" dirty="0">
                <a:solidFill>
                  <a:srgbClr val="F1F5F9">
                    <a:alpha val="70000"/>
                  </a:srgbClr>
                </a:solidFill>
                <a:latin typeface="Quattrocento Sans" pitchFamily="34" charset="0"/>
                <a:ea typeface="Quattrocento Sans" pitchFamily="34" charset="-122"/>
                <a:cs typeface="Quattrocento Sans" pitchFamily="34" charset="-120"/>
              </a:rPr>
              <a:t>Database Management System Lab</a:t>
            </a:r>
            <a:endParaRPr lang="en-US" sz="1600" dirty="0"/>
          </a:p>
        </p:txBody>
      </p:sp>
      <p:sp>
        <p:nvSpPr>
          <p:cNvPr id="8" name="Text 5"/>
          <p:cNvSpPr/>
          <p:nvPr/>
        </p:nvSpPr>
        <p:spPr>
          <a:xfrm>
            <a:off x="9921360" y="438150"/>
            <a:ext cx="1885950" cy="190500"/>
          </a:xfrm>
          <a:prstGeom prst="rect">
            <a:avLst/>
          </a:prstGeom>
          <a:noFill/>
          <a:ln/>
        </p:spPr>
        <p:txBody>
          <a:bodyPr wrap="square" lIns="0" tIns="0" rIns="0" bIns="0" rtlCol="0" anchor="ctr"/>
          <a:lstStyle/>
          <a:p>
            <a:pPr algn="r">
              <a:lnSpc>
                <a:spcPct val="120000"/>
              </a:lnSpc>
            </a:pPr>
            <a:r>
              <a:rPr lang="en-US" sz="1050" dirty="0">
                <a:solidFill>
                  <a:srgbClr val="F1F5F9">
                    <a:alpha val="80000"/>
                  </a:srgbClr>
                </a:solidFill>
                <a:latin typeface="Quattrocento Sans" pitchFamily="34" charset="0"/>
                <a:ea typeface="Quattrocento Sans" pitchFamily="34" charset="-122"/>
                <a:cs typeface="Quattrocento Sans" pitchFamily="34" charset="-120"/>
              </a:rPr>
              <a:t>Daffodil International University</a:t>
            </a:r>
            <a:endParaRPr lang="en-US" sz="1600" dirty="0"/>
          </a:p>
        </p:txBody>
      </p:sp>
      <p:sp>
        <p:nvSpPr>
          <p:cNvPr id="9" name="Text 6"/>
          <p:cNvSpPr/>
          <p:nvPr/>
        </p:nvSpPr>
        <p:spPr>
          <a:xfrm>
            <a:off x="9930885" y="628650"/>
            <a:ext cx="1876425" cy="152400"/>
          </a:xfrm>
          <a:prstGeom prst="rect">
            <a:avLst/>
          </a:prstGeom>
          <a:noFill/>
          <a:ln/>
        </p:spPr>
        <p:txBody>
          <a:bodyPr wrap="square" lIns="0" tIns="0" rIns="0" bIns="0" rtlCol="0" anchor="ctr"/>
          <a:lstStyle/>
          <a:p>
            <a:pPr algn="r">
              <a:lnSpc>
                <a:spcPct val="110000"/>
              </a:lnSpc>
            </a:pPr>
            <a:r>
              <a:rPr lang="en-US" sz="900" dirty="0">
                <a:solidFill>
                  <a:srgbClr val="F1F5F9">
                    <a:alpha val="60000"/>
                  </a:srgbClr>
                </a:solidFill>
                <a:latin typeface="Quattrocento Sans" pitchFamily="34" charset="0"/>
                <a:ea typeface="Quattrocento Sans" pitchFamily="34" charset="-122"/>
                <a:cs typeface="Quattrocento Sans" pitchFamily="34" charset="-120"/>
              </a:rPr>
              <a:t>Department of CSE</a:t>
            </a:r>
            <a:endParaRPr lang="en-US" sz="1600" dirty="0"/>
          </a:p>
        </p:txBody>
      </p:sp>
      <p:sp>
        <p:nvSpPr>
          <p:cNvPr id="11" name="Text 8"/>
          <p:cNvSpPr/>
          <p:nvPr/>
        </p:nvSpPr>
        <p:spPr>
          <a:xfrm>
            <a:off x="533400" y="1891665"/>
            <a:ext cx="1362075" cy="190500"/>
          </a:xfrm>
          <a:prstGeom prst="rect">
            <a:avLst/>
          </a:prstGeom>
          <a:noFill/>
          <a:ln/>
        </p:spPr>
        <p:txBody>
          <a:bodyPr wrap="square" lIns="0" tIns="0" rIns="0" bIns="0" rtlCol="0" anchor="ctr"/>
          <a:lstStyle/>
          <a:p>
            <a:pPr>
              <a:lnSpc>
                <a:spcPct val="120000"/>
              </a:lnSpc>
            </a:pPr>
            <a:r>
              <a:rPr lang="en-US" sz="1050" b="1" kern="0" spc="53" dirty="0">
                <a:solidFill>
                  <a:srgbClr val="10B981"/>
                </a:solidFill>
                <a:latin typeface="Quattrocento Sans" pitchFamily="34" charset="0"/>
                <a:ea typeface="Quattrocento Sans" pitchFamily="34" charset="-122"/>
                <a:cs typeface="Quattrocento Sans" pitchFamily="34" charset="-120"/>
              </a:rPr>
              <a:t> </a:t>
            </a:r>
            <a:endParaRPr lang="en-US" sz="1600" dirty="0"/>
          </a:p>
        </p:txBody>
      </p:sp>
      <p:sp>
        <p:nvSpPr>
          <p:cNvPr id="12" name="Text 9"/>
          <p:cNvSpPr/>
          <p:nvPr/>
        </p:nvSpPr>
        <p:spPr>
          <a:xfrm>
            <a:off x="381000" y="2386965"/>
            <a:ext cx="2895600" cy="714375"/>
          </a:xfrm>
          <a:prstGeom prst="rect">
            <a:avLst/>
          </a:prstGeom>
          <a:noFill/>
          <a:ln/>
        </p:spPr>
        <p:txBody>
          <a:bodyPr wrap="square" lIns="0" tIns="0" rIns="0" bIns="0" rtlCol="0" anchor="ctr"/>
          <a:lstStyle/>
          <a:p>
            <a:pPr>
              <a:lnSpc>
                <a:spcPct val="100000"/>
              </a:lnSpc>
            </a:pPr>
            <a:r>
              <a:rPr lang="en-US" sz="4500" b="1" dirty="0">
                <a:solidFill>
                  <a:srgbClr val="F1F5F9"/>
                </a:solidFill>
                <a:latin typeface="Times New Roman" panose="02020603050405020304" pitchFamily="18" charset="0"/>
                <a:ea typeface="Liter" pitchFamily="34" charset="-122"/>
                <a:cs typeface="Times New Roman" panose="02020603050405020304" pitchFamily="18" charset="0"/>
              </a:rPr>
              <a:t>MediSeba</a:t>
            </a:r>
            <a:endParaRPr lang="en-US" sz="1600" dirty="0">
              <a:latin typeface="Times New Roman" panose="02020603050405020304" pitchFamily="18" charset="0"/>
              <a:cs typeface="Times New Roman" panose="02020603050405020304" pitchFamily="18" charset="0"/>
            </a:endParaRPr>
          </a:p>
        </p:txBody>
      </p:sp>
      <p:sp>
        <p:nvSpPr>
          <p:cNvPr id="13" name="Text 10"/>
          <p:cNvSpPr/>
          <p:nvPr/>
        </p:nvSpPr>
        <p:spPr>
          <a:xfrm>
            <a:off x="380999" y="3253740"/>
            <a:ext cx="7541895" cy="371475"/>
          </a:xfrm>
          <a:prstGeom prst="rect">
            <a:avLst/>
          </a:prstGeom>
          <a:noFill/>
          <a:ln/>
        </p:spPr>
        <p:txBody>
          <a:bodyPr wrap="square" lIns="0" tIns="0" rIns="0" bIns="0" rtlCol="0" anchor="ctr"/>
          <a:lstStyle/>
          <a:p>
            <a:pPr>
              <a:lnSpc>
                <a:spcPct val="140000"/>
              </a:lnSpc>
            </a:pPr>
            <a:r>
              <a:rPr lang="en-US" b="1" dirty="0">
                <a:solidFill>
                  <a:srgbClr val="F1F5F9">
                    <a:alpha val="90000"/>
                  </a:srgbClr>
                </a:solidFill>
                <a:latin typeface="Quattrocento Sans" pitchFamily="34" charset="0"/>
                <a:ea typeface="Quattrocento Sans" pitchFamily="34" charset="-122"/>
                <a:cs typeface="Quattrocento Sans" pitchFamily="34" charset="-120"/>
              </a:rPr>
              <a:t>“</a:t>
            </a:r>
            <a:r>
              <a:rPr lang="en-US" b="1" dirty="0">
                <a:solidFill>
                  <a:srgbClr val="F1F5F9">
                    <a:alpha val="90000"/>
                  </a:srgbClr>
                </a:solidFill>
                <a:latin typeface="Times New Roman" panose="02020603050405020304" pitchFamily="18" charset="0"/>
                <a:ea typeface="Quattrocento Sans" pitchFamily="34" charset="-122"/>
                <a:cs typeface="Times New Roman" panose="02020603050405020304" pitchFamily="18" charset="0"/>
              </a:rPr>
              <a:t>Online Doctor Appointment, Payment &amp; Prescription Management System”</a:t>
            </a:r>
            <a:endParaRPr lang="en-US" sz="1600" b="1" dirty="0">
              <a:latin typeface="Times New Roman" panose="02020603050405020304" pitchFamily="18" charset="0"/>
              <a:cs typeface="Times New Roman" panose="02020603050405020304" pitchFamily="18" charset="0"/>
            </a:endParaRPr>
          </a:p>
        </p:txBody>
      </p:sp>
      <p:sp>
        <p:nvSpPr>
          <p:cNvPr id="14" name="Shape 11"/>
          <p:cNvSpPr/>
          <p:nvPr/>
        </p:nvSpPr>
        <p:spPr>
          <a:xfrm>
            <a:off x="381000" y="3853815"/>
            <a:ext cx="1219200" cy="38100"/>
          </a:xfrm>
          <a:custGeom>
            <a:avLst/>
            <a:gdLst/>
            <a:ahLst/>
            <a:cxnLst/>
            <a:rect l="l" t="t" r="r" b="b"/>
            <a:pathLst>
              <a:path w="1219200" h="38100">
                <a:moveTo>
                  <a:pt x="19050" y="0"/>
                </a:moveTo>
                <a:lnTo>
                  <a:pt x="1200150" y="0"/>
                </a:lnTo>
                <a:cubicBezTo>
                  <a:pt x="1210664" y="0"/>
                  <a:pt x="1219200" y="8536"/>
                  <a:pt x="1219200" y="19050"/>
                </a:cubicBezTo>
                <a:lnTo>
                  <a:pt x="1219200" y="19050"/>
                </a:lnTo>
                <a:cubicBezTo>
                  <a:pt x="1219200" y="29564"/>
                  <a:pt x="1210664" y="38100"/>
                  <a:pt x="1200150" y="38100"/>
                </a:cubicBezTo>
                <a:lnTo>
                  <a:pt x="19050" y="38100"/>
                </a:lnTo>
                <a:cubicBezTo>
                  <a:pt x="8536" y="38100"/>
                  <a:pt x="0" y="29564"/>
                  <a:pt x="0" y="19050"/>
                </a:cubicBezTo>
                <a:lnTo>
                  <a:pt x="0" y="19050"/>
                </a:lnTo>
                <a:cubicBezTo>
                  <a:pt x="0" y="8536"/>
                  <a:pt x="8536" y="0"/>
                  <a:pt x="19050" y="0"/>
                </a:cubicBezTo>
                <a:close/>
              </a:path>
            </a:pathLst>
          </a:custGeom>
          <a:solidFill>
            <a:srgbClr val="10B981"/>
          </a:solidFill>
          <a:ln/>
        </p:spPr>
      </p:sp>
      <p:sp>
        <p:nvSpPr>
          <p:cNvPr id="15" name="Text 12"/>
          <p:cNvSpPr/>
          <p:nvPr/>
        </p:nvSpPr>
        <p:spPr>
          <a:xfrm>
            <a:off x="381000" y="4196715"/>
            <a:ext cx="3600450" cy="190500"/>
          </a:xfrm>
          <a:prstGeom prst="rect">
            <a:avLst/>
          </a:prstGeom>
          <a:noFill/>
          <a:ln/>
        </p:spPr>
        <p:txBody>
          <a:bodyPr wrap="square" lIns="0" tIns="0" rIns="0" bIns="0" rtlCol="0" anchor="ctr"/>
          <a:lstStyle/>
          <a:p>
            <a:pPr>
              <a:lnSpc>
                <a:spcPct val="120000"/>
              </a:lnSpc>
            </a:pPr>
            <a:r>
              <a:rPr lang="en-US" sz="1050" dirty="0">
                <a:solidFill>
                  <a:srgbClr val="F1F5F9">
                    <a:alpha val="60000"/>
                  </a:srgbClr>
                </a:solidFill>
                <a:latin typeface="Quattrocento Sans" pitchFamily="34" charset="0"/>
                <a:ea typeface="Quattrocento Sans" pitchFamily="34" charset="-122"/>
                <a:cs typeface="Quattrocento Sans" pitchFamily="34" charset="-120"/>
              </a:rPr>
              <a:t>Submitted To</a:t>
            </a:r>
            <a:endParaRPr lang="en-US" sz="1600" dirty="0"/>
          </a:p>
        </p:txBody>
      </p:sp>
      <p:sp>
        <p:nvSpPr>
          <p:cNvPr id="16" name="Text 13"/>
          <p:cNvSpPr/>
          <p:nvPr/>
        </p:nvSpPr>
        <p:spPr>
          <a:xfrm>
            <a:off x="381000" y="4425315"/>
            <a:ext cx="3609975" cy="228600"/>
          </a:xfrm>
          <a:prstGeom prst="rect">
            <a:avLst/>
          </a:prstGeom>
          <a:noFill/>
          <a:ln/>
        </p:spPr>
        <p:txBody>
          <a:bodyPr wrap="square" lIns="0" tIns="0" rIns="0" bIns="0" rtlCol="0" anchor="ctr"/>
          <a:lstStyle/>
          <a:p>
            <a:pPr>
              <a:lnSpc>
                <a:spcPct val="130000"/>
              </a:lnSpc>
            </a:pPr>
            <a:r>
              <a:rPr lang="en-US" sz="1200" b="1" dirty="0">
                <a:solidFill>
                  <a:srgbClr val="F1F5F9">
                    <a:alpha val="80000"/>
                  </a:srgbClr>
                </a:solidFill>
                <a:latin typeface="Quattrocento Sans" pitchFamily="34" charset="0"/>
                <a:ea typeface="Quattrocento Sans" pitchFamily="34" charset="-122"/>
                <a:cs typeface="Quattrocento Sans" pitchFamily="34" charset="-120"/>
              </a:rPr>
              <a:t>Syed Eftasum Alam (SEA)</a:t>
            </a:r>
            <a:endParaRPr lang="en-US" sz="1600" dirty="0"/>
          </a:p>
        </p:txBody>
      </p:sp>
      <p:sp>
        <p:nvSpPr>
          <p:cNvPr id="17" name="Text 14"/>
          <p:cNvSpPr/>
          <p:nvPr/>
        </p:nvSpPr>
        <p:spPr>
          <a:xfrm>
            <a:off x="381000" y="4653915"/>
            <a:ext cx="3600450"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Quattrocento Sans" pitchFamily="34" charset="0"/>
                <a:ea typeface="Quattrocento Sans" pitchFamily="34" charset="-122"/>
                <a:cs typeface="Quattrocento Sans" pitchFamily="34" charset="-120"/>
              </a:rPr>
              <a:t>Lecturer, Department of CSE</a:t>
            </a:r>
            <a:endParaRPr lang="en-US" sz="1600" dirty="0"/>
          </a:p>
        </p:txBody>
      </p:sp>
      <p:sp>
        <p:nvSpPr>
          <p:cNvPr id="18" name="Text 15"/>
          <p:cNvSpPr/>
          <p:nvPr/>
        </p:nvSpPr>
        <p:spPr>
          <a:xfrm>
            <a:off x="4144089" y="4196715"/>
            <a:ext cx="3600450" cy="190500"/>
          </a:xfrm>
          <a:prstGeom prst="rect">
            <a:avLst/>
          </a:prstGeom>
          <a:noFill/>
          <a:ln/>
        </p:spPr>
        <p:txBody>
          <a:bodyPr wrap="square" lIns="0" tIns="0" rIns="0" bIns="0" rtlCol="0" anchor="ctr"/>
          <a:lstStyle/>
          <a:p>
            <a:pPr>
              <a:lnSpc>
                <a:spcPct val="120000"/>
              </a:lnSpc>
            </a:pPr>
            <a:r>
              <a:rPr lang="en-US" sz="1050" dirty="0">
                <a:solidFill>
                  <a:srgbClr val="F1F5F9">
                    <a:alpha val="60000"/>
                  </a:srgbClr>
                </a:solidFill>
                <a:latin typeface="Quattrocento Sans" pitchFamily="34" charset="0"/>
                <a:ea typeface="Quattrocento Sans" pitchFamily="34" charset="-122"/>
                <a:cs typeface="Quattrocento Sans" pitchFamily="34" charset="-120"/>
              </a:rPr>
              <a:t>Submission Date</a:t>
            </a:r>
            <a:endParaRPr lang="en-US" sz="1600" dirty="0"/>
          </a:p>
        </p:txBody>
      </p:sp>
      <p:sp>
        <p:nvSpPr>
          <p:cNvPr id="19" name="Text 16"/>
          <p:cNvSpPr/>
          <p:nvPr/>
        </p:nvSpPr>
        <p:spPr>
          <a:xfrm>
            <a:off x="4144089" y="4425315"/>
            <a:ext cx="3609975" cy="228600"/>
          </a:xfrm>
          <a:prstGeom prst="rect">
            <a:avLst/>
          </a:prstGeom>
          <a:noFill/>
          <a:ln/>
        </p:spPr>
        <p:txBody>
          <a:bodyPr wrap="square" lIns="0" tIns="0" rIns="0" bIns="0" rtlCol="0" anchor="ctr"/>
          <a:lstStyle/>
          <a:p>
            <a:pPr>
              <a:lnSpc>
                <a:spcPct val="130000"/>
              </a:lnSpc>
            </a:pPr>
            <a:r>
              <a:rPr lang="en-US" sz="1200" b="1" dirty="0">
                <a:solidFill>
                  <a:srgbClr val="F1F5F9">
                    <a:alpha val="80000"/>
                  </a:srgbClr>
                </a:solidFill>
                <a:latin typeface="Quattrocento Sans" pitchFamily="34" charset="0"/>
                <a:ea typeface="Quattrocento Sans" pitchFamily="34" charset="-122"/>
                <a:cs typeface="Quattrocento Sans" pitchFamily="34" charset="-120"/>
              </a:rPr>
              <a:t>15 March 2026</a:t>
            </a:r>
            <a:endParaRPr lang="en-US" sz="1600" dirty="0"/>
          </a:p>
        </p:txBody>
      </p:sp>
      <p:sp>
        <p:nvSpPr>
          <p:cNvPr id="20" name="Shape 17"/>
          <p:cNvSpPr/>
          <p:nvPr/>
        </p:nvSpPr>
        <p:spPr>
          <a:xfrm>
            <a:off x="381000" y="5825490"/>
            <a:ext cx="11430000" cy="7620"/>
          </a:xfrm>
          <a:custGeom>
            <a:avLst/>
            <a:gdLst/>
            <a:ahLst/>
            <a:cxnLst/>
            <a:rect l="l" t="t" r="r" b="b"/>
            <a:pathLst>
              <a:path w="11430000" h="7620">
                <a:moveTo>
                  <a:pt x="0" y="0"/>
                </a:moveTo>
                <a:lnTo>
                  <a:pt x="11430000" y="0"/>
                </a:lnTo>
                <a:lnTo>
                  <a:pt x="11430000" y="7620"/>
                </a:lnTo>
                <a:lnTo>
                  <a:pt x="0" y="7620"/>
                </a:lnTo>
                <a:lnTo>
                  <a:pt x="0" y="0"/>
                </a:lnTo>
                <a:close/>
              </a:path>
            </a:pathLst>
          </a:custGeom>
          <a:solidFill>
            <a:srgbClr val="F1F5F9">
              <a:alpha val="20000"/>
            </a:srgbClr>
          </a:solidFill>
          <a:ln/>
        </p:spPr>
      </p:sp>
      <p:sp>
        <p:nvSpPr>
          <p:cNvPr id="21" name="Text 18"/>
          <p:cNvSpPr/>
          <p:nvPr/>
        </p:nvSpPr>
        <p:spPr>
          <a:xfrm>
            <a:off x="381000" y="5981700"/>
            <a:ext cx="11496675" cy="190500"/>
          </a:xfrm>
          <a:prstGeom prst="rect">
            <a:avLst/>
          </a:prstGeom>
          <a:noFill/>
          <a:ln/>
        </p:spPr>
        <p:txBody>
          <a:bodyPr wrap="square" lIns="0" tIns="0" rIns="0" bIns="0" rtlCol="0" anchor="ctr"/>
          <a:lstStyle/>
          <a:p>
            <a:pPr>
              <a:lnSpc>
                <a:spcPct val="120000"/>
              </a:lnSpc>
            </a:pPr>
            <a:r>
              <a:rPr lang="en-US" sz="1200" b="1" dirty="0">
                <a:solidFill>
                  <a:schemeClr val="bg1"/>
                </a:solidFill>
                <a:latin typeface="Quattrocento Sans" pitchFamily="34" charset="0"/>
                <a:ea typeface="Quattrocento Sans" pitchFamily="34" charset="-122"/>
                <a:cs typeface="Quattrocento Sans" pitchFamily="34" charset="-120"/>
              </a:rPr>
              <a:t>Group Members</a:t>
            </a:r>
            <a:endParaRPr lang="en-US" sz="1200" b="1" dirty="0">
              <a:solidFill>
                <a:schemeClr val="bg1"/>
              </a:solidFill>
            </a:endParaRPr>
          </a:p>
        </p:txBody>
      </p:sp>
      <p:sp>
        <p:nvSpPr>
          <p:cNvPr id="22" name="Text 19"/>
          <p:cNvSpPr/>
          <p:nvPr/>
        </p:nvSpPr>
        <p:spPr>
          <a:xfrm>
            <a:off x="381000" y="6301740"/>
            <a:ext cx="1139666" cy="152400"/>
          </a:xfrm>
          <a:prstGeom prst="rect">
            <a:avLst/>
          </a:prstGeom>
          <a:noFill/>
          <a:ln/>
        </p:spPr>
        <p:txBody>
          <a:bodyPr wrap="square" lIns="0" tIns="0" rIns="0" bIns="0" rtlCol="0" anchor="ctr"/>
          <a:lstStyle/>
          <a:p>
            <a:pPr>
              <a:lnSpc>
                <a:spcPct val="120000"/>
              </a:lnSpc>
            </a:pPr>
            <a:r>
              <a:rPr lang="en-US" sz="1050" b="1" dirty="0">
                <a:solidFill>
                  <a:srgbClr val="F1F5F9">
                    <a:alpha val="90000"/>
                  </a:srgbClr>
                </a:solidFill>
                <a:latin typeface="Quattrocento Sans" pitchFamily="34" charset="0"/>
                <a:ea typeface="Quattrocento Sans" pitchFamily="34" charset="-122"/>
                <a:cs typeface="Quattrocento Sans" pitchFamily="34" charset="-120"/>
              </a:rPr>
              <a:t>Md. Emon Hossain</a:t>
            </a:r>
            <a:endParaRPr lang="en-US" sz="1600" dirty="0"/>
          </a:p>
        </p:txBody>
      </p:sp>
      <p:sp>
        <p:nvSpPr>
          <p:cNvPr id="23" name="Text 20"/>
          <p:cNvSpPr/>
          <p:nvPr/>
        </p:nvSpPr>
        <p:spPr>
          <a:xfrm>
            <a:off x="1486734" y="6301740"/>
            <a:ext cx="1067633" cy="152400"/>
          </a:xfrm>
          <a:prstGeom prst="rect">
            <a:avLst/>
          </a:prstGeom>
          <a:noFill/>
          <a:ln/>
        </p:spPr>
        <p:txBody>
          <a:bodyPr wrap="square" lIns="0" tIns="0" rIns="0" bIns="0" rtlCol="0" anchor="ctr"/>
          <a:lstStyle/>
          <a:p>
            <a:pPr>
              <a:lnSpc>
                <a:spcPct val="120000"/>
              </a:lnSpc>
            </a:pPr>
            <a:r>
              <a:rPr lang="en-US" sz="1050" dirty="0">
                <a:solidFill>
                  <a:srgbClr val="F1F5F9">
                    <a:alpha val="60000"/>
                  </a:srgbClr>
                </a:solidFill>
                <a:latin typeface="Quattrocento Sans" pitchFamily="34" charset="0"/>
                <a:ea typeface="Quattrocento Sans" pitchFamily="34" charset="-122"/>
                <a:cs typeface="Quattrocento Sans" pitchFamily="34" charset="-120"/>
              </a:rPr>
              <a:t>(</a:t>
            </a:r>
            <a:r>
              <a:rPr lang="en-US" sz="1050" b="1" dirty="0">
                <a:solidFill>
                  <a:schemeClr val="bg1">
                    <a:alpha val="60000"/>
                  </a:schemeClr>
                </a:solidFill>
                <a:latin typeface="Quattrocento Sans" pitchFamily="34" charset="0"/>
                <a:ea typeface="Quattrocento Sans" pitchFamily="34" charset="-122"/>
                <a:cs typeface="Quattrocento Sans" pitchFamily="34" charset="-120"/>
              </a:rPr>
              <a:t>TL) :  232-15-818</a:t>
            </a:r>
            <a:endParaRPr lang="en-US" sz="1600" b="1" dirty="0">
              <a:solidFill>
                <a:schemeClr val="bg1">
                  <a:alpha val="60000"/>
                </a:schemeClr>
              </a:solidFill>
            </a:endParaRPr>
          </a:p>
        </p:txBody>
      </p:sp>
      <p:sp>
        <p:nvSpPr>
          <p:cNvPr id="24" name="Text 21"/>
          <p:cNvSpPr/>
          <p:nvPr/>
        </p:nvSpPr>
        <p:spPr>
          <a:xfrm>
            <a:off x="2716292" y="6301740"/>
            <a:ext cx="1476375" cy="152400"/>
          </a:xfrm>
          <a:prstGeom prst="rect">
            <a:avLst/>
          </a:prstGeom>
          <a:noFill/>
          <a:ln/>
        </p:spPr>
        <p:txBody>
          <a:bodyPr wrap="square" lIns="0" tIns="0" rIns="0" bIns="0" rtlCol="0" anchor="ctr"/>
          <a:lstStyle/>
          <a:p>
            <a:pPr>
              <a:lnSpc>
                <a:spcPct val="120000"/>
              </a:lnSpc>
            </a:pPr>
            <a:r>
              <a:rPr lang="en-US" sz="1050" b="1" dirty="0">
                <a:solidFill>
                  <a:srgbClr val="F1F5F9">
                    <a:alpha val="90000"/>
                  </a:srgbClr>
                </a:solidFill>
                <a:latin typeface="Quattrocento Sans" pitchFamily="34" charset="0"/>
                <a:ea typeface="Quattrocento Sans" pitchFamily="34" charset="-122"/>
                <a:cs typeface="Quattrocento Sans" pitchFamily="34" charset="-120"/>
              </a:rPr>
              <a:t>Mostafizur Rahman Antu</a:t>
            </a:r>
            <a:endParaRPr lang="en-US" sz="1600" dirty="0"/>
          </a:p>
        </p:txBody>
      </p:sp>
      <p:sp>
        <p:nvSpPr>
          <p:cNvPr id="25" name="Text 22"/>
          <p:cNvSpPr/>
          <p:nvPr/>
        </p:nvSpPr>
        <p:spPr>
          <a:xfrm>
            <a:off x="4158734" y="6301740"/>
            <a:ext cx="782955" cy="152400"/>
          </a:xfrm>
          <a:prstGeom prst="rect">
            <a:avLst/>
          </a:prstGeom>
          <a:noFill/>
          <a:ln/>
        </p:spPr>
        <p:txBody>
          <a:bodyPr wrap="square" lIns="0" tIns="0" rIns="0" bIns="0" rtlCol="0" anchor="ctr"/>
          <a:lstStyle/>
          <a:p>
            <a:pPr>
              <a:lnSpc>
                <a:spcPct val="120000"/>
              </a:lnSpc>
            </a:pPr>
            <a:r>
              <a:rPr lang="en-US" sz="1050" b="1" dirty="0">
                <a:solidFill>
                  <a:srgbClr val="F1F5F9">
                    <a:alpha val="60000"/>
                  </a:srgbClr>
                </a:solidFill>
                <a:latin typeface="Quattrocento Sans" pitchFamily="34" charset="0"/>
                <a:ea typeface="Quattrocento Sans" pitchFamily="34" charset="-122"/>
                <a:cs typeface="Quattrocento Sans" pitchFamily="34" charset="-120"/>
              </a:rPr>
              <a:t>:  241-15-631</a:t>
            </a:r>
            <a:endParaRPr lang="en-US" sz="1600" b="1" dirty="0"/>
          </a:p>
        </p:txBody>
      </p:sp>
      <p:sp>
        <p:nvSpPr>
          <p:cNvPr id="26" name="Text 23"/>
          <p:cNvSpPr/>
          <p:nvPr/>
        </p:nvSpPr>
        <p:spPr>
          <a:xfrm>
            <a:off x="5103614" y="6301740"/>
            <a:ext cx="883801" cy="152400"/>
          </a:xfrm>
          <a:prstGeom prst="rect">
            <a:avLst/>
          </a:prstGeom>
          <a:noFill/>
          <a:ln/>
        </p:spPr>
        <p:txBody>
          <a:bodyPr wrap="square" lIns="0" tIns="0" rIns="0" bIns="0" rtlCol="0" anchor="ctr"/>
          <a:lstStyle/>
          <a:p>
            <a:pPr>
              <a:lnSpc>
                <a:spcPct val="120000"/>
              </a:lnSpc>
            </a:pPr>
            <a:r>
              <a:rPr lang="en-US" sz="1050" b="1" dirty="0">
                <a:solidFill>
                  <a:srgbClr val="F1F5F9">
                    <a:alpha val="90000"/>
                  </a:srgbClr>
                </a:solidFill>
                <a:latin typeface="Quattrocento Sans" pitchFamily="34" charset="0"/>
                <a:ea typeface="Quattrocento Sans" pitchFamily="34" charset="-122"/>
                <a:cs typeface="Quattrocento Sans" pitchFamily="34" charset="-120"/>
              </a:rPr>
              <a:t>Nahid Al Galib</a:t>
            </a:r>
            <a:endParaRPr lang="en-US" sz="1600" dirty="0"/>
          </a:p>
        </p:txBody>
      </p:sp>
      <p:sp>
        <p:nvSpPr>
          <p:cNvPr id="27" name="Text 24"/>
          <p:cNvSpPr/>
          <p:nvPr/>
        </p:nvSpPr>
        <p:spPr>
          <a:xfrm>
            <a:off x="5953483" y="6301740"/>
            <a:ext cx="789503" cy="152400"/>
          </a:xfrm>
          <a:prstGeom prst="rect">
            <a:avLst/>
          </a:prstGeom>
          <a:noFill/>
          <a:ln/>
        </p:spPr>
        <p:txBody>
          <a:bodyPr wrap="square" lIns="0" tIns="0" rIns="0" bIns="0" rtlCol="0" anchor="ctr"/>
          <a:lstStyle/>
          <a:p>
            <a:pPr>
              <a:lnSpc>
                <a:spcPct val="120000"/>
              </a:lnSpc>
            </a:pPr>
            <a:r>
              <a:rPr lang="en-US" sz="1050" b="1" dirty="0">
                <a:solidFill>
                  <a:srgbClr val="F1F5F9">
                    <a:alpha val="60000"/>
                  </a:srgbClr>
                </a:solidFill>
                <a:latin typeface="Quattrocento Sans" pitchFamily="34" charset="0"/>
                <a:ea typeface="Quattrocento Sans" pitchFamily="34" charset="-122"/>
                <a:cs typeface="Quattrocento Sans" pitchFamily="34" charset="-120"/>
              </a:rPr>
              <a:t>: 241-15-577</a:t>
            </a:r>
            <a:endParaRPr lang="en-US" sz="1600" b="1" dirty="0"/>
          </a:p>
        </p:txBody>
      </p:sp>
      <p:sp>
        <p:nvSpPr>
          <p:cNvPr id="28" name="Text 25"/>
          <p:cNvSpPr/>
          <p:nvPr/>
        </p:nvSpPr>
        <p:spPr>
          <a:xfrm>
            <a:off x="6904911" y="6301740"/>
            <a:ext cx="1051917" cy="152400"/>
          </a:xfrm>
          <a:prstGeom prst="rect">
            <a:avLst/>
          </a:prstGeom>
          <a:noFill/>
          <a:ln/>
        </p:spPr>
        <p:txBody>
          <a:bodyPr wrap="square" lIns="0" tIns="0" rIns="0" bIns="0" rtlCol="0" anchor="ctr"/>
          <a:lstStyle/>
          <a:p>
            <a:pPr>
              <a:lnSpc>
                <a:spcPct val="120000"/>
              </a:lnSpc>
            </a:pPr>
            <a:r>
              <a:rPr lang="en-US" sz="1050" b="1" dirty="0">
                <a:solidFill>
                  <a:srgbClr val="F1F5F9">
                    <a:alpha val="90000"/>
                  </a:srgbClr>
                </a:solidFill>
                <a:latin typeface="Quattrocento Sans" pitchFamily="34" charset="0"/>
                <a:ea typeface="Quattrocento Sans" pitchFamily="34" charset="-122"/>
                <a:cs typeface="Quattrocento Sans" pitchFamily="34" charset="-120"/>
              </a:rPr>
              <a:t>Mahjabin Sultana</a:t>
            </a:r>
            <a:endParaRPr lang="en-US" sz="1600" dirty="0"/>
          </a:p>
        </p:txBody>
      </p:sp>
      <p:sp>
        <p:nvSpPr>
          <p:cNvPr id="29" name="Text 26"/>
          <p:cNvSpPr/>
          <p:nvPr/>
        </p:nvSpPr>
        <p:spPr>
          <a:xfrm>
            <a:off x="7922895" y="6301740"/>
            <a:ext cx="817483" cy="152400"/>
          </a:xfrm>
          <a:prstGeom prst="rect">
            <a:avLst/>
          </a:prstGeom>
          <a:noFill/>
          <a:ln/>
        </p:spPr>
        <p:txBody>
          <a:bodyPr wrap="square" lIns="0" tIns="0" rIns="0" bIns="0" rtlCol="0" anchor="ctr"/>
          <a:lstStyle/>
          <a:p>
            <a:pPr>
              <a:lnSpc>
                <a:spcPct val="120000"/>
              </a:lnSpc>
            </a:pPr>
            <a:r>
              <a:rPr lang="en-US" sz="1050" b="1" dirty="0">
                <a:solidFill>
                  <a:srgbClr val="F1F5F9">
                    <a:alpha val="60000"/>
                  </a:srgbClr>
                </a:solidFill>
                <a:latin typeface="Quattrocento Sans" pitchFamily="34" charset="0"/>
                <a:ea typeface="Quattrocento Sans" pitchFamily="34" charset="-122"/>
                <a:cs typeface="Quattrocento Sans" pitchFamily="34" charset="-120"/>
              </a:rPr>
              <a:t>: 241-15-899</a:t>
            </a:r>
            <a:endParaRPr lang="en-US" sz="1600" b="1" dirty="0"/>
          </a:p>
        </p:txBody>
      </p:sp>
      <p:sp>
        <p:nvSpPr>
          <p:cNvPr id="30" name="Text 27"/>
          <p:cNvSpPr/>
          <p:nvPr/>
        </p:nvSpPr>
        <p:spPr>
          <a:xfrm>
            <a:off x="8902303" y="6301740"/>
            <a:ext cx="890945" cy="152400"/>
          </a:xfrm>
          <a:prstGeom prst="rect">
            <a:avLst/>
          </a:prstGeom>
          <a:noFill/>
          <a:ln/>
        </p:spPr>
        <p:txBody>
          <a:bodyPr wrap="square" lIns="0" tIns="0" rIns="0" bIns="0" rtlCol="0" anchor="ctr"/>
          <a:lstStyle/>
          <a:p>
            <a:pPr>
              <a:lnSpc>
                <a:spcPct val="120000"/>
              </a:lnSpc>
            </a:pPr>
            <a:r>
              <a:rPr lang="en-US" sz="1050" b="1" dirty="0">
                <a:solidFill>
                  <a:srgbClr val="F1F5F9">
                    <a:alpha val="90000"/>
                  </a:srgbClr>
                </a:solidFill>
                <a:latin typeface="Quattrocento Sans" pitchFamily="34" charset="0"/>
                <a:ea typeface="Quattrocento Sans" pitchFamily="34" charset="-122"/>
                <a:cs typeface="Quattrocento Sans" pitchFamily="34" charset="-120"/>
              </a:rPr>
              <a:t>Nadira Tanzim</a:t>
            </a:r>
            <a:endParaRPr lang="en-US" sz="1600" dirty="0"/>
          </a:p>
        </p:txBody>
      </p:sp>
      <p:sp>
        <p:nvSpPr>
          <p:cNvPr id="31" name="Text 28"/>
          <p:cNvSpPr/>
          <p:nvPr/>
        </p:nvSpPr>
        <p:spPr>
          <a:xfrm>
            <a:off x="9759315" y="6301740"/>
            <a:ext cx="801767" cy="152400"/>
          </a:xfrm>
          <a:prstGeom prst="rect">
            <a:avLst/>
          </a:prstGeom>
          <a:noFill/>
          <a:ln/>
        </p:spPr>
        <p:txBody>
          <a:bodyPr wrap="square" lIns="0" tIns="0" rIns="0" bIns="0" rtlCol="0" anchor="ctr"/>
          <a:lstStyle/>
          <a:p>
            <a:pPr>
              <a:lnSpc>
                <a:spcPct val="120000"/>
              </a:lnSpc>
            </a:pPr>
            <a:r>
              <a:rPr lang="en-US" sz="1050" b="1" dirty="0">
                <a:solidFill>
                  <a:srgbClr val="F1F5F9">
                    <a:alpha val="60000"/>
                  </a:srgbClr>
                </a:solidFill>
                <a:latin typeface="Quattrocento Sans" pitchFamily="34" charset="0"/>
                <a:ea typeface="Quattrocento Sans" pitchFamily="34" charset="-122"/>
                <a:cs typeface="Quattrocento Sans" pitchFamily="34" charset="-120"/>
              </a:rPr>
              <a:t>:  241-15-397</a:t>
            </a:r>
            <a:endParaRPr lang="en-US" sz="1600" b="1" dirty="0"/>
          </a:p>
        </p:txBody>
      </p:sp>
      <p:pic>
        <p:nvPicPr>
          <p:cNvPr id="33" name="Picture 32">
            <a:extLst>
              <a:ext uri="{FF2B5EF4-FFF2-40B4-BE49-F238E27FC236}">
                <a16:creationId xmlns:a16="http://schemas.microsoft.com/office/drawing/2014/main" id="{048A587F-32D9-4935-801D-27674A2FA58A}"/>
              </a:ext>
            </a:extLst>
          </p:cNvPr>
          <p:cNvPicPr>
            <a:picLocks noChangeAspect="1"/>
          </p:cNvPicPr>
          <p:nvPr/>
        </p:nvPicPr>
        <p:blipFill>
          <a:blip r:embed="rId4"/>
          <a:stretch>
            <a:fillRect/>
          </a:stretch>
        </p:blipFill>
        <p:spPr>
          <a:xfrm>
            <a:off x="8076008" y="1404937"/>
            <a:ext cx="4048125" cy="4048125"/>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34" name="TextBox 33">
            <a:extLst>
              <a:ext uri="{FF2B5EF4-FFF2-40B4-BE49-F238E27FC236}">
                <a16:creationId xmlns:a16="http://schemas.microsoft.com/office/drawing/2014/main" id="{1BEABC8E-09BE-40BA-8D09-1E76C2A2F729}"/>
              </a:ext>
            </a:extLst>
          </p:cNvPr>
          <p:cNvSpPr txBox="1"/>
          <p:nvPr/>
        </p:nvSpPr>
        <p:spPr>
          <a:xfrm>
            <a:off x="11666933" y="6377940"/>
            <a:ext cx="457200"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01</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kern="0" spc="53" dirty="0">
                <a:solidFill>
                  <a:srgbClr val="3B82F6"/>
                </a:solidFill>
                <a:latin typeface="Quattrocento Sans" pitchFamily="34" charset="0"/>
                <a:ea typeface="Quattrocento Sans" pitchFamily="34" charset="-122"/>
                <a:cs typeface="Quattrocento Sans" pitchFamily="34" charset="-120"/>
              </a:rPr>
              <a:t>PRESENTATION OVERVIEW</a:t>
            </a:r>
            <a:endParaRPr lang="en-US" sz="1600" dirty="0"/>
          </a:p>
        </p:txBody>
      </p:sp>
      <p:sp>
        <p:nvSpPr>
          <p:cNvPr id="3" name="Text 1"/>
          <p:cNvSpPr/>
          <p:nvPr/>
        </p:nvSpPr>
        <p:spPr>
          <a:xfrm>
            <a:off x="381000" y="647700"/>
            <a:ext cx="11658600" cy="457200"/>
          </a:xfrm>
          <a:prstGeom prst="rect">
            <a:avLst/>
          </a:prstGeom>
          <a:noFill/>
          <a:ln/>
        </p:spPr>
        <p:txBody>
          <a:bodyPr wrap="square" lIns="0" tIns="0" rIns="0" bIns="0" rtlCol="0" anchor="ctr"/>
          <a:lstStyle/>
          <a:p>
            <a:pPr>
              <a:lnSpc>
                <a:spcPct val="80000"/>
              </a:lnSpc>
            </a:pPr>
            <a:r>
              <a:rPr lang="en-US" sz="3600" b="1" dirty="0">
                <a:solidFill>
                  <a:srgbClr val="1E3A5F"/>
                </a:solidFill>
                <a:latin typeface="Liter" pitchFamily="34" charset="0"/>
                <a:ea typeface="Liter" pitchFamily="34" charset="-122"/>
                <a:cs typeface="Liter" pitchFamily="34" charset="-120"/>
              </a:rPr>
              <a:t>Table of Contents</a:t>
            </a:r>
            <a:endParaRPr lang="en-US" sz="1600" dirty="0"/>
          </a:p>
        </p:txBody>
      </p:sp>
      <p:sp>
        <p:nvSpPr>
          <p:cNvPr id="4" name="Shape 2"/>
          <p:cNvSpPr/>
          <p:nvPr/>
        </p:nvSpPr>
        <p:spPr>
          <a:xfrm>
            <a:off x="381000" y="1257300"/>
            <a:ext cx="914400" cy="38100"/>
          </a:xfrm>
          <a:custGeom>
            <a:avLst/>
            <a:gdLst/>
            <a:ahLst/>
            <a:cxnLst/>
            <a:rect l="l" t="t" r="r" b="b"/>
            <a:pathLst>
              <a:path w="914400" h="38100">
                <a:moveTo>
                  <a:pt x="19050" y="0"/>
                </a:moveTo>
                <a:lnTo>
                  <a:pt x="895350" y="0"/>
                </a:lnTo>
                <a:cubicBezTo>
                  <a:pt x="905864" y="0"/>
                  <a:pt x="914400" y="8536"/>
                  <a:pt x="914400" y="19050"/>
                </a:cubicBezTo>
                <a:lnTo>
                  <a:pt x="914400" y="19050"/>
                </a:lnTo>
                <a:cubicBezTo>
                  <a:pt x="914400" y="29564"/>
                  <a:pt x="905864" y="38100"/>
                  <a:pt x="895350" y="38100"/>
                </a:cubicBezTo>
                <a:lnTo>
                  <a:pt x="19050" y="38100"/>
                </a:lnTo>
                <a:cubicBezTo>
                  <a:pt x="8536" y="38100"/>
                  <a:pt x="0" y="29564"/>
                  <a:pt x="0" y="19050"/>
                </a:cubicBezTo>
                <a:lnTo>
                  <a:pt x="0" y="19050"/>
                </a:lnTo>
                <a:cubicBezTo>
                  <a:pt x="0" y="8536"/>
                  <a:pt x="8536" y="0"/>
                  <a:pt x="19050" y="0"/>
                </a:cubicBezTo>
                <a:close/>
              </a:path>
            </a:pathLst>
          </a:custGeom>
          <a:solidFill>
            <a:srgbClr val="10B981"/>
          </a:solidFill>
          <a:ln/>
        </p:spPr>
      </p:sp>
      <p:sp>
        <p:nvSpPr>
          <p:cNvPr id="5" name="Shape 3"/>
          <p:cNvSpPr/>
          <p:nvPr/>
        </p:nvSpPr>
        <p:spPr>
          <a:xfrm>
            <a:off x="400050" y="1600200"/>
            <a:ext cx="3667125" cy="1495425"/>
          </a:xfrm>
          <a:custGeom>
            <a:avLst/>
            <a:gdLst/>
            <a:ahLst/>
            <a:cxnLst/>
            <a:rect l="l" t="t" r="r" b="b"/>
            <a:pathLst>
              <a:path w="3667125" h="1495425">
                <a:moveTo>
                  <a:pt x="38100" y="0"/>
                </a:moveTo>
                <a:lnTo>
                  <a:pt x="3552830" y="0"/>
                </a:lnTo>
                <a:cubicBezTo>
                  <a:pt x="3615953" y="0"/>
                  <a:pt x="3667125" y="51172"/>
                  <a:pt x="3667125" y="114295"/>
                </a:cubicBezTo>
                <a:lnTo>
                  <a:pt x="3667125" y="1381130"/>
                </a:lnTo>
                <a:cubicBezTo>
                  <a:pt x="3667125" y="1444253"/>
                  <a:pt x="3615953" y="1495425"/>
                  <a:pt x="3552830" y="1495425"/>
                </a:cubicBezTo>
                <a:lnTo>
                  <a:pt x="38100" y="1495425"/>
                </a:lnTo>
                <a:cubicBezTo>
                  <a:pt x="17072" y="1495425"/>
                  <a:pt x="0" y="1478353"/>
                  <a:pt x="0" y="1457325"/>
                </a:cubicBezTo>
                <a:lnTo>
                  <a:pt x="0" y="38100"/>
                </a:lnTo>
                <a:cubicBezTo>
                  <a:pt x="0" y="17072"/>
                  <a:pt x="17072" y="0"/>
                  <a:pt x="38100" y="0"/>
                </a:cubicBezTo>
                <a:close/>
              </a:path>
            </a:pathLst>
          </a:custGeom>
          <a:solidFill>
            <a:srgbClr val="FFFFFF"/>
          </a:solidFill>
          <a:ln/>
          <a:effectLst>
            <a:outerShdw blurRad="57150" dist="38100" dir="5400000" algn="bl" rotWithShape="0">
              <a:srgbClr val="000000">
                <a:alpha val="10196"/>
              </a:srgbClr>
            </a:outerShdw>
          </a:effectLst>
        </p:spPr>
      </p:sp>
      <p:sp>
        <p:nvSpPr>
          <p:cNvPr id="6" name="Shape 4"/>
          <p:cNvSpPr/>
          <p:nvPr/>
        </p:nvSpPr>
        <p:spPr>
          <a:xfrm>
            <a:off x="400050" y="1600200"/>
            <a:ext cx="38100" cy="1495425"/>
          </a:xfrm>
          <a:custGeom>
            <a:avLst/>
            <a:gdLst/>
            <a:ahLst/>
            <a:cxnLst/>
            <a:rect l="l" t="t" r="r" b="b"/>
            <a:pathLst>
              <a:path w="38100" h="1495425">
                <a:moveTo>
                  <a:pt x="38100" y="0"/>
                </a:moveTo>
                <a:lnTo>
                  <a:pt x="38100" y="0"/>
                </a:lnTo>
                <a:lnTo>
                  <a:pt x="38100" y="1495425"/>
                </a:lnTo>
                <a:lnTo>
                  <a:pt x="38100" y="1495425"/>
                </a:lnTo>
                <a:cubicBezTo>
                  <a:pt x="17072" y="1495425"/>
                  <a:pt x="0" y="1478353"/>
                  <a:pt x="0" y="1457325"/>
                </a:cubicBezTo>
                <a:lnTo>
                  <a:pt x="0" y="38100"/>
                </a:lnTo>
                <a:cubicBezTo>
                  <a:pt x="0" y="17072"/>
                  <a:pt x="17072" y="0"/>
                  <a:pt x="38100" y="0"/>
                </a:cubicBezTo>
                <a:close/>
              </a:path>
            </a:pathLst>
          </a:custGeom>
          <a:solidFill>
            <a:srgbClr val="3B82F6"/>
          </a:solidFill>
          <a:ln/>
        </p:spPr>
      </p:sp>
      <p:sp>
        <p:nvSpPr>
          <p:cNvPr id="7" name="Shape 5"/>
          <p:cNvSpPr/>
          <p:nvPr/>
        </p:nvSpPr>
        <p:spPr>
          <a:xfrm>
            <a:off x="609600" y="2120861"/>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3B82F6">
              <a:alpha val="10196"/>
            </a:srgbClr>
          </a:solidFill>
          <a:ln/>
        </p:spPr>
      </p:sp>
      <p:sp>
        <p:nvSpPr>
          <p:cNvPr id="8" name="Text 6"/>
          <p:cNvSpPr/>
          <p:nvPr/>
        </p:nvSpPr>
        <p:spPr>
          <a:xfrm>
            <a:off x="746165" y="2216110"/>
            <a:ext cx="276225" cy="266700"/>
          </a:xfrm>
          <a:prstGeom prst="rect">
            <a:avLst/>
          </a:prstGeom>
          <a:noFill/>
          <a:ln/>
        </p:spPr>
        <p:txBody>
          <a:bodyPr wrap="square" lIns="0" tIns="0" rIns="0" bIns="0" rtlCol="0" anchor="ctr"/>
          <a:lstStyle/>
          <a:p>
            <a:pPr>
              <a:lnSpc>
                <a:spcPct val="120000"/>
              </a:lnSpc>
            </a:pPr>
            <a:r>
              <a:rPr lang="en-US" sz="1500" b="1" dirty="0">
                <a:solidFill>
                  <a:srgbClr val="3B82F6"/>
                </a:solidFill>
                <a:latin typeface="Quattrocento Sans" pitchFamily="34" charset="0"/>
                <a:ea typeface="Quattrocento Sans" pitchFamily="34" charset="-122"/>
                <a:cs typeface="Quattrocento Sans" pitchFamily="34" charset="-120"/>
              </a:rPr>
              <a:t>01</a:t>
            </a:r>
            <a:endParaRPr lang="en-US" sz="1600" dirty="0"/>
          </a:p>
        </p:txBody>
      </p:sp>
      <p:sp>
        <p:nvSpPr>
          <p:cNvPr id="9" name="Text 7"/>
          <p:cNvSpPr/>
          <p:nvPr/>
        </p:nvSpPr>
        <p:spPr>
          <a:xfrm>
            <a:off x="1219200" y="2101811"/>
            <a:ext cx="2057400" cy="266700"/>
          </a:xfrm>
          <a:prstGeom prst="rect">
            <a:avLst/>
          </a:prstGeom>
          <a:noFill/>
          <a:ln/>
        </p:spPr>
        <p:txBody>
          <a:bodyPr wrap="square" lIns="0" tIns="0" rIns="0" bIns="0" rtlCol="0" anchor="ctr"/>
          <a:lstStyle/>
          <a:p>
            <a:pPr>
              <a:lnSpc>
                <a:spcPct val="130000"/>
              </a:lnSpc>
            </a:pPr>
            <a:r>
              <a:rPr lang="en-US" sz="1350" b="1" dirty="0">
                <a:solidFill>
                  <a:srgbClr val="1E3A5F"/>
                </a:solidFill>
                <a:latin typeface="Liter" pitchFamily="34" charset="0"/>
                <a:ea typeface="Liter" pitchFamily="34" charset="-122"/>
                <a:cs typeface="Liter" pitchFamily="34" charset="-120"/>
              </a:rPr>
              <a:t>Introduction</a:t>
            </a:r>
            <a:endParaRPr lang="en-US" sz="1600" dirty="0"/>
          </a:p>
        </p:txBody>
      </p:sp>
      <p:sp>
        <p:nvSpPr>
          <p:cNvPr id="10" name="Text 8"/>
          <p:cNvSpPr/>
          <p:nvPr/>
        </p:nvSpPr>
        <p:spPr>
          <a:xfrm>
            <a:off x="1219200" y="2406610"/>
            <a:ext cx="2038350" cy="190500"/>
          </a:xfrm>
          <a:prstGeom prst="rect">
            <a:avLst/>
          </a:prstGeom>
          <a:noFill/>
          <a:ln/>
        </p:spPr>
        <p:txBody>
          <a:bodyPr wrap="square" lIns="0" tIns="0" rIns="0" bIns="0" rtlCol="0" anchor="ctr"/>
          <a:lstStyle/>
          <a:p>
            <a:pPr>
              <a:lnSpc>
                <a:spcPct val="120000"/>
              </a:lnSpc>
            </a:pPr>
            <a:r>
              <a:rPr lang="en-US" sz="1050" dirty="0">
                <a:solidFill>
                  <a:srgbClr val="1E293B">
                    <a:alpha val="70000"/>
                  </a:srgbClr>
                </a:solidFill>
                <a:latin typeface="Quattrocento Sans" pitchFamily="34" charset="0"/>
                <a:ea typeface="Quattrocento Sans" pitchFamily="34" charset="-122"/>
                <a:cs typeface="Quattrocento Sans" pitchFamily="34" charset="-120"/>
              </a:rPr>
              <a:t>System overview and architecture</a:t>
            </a:r>
            <a:endParaRPr lang="en-US" sz="1600" dirty="0"/>
          </a:p>
        </p:txBody>
      </p:sp>
      <p:sp>
        <p:nvSpPr>
          <p:cNvPr id="11" name="Shape 9"/>
          <p:cNvSpPr/>
          <p:nvPr/>
        </p:nvSpPr>
        <p:spPr>
          <a:xfrm>
            <a:off x="4273510" y="1600200"/>
            <a:ext cx="3667125" cy="1495425"/>
          </a:xfrm>
          <a:custGeom>
            <a:avLst/>
            <a:gdLst/>
            <a:ahLst/>
            <a:cxnLst/>
            <a:rect l="l" t="t" r="r" b="b"/>
            <a:pathLst>
              <a:path w="3667125" h="1495425">
                <a:moveTo>
                  <a:pt x="38100" y="0"/>
                </a:moveTo>
                <a:lnTo>
                  <a:pt x="3552830" y="0"/>
                </a:lnTo>
                <a:cubicBezTo>
                  <a:pt x="3615953" y="0"/>
                  <a:pt x="3667125" y="51172"/>
                  <a:pt x="3667125" y="114295"/>
                </a:cubicBezTo>
                <a:lnTo>
                  <a:pt x="3667125" y="1381130"/>
                </a:lnTo>
                <a:cubicBezTo>
                  <a:pt x="3667125" y="1444253"/>
                  <a:pt x="3615953" y="1495425"/>
                  <a:pt x="3552830" y="1495425"/>
                </a:cubicBezTo>
                <a:lnTo>
                  <a:pt x="38100" y="1495425"/>
                </a:lnTo>
                <a:cubicBezTo>
                  <a:pt x="17072" y="1495425"/>
                  <a:pt x="0" y="1478353"/>
                  <a:pt x="0" y="1457325"/>
                </a:cubicBezTo>
                <a:lnTo>
                  <a:pt x="0" y="38100"/>
                </a:lnTo>
                <a:cubicBezTo>
                  <a:pt x="0" y="17072"/>
                  <a:pt x="17072" y="0"/>
                  <a:pt x="38100" y="0"/>
                </a:cubicBezTo>
                <a:close/>
              </a:path>
            </a:pathLst>
          </a:custGeom>
          <a:solidFill>
            <a:srgbClr val="FFFFFF"/>
          </a:solidFill>
          <a:ln/>
          <a:effectLst>
            <a:outerShdw blurRad="57150" dist="38100" dir="5400000" algn="bl" rotWithShape="0">
              <a:srgbClr val="000000">
                <a:alpha val="10196"/>
              </a:srgbClr>
            </a:outerShdw>
          </a:effectLst>
        </p:spPr>
      </p:sp>
      <p:sp>
        <p:nvSpPr>
          <p:cNvPr id="12" name="Shape 10"/>
          <p:cNvSpPr/>
          <p:nvPr/>
        </p:nvSpPr>
        <p:spPr>
          <a:xfrm>
            <a:off x="4273510" y="1600200"/>
            <a:ext cx="38100" cy="1495425"/>
          </a:xfrm>
          <a:custGeom>
            <a:avLst/>
            <a:gdLst/>
            <a:ahLst/>
            <a:cxnLst/>
            <a:rect l="l" t="t" r="r" b="b"/>
            <a:pathLst>
              <a:path w="38100" h="1495425">
                <a:moveTo>
                  <a:pt x="38100" y="0"/>
                </a:moveTo>
                <a:lnTo>
                  <a:pt x="38100" y="0"/>
                </a:lnTo>
                <a:lnTo>
                  <a:pt x="38100" y="1495425"/>
                </a:lnTo>
                <a:lnTo>
                  <a:pt x="38100" y="1495425"/>
                </a:lnTo>
                <a:cubicBezTo>
                  <a:pt x="17072" y="1495425"/>
                  <a:pt x="0" y="1478353"/>
                  <a:pt x="0" y="1457325"/>
                </a:cubicBezTo>
                <a:lnTo>
                  <a:pt x="0" y="38100"/>
                </a:lnTo>
                <a:cubicBezTo>
                  <a:pt x="0" y="17072"/>
                  <a:pt x="17072" y="0"/>
                  <a:pt x="38100" y="0"/>
                </a:cubicBezTo>
                <a:close/>
              </a:path>
            </a:pathLst>
          </a:custGeom>
          <a:solidFill>
            <a:srgbClr val="3B82F6"/>
          </a:solidFill>
          <a:ln/>
        </p:spPr>
      </p:sp>
      <p:sp>
        <p:nvSpPr>
          <p:cNvPr id="13" name="Shape 11"/>
          <p:cNvSpPr/>
          <p:nvPr/>
        </p:nvSpPr>
        <p:spPr>
          <a:xfrm>
            <a:off x="4483060" y="2120861"/>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3B82F6">
              <a:alpha val="10196"/>
            </a:srgbClr>
          </a:solidFill>
          <a:ln/>
        </p:spPr>
      </p:sp>
      <p:sp>
        <p:nvSpPr>
          <p:cNvPr id="14" name="Text 12"/>
          <p:cNvSpPr/>
          <p:nvPr/>
        </p:nvSpPr>
        <p:spPr>
          <a:xfrm>
            <a:off x="4601289" y="2216110"/>
            <a:ext cx="314325" cy="266700"/>
          </a:xfrm>
          <a:prstGeom prst="rect">
            <a:avLst/>
          </a:prstGeom>
          <a:noFill/>
          <a:ln/>
        </p:spPr>
        <p:txBody>
          <a:bodyPr wrap="square" lIns="0" tIns="0" rIns="0" bIns="0" rtlCol="0" anchor="ctr"/>
          <a:lstStyle/>
          <a:p>
            <a:pPr>
              <a:lnSpc>
                <a:spcPct val="120000"/>
              </a:lnSpc>
            </a:pPr>
            <a:r>
              <a:rPr lang="en-US" sz="1500" b="1" dirty="0">
                <a:solidFill>
                  <a:srgbClr val="3B82F6"/>
                </a:solidFill>
                <a:latin typeface="Quattrocento Sans" pitchFamily="34" charset="0"/>
                <a:ea typeface="Quattrocento Sans" pitchFamily="34" charset="-122"/>
                <a:cs typeface="Quattrocento Sans" pitchFamily="34" charset="-120"/>
              </a:rPr>
              <a:t>02</a:t>
            </a:r>
            <a:endParaRPr lang="en-US" sz="1600" dirty="0"/>
          </a:p>
        </p:txBody>
      </p:sp>
      <p:sp>
        <p:nvSpPr>
          <p:cNvPr id="15" name="Text 13"/>
          <p:cNvSpPr/>
          <p:nvPr/>
        </p:nvSpPr>
        <p:spPr>
          <a:xfrm>
            <a:off x="5092661" y="2101811"/>
            <a:ext cx="1809750" cy="266700"/>
          </a:xfrm>
          <a:prstGeom prst="rect">
            <a:avLst/>
          </a:prstGeom>
          <a:noFill/>
          <a:ln/>
        </p:spPr>
        <p:txBody>
          <a:bodyPr wrap="square" lIns="0" tIns="0" rIns="0" bIns="0" rtlCol="0" anchor="ctr"/>
          <a:lstStyle/>
          <a:p>
            <a:pPr>
              <a:lnSpc>
                <a:spcPct val="130000"/>
              </a:lnSpc>
            </a:pPr>
            <a:r>
              <a:rPr lang="en-US" sz="1350" b="1" dirty="0">
                <a:solidFill>
                  <a:srgbClr val="1E3A5F"/>
                </a:solidFill>
                <a:latin typeface="Liter" pitchFamily="34" charset="0"/>
                <a:ea typeface="Liter" pitchFamily="34" charset="-122"/>
                <a:cs typeface="Liter" pitchFamily="34" charset="-120"/>
              </a:rPr>
              <a:t>Problem Statement</a:t>
            </a:r>
            <a:endParaRPr lang="en-US" sz="1600" dirty="0"/>
          </a:p>
        </p:txBody>
      </p:sp>
      <p:sp>
        <p:nvSpPr>
          <p:cNvPr id="16" name="Text 14"/>
          <p:cNvSpPr/>
          <p:nvPr/>
        </p:nvSpPr>
        <p:spPr>
          <a:xfrm>
            <a:off x="5092661" y="2406610"/>
            <a:ext cx="1790700" cy="190500"/>
          </a:xfrm>
          <a:prstGeom prst="rect">
            <a:avLst/>
          </a:prstGeom>
          <a:noFill/>
          <a:ln/>
        </p:spPr>
        <p:txBody>
          <a:bodyPr wrap="square" lIns="0" tIns="0" rIns="0" bIns="0" rtlCol="0" anchor="ctr"/>
          <a:lstStyle/>
          <a:p>
            <a:pPr>
              <a:lnSpc>
                <a:spcPct val="120000"/>
              </a:lnSpc>
            </a:pPr>
            <a:r>
              <a:rPr lang="en-US" sz="1050" dirty="0">
                <a:solidFill>
                  <a:srgbClr val="1E293B">
                    <a:alpha val="70000"/>
                  </a:srgbClr>
                </a:solidFill>
                <a:latin typeface="Quattrocento Sans" pitchFamily="34" charset="0"/>
                <a:ea typeface="Quattrocento Sans" pitchFamily="34" charset="-122"/>
                <a:cs typeface="Quattrocento Sans" pitchFamily="34" charset="-120"/>
              </a:rPr>
              <a:t>Challenges in manual systems</a:t>
            </a:r>
            <a:endParaRPr lang="en-US" sz="1600" dirty="0"/>
          </a:p>
        </p:txBody>
      </p:sp>
      <p:sp>
        <p:nvSpPr>
          <p:cNvPr id="17" name="Shape 15"/>
          <p:cNvSpPr/>
          <p:nvPr/>
        </p:nvSpPr>
        <p:spPr>
          <a:xfrm>
            <a:off x="8146971" y="1600200"/>
            <a:ext cx="3667125" cy="1495425"/>
          </a:xfrm>
          <a:custGeom>
            <a:avLst/>
            <a:gdLst/>
            <a:ahLst/>
            <a:cxnLst/>
            <a:rect l="l" t="t" r="r" b="b"/>
            <a:pathLst>
              <a:path w="3667125" h="1495425">
                <a:moveTo>
                  <a:pt x="38100" y="0"/>
                </a:moveTo>
                <a:lnTo>
                  <a:pt x="3552830" y="0"/>
                </a:lnTo>
                <a:cubicBezTo>
                  <a:pt x="3615953" y="0"/>
                  <a:pt x="3667125" y="51172"/>
                  <a:pt x="3667125" y="114295"/>
                </a:cubicBezTo>
                <a:lnTo>
                  <a:pt x="3667125" y="1381130"/>
                </a:lnTo>
                <a:cubicBezTo>
                  <a:pt x="3667125" y="1444253"/>
                  <a:pt x="3615953" y="1495425"/>
                  <a:pt x="3552830" y="1495425"/>
                </a:cubicBezTo>
                <a:lnTo>
                  <a:pt x="38100" y="1495425"/>
                </a:lnTo>
                <a:cubicBezTo>
                  <a:pt x="17072" y="1495425"/>
                  <a:pt x="0" y="1478353"/>
                  <a:pt x="0" y="1457325"/>
                </a:cubicBezTo>
                <a:lnTo>
                  <a:pt x="0" y="38100"/>
                </a:lnTo>
                <a:cubicBezTo>
                  <a:pt x="0" y="17072"/>
                  <a:pt x="17072" y="0"/>
                  <a:pt x="38100" y="0"/>
                </a:cubicBezTo>
                <a:close/>
              </a:path>
            </a:pathLst>
          </a:custGeom>
          <a:solidFill>
            <a:srgbClr val="FFFFFF"/>
          </a:solidFill>
          <a:ln/>
          <a:effectLst>
            <a:outerShdw blurRad="57150" dist="38100" dir="5400000" algn="bl" rotWithShape="0">
              <a:srgbClr val="000000">
                <a:alpha val="10196"/>
              </a:srgbClr>
            </a:outerShdw>
          </a:effectLst>
        </p:spPr>
      </p:sp>
      <p:sp>
        <p:nvSpPr>
          <p:cNvPr id="18" name="Shape 16"/>
          <p:cNvSpPr/>
          <p:nvPr/>
        </p:nvSpPr>
        <p:spPr>
          <a:xfrm>
            <a:off x="8146971" y="1600200"/>
            <a:ext cx="38100" cy="1495425"/>
          </a:xfrm>
          <a:custGeom>
            <a:avLst/>
            <a:gdLst/>
            <a:ahLst/>
            <a:cxnLst/>
            <a:rect l="l" t="t" r="r" b="b"/>
            <a:pathLst>
              <a:path w="38100" h="1495425">
                <a:moveTo>
                  <a:pt x="38100" y="0"/>
                </a:moveTo>
                <a:lnTo>
                  <a:pt x="38100" y="0"/>
                </a:lnTo>
                <a:lnTo>
                  <a:pt x="38100" y="1495425"/>
                </a:lnTo>
                <a:lnTo>
                  <a:pt x="38100" y="1495425"/>
                </a:lnTo>
                <a:cubicBezTo>
                  <a:pt x="17072" y="1495425"/>
                  <a:pt x="0" y="1478353"/>
                  <a:pt x="0" y="1457325"/>
                </a:cubicBezTo>
                <a:lnTo>
                  <a:pt x="0" y="38100"/>
                </a:lnTo>
                <a:cubicBezTo>
                  <a:pt x="0" y="17072"/>
                  <a:pt x="17072" y="0"/>
                  <a:pt x="38100" y="0"/>
                </a:cubicBezTo>
                <a:close/>
              </a:path>
            </a:pathLst>
          </a:custGeom>
          <a:solidFill>
            <a:srgbClr val="3B82F6"/>
          </a:solidFill>
          <a:ln/>
        </p:spPr>
      </p:sp>
      <p:sp>
        <p:nvSpPr>
          <p:cNvPr id="19" name="Shape 17"/>
          <p:cNvSpPr/>
          <p:nvPr/>
        </p:nvSpPr>
        <p:spPr>
          <a:xfrm>
            <a:off x="8356521" y="2120861"/>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3B82F6">
              <a:alpha val="10196"/>
            </a:srgbClr>
          </a:solidFill>
          <a:ln/>
        </p:spPr>
      </p:sp>
      <p:sp>
        <p:nvSpPr>
          <p:cNvPr id="20" name="Text 18"/>
          <p:cNvSpPr/>
          <p:nvPr/>
        </p:nvSpPr>
        <p:spPr>
          <a:xfrm>
            <a:off x="8472250" y="2216110"/>
            <a:ext cx="323850" cy="266700"/>
          </a:xfrm>
          <a:prstGeom prst="rect">
            <a:avLst/>
          </a:prstGeom>
          <a:noFill/>
          <a:ln/>
        </p:spPr>
        <p:txBody>
          <a:bodyPr wrap="square" lIns="0" tIns="0" rIns="0" bIns="0" rtlCol="0" anchor="ctr"/>
          <a:lstStyle/>
          <a:p>
            <a:pPr>
              <a:lnSpc>
                <a:spcPct val="120000"/>
              </a:lnSpc>
            </a:pPr>
            <a:r>
              <a:rPr lang="en-US" sz="1500" b="1" dirty="0">
                <a:solidFill>
                  <a:srgbClr val="3B82F6"/>
                </a:solidFill>
                <a:latin typeface="Quattrocento Sans" pitchFamily="34" charset="0"/>
                <a:ea typeface="Quattrocento Sans" pitchFamily="34" charset="-122"/>
                <a:cs typeface="Quattrocento Sans" pitchFamily="34" charset="-120"/>
              </a:rPr>
              <a:t>03</a:t>
            </a:r>
            <a:endParaRPr lang="en-US" sz="1600" dirty="0"/>
          </a:p>
        </p:txBody>
      </p:sp>
      <p:sp>
        <p:nvSpPr>
          <p:cNvPr id="21" name="Text 19"/>
          <p:cNvSpPr/>
          <p:nvPr/>
        </p:nvSpPr>
        <p:spPr>
          <a:xfrm>
            <a:off x="8966121" y="2101811"/>
            <a:ext cx="1895475" cy="266700"/>
          </a:xfrm>
          <a:prstGeom prst="rect">
            <a:avLst/>
          </a:prstGeom>
          <a:noFill/>
          <a:ln/>
        </p:spPr>
        <p:txBody>
          <a:bodyPr wrap="square" lIns="0" tIns="0" rIns="0" bIns="0" rtlCol="0" anchor="ctr"/>
          <a:lstStyle/>
          <a:p>
            <a:pPr>
              <a:lnSpc>
                <a:spcPct val="130000"/>
              </a:lnSpc>
            </a:pPr>
            <a:r>
              <a:rPr lang="en-US" sz="1350" b="1" dirty="0">
                <a:solidFill>
                  <a:srgbClr val="1E3A5F"/>
                </a:solidFill>
                <a:latin typeface="Liter" pitchFamily="34" charset="0"/>
                <a:ea typeface="Liter" pitchFamily="34" charset="-122"/>
                <a:cs typeface="Liter" pitchFamily="34" charset="-120"/>
              </a:rPr>
              <a:t>Motivation &amp; Objectives</a:t>
            </a:r>
            <a:endParaRPr lang="en-US" sz="1600" dirty="0"/>
          </a:p>
        </p:txBody>
      </p:sp>
      <p:sp>
        <p:nvSpPr>
          <p:cNvPr id="22" name="Text 20"/>
          <p:cNvSpPr/>
          <p:nvPr/>
        </p:nvSpPr>
        <p:spPr>
          <a:xfrm>
            <a:off x="8966121" y="2406610"/>
            <a:ext cx="1876425" cy="190500"/>
          </a:xfrm>
          <a:prstGeom prst="rect">
            <a:avLst/>
          </a:prstGeom>
          <a:noFill/>
          <a:ln/>
        </p:spPr>
        <p:txBody>
          <a:bodyPr wrap="square" lIns="0" tIns="0" rIns="0" bIns="0" rtlCol="0" anchor="ctr"/>
          <a:lstStyle/>
          <a:p>
            <a:pPr>
              <a:lnSpc>
                <a:spcPct val="120000"/>
              </a:lnSpc>
            </a:pPr>
            <a:r>
              <a:rPr lang="en-US" sz="1050" dirty="0">
                <a:solidFill>
                  <a:srgbClr val="1E293B">
                    <a:alpha val="70000"/>
                  </a:srgbClr>
                </a:solidFill>
                <a:latin typeface="Quattrocento Sans" pitchFamily="34" charset="0"/>
                <a:ea typeface="Quattrocento Sans" pitchFamily="34" charset="-122"/>
                <a:cs typeface="Quattrocento Sans" pitchFamily="34" charset="-120"/>
              </a:rPr>
              <a:t>Goals and driving factors</a:t>
            </a:r>
            <a:endParaRPr lang="en-US" sz="1600" dirty="0"/>
          </a:p>
        </p:txBody>
      </p:sp>
      <p:sp>
        <p:nvSpPr>
          <p:cNvPr id="23" name="Shape 21"/>
          <p:cNvSpPr/>
          <p:nvPr/>
        </p:nvSpPr>
        <p:spPr>
          <a:xfrm>
            <a:off x="400050" y="3289221"/>
            <a:ext cx="3667125" cy="1495425"/>
          </a:xfrm>
          <a:custGeom>
            <a:avLst/>
            <a:gdLst/>
            <a:ahLst/>
            <a:cxnLst/>
            <a:rect l="l" t="t" r="r" b="b"/>
            <a:pathLst>
              <a:path w="3667125" h="1495425">
                <a:moveTo>
                  <a:pt x="38100" y="0"/>
                </a:moveTo>
                <a:lnTo>
                  <a:pt x="3552830" y="0"/>
                </a:lnTo>
                <a:cubicBezTo>
                  <a:pt x="3615953" y="0"/>
                  <a:pt x="3667125" y="51172"/>
                  <a:pt x="3667125" y="114295"/>
                </a:cubicBezTo>
                <a:lnTo>
                  <a:pt x="3667125" y="1381130"/>
                </a:lnTo>
                <a:cubicBezTo>
                  <a:pt x="3667125" y="1444253"/>
                  <a:pt x="3615953" y="1495425"/>
                  <a:pt x="3552830" y="1495425"/>
                </a:cubicBezTo>
                <a:lnTo>
                  <a:pt x="38100" y="1495425"/>
                </a:lnTo>
                <a:cubicBezTo>
                  <a:pt x="17072" y="1495425"/>
                  <a:pt x="0" y="1478353"/>
                  <a:pt x="0" y="1457325"/>
                </a:cubicBezTo>
                <a:lnTo>
                  <a:pt x="0" y="38100"/>
                </a:lnTo>
                <a:cubicBezTo>
                  <a:pt x="0" y="17072"/>
                  <a:pt x="17072" y="0"/>
                  <a:pt x="38100" y="0"/>
                </a:cubicBezTo>
                <a:close/>
              </a:path>
            </a:pathLst>
          </a:custGeom>
          <a:solidFill>
            <a:srgbClr val="FFFFFF"/>
          </a:solidFill>
          <a:ln/>
          <a:effectLst>
            <a:outerShdw blurRad="57150" dist="38100" dir="5400000" algn="bl" rotWithShape="0">
              <a:srgbClr val="000000">
                <a:alpha val="10196"/>
              </a:srgbClr>
            </a:outerShdw>
          </a:effectLst>
        </p:spPr>
      </p:sp>
      <p:sp>
        <p:nvSpPr>
          <p:cNvPr id="24" name="Shape 22"/>
          <p:cNvSpPr/>
          <p:nvPr/>
        </p:nvSpPr>
        <p:spPr>
          <a:xfrm>
            <a:off x="400050" y="3289221"/>
            <a:ext cx="38100" cy="1495425"/>
          </a:xfrm>
          <a:custGeom>
            <a:avLst/>
            <a:gdLst/>
            <a:ahLst/>
            <a:cxnLst/>
            <a:rect l="l" t="t" r="r" b="b"/>
            <a:pathLst>
              <a:path w="38100" h="1495425">
                <a:moveTo>
                  <a:pt x="38100" y="0"/>
                </a:moveTo>
                <a:lnTo>
                  <a:pt x="38100" y="0"/>
                </a:lnTo>
                <a:lnTo>
                  <a:pt x="38100" y="1495425"/>
                </a:lnTo>
                <a:lnTo>
                  <a:pt x="38100" y="1495425"/>
                </a:lnTo>
                <a:cubicBezTo>
                  <a:pt x="17072" y="1495425"/>
                  <a:pt x="0" y="1478353"/>
                  <a:pt x="0" y="1457325"/>
                </a:cubicBezTo>
                <a:lnTo>
                  <a:pt x="0" y="38100"/>
                </a:lnTo>
                <a:cubicBezTo>
                  <a:pt x="0" y="17072"/>
                  <a:pt x="17072" y="0"/>
                  <a:pt x="38100" y="0"/>
                </a:cubicBezTo>
                <a:close/>
              </a:path>
            </a:pathLst>
          </a:custGeom>
          <a:solidFill>
            <a:srgbClr val="10B981"/>
          </a:solidFill>
          <a:ln/>
        </p:spPr>
      </p:sp>
      <p:sp>
        <p:nvSpPr>
          <p:cNvPr id="25" name="Shape 23"/>
          <p:cNvSpPr/>
          <p:nvPr/>
        </p:nvSpPr>
        <p:spPr>
          <a:xfrm>
            <a:off x="609600" y="3809881"/>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10B981">
              <a:alpha val="10196"/>
            </a:srgbClr>
          </a:solidFill>
          <a:ln/>
        </p:spPr>
      </p:sp>
      <p:sp>
        <p:nvSpPr>
          <p:cNvPr id="26" name="Text 24"/>
          <p:cNvSpPr/>
          <p:nvPr/>
        </p:nvSpPr>
        <p:spPr>
          <a:xfrm>
            <a:off x="727948" y="3905131"/>
            <a:ext cx="314325" cy="266700"/>
          </a:xfrm>
          <a:prstGeom prst="rect">
            <a:avLst/>
          </a:prstGeom>
          <a:noFill/>
          <a:ln/>
        </p:spPr>
        <p:txBody>
          <a:bodyPr wrap="square" lIns="0" tIns="0" rIns="0" bIns="0" rtlCol="0" anchor="ctr"/>
          <a:lstStyle/>
          <a:p>
            <a:pPr>
              <a:lnSpc>
                <a:spcPct val="120000"/>
              </a:lnSpc>
            </a:pPr>
            <a:r>
              <a:rPr lang="en-US" sz="1500" b="1" dirty="0">
                <a:solidFill>
                  <a:srgbClr val="10B981"/>
                </a:solidFill>
                <a:latin typeface="Quattrocento Sans" pitchFamily="34" charset="0"/>
                <a:ea typeface="Quattrocento Sans" pitchFamily="34" charset="-122"/>
                <a:cs typeface="Quattrocento Sans" pitchFamily="34" charset="-120"/>
              </a:rPr>
              <a:t>04</a:t>
            </a:r>
            <a:endParaRPr lang="en-US" sz="1600" dirty="0"/>
          </a:p>
        </p:txBody>
      </p:sp>
      <p:sp>
        <p:nvSpPr>
          <p:cNvPr id="27" name="Text 25"/>
          <p:cNvSpPr/>
          <p:nvPr/>
        </p:nvSpPr>
        <p:spPr>
          <a:xfrm>
            <a:off x="1219200" y="3790831"/>
            <a:ext cx="1933575" cy="266700"/>
          </a:xfrm>
          <a:prstGeom prst="rect">
            <a:avLst/>
          </a:prstGeom>
          <a:noFill/>
          <a:ln/>
        </p:spPr>
        <p:txBody>
          <a:bodyPr wrap="square" lIns="0" tIns="0" rIns="0" bIns="0" rtlCol="0" anchor="ctr"/>
          <a:lstStyle/>
          <a:p>
            <a:pPr>
              <a:lnSpc>
                <a:spcPct val="130000"/>
              </a:lnSpc>
            </a:pPr>
            <a:r>
              <a:rPr lang="en-US" sz="1350" b="1" dirty="0">
                <a:solidFill>
                  <a:srgbClr val="1E3A5F"/>
                </a:solidFill>
                <a:latin typeface="Liter" pitchFamily="34" charset="0"/>
                <a:ea typeface="Liter" pitchFamily="34" charset="-122"/>
                <a:cs typeface="Liter" pitchFamily="34" charset="-120"/>
              </a:rPr>
              <a:t>Feature Listing</a:t>
            </a:r>
            <a:endParaRPr lang="en-US" sz="1600" dirty="0"/>
          </a:p>
        </p:txBody>
      </p:sp>
      <p:sp>
        <p:nvSpPr>
          <p:cNvPr id="28" name="Text 26"/>
          <p:cNvSpPr/>
          <p:nvPr/>
        </p:nvSpPr>
        <p:spPr>
          <a:xfrm>
            <a:off x="1219200" y="4095631"/>
            <a:ext cx="1914525" cy="190500"/>
          </a:xfrm>
          <a:prstGeom prst="rect">
            <a:avLst/>
          </a:prstGeom>
          <a:noFill/>
          <a:ln/>
        </p:spPr>
        <p:txBody>
          <a:bodyPr wrap="square" lIns="0" tIns="0" rIns="0" bIns="0" rtlCol="0" anchor="ctr"/>
          <a:lstStyle/>
          <a:p>
            <a:pPr>
              <a:lnSpc>
                <a:spcPct val="120000"/>
              </a:lnSpc>
            </a:pPr>
            <a:r>
              <a:rPr lang="en-US" sz="1050" dirty="0">
                <a:solidFill>
                  <a:srgbClr val="1E293B">
                    <a:alpha val="70000"/>
                  </a:srgbClr>
                </a:solidFill>
                <a:latin typeface="Quattrocento Sans" pitchFamily="34" charset="0"/>
                <a:ea typeface="Quattrocento Sans" pitchFamily="34" charset="-122"/>
                <a:cs typeface="Quattrocento Sans" pitchFamily="34" charset="-120"/>
              </a:rPr>
              <a:t>Comprehensive system features</a:t>
            </a:r>
            <a:endParaRPr lang="en-US" sz="1600" dirty="0"/>
          </a:p>
        </p:txBody>
      </p:sp>
      <p:sp>
        <p:nvSpPr>
          <p:cNvPr id="29" name="Shape 27"/>
          <p:cNvSpPr/>
          <p:nvPr/>
        </p:nvSpPr>
        <p:spPr>
          <a:xfrm>
            <a:off x="4273510" y="3289221"/>
            <a:ext cx="3667125" cy="1495425"/>
          </a:xfrm>
          <a:custGeom>
            <a:avLst/>
            <a:gdLst/>
            <a:ahLst/>
            <a:cxnLst/>
            <a:rect l="l" t="t" r="r" b="b"/>
            <a:pathLst>
              <a:path w="3667125" h="1495425">
                <a:moveTo>
                  <a:pt x="38100" y="0"/>
                </a:moveTo>
                <a:lnTo>
                  <a:pt x="3552830" y="0"/>
                </a:lnTo>
                <a:cubicBezTo>
                  <a:pt x="3615953" y="0"/>
                  <a:pt x="3667125" y="51172"/>
                  <a:pt x="3667125" y="114295"/>
                </a:cubicBezTo>
                <a:lnTo>
                  <a:pt x="3667125" y="1381130"/>
                </a:lnTo>
                <a:cubicBezTo>
                  <a:pt x="3667125" y="1444253"/>
                  <a:pt x="3615953" y="1495425"/>
                  <a:pt x="3552830" y="1495425"/>
                </a:cubicBezTo>
                <a:lnTo>
                  <a:pt x="38100" y="1495425"/>
                </a:lnTo>
                <a:cubicBezTo>
                  <a:pt x="17072" y="1495425"/>
                  <a:pt x="0" y="1478353"/>
                  <a:pt x="0" y="1457325"/>
                </a:cubicBezTo>
                <a:lnTo>
                  <a:pt x="0" y="38100"/>
                </a:lnTo>
                <a:cubicBezTo>
                  <a:pt x="0" y="17072"/>
                  <a:pt x="17072" y="0"/>
                  <a:pt x="38100" y="0"/>
                </a:cubicBezTo>
                <a:close/>
              </a:path>
            </a:pathLst>
          </a:custGeom>
          <a:solidFill>
            <a:srgbClr val="FFFFFF"/>
          </a:solidFill>
          <a:ln/>
          <a:effectLst>
            <a:outerShdw blurRad="57150" dist="38100" dir="5400000" algn="bl" rotWithShape="0">
              <a:srgbClr val="000000">
                <a:alpha val="10196"/>
              </a:srgbClr>
            </a:outerShdw>
          </a:effectLst>
        </p:spPr>
      </p:sp>
      <p:sp>
        <p:nvSpPr>
          <p:cNvPr id="30" name="Shape 28"/>
          <p:cNvSpPr/>
          <p:nvPr/>
        </p:nvSpPr>
        <p:spPr>
          <a:xfrm>
            <a:off x="4273510" y="3289221"/>
            <a:ext cx="38100" cy="1495425"/>
          </a:xfrm>
          <a:custGeom>
            <a:avLst/>
            <a:gdLst/>
            <a:ahLst/>
            <a:cxnLst/>
            <a:rect l="l" t="t" r="r" b="b"/>
            <a:pathLst>
              <a:path w="38100" h="1495425">
                <a:moveTo>
                  <a:pt x="38100" y="0"/>
                </a:moveTo>
                <a:lnTo>
                  <a:pt x="38100" y="0"/>
                </a:lnTo>
                <a:lnTo>
                  <a:pt x="38100" y="1495425"/>
                </a:lnTo>
                <a:lnTo>
                  <a:pt x="38100" y="1495425"/>
                </a:lnTo>
                <a:cubicBezTo>
                  <a:pt x="17072" y="1495425"/>
                  <a:pt x="0" y="1478353"/>
                  <a:pt x="0" y="1457325"/>
                </a:cubicBezTo>
                <a:lnTo>
                  <a:pt x="0" y="38100"/>
                </a:lnTo>
                <a:cubicBezTo>
                  <a:pt x="0" y="17072"/>
                  <a:pt x="17072" y="0"/>
                  <a:pt x="38100" y="0"/>
                </a:cubicBezTo>
                <a:close/>
              </a:path>
            </a:pathLst>
          </a:custGeom>
          <a:solidFill>
            <a:srgbClr val="10B981"/>
          </a:solidFill>
          <a:ln/>
        </p:spPr>
      </p:sp>
      <p:sp>
        <p:nvSpPr>
          <p:cNvPr id="31" name="Shape 29"/>
          <p:cNvSpPr/>
          <p:nvPr/>
        </p:nvSpPr>
        <p:spPr>
          <a:xfrm>
            <a:off x="4483060" y="3809881"/>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10B981">
              <a:alpha val="10196"/>
            </a:srgbClr>
          </a:solidFill>
          <a:ln/>
        </p:spPr>
      </p:sp>
      <p:sp>
        <p:nvSpPr>
          <p:cNvPr id="32" name="Text 30"/>
          <p:cNvSpPr/>
          <p:nvPr/>
        </p:nvSpPr>
        <p:spPr>
          <a:xfrm>
            <a:off x="4598551" y="3905131"/>
            <a:ext cx="323850" cy="266700"/>
          </a:xfrm>
          <a:prstGeom prst="rect">
            <a:avLst/>
          </a:prstGeom>
          <a:noFill/>
          <a:ln/>
        </p:spPr>
        <p:txBody>
          <a:bodyPr wrap="square" lIns="0" tIns="0" rIns="0" bIns="0" rtlCol="0" anchor="ctr"/>
          <a:lstStyle/>
          <a:p>
            <a:pPr>
              <a:lnSpc>
                <a:spcPct val="120000"/>
              </a:lnSpc>
            </a:pPr>
            <a:r>
              <a:rPr lang="en-US" sz="1500" b="1" dirty="0">
                <a:solidFill>
                  <a:srgbClr val="10B981"/>
                </a:solidFill>
                <a:latin typeface="Quattrocento Sans" pitchFamily="34" charset="0"/>
                <a:ea typeface="Quattrocento Sans" pitchFamily="34" charset="-122"/>
                <a:cs typeface="Quattrocento Sans" pitchFamily="34" charset="-120"/>
              </a:rPr>
              <a:t>05</a:t>
            </a:r>
            <a:endParaRPr lang="en-US" sz="1600" dirty="0"/>
          </a:p>
        </p:txBody>
      </p:sp>
      <p:sp>
        <p:nvSpPr>
          <p:cNvPr id="33" name="Text 31"/>
          <p:cNvSpPr/>
          <p:nvPr/>
        </p:nvSpPr>
        <p:spPr>
          <a:xfrm>
            <a:off x="5092661" y="3790831"/>
            <a:ext cx="1743075" cy="266700"/>
          </a:xfrm>
          <a:prstGeom prst="rect">
            <a:avLst/>
          </a:prstGeom>
          <a:noFill/>
          <a:ln/>
        </p:spPr>
        <p:txBody>
          <a:bodyPr wrap="square" lIns="0" tIns="0" rIns="0" bIns="0" rtlCol="0" anchor="ctr"/>
          <a:lstStyle/>
          <a:p>
            <a:pPr>
              <a:lnSpc>
                <a:spcPct val="130000"/>
              </a:lnSpc>
            </a:pPr>
            <a:r>
              <a:rPr lang="en-US" sz="1350" b="1" dirty="0">
                <a:solidFill>
                  <a:srgbClr val="1E3A5F"/>
                </a:solidFill>
                <a:latin typeface="Liter" pitchFamily="34" charset="0"/>
                <a:ea typeface="Liter" pitchFamily="34" charset="-122"/>
                <a:cs typeface="Liter" pitchFamily="34" charset="-120"/>
              </a:rPr>
              <a:t>ER Diagram</a:t>
            </a:r>
            <a:endParaRPr lang="en-US" sz="1600" dirty="0"/>
          </a:p>
        </p:txBody>
      </p:sp>
      <p:sp>
        <p:nvSpPr>
          <p:cNvPr id="34" name="Text 32"/>
          <p:cNvSpPr/>
          <p:nvPr/>
        </p:nvSpPr>
        <p:spPr>
          <a:xfrm>
            <a:off x="5092661" y="4095631"/>
            <a:ext cx="1724025" cy="190500"/>
          </a:xfrm>
          <a:prstGeom prst="rect">
            <a:avLst/>
          </a:prstGeom>
          <a:noFill/>
          <a:ln/>
        </p:spPr>
        <p:txBody>
          <a:bodyPr wrap="square" lIns="0" tIns="0" rIns="0" bIns="0" rtlCol="0" anchor="ctr"/>
          <a:lstStyle/>
          <a:p>
            <a:pPr>
              <a:lnSpc>
                <a:spcPct val="120000"/>
              </a:lnSpc>
            </a:pPr>
            <a:r>
              <a:rPr lang="en-US" sz="1050" dirty="0">
                <a:solidFill>
                  <a:srgbClr val="1E293B">
                    <a:alpha val="70000"/>
                  </a:srgbClr>
                </a:solidFill>
                <a:latin typeface="Quattrocento Sans" pitchFamily="34" charset="0"/>
                <a:ea typeface="Quattrocento Sans" pitchFamily="34" charset="-122"/>
                <a:cs typeface="Quattrocento Sans" pitchFamily="34" charset="-120"/>
              </a:rPr>
              <a:t>Database entity relationships</a:t>
            </a:r>
            <a:endParaRPr lang="en-US" sz="1600" dirty="0"/>
          </a:p>
        </p:txBody>
      </p:sp>
      <p:sp>
        <p:nvSpPr>
          <p:cNvPr id="35" name="Shape 33"/>
          <p:cNvSpPr/>
          <p:nvPr/>
        </p:nvSpPr>
        <p:spPr>
          <a:xfrm>
            <a:off x="8146971" y="3289221"/>
            <a:ext cx="3667125" cy="1495425"/>
          </a:xfrm>
          <a:custGeom>
            <a:avLst/>
            <a:gdLst/>
            <a:ahLst/>
            <a:cxnLst/>
            <a:rect l="l" t="t" r="r" b="b"/>
            <a:pathLst>
              <a:path w="3667125" h="1495425">
                <a:moveTo>
                  <a:pt x="38100" y="0"/>
                </a:moveTo>
                <a:lnTo>
                  <a:pt x="3552830" y="0"/>
                </a:lnTo>
                <a:cubicBezTo>
                  <a:pt x="3615953" y="0"/>
                  <a:pt x="3667125" y="51172"/>
                  <a:pt x="3667125" y="114295"/>
                </a:cubicBezTo>
                <a:lnTo>
                  <a:pt x="3667125" y="1381130"/>
                </a:lnTo>
                <a:cubicBezTo>
                  <a:pt x="3667125" y="1444253"/>
                  <a:pt x="3615953" y="1495425"/>
                  <a:pt x="3552830" y="1495425"/>
                </a:cubicBezTo>
                <a:lnTo>
                  <a:pt x="38100" y="1495425"/>
                </a:lnTo>
                <a:cubicBezTo>
                  <a:pt x="17072" y="1495425"/>
                  <a:pt x="0" y="1478353"/>
                  <a:pt x="0" y="1457325"/>
                </a:cubicBezTo>
                <a:lnTo>
                  <a:pt x="0" y="38100"/>
                </a:lnTo>
                <a:cubicBezTo>
                  <a:pt x="0" y="17072"/>
                  <a:pt x="17072" y="0"/>
                  <a:pt x="38100" y="0"/>
                </a:cubicBezTo>
                <a:close/>
              </a:path>
            </a:pathLst>
          </a:custGeom>
          <a:solidFill>
            <a:srgbClr val="FFFFFF"/>
          </a:solidFill>
          <a:ln/>
          <a:effectLst>
            <a:outerShdw blurRad="57150" dist="38100" dir="5400000" algn="bl" rotWithShape="0">
              <a:srgbClr val="000000">
                <a:alpha val="10196"/>
              </a:srgbClr>
            </a:outerShdw>
          </a:effectLst>
        </p:spPr>
      </p:sp>
      <p:sp>
        <p:nvSpPr>
          <p:cNvPr id="36" name="Shape 34"/>
          <p:cNvSpPr/>
          <p:nvPr/>
        </p:nvSpPr>
        <p:spPr>
          <a:xfrm>
            <a:off x="8146971" y="3289221"/>
            <a:ext cx="38100" cy="1495425"/>
          </a:xfrm>
          <a:custGeom>
            <a:avLst/>
            <a:gdLst/>
            <a:ahLst/>
            <a:cxnLst/>
            <a:rect l="l" t="t" r="r" b="b"/>
            <a:pathLst>
              <a:path w="38100" h="1495425">
                <a:moveTo>
                  <a:pt x="38100" y="0"/>
                </a:moveTo>
                <a:lnTo>
                  <a:pt x="38100" y="0"/>
                </a:lnTo>
                <a:lnTo>
                  <a:pt x="38100" y="1495425"/>
                </a:lnTo>
                <a:lnTo>
                  <a:pt x="38100" y="1495425"/>
                </a:lnTo>
                <a:cubicBezTo>
                  <a:pt x="17072" y="1495425"/>
                  <a:pt x="0" y="1478353"/>
                  <a:pt x="0" y="1457325"/>
                </a:cubicBezTo>
                <a:lnTo>
                  <a:pt x="0" y="38100"/>
                </a:lnTo>
                <a:cubicBezTo>
                  <a:pt x="0" y="17072"/>
                  <a:pt x="17072" y="0"/>
                  <a:pt x="38100" y="0"/>
                </a:cubicBezTo>
                <a:close/>
              </a:path>
            </a:pathLst>
          </a:custGeom>
          <a:solidFill>
            <a:srgbClr val="10B981"/>
          </a:solidFill>
          <a:ln/>
        </p:spPr>
      </p:sp>
      <p:sp>
        <p:nvSpPr>
          <p:cNvPr id="37" name="Shape 35"/>
          <p:cNvSpPr/>
          <p:nvPr/>
        </p:nvSpPr>
        <p:spPr>
          <a:xfrm>
            <a:off x="8356521" y="3809881"/>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10B981">
              <a:alpha val="10196"/>
            </a:srgbClr>
          </a:solidFill>
          <a:ln/>
        </p:spPr>
      </p:sp>
      <p:sp>
        <p:nvSpPr>
          <p:cNvPr id="38" name="Text 36"/>
          <p:cNvSpPr/>
          <p:nvPr/>
        </p:nvSpPr>
        <p:spPr>
          <a:xfrm>
            <a:off x="8470821" y="3905131"/>
            <a:ext cx="323850" cy="266700"/>
          </a:xfrm>
          <a:prstGeom prst="rect">
            <a:avLst/>
          </a:prstGeom>
          <a:noFill/>
          <a:ln/>
        </p:spPr>
        <p:txBody>
          <a:bodyPr wrap="square" lIns="0" tIns="0" rIns="0" bIns="0" rtlCol="0" anchor="ctr"/>
          <a:lstStyle/>
          <a:p>
            <a:pPr>
              <a:lnSpc>
                <a:spcPct val="120000"/>
              </a:lnSpc>
            </a:pPr>
            <a:r>
              <a:rPr lang="en-US" sz="1500" b="1" dirty="0">
                <a:solidFill>
                  <a:srgbClr val="10B981"/>
                </a:solidFill>
                <a:latin typeface="Quattrocento Sans" pitchFamily="34" charset="0"/>
                <a:ea typeface="Quattrocento Sans" pitchFamily="34" charset="-122"/>
                <a:cs typeface="Quattrocento Sans" pitchFamily="34" charset="-120"/>
              </a:rPr>
              <a:t>06</a:t>
            </a:r>
            <a:endParaRPr lang="en-US" sz="1600" dirty="0"/>
          </a:p>
        </p:txBody>
      </p:sp>
      <p:sp>
        <p:nvSpPr>
          <p:cNvPr id="39" name="Text 37"/>
          <p:cNvSpPr/>
          <p:nvPr/>
        </p:nvSpPr>
        <p:spPr>
          <a:xfrm>
            <a:off x="8966121" y="3790831"/>
            <a:ext cx="1714500" cy="266700"/>
          </a:xfrm>
          <a:prstGeom prst="rect">
            <a:avLst/>
          </a:prstGeom>
          <a:noFill/>
          <a:ln/>
        </p:spPr>
        <p:txBody>
          <a:bodyPr wrap="square" lIns="0" tIns="0" rIns="0" bIns="0" rtlCol="0" anchor="ctr"/>
          <a:lstStyle/>
          <a:p>
            <a:pPr>
              <a:lnSpc>
                <a:spcPct val="130000"/>
              </a:lnSpc>
            </a:pPr>
            <a:r>
              <a:rPr lang="en-US" sz="1350" b="1" dirty="0">
                <a:solidFill>
                  <a:srgbClr val="1E3A5F"/>
                </a:solidFill>
                <a:latin typeface="Liter" pitchFamily="34" charset="0"/>
                <a:ea typeface="Liter" pitchFamily="34" charset="-122"/>
                <a:cs typeface="Liter" pitchFamily="34" charset="-120"/>
              </a:rPr>
              <a:t>Gap Analysis</a:t>
            </a:r>
            <a:endParaRPr lang="en-US" sz="1600" dirty="0"/>
          </a:p>
        </p:txBody>
      </p:sp>
      <p:sp>
        <p:nvSpPr>
          <p:cNvPr id="40" name="Text 38"/>
          <p:cNvSpPr/>
          <p:nvPr/>
        </p:nvSpPr>
        <p:spPr>
          <a:xfrm>
            <a:off x="8966121" y="4095631"/>
            <a:ext cx="1695450" cy="190500"/>
          </a:xfrm>
          <a:prstGeom prst="rect">
            <a:avLst/>
          </a:prstGeom>
          <a:noFill/>
          <a:ln/>
        </p:spPr>
        <p:txBody>
          <a:bodyPr wrap="square" lIns="0" tIns="0" rIns="0" bIns="0" rtlCol="0" anchor="ctr"/>
          <a:lstStyle/>
          <a:p>
            <a:pPr>
              <a:lnSpc>
                <a:spcPct val="120000"/>
              </a:lnSpc>
            </a:pPr>
            <a:r>
              <a:rPr lang="en-US" sz="1050" dirty="0">
                <a:solidFill>
                  <a:srgbClr val="1E293B">
                    <a:alpha val="70000"/>
                  </a:srgbClr>
                </a:solidFill>
                <a:latin typeface="Quattrocento Sans" pitchFamily="34" charset="0"/>
                <a:ea typeface="Quattrocento Sans" pitchFamily="34" charset="-122"/>
                <a:cs typeface="Quattrocento Sans" pitchFamily="34" charset="-120"/>
              </a:rPr>
              <a:t>Existing vs proposed system</a:t>
            </a:r>
            <a:endParaRPr lang="en-US" sz="1600" dirty="0"/>
          </a:p>
        </p:txBody>
      </p:sp>
      <p:sp>
        <p:nvSpPr>
          <p:cNvPr id="41" name="Shape 39"/>
          <p:cNvSpPr/>
          <p:nvPr/>
        </p:nvSpPr>
        <p:spPr>
          <a:xfrm>
            <a:off x="400050" y="4978360"/>
            <a:ext cx="3667125" cy="1495425"/>
          </a:xfrm>
          <a:custGeom>
            <a:avLst/>
            <a:gdLst/>
            <a:ahLst/>
            <a:cxnLst/>
            <a:rect l="l" t="t" r="r" b="b"/>
            <a:pathLst>
              <a:path w="3667125" h="1495425">
                <a:moveTo>
                  <a:pt x="38100" y="0"/>
                </a:moveTo>
                <a:lnTo>
                  <a:pt x="3552830" y="0"/>
                </a:lnTo>
                <a:cubicBezTo>
                  <a:pt x="3615953" y="0"/>
                  <a:pt x="3667125" y="51172"/>
                  <a:pt x="3667125" y="114295"/>
                </a:cubicBezTo>
                <a:lnTo>
                  <a:pt x="3667125" y="1381130"/>
                </a:lnTo>
                <a:cubicBezTo>
                  <a:pt x="3667125" y="1444253"/>
                  <a:pt x="3615953" y="1495425"/>
                  <a:pt x="3552830" y="1495425"/>
                </a:cubicBezTo>
                <a:lnTo>
                  <a:pt x="38100" y="1495425"/>
                </a:lnTo>
                <a:cubicBezTo>
                  <a:pt x="17072" y="1495425"/>
                  <a:pt x="0" y="1478353"/>
                  <a:pt x="0" y="1457325"/>
                </a:cubicBezTo>
                <a:lnTo>
                  <a:pt x="0" y="38100"/>
                </a:lnTo>
                <a:cubicBezTo>
                  <a:pt x="0" y="17072"/>
                  <a:pt x="17072" y="0"/>
                  <a:pt x="38100" y="0"/>
                </a:cubicBezTo>
                <a:close/>
              </a:path>
            </a:pathLst>
          </a:custGeom>
          <a:solidFill>
            <a:srgbClr val="FFFFFF"/>
          </a:solidFill>
          <a:ln/>
          <a:effectLst>
            <a:outerShdw blurRad="57150" dist="38100" dir="5400000" algn="bl" rotWithShape="0">
              <a:srgbClr val="000000">
                <a:alpha val="10196"/>
              </a:srgbClr>
            </a:outerShdw>
          </a:effectLst>
        </p:spPr>
      </p:sp>
      <p:sp>
        <p:nvSpPr>
          <p:cNvPr id="42" name="Shape 40"/>
          <p:cNvSpPr/>
          <p:nvPr/>
        </p:nvSpPr>
        <p:spPr>
          <a:xfrm>
            <a:off x="400050" y="4978360"/>
            <a:ext cx="38100" cy="1495425"/>
          </a:xfrm>
          <a:custGeom>
            <a:avLst/>
            <a:gdLst/>
            <a:ahLst/>
            <a:cxnLst/>
            <a:rect l="l" t="t" r="r" b="b"/>
            <a:pathLst>
              <a:path w="38100" h="1495425">
                <a:moveTo>
                  <a:pt x="38100" y="0"/>
                </a:moveTo>
                <a:lnTo>
                  <a:pt x="38100" y="0"/>
                </a:lnTo>
                <a:lnTo>
                  <a:pt x="38100" y="1495425"/>
                </a:lnTo>
                <a:lnTo>
                  <a:pt x="38100" y="1495425"/>
                </a:lnTo>
                <a:cubicBezTo>
                  <a:pt x="17072" y="1495425"/>
                  <a:pt x="0" y="1478353"/>
                  <a:pt x="0" y="1457325"/>
                </a:cubicBezTo>
                <a:lnTo>
                  <a:pt x="0" y="38100"/>
                </a:lnTo>
                <a:cubicBezTo>
                  <a:pt x="0" y="17072"/>
                  <a:pt x="17072" y="0"/>
                  <a:pt x="38100" y="0"/>
                </a:cubicBezTo>
                <a:close/>
              </a:path>
            </a:pathLst>
          </a:custGeom>
          <a:solidFill>
            <a:srgbClr val="1E3A5F"/>
          </a:solidFill>
          <a:ln/>
        </p:spPr>
      </p:sp>
      <p:sp>
        <p:nvSpPr>
          <p:cNvPr id="43" name="Shape 41"/>
          <p:cNvSpPr/>
          <p:nvPr/>
        </p:nvSpPr>
        <p:spPr>
          <a:xfrm>
            <a:off x="609600" y="5499021"/>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1E3A5F">
              <a:alpha val="10196"/>
            </a:srgbClr>
          </a:solidFill>
          <a:ln/>
        </p:spPr>
      </p:sp>
      <p:sp>
        <p:nvSpPr>
          <p:cNvPr id="44" name="Text 42"/>
          <p:cNvSpPr/>
          <p:nvPr/>
        </p:nvSpPr>
        <p:spPr>
          <a:xfrm>
            <a:off x="732830" y="5594271"/>
            <a:ext cx="304800" cy="266700"/>
          </a:xfrm>
          <a:prstGeom prst="rect">
            <a:avLst/>
          </a:prstGeom>
          <a:noFill/>
          <a:ln/>
        </p:spPr>
        <p:txBody>
          <a:bodyPr wrap="square" lIns="0" tIns="0" rIns="0" bIns="0" rtlCol="0" anchor="ctr"/>
          <a:lstStyle/>
          <a:p>
            <a:pPr>
              <a:lnSpc>
                <a:spcPct val="120000"/>
              </a:lnSpc>
            </a:pPr>
            <a:r>
              <a:rPr lang="en-US" sz="1500" b="1" dirty="0">
                <a:solidFill>
                  <a:srgbClr val="1E3A5F"/>
                </a:solidFill>
                <a:latin typeface="Quattrocento Sans" pitchFamily="34" charset="0"/>
                <a:ea typeface="Quattrocento Sans" pitchFamily="34" charset="-122"/>
                <a:cs typeface="Quattrocento Sans" pitchFamily="34" charset="-120"/>
              </a:rPr>
              <a:t>07</a:t>
            </a:r>
            <a:endParaRPr lang="en-US" sz="1600" dirty="0"/>
          </a:p>
        </p:txBody>
      </p:sp>
      <p:sp>
        <p:nvSpPr>
          <p:cNvPr id="45" name="Text 43"/>
          <p:cNvSpPr/>
          <p:nvPr/>
        </p:nvSpPr>
        <p:spPr>
          <a:xfrm>
            <a:off x="1219200" y="5479971"/>
            <a:ext cx="1724025" cy="266700"/>
          </a:xfrm>
          <a:prstGeom prst="rect">
            <a:avLst/>
          </a:prstGeom>
          <a:noFill/>
          <a:ln/>
        </p:spPr>
        <p:txBody>
          <a:bodyPr wrap="square" lIns="0" tIns="0" rIns="0" bIns="0" rtlCol="0" anchor="ctr"/>
          <a:lstStyle/>
          <a:p>
            <a:pPr>
              <a:lnSpc>
                <a:spcPct val="130000"/>
              </a:lnSpc>
            </a:pPr>
            <a:r>
              <a:rPr lang="en-US" sz="1350" b="1" dirty="0">
                <a:solidFill>
                  <a:srgbClr val="1E3A5F"/>
                </a:solidFill>
                <a:latin typeface="Liter" pitchFamily="34" charset="0"/>
                <a:ea typeface="Liter" pitchFamily="34" charset="-122"/>
                <a:cs typeface="Liter" pitchFamily="34" charset="-120"/>
              </a:rPr>
              <a:t>Tools &amp; Technologies</a:t>
            </a:r>
            <a:endParaRPr lang="en-US" sz="1600" dirty="0"/>
          </a:p>
        </p:txBody>
      </p:sp>
      <p:sp>
        <p:nvSpPr>
          <p:cNvPr id="46" name="Text 44"/>
          <p:cNvSpPr/>
          <p:nvPr/>
        </p:nvSpPr>
        <p:spPr>
          <a:xfrm>
            <a:off x="1219200" y="5784771"/>
            <a:ext cx="1704975" cy="190500"/>
          </a:xfrm>
          <a:prstGeom prst="rect">
            <a:avLst/>
          </a:prstGeom>
          <a:noFill/>
          <a:ln/>
        </p:spPr>
        <p:txBody>
          <a:bodyPr wrap="square" lIns="0" tIns="0" rIns="0" bIns="0" rtlCol="0" anchor="ctr"/>
          <a:lstStyle/>
          <a:p>
            <a:pPr>
              <a:lnSpc>
                <a:spcPct val="120000"/>
              </a:lnSpc>
            </a:pPr>
            <a:r>
              <a:rPr lang="en-US" sz="1050" dirty="0">
                <a:solidFill>
                  <a:srgbClr val="1E293B">
                    <a:alpha val="70000"/>
                  </a:srgbClr>
                </a:solidFill>
                <a:latin typeface="Quattrocento Sans" pitchFamily="34" charset="0"/>
                <a:ea typeface="Quattrocento Sans" pitchFamily="34" charset="-122"/>
                <a:cs typeface="Quattrocento Sans" pitchFamily="34" charset="-120"/>
              </a:rPr>
              <a:t>Technology stack overview</a:t>
            </a:r>
            <a:endParaRPr lang="en-US" sz="1600" dirty="0"/>
          </a:p>
        </p:txBody>
      </p:sp>
      <p:sp>
        <p:nvSpPr>
          <p:cNvPr id="47" name="Shape 45"/>
          <p:cNvSpPr/>
          <p:nvPr/>
        </p:nvSpPr>
        <p:spPr>
          <a:xfrm>
            <a:off x="4273510" y="4978360"/>
            <a:ext cx="3667125" cy="1495425"/>
          </a:xfrm>
          <a:custGeom>
            <a:avLst/>
            <a:gdLst/>
            <a:ahLst/>
            <a:cxnLst/>
            <a:rect l="l" t="t" r="r" b="b"/>
            <a:pathLst>
              <a:path w="3667125" h="1495425">
                <a:moveTo>
                  <a:pt x="38100" y="0"/>
                </a:moveTo>
                <a:lnTo>
                  <a:pt x="3552830" y="0"/>
                </a:lnTo>
                <a:cubicBezTo>
                  <a:pt x="3615953" y="0"/>
                  <a:pt x="3667125" y="51172"/>
                  <a:pt x="3667125" y="114295"/>
                </a:cubicBezTo>
                <a:lnTo>
                  <a:pt x="3667125" y="1381130"/>
                </a:lnTo>
                <a:cubicBezTo>
                  <a:pt x="3667125" y="1444253"/>
                  <a:pt x="3615953" y="1495425"/>
                  <a:pt x="3552830" y="1495425"/>
                </a:cubicBezTo>
                <a:lnTo>
                  <a:pt x="38100" y="1495425"/>
                </a:lnTo>
                <a:cubicBezTo>
                  <a:pt x="17072" y="1495425"/>
                  <a:pt x="0" y="1478353"/>
                  <a:pt x="0" y="1457325"/>
                </a:cubicBezTo>
                <a:lnTo>
                  <a:pt x="0" y="38100"/>
                </a:lnTo>
                <a:cubicBezTo>
                  <a:pt x="0" y="17072"/>
                  <a:pt x="17072" y="0"/>
                  <a:pt x="38100" y="0"/>
                </a:cubicBezTo>
                <a:close/>
              </a:path>
            </a:pathLst>
          </a:custGeom>
          <a:solidFill>
            <a:srgbClr val="FFFFFF"/>
          </a:solidFill>
          <a:ln/>
          <a:effectLst>
            <a:outerShdw blurRad="57150" dist="38100" dir="5400000" algn="bl" rotWithShape="0">
              <a:srgbClr val="000000">
                <a:alpha val="10196"/>
              </a:srgbClr>
            </a:outerShdw>
          </a:effectLst>
        </p:spPr>
      </p:sp>
      <p:sp>
        <p:nvSpPr>
          <p:cNvPr id="48" name="Shape 46"/>
          <p:cNvSpPr/>
          <p:nvPr/>
        </p:nvSpPr>
        <p:spPr>
          <a:xfrm>
            <a:off x="4273510" y="4978360"/>
            <a:ext cx="38100" cy="1495425"/>
          </a:xfrm>
          <a:custGeom>
            <a:avLst/>
            <a:gdLst/>
            <a:ahLst/>
            <a:cxnLst/>
            <a:rect l="l" t="t" r="r" b="b"/>
            <a:pathLst>
              <a:path w="38100" h="1495425">
                <a:moveTo>
                  <a:pt x="38100" y="0"/>
                </a:moveTo>
                <a:lnTo>
                  <a:pt x="38100" y="0"/>
                </a:lnTo>
                <a:lnTo>
                  <a:pt x="38100" y="1495425"/>
                </a:lnTo>
                <a:lnTo>
                  <a:pt x="38100" y="1495425"/>
                </a:lnTo>
                <a:cubicBezTo>
                  <a:pt x="17072" y="1495425"/>
                  <a:pt x="0" y="1478353"/>
                  <a:pt x="0" y="1457325"/>
                </a:cubicBezTo>
                <a:lnTo>
                  <a:pt x="0" y="38100"/>
                </a:lnTo>
                <a:cubicBezTo>
                  <a:pt x="0" y="17072"/>
                  <a:pt x="17072" y="0"/>
                  <a:pt x="38100" y="0"/>
                </a:cubicBezTo>
                <a:close/>
              </a:path>
            </a:pathLst>
          </a:custGeom>
          <a:solidFill>
            <a:srgbClr val="1E3A5F"/>
          </a:solidFill>
          <a:ln/>
        </p:spPr>
      </p:sp>
      <p:sp>
        <p:nvSpPr>
          <p:cNvPr id="49" name="Shape 47"/>
          <p:cNvSpPr/>
          <p:nvPr/>
        </p:nvSpPr>
        <p:spPr>
          <a:xfrm>
            <a:off x="4483060" y="5499021"/>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1E3A5F">
              <a:alpha val="10196"/>
            </a:srgbClr>
          </a:solidFill>
          <a:ln/>
        </p:spPr>
      </p:sp>
      <p:sp>
        <p:nvSpPr>
          <p:cNvPr id="50" name="Text 48"/>
          <p:cNvSpPr/>
          <p:nvPr/>
        </p:nvSpPr>
        <p:spPr>
          <a:xfrm>
            <a:off x="4596646" y="5594271"/>
            <a:ext cx="323850" cy="266700"/>
          </a:xfrm>
          <a:prstGeom prst="rect">
            <a:avLst/>
          </a:prstGeom>
          <a:noFill/>
          <a:ln/>
        </p:spPr>
        <p:txBody>
          <a:bodyPr wrap="square" lIns="0" tIns="0" rIns="0" bIns="0" rtlCol="0" anchor="ctr"/>
          <a:lstStyle/>
          <a:p>
            <a:pPr>
              <a:lnSpc>
                <a:spcPct val="120000"/>
              </a:lnSpc>
            </a:pPr>
            <a:r>
              <a:rPr lang="en-US" sz="1500" b="1" dirty="0">
                <a:solidFill>
                  <a:srgbClr val="1E3A5F"/>
                </a:solidFill>
                <a:latin typeface="Quattrocento Sans" pitchFamily="34" charset="0"/>
                <a:ea typeface="Quattrocento Sans" pitchFamily="34" charset="-122"/>
                <a:cs typeface="Quattrocento Sans" pitchFamily="34" charset="-120"/>
              </a:rPr>
              <a:t>08</a:t>
            </a:r>
            <a:endParaRPr lang="en-US" sz="1600" dirty="0"/>
          </a:p>
        </p:txBody>
      </p:sp>
      <p:sp>
        <p:nvSpPr>
          <p:cNvPr id="51" name="Text 49"/>
          <p:cNvSpPr/>
          <p:nvPr/>
        </p:nvSpPr>
        <p:spPr>
          <a:xfrm>
            <a:off x="5092661" y="5479971"/>
            <a:ext cx="1819275" cy="266700"/>
          </a:xfrm>
          <a:prstGeom prst="rect">
            <a:avLst/>
          </a:prstGeom>
          <a:noFill/>
          <a:ln/>
        </p:spPr>
        <p:txBody>
          <a:bodyPr wrap="square" lIns="0" tIns="0" rIns="0" bIns="0" rtlCol="0" anchor="ctr"/>
          <a:lstStyle/>
          <a:p>
            <a:pPr>
              <a:lnSpc>
                <a:spcPct val="130000"/>
              </a:lnSpc>
            </a:pPr>
            <a:r>
              <a:rPr lang="en-US" sz="1350" b="1" dirty="0">
                <a:solidFill>
                  <a:srgbClr val="1E3A5F"/>
                </a:solidFill>
                <a:latin typeface="Liter" pitchFamily="34" charset="0"/>
                <a:ea typeface="Liter" pitchFamily="34" charset="-122"/>
                <a:cs typeface="Liter" pitchFamily="34" charset="-120"/>
              </a:rPr>
              <a:t>Work Distribution</a:t>
            </a:r>
            <a:endParaRPr lang="en-US" sz="1600" dirty="0"/>
          </a:p>
        </p:txBody>
      </p:sp>
      <p:sp>
        <p:nvSpPr>
          <p:cNvPr id="52" name="Text 50"/>
          <p:cNvSpPr/>
          <p:nvPr/>
        </p:nvSpPr>
        <p:spPr>
          <a:xfrm>
            <a:off x="5092661" y="5784771"/>
            <a:ext cx="1800225" cy="190500"/>
          </a:xfrm>
          <a:prstGeom prst="rect">
            <a:avLst/>
          </a:prstGeom>
          <a:noFill/>
          <a:ln/>
        </p:spPr>
        <p:txBody>
          <a:bodyPr wrap="square" lIns="0" tIns="0" rIns="0" bIns="0" rtlCol="0" anchor="ctr"/>
          <a:lstStyle/>
          <a:p>
            <a:pPr>
              <a:lnSpc>
                <a:spcPct val="120000"/>
              </a:lnSpc>
            </a:pPr>
            <a:r>
              <a:rPr lang="en-US" sz="1050" dirty="0">
                <a:solidFill>
                  <a:srgbClr val="1E293B">
                    <a:alpha val="70000"/>
                  </a:srgbClr>
                </a:solidFill>
                <a:latin typeface="Quattrocento Sans" pitchFamily="34" charset="0"/>
                <a:ea typeface="Quattrocento Sans" pitchFamily="34" charset="-122"/>
                <a:cs typeface="Quattrocento Sans" pitchFamily="34" charset="-120"/>
              </a:rPr>
              <a:t>Team member responsibilities</a:t>
            </a:r>
            <a:endParaRPr lang="en-US" sz="1600" dirty="0"/>
          </a:p>
        </p:txBody>
      </p:sp>
      <p:sp>
        <p:nvSpPr>
          <p:cNvPr id="53" name="Shape 51"/>
          <p:cNvSpPr/>
          <p:nvPr/>
        </p:nvSpPr>
        <p:spPr>
          <a:xfrm>
            <a:off x="8146971" y="4978360"/>
            <a:ext cx="3667125" cy="1495425"/>
          </a:xfrm>
          <a:custGeom>
            <a:avLst/>
            <a:gdLst/>
            <a:ahLst/>
            <a:cxnLst/>
            <a:rect l="l" t="t" r="r" b="b"/>
            <a:pathLst>
              <a:path w="3667125" h="1495425">
                <a:moveTo>
                  <a:pt x="38100" y="0"/>
                </a:moveTo>
                <a:lnTo>
                  <a:pt x="3552830" y="0"/>
                </a:lnTo>
                <a:cubicBezTo>
                  <a:pt x="3615953" y="0"/>
                  <a:pt x="3667125" y="51172"/>
                  <a:pt x="3667125" y="114295"/>
                </a:cubicBezTo>
                <a:lnTo>
                  <a:pt x="3667125" y="1381130"/>
                </a:lnTo>
                <a:cubicBezTo>
                  <a:pt x="3667125" y="1444253"/>
                  <a:pt x="3615953" y="1495425"/>
                  <a:pt x="3552830" y="1495425"/>
                </a:cubicBezTo>
                <a:lnTo>
                  <a:pt x="38100" y="1495425"/>
                </a:lnTo>
                <a:cubicBezTo>
                  <a:pt x="17072" y="1495425"/>
                  <a:pt x="0" y="1478353"/>
                  <a:pt x="0" y="1457325"/>
                </a:cubicBezTo>
                <a:lnTo>
                  <a:pt x="0" y="38100"/>
                </a:lnTo>
                <a:cubicBezTo>
                  <a:pt x="0" y="17072"/>
                  <a:pt x="17072" y="0"/>
                  <a:pt x="38100" y="0"/>
                </a:cubicBezTo>
                <a:close/>
              </a:path>
            </a:pathLst>
          </a:custGeom>
          <a:solidFill>
            <a:srgbClr val="FFFFFF"/>
          </a:solidFill>
          <a:ln/>
          <a:effectLst>
            <a:outerShdw blurRad="57150" dist="38100" dir="5400000" algn="bl" rotWithShape="0">
              <a:srgbClr val="000000">
                <a:alpha val="10196"/>
              </a:srgbClr>
            </a:outerShdw>
          </a:effectLst>
        </p:spPr>
      </p:sp>
      <p:sp>
        <p:nvSpPr>
          <p:cNvPr id="54" name="Shape 52"/>
          <p:cNvSpPr/>
          <p:nvPr/>
        </p:nvSpPr>
        <p:spPr>
          <a:xfrm>
            <a:off x="8146971" y="4978360"/>
            <a:ext cx="38100" cy="1495425"/>
          </a:xfrm>
          <a:custGeom>
            <a:avLst/>
            <a:gdLst/>
            <a:ahLst/>
            <a:cxnLst/>
            <a:rect l="l" t="t" r="r" b="b"/>
            <a:pathLst>
              <a:path w="38100" h="1495425">
                <a:moveTo>
                  <a:pt x="38100" y="0"/>
                </a:moveTo>
                <a:lnTo>
                  <a:pt x="38100" y="0"/>
                </a:lnTo>
                <a:lnTo>
                  <a:pt x="38100" y="1495425"/>
                </a:lnTo>
                <a:lnTo>
                  <a:pt x="38100" y="1495425"/>
                </a:lnTo>
                <a:cubicBezTo>
                  <a:pt x="17072" y="1495425"/>
                  <a:pt x="0" y="1478353"/>
                  <a:pt x="0" y="1457325"/>
                </a:cubicBezTo>
                <a:lnTo>
                  <a:pt x="0" y="38100"/>
                </a:lnTo>
                <a:cubicBezTo>
                  <a:pt x="0" y="17072"/>
                  <a:pt x="17072" y="0"/>
                  <a:pt x="38100" y="0"/>
                </a:cubicBezTo>
                <a:close/>
              </a:path>
            </a:pathLst>
          </a:custGeom>
          <a:solidFill>
            <a:srgbClr val="1E3A5F"/>
          </a:solidFill>
          <a:ln/>
        </p:spPr>
      </p:sp>
      <p:sp>
        <p:nvSpPr>
          <p:cNvPr id="55" name="Shape 53"/>
          <p:cNvSpPr/>
          <p:nvPr/>
        </p:nvSpPr>
        <p:spPr>
          <a:xfrm>
            <a:off x="8356521" y="5499021"/>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1E3A5F">
              <a:alpha val="10196"/>
            </a:srgbClr>
          </a:solidFill>
          <a:ln/>
        </p:spPr>
      </p:sp>
      <p:sp>
        <p:nvSpPr>
          <p:cNvPr id="56" name="Text 54"/>
          <p:cNvSpPr/>
          <p:nvPr/>
        </p:nvSpPr>
        <p:spPr>
          <a:xfrm>
            <a:off x="8470702" y="5594271"/>
            <a:ext cx="323850" cy="266700"/>
          </a:xfrm>
          <a:prstGeom prst="rect">
            <a:avLst/>
          </a:prstGeom>
          <a:noFill/>
          <a:ln/>
        </p:spPr>
        <p:txBody>
          <a:bodyPr wrap="square" lIns="0" tIns="0" rIns="0" bIns="0" rtlCol="0" anchor="ctr"/>
          <a:lstStyle/>
          <a:p>
            <a:pPr>
              <a:lnSpc>
                <a:spcPct val="120000"/>
              </a:lnSpc>
            </a:pPr>
            <a:r>
              <a:rPr lang="en-US" sz="1500" b="1" dirty="0">
                <a:solidFill>
                  <a:srgbClr val="1E3A5F"/>
                </a:solidFill>
                <a:latin typeface="Quattrocento Sans" pitchFamily="34" charset="0"/>
                <a:ea typeface="Quattrocento Sans" pitchFamily="34" charset="-122"/>
                <a:cs typeface="Quattrocento Sans" pitchFamily="34" charset="-120"/>
              </a:rPr>
              <a:t>09</a:t>
            </a:r>
            <a:endParaRPr lang="en-US" sz="1600" dirty="0"/>
          </a:p>
        </p:txBody>
      </p:sp>
      <p:sp>
        <p:nvSpPr>
          <p:cNvPr id="57" name="Text 55"/>
          <p:cNvSpPr/>
          <p:nvPr/>
        </p:nvSpPr>
        <p:spPr>
          <a:xfrm>
            <a:off x="8966121" y="5479971"/>
            <a:ext cx="1771650" cy="266700"/>
          </a:xfrm>
          <a:prstGeom prst="rect">
            <a:avLst/>
          </a:prstGeom>
          <a:noFill/>
          <a:ln/>
        </p:spPr>
        <p:txBody>
          <a:bodyPr wrap="square" lIns="0" tIns="0" rIns="0" bIns="0" rtlCol="0" anchor="ctr"/>
          <a:lstStyle/>
          <a:p>
            <a:pPr>
              <a:lnSpc>
                <a:spcPct val="130000"/>
              </a:lnSpc>
            </a:pPr>
            <a:r>
              <a:rPr lang="en-US" sz="1350" b="1" dirty="0">
                <a:solidFill>
                  <a:srgbClr val="1E3A5F"/>
                </a:solidFill>
                <a:latin typeface="Liter" pitchFamily="34" charset="0"/>
                <a:ea typeface="Liter" pitchFamily="34" charset="-122"/>
                <a:cs typeface="Liter" pitchFamily="34" charset="-120"/>
              </a:rPr>
              <a:t>Conclusion</a:t>
            </a:r>
            <a:endParaRPr lang="en-US" sz="1600" dirty="0"/>
          </a:p>
        </p:txBody>
      </p:sp>
      <p:sp>
        <p:nvSpPr>
          <p:cNvPr id="58" name="Text 56"/>
          <p:cNvSpPr/>
          <p:nvPr/>
        </p:nvSpPr>
        <p:spPr>
          <a:xfrm>
            <a:off x="8966121" y="5784771"/>
            <a:ext cx="1752600" cy="190500"/>
          </a:xfrm>
          <a:prstGeom prst="rect">
            <a:avLst/>
          </a:prstGeom>
          <a:noFill/>
          <a:ln/>
        </p:spPr>
        <p:txBody>
          <a:bodyPr wrap="square" lIns="0" tIns="0" rIns="0" bIns="0" rtlCol="0" anchor="ctr"/>
          <a:lstStyle/>
          <a:p>
            <a:pPr>
              <a:lnSpc>
                <a:spcPct val="120000"/>
              </a:lnSpc>
            </a:pPr>
            <a:r>
              <a:rPr lang="en-US" sz="1050" dirty="0">
                <a:solidFill>
                  <a:srgbClr val="1E293B">
                    <a:alpha val="70000"/>
                  </a:srgbClr>
                </a:solidFill>
                <a:latin typeface="Quattrocento Sans" pitchFamily="34" charset="0"/>
                <a:ea typeface="Quattrocento Sans" pitchFamily="34" charset="-122"/>
                <a:cs typeface="Quattrocento Sans" pitchFamily="34" charset="-120"/>
              </a:rPr>
              <a:t>Summary and key takeaways</a:t>
            </a:r>
            <a:endParaRPr lang="en-US" sz="1600" dirty="0"/>
          </a:p>
        </p:txBody>
      </p:sp>
      <p:pic>
        <p:nvPicPr>
          <p:cNvPr id="59" name="Picture 58">
            <a:extLst>
              <a:ext uri="{FF2B5EF4-FFF2-40B4-BE49-F238E27FC236}">
                <a16:creationId xmlns:a16="http://schemas.microsoft.com/office/drawing/2014/main" id="{E71F2313-5263-4B8E-A63D-A0AF3397B50D}"/>
              </a:ext>
            </a:extLst>
          </p:cNvPr>
          <p:cNvPicPr>
            <a:picLocks noChangeAspect="1"/>
          </p:cNvPicPr>
          <p:nvPr/>
        </p:nvPicPr>
        <p:blipFill>
          <a:blip r:embed="rId3"/>
          <a:stretch>
            <a:fillRect/>
          </a:stretch>
        </p:blipFill>
        <p:spPr>
          <a:xfrm>
            <a:off x="11083056" y="298379"/>
            <a:ext cx="731040" cy="980088"/>
          </a:xfrm>
          <a:prstGeom prst="rect">
            <a:avLst/>
          </a:prstGeom>
        </p:spPr>
      </p:pic>
      <p:sp>
        <p:nvSpPr>
          <p:cNvPr id="60" name="TextBox 59">
            <a:extLst>
              <a:ext uri="{FF2B5EF4-FFF2-40B4-BE49-F238E27FC236}">
                <a16:creationId xmlns:a16="http://schemas.microsoft.com/office/drawing/2014/main" id="{38880316-828A-4CBE-BAC4-2DF9A7E052DC}"/>
              </a:ext>
            </a:extLst>
          </p:cNvPr>
          <p:cNvSpPr txBox="1"/>
          <p:nvPr/>
        </p:nvSpPr>
        <p:spPr>
          <a:xfrm>
            <a:off x="11671221" y="6473785"/>
            <a:ext cx="457200"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02</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381000" y="381000"/>
            <a:ext cx="8143875" cy="190500"/>
          </a:xfrm>
          <a:prstGeom prst="rect">
            <a:avLst/>
          </a:prstGeom>
          <a:noFill/>
          <a:ln/>
        </p:spPr>
        <p:txBody>
          <a:bodyPr wrap="square" lIns="0" tIns="0" rIns="0" bIns="0" rtlCol="0" anchor="ctr"/>
          <a:lstStyle/>
          <a:p>
            <a:pPr>
              <a:lnSpc>
                <a:spcPct val="120000"/>
              </a:lnSpc>
            </a:pPr>
            <a:r>
              <a:rPr lang="en-US" sz="1050" b="1" kern="0" spc="53" dirty="0">
                <a:solidFill>
                  <a:srgbClr val="3B82F6"/>
                </a:solidFill>
                <a:latin typeface="Quattrocento Sans" pitchFamily="34" charset="0"/>
                <a:ea typeface="Quattrocento Sans" pitchFamily="34" charset="-122"/>
                <a:cs typeface="Quattrocento Sans" pitchFamily="34" charset="-120"/>
              </a:rPr>
              <a:t>SYSTEM OVERVIEW</a:t>
            </a:r>
            <a:endParaRPr lang="en-US" sz="1600" dirty="0"/>
          </a:p>
        </p:txBody>
      </p:sp>
      <p:sp>
        <p:nvSpPr>
          <p:cNvPr id="3" name="Text 1"/>
          <p:cNvSpPr/>
          <p:nvPr/>
        </p:nvSpPr>
        <p:spPr>
          <a:xfrm>
            <a:off x="381000" y="647700"/>
            <a:ext cx="8248650" cy="381000"/>
          </a:xfrm>
          <a:prstGeom prst="rect">
            <a:avLst/>
          </a:prstGeom>
          <a:noFill/>
          <a:ln/>
        </p:spPr>
        <p:txBody>
          <a:bodyPr wrap="square" lIns="0" tIns="0" rIns="0" bIns="0" rtlCol="0" anchor="ctr"/>
          <a:lstStyle/>
          <a:p>
            <a:pPr>
              <a:lnSpc>
                <a:spcPct val="90000"/>
              </a:lnSpc>
            </a:pPr>
            <a:r>
              <a:rPr lang="en-US" sz="2700" b="1" dirty="0">
                <a:solidFill>
                  <a:srgbClr val="1E3A5F"/>
                </a:solidFill>
                <a:latin typeface="Liter" pitchFamily="34" charset="0"/>
                <a:ea typeface="Liter" pitchFamily="34" charset="-122"/>
                <a:cs typeface="Liter" pitchFamily="34" charset="-120"/>
              </a:rPr>
              <a:t>Introduction</a:t>
            </a:r>
            <a:endParaRPr lang="en-US" sz="1600" dirty="0"/>
          </a:p>
        </p:txBody>
      </p:sp>
      <p:sp>
        <p:nvSpPr>
          <p:cNvPr id="4" name="Shape 2"/>
          <p:cNvSpPr/>
          <p:nvPr/>
        </p:nvSpPr>
        <p:spPr>
          <a:xfrm>
            <a:off x="381000" y="1143000"/>
            <a:ext cx="762000" cy="38100"/>
          </a:xfrm>
          <a:custGeom>
            <a:avLst/>
            <a:gdLst/>
            <a:ahLst/>
            <a:cxnLst/>
            <a:rect l="l" t="t" r="r" b="b"/>
            <a:pathLst>
              <a:path w="762000" h="38100">
                <a:moveTo>
                  <a:pt x="19050" y="0"/>
                </a:moveTo>
                <a:lnTo>
                  <a:pt x="742950" y="0"/>
                </a:lnTo>
                <a:cubicBezTo>
                  <a:pt x="753464" y="0"/>
                  <a:pt x="762000" y="8536"/>
                  <a:pt x="762000" y="19050"/>
                </a:cubicBezTo>
                <a:lnTo>
                  <a:pt x="762000" y="19050"/>
                </a:lnTo>
                <a:cubicBezTo>
                  <a:pt x="762000" y="29564"/>
                  <a:pt x="753464" y="38100"/>
                  <a:pt x="742950" y="38100"/>
                </a:cubicBezTo>
                <a:lnTo>
                  <a:pt x="19050" y="38100"/>
                </a:lnTo>
                <a:cubicBezTo>
                  <a:pt x="8536" y="38100"/>
                  <a:pt x="0" y="29564"/>
                  <a:pt x="0" y="19050"/>
                </a:cubicBezTo>
                <a:lnTo>
                  <a:pt x="0" y="19050"/>
                </a:lnTo>
                <a:cubicBezTo>
                  <a:pt x="0" y="8536"/>
                  <a:pt x="8536" y="0"/>
                  <a:pt x="19050" y="0"/>
                </a:cubicBezTo>
                <a:close/>
              </a:path>
            </a:pathLst>
          </a:custGeom>
          <a:solidFill>
            <a:srgbClr val="10B981"/>
          </a:solidFill>
          <a:ln/>
        </p:spPr>
      </p:sp>
      <p:sp>
        <p:nvSpPr>
          <p:cNvPr id="5" name="Shape 3"/>
          <p:cNvSpPr/>
          <p:nvPr/>
        </p:nvSpPr>
        <p:spPr>
          <a:xfrm>
            <a:off x="400050" y="1409700"/>
            <a:ext cx="8058150" cy="1714500"/>
          </a:xfrm>
          <a:custGeom>
            <a:avLst/>
            <a:gdLst/>
            <a:ahLst/>
            <a:cxnLst/>
            <a:rect l="l" t="t" r="r" b="b"/>
            <a:pathLst>
              <a:path w="8058150" h="1714500">
                <a:moveTo>
                  <a:pt x="38100" y="0"/>
                </a:moveTo>
                <a:lnTo>
                  <a:pt x="7943844" y="0"/>
                </a:lnTo>
                <a:cubicBezTo>
                  <a:pt x="8006974" y="0"/>
                  <a:pt x="8058150" y="51176"/>
                  <a:pt x="8058150" y="114306"/>
                </a:cubicBezTo>
                <a:lnTo>
                  <a:pt x="8058150" y="1600194"/>
                </a:lnTo>
                <a:cubicBezTo>
                  <a:pt x="8058150" y="1663324"/>
                  <a:pt x="8006974" y="1714500"/>
                  <a:pt x="7943844" y="1714500"/>
                </a:cubicBezTo>
                <a:lnTo>
                  <a:pt x="38100" y="1714500"/>
                </a:lnTo>
                <a:cubicBezTo>
                  <a:pt x="17072" y="1714500"/>
                  <a:pt x="0" y="1697428"/>
                  <a:pt x="0" y="1676400"/>
                </a:cubicBezTo>
                <a:lnTo>
                  <a:pt x="0" y="38100"/>
                </a:lnTo>
                <a:cubicBezTo>
                  <a:pt x="0" y="17072"/>
                  <a:pt x="17072" y="0"/>
                  <a:pt x="38100" y="0"/>
                </a:cubicBezTo>
                <a:close/>
              </a:path>
            </a:pathLst>
          </a:custGeom>
          <a:solidFill>
            <a:srgbClr val="FFFFFF"/>
          </a:solidFill>
          <a:ln/>
          <a:effectLst>
            <a:outerShdw blurRad="57150" dist="38100" dir="5400000" algn="bl" rotWithShape="0">
              <a:srgbClr val="000000">
                <a:alpha val="10196"/>
              </a:srgbClr>
            </a:outerShdw>
          </a:effectLst>
        </p:spPr>
      </p:sp>
      <p:sp>
        <p:nvSpPr>
          <p:cNvPr id="6" name="Shape 4"/>
          <p:cNvSpPr/>
          <p:nvPr/>
        </p:nvSpPr>
        <p:spPr>
          <a:xfrm>
            <a:off x="400050" y="1409700"/>
            <a:ext cx="38100" cy="1714500"/>
          </a:xfrm>
          <a:custGeom>
            <a:avLst/>
            <a:gdLst/>
            <a:ahLst/>
            <a:cxnLst/>
            <a:rect l="l" t="t" r="r" b="b"/>
            <a:pathLst>
              <a:path w="38100" h="1714500">
                <a:moveTo>
                  <a:pt x="38100" y="0"/>
                </a:moveTo>
                <a:lnTo>
                  <a:pt x="38100" y="0"/>
                </a:lnTo>
                <a:lnTo>
                  <a:pt x="38100" y="1714500"/>
                </a:lnTo>
                <a:lnTo>
                  <a:pt x="38100" y="1714500"/>
                </a:lnTo>
                <a:cubicBezTo>
                  <a:pt x="17072" y="1714500"/>
                  <a:pt x="0" y="1697428"/>
                  <a:pt x="0" y="1676400"/>
                </a:cubicBezTo>
                <a:lnTo>
                  <a:pt x="0" y="38100"/>
                </a:lnTo>
                <a:cubicBezTo>
                  <a:pt x="0" y="17072"/>
                  <a:pt x="17072" y="0"/>
                  <a:pt x="38100" y="0"/>
                </a:cubicBezTo>
                <a:close/>
              </a:path>
            </a:pathLst>
          </a:custGeom>
          <a:solidFill>
            <a:srgbClr val="3B82F6"/>
          </a:solidFill>
          <a:ln/>
        </p:spPr>
      </p:sp>
      <p:sp>
        <p:nvSpPr>
          <p:cNvPr id="7" name="Shape 5"/>
          <p:cNvSpPr/>
          <p:nvPr/>
        </p:nvSpPr>
        <p:spPr>
          <a:xfrm>
            <a:off x="609600" y="1600200"/>
            <a:ext cx="457200" cy="457200"/>
          </a:xfrm>
          <a:custGeom>
            <a:avLst/>
            <a:gdLst/>
            <a:ahLst/>
            <a:cxnLst/>
            <a:rect l="l" t="t" r="r" b="b"/>
            <a:pathLst>
              <a:path w="457200" h="457200">
                <a:moveTo>
                  <a:pt x="76202" y="0"/>
                </a:moveTo>
                <a:lnTo>
                  <a:pt x="380998" y="0"/>
                </a:lnTo>
                <a:cubicBezTo>
                  <a:pt x="423055" y="0"/>
                  <a:pt x="457200" y="34145"/>
                  <a:pt x="457200" y="76202"/>
                </a:cubicBezTo>
                <a:lnTo>
                  <a:pt x="457200" y="380998"/>
                </a:lnTo>
                <a:cubicBezTo>
                  <a:pt x="457200" y="423055"/>
                  <a:pt x="423055" y="457200"/>
                  <a:pt x="380998" y="457200"/>
                </a:cubicBezTo>
                <a:lnTo>
                  <a:pt x="76202" y="457200"/>
                </a:lnTo>
                <a:cubicBezTo>
                  <a:pt x="34145" y="457200"/>
                  <a:pt x="0" y="423055"/>
                  <a:pt x="0" y="380998"/>
                </a:cubicBezTo>
                <a:lnTo>
                  <a:pt x="0" y="76202"/>
                </a:lnTo>
                <a:cubicBezTo>
                  <a:pt x="0" y="34145"/>
                  <a:pt x="34145" y="0"/>
                  <a:pt x="76202" y="0"/>
                </a:cubicBezTo>
                <a:close/>
              </a:path>
            </a:pathLst>
          </a:custGeom>
          <a:solidFill>
            <a:srgbClr val="3B82F6">
              <a:alpha val="10196"/>
            </a:srgbClr>
          </a:solidFill>
          <a:ln/>
        </p:spPr>
      </p:sp>
      <p:sp>
        <p:nvSpPr>
          <p:cNvPr id="8" name="Shape 6"/>
          <p:cNvSpPr/>
          <p:nvPr/>
        </p:nvSpPr>
        <p:spPr>
          <a:xfrm>
            <a:off x="731044" y="1733550"/>
            <a:ext cx="214313" cy="190500"/>
          </a:xfrm>
          <a:custGeom>
            <a:avLst/>
            <a:gdLst/>
            <a:ahLst/>
            <a:cxnLst/>
            <a:rect l="l" t="t" r="r" b="b"/>
            <a:pathLst>
              <a:path w="214313" h="190500">
                <a:moveTo>
                  <a:pt x="47625" y="23812"/>
                </a:moveTo>
                <a:cubicBezTo>
                  <a:pt x="47625" y="10678"/>
                  <a:pt x="58303" y="0"/>
                  <a:pt x="71438" y="0"/>
                </a:cubicBezTo>
                <a:lnTo>
                  <a:pt x="142875" y="0"/>
                </a:lnTo>
                <a:cubicBezTo>
                  <a:pt x="156009" y="0"/>
                  <a:pt x="166688" y="10678"/>
                  <a:pt x="166688" y="23812"/>
                </a:cubicBezTo>
                <a:lnTo>
                  <a:pt x="166688" y="47625"/>
                </a:lnTo>
                <a:lnTo>
                  <a:pt x="190500" y="47625"/>
                </a:lnTo>
                <a:cubicBezTo>
                  <a:pt x="203634" y="47625"/>
                  <a:pt x="214313" y="58303"/>
                  <a:pt x="214313" y="71438"/>
                </a:cubicBezTo>
                <a:lnTo>
                  <a:pt x="214313" y="166688"/>
                </a:lnTo>
                <a:cubicBezTo>
                  <a:pt x="214313" y="179822"/>
                  <a:pt x="203634" y="190500"/>
                  <a:pt x="190500" y="190500"/>
                </a:cubicBezTo>
                <a:lnTo>
                  <a:pt x="23812" y="190500"/>
                </a:lnTo>
                <a:cubicBezTo>
                  <a:pt x="10678" y="190500"/>
                  <a:pt x="0" y="179822"/>
                  <a:pt x="0" y="166688"/>
                </a:cubicBezTo>
                <a:lnTo>
                  <a:pt x="0" y="71438"/>
                </a:lnTo>
                <a:cubicBezTo>
                  <a:pt x="0" y="58303"/>
                  <a:pt x="10678" y="47625"/>
                  <a:pt x="23812" y="47625"/>
                </a:cubicBezTo>
                <a:lnTo>
                  <a:pt x="47625" y="47625"/>
                </a:lnTo>
                <a:lnTo>
                  <a:pt x="47625" y="23812"/>
                </a:lnTo>
                <a:close/>
                <a:moveTo>
                  <a:pt x="101203" y="130969"/>
                </a:moveTo>
                <a:cubicBezTo>
                  <a:pt x="94617" y="130969"/>
                  <a:pt x="89297" y="136289"/>
                  <a:pt x="89297" y="142875"/>
                </a:cubicBezTo>
                <a:lnTo>
                  <a:pt x="89297" y="172641"/>
                </a:lnTo>
                <a:lnTo>
                  <a:pt x="125016" y="172641"/>
                </a:lnTo>
                <a:lnTo>
                  <a:pt x="125016" y="142875"/>
                </a:lnTo>
                <a:cubicBezTo>
                  <a:pt x="125016" y="136289"/>
                  <a:pt x="119695" y="130969"/>
                  <a:pt x="113109" y="130969"/>
                </a:cubicBezTo>
                <a:lnTo>
                  <a:pt x="101203" y="130969"/>
                </a:lnTo>
                <a:close/>
                <a:moveTo>
                  <a:pt x="47625" y="136922"/>
                </a:moveTo>
                <a:lnTo>
                  <a:pt x="47625" y="125016"/>
                </a:lnTo>
                <a:cubicBezTo>
                  <a:pt x="47625" y="121741"/>
                  <a:pt x="44946" y="119063"/>
                  <a:pt x="41672" y="119063"/>
                </a:cubicBezTo>
                <a:lnTo>
                  <a:pt x="29766" y="119063"/>
                </a:lnTo>
                <a:cubicBezTo>
                  <a:pt x="26491" y="119063"/>
                  <a:pt x="23812" y="121741"/>
                  <a:pt x="23812" y="125016"/>
                </a:cubicBezTo>
                <a:lnTo>
                  <a:pt x="23812" y="136922"/>
                </a:lnTo>
                <a:cubicBezTo>
                  <a:pt x="23812" y="140196"/>
                  <a:pt x="26491" y="142875"/>
                  <a:pt x="29766" y="142875"/>
                </a:cubicBezTo>
                <a:lnTo>
                  <a:pt x="41672" y="142875"/>
                </a:lnTo>
                <a:cubicBezTo>
                  <a:pt x="44946" y="142875"/>
                  <a:pt x="47625" y="140196"/>
                  <a:pt x="47625" y="136922"/>
                </a:cubicBezTo>
                <a:close/>
                <a:moveTo>
                  <a:pt x="41672" y="95250"/>
                </a:moveTo>
                <a:cubicBezTo>
                  <a:pt x="44946" y="95250"/>
                  <a:pt x="47625" y="92571"/>
                  <a:pt x="47625" y="89297"/>
                </a:cubicBezTo>
                <a:lnTo>
                  <a:pt x="47625" y="77391"/>
                </a:lnTo>
                <a:cubicBezTo>
                  <a:pt x="47625" y="74116"/>
                  <a:pt x="44946" y="71438"/>
                  <a:pt x="41672" y="71438"/>
                </a:cubicBezTo>
                <a:lnTo>
                  <a:pt x="29766" y="71438"/>
                </a:lnTo>
                <a:cubicBezTo>
                  <a:pt x="26491" y="71438"/>
                  <a:pt x="23812" y="74116"/>
                  <a:pt x="23812" y="77391"/>
                </a:cubicBezTo>
                <a:lnTo>
                  <a:pt x="23812" y="89297"/>
                </a:lnTo>
                <a:cubicBezTo>
                  <a:pt x="23812" y="92571"/>
                  <a:pt x="26491" y="95250"/>
                  <a:pt x="29766" y="95250"/>
                </a:cubicBezTo>
                <a:lnTo>
                  <a:pt x="41672" y="95250"/>
                </a:lnTo>
                <a:close/>
                <a:moveTo>
                  <a:pt x="190500" y="136922"/>
                </a:moveTo>
                <a:lnTo>
                  <a:pt x="190500" y="125016"/>
                </a:lnTo>
                <a:cubicBezTo>
                  <a:pt x="190500" y="121741"/>
                  <a:pt x="187821" y="119063"/>
                  <a:pt x="184547" y="119063"/>
                </a:cubicBezTo>
                <a:lnTo>
                  <a:pt x="172641" y="119063"/>
                </a:lnTo>
                <a:cubicBezTo>
                  <a:pt x="169366" y="119063"/>
                  <a:pt x="166688" y="121741"/>
                  <a:pt x="166688" y="125016"/>
                </a:cubicBezTo>
                <a:lnTo>
                  <a:pt x="166688" y="136922"/>
                </a:lnTo>
                <a:cubicBezTo>
                  <a:pt x="166688" y="140196"/>
                  <a:pt x="169366" y="142875"/>
                  <a:pt x="172641" y="142875"/>
                </a:cubicBezTo>
                <a:lnTo>
                  <a:pt x="184547" y="142875"/>
                </a:lnTo>
                <a:cubicBezTo>
                  <a:pt x="187821" y="142875"/>
                  <a:pt x="190500" y="140196"/>
                  <a:pt x="190500" y="136922"/>
                </a:cubicBezTo>
                <a:close/>
                <a:moveTo>
                  <a:pt x="184547" y="95250"/>
                </a:moveTo>
                <a:cubicBezTo>
                  <a:pt x="187821" y="95250"/>
                  <a:pt x="190500" y="92571"/>
                  <a:pt x="190500" y="89297"/>
                </a:cubicBezTo>
                <a:lnTo>
                  <a:pt x="190500" y="77391"/>
                </a:lnTo>
                <a:cubicBezTo>
                  <a:pt x="190500" y="74116"/>
                  <a:pt x="187821" y="71438"/>
                  <a:pt x="184547" y="71438"/>
                </a:cubicBezTo>
                <a:lnTo>
                  <a:pt x="172641" y="71438"/>
                </a:lnTo>
                <a:cubicBezTo>
                  <a:pt x="169366" y="71438"/>
                  <a:pt x="166688" y="74116"/>
                  <a:pt x="166688" y="77391"/>
                </a:cubicBezTo>
                <a:lnTo>
                  <a:pt x="166688" y="89297"/>
                </a:lnTo>
                <a:cubicBezTo>
                  <a:pt x="166688" y="92571"/>
                  <a:pt x="169366" y="95250"/>
                  <a:pt x="172641" y="95250"/>
                </a:cubicBezTo>
                <a:lnTo>
                  <a:pt x="184547" y="95250"/>
                </a:lnTo>
                <a:close/>
                <a:moveTo>
                  <a:pt x="98227" y="38695"/>
                </a:moveTo>
                <a:lnTo>
                  <a:pt x="98227" y="50602"/>
                </a:lnTo>
                <a:lnTo>
                  <a:pt x="86320" y="50602"/>
                </a:lnTo>
                <a:cubicBezTo>
                  <a:pt x="83046" y="50602"/>
                  <a:pt x="80367" y="53280"/>
                  <a:pt x="80367" y="56555"/>
                </a:cubicBezTo>
                <a:lnTo>
                  <a:pt x="80367" y="62508"/>
                </a:lnTo>
                <a:cubicBezTo>
                  <a:pt x="80367" y="65782"/>
                  <a:pt x="83046" y="68461"/>
                  <a:pt x="86320" y="68461"/>
                </a:cubicBezTo>
                <a:lnTo>
                  <a:pt x="98227" y="68461"/>
                </a:lnTo>
                <a:lnTo>
                  <a:pt x="98227" y="80367"/>
                </a:lnTo>
                <a:cubicBezTo>
                  <a:pt x="98227" y="83641"/>
                  <a:pt x="100905" y="86320"/>
                  <a:pt x="104180" y="86320"/>
                </a:cubicBezTo>
                <a:lnTo>
                  <a:pt x="110133" y="86320"/>
                </a:lnTo>
                <a:cubicBezTo>
                  <a:pt x="113407" y="86320"/>
                  <a:pt x="116086" y="83641"/>
                  <a:pt x="116086" y="80367"/>
                </a:cubicBezTo>
                <a:lnTo>
                  <a:pt x="116086" y="68461"/>
                </a:lnTo>
                <a:lnTo>
                  <a:pt x="127992" y="68461"/>
                </a:lnTo>
                <a:cubicBezTo>
                  <a:pt x="131266" y="68461"/>
                  <a:pt x="133945" y="65782"/>
                  <a:pt x="133945" y="62508"/>
                </a:cubicBezTo>
                <a:lnTo>
                  <a:pt x="133945" y="56555"/>
                </a:lnTo>
                <a:cubicBezTo>
                  <a:pt x="133945" y="53280"/>
                  <a:pt x="131266" y="50602"/>
                  <a:pt x="127992" y="50602"/>
                </a:cubicBezTo>
                <a:lnTo>
                  <a:pt x="116086" y="50602"/>
                </a:lnTo>
                <a:lnTo>
                  <a:pt x="116086" y="38695"/>
                </a:lnTo>
                <a:cubicBezTo>
                  <a:pt x="116086" y="35421"/>
                  <a:pt x="113407" y="32742"/>
                  <a:pt x="110133" y="32742"/>
                </a:cubicBezTo>
                <a:lnTo>
                  <a:pt x="104180" y="32742"/>
                </a:lnTo>
                <a:cubicBezTo>
                  <a:pt x="100905" y="32742"/>
                  <a:pt x="98227" y="35421"/>
                  <a:pt x="98227" y="38695"/>
                </a:cubicBezTo>
                <a:close/>
              </a:path>
            </a:pathLst>
          </a:custGeom>
          <a:solidFill>
            <a:srgbClr val="3B82F6"/>
          </a:solidFill>
          <a:ln/>
        </p:spPr>
      </p:sp>
      <p:sp>
        <p:nvSpPr>
          <p:cNvPr id="9" name="Text 7"/>
          <p:cNvSpPr/>
          <p:nvPr/>
        </p:nvSpPr>
        <p:spPr>
          <a:xfrm>
            <a:off x="1219200" y="1600200"/>
            <a:ext cx="7143750" cy="266700"/>
          </a:xfrm>
          <a:prstGeom prst="rect">
            <a:avLst/>
          </a:prstGeom>
          <a:noFill/>
          <a:ln/>
        </p:spPr>
        <p:txBody>
          <a:bodyPr wrap="square" lIns="0" tIns="0" rIns="0" bIns="0" rtlCol="0" anchor="ctr"/>
          <a:lstStyle/>
          <a:p>
            <a:pPr>
              <a:lnSpc>
                <a:spcPct val="120000"/>
              </a:lnSpc>
            </a:pPr>
            <a:r>
              <a:rPr lang="en-US" sz="1500" b="1" dirty="0">
                <a:solidFill>
                  <a:srgbClr val="1E3A5F"/>
                </a:solidFill>
                <a:latin typeface="Liter" pitchFamily="34" charset="0"/>
                <a:ea typeface="Liter" pitchFamily="34" charset="-122"/>
                <a:cs typeface="Liter" pitchFamily="34" charset="-120"/>
              </a:rPr>
              <a:t>What is MediSeba?</a:t>
            </a:r>
            <a:endParaRPr lang="en-US" sz="1600" dirty="0"/>
          </a:p>
        </p:txBody>
      </p:sp>
      <p:sp>
        <p:nvSpPr>
          <p:cNvPr id="10" name="Text 8"/>
          <p:cNvSpPr/>
          <p:nvPr/>
        </p:nvSpPr>
        <p:spPr>
          <a:xfrm>
            <a:off x="1219200" y="1943100"/>
            <a:ext cx="7124700" cy="990600"/>
          </a:xfrm>
          <a:prstGeom prst="rect">
            <a:avLst/>
          </a:prstGeom>
          <a:noFill/>
          <a:ln/>
        </p:spPr>
        <p:txBody>
          <a:bodyPr wrap="square" lIns="0" tIns="0" rIns="0" bIns="0" rtlCol="0" anchor="ctr"/>
          <a:lstStyle/>
          <a:p>
            <a:pPr>
              <a:lnSpc>
                <a:spcPct val="140000"/>
              </a:lnSpc>
            </a:pPr>
            <a:r>
              <a:rPr lang="en-US" sz="1200" dirty="0">
                <a:solidFill>
                  <a:srgbClr val="1E293B">
                    <a:alpha val="80000"/>
                  </a:srgbClr>
                </a:solidFill>
                <a:latin typeface="Quattrocento Sans" pitchFamily="34" charset="0"/>
                <a:ea typeface="Quattrocento Sans" pitchFamily="34" charset="-122"/>
                <a:cs typeface="Quattrocento Sans" pitchFamily="34" charset="-120"/>
              </a:rPr>
              <a:t>MediSeba is a </a:t>
            </a:r>
            <a:r>
              <a:rPr lang="en-US" sz="1200" b="1" dirty="0">
                <a:solidFill>
                  <a:srgbClr val="3B82F6"/>
                </a:solidFill>
                <a:latin typeface="Quattrocento Sans" pitchFamily="34" charset="0"/>
                <a:ea typeface="Quattrocento Sans" pitchFamily="34" charset="-122"/>
                <a:cs typeface="Quattrocento Sans" pitchFamily="34" charset="-120"/>
              </a:rPr>
              <a:t>database-driven healthcare management system</a:t>
            </a:r>
            <a:r>
              <a:rPr lang="en-US" sz="1200" dirty="0">
                <a:solidFill>
                  <a:srgbClr val="1E293B">
                    <a:alpha val="80000"/>
                  </a:srgbClr>
                </a:solidFill>
                <a:latin typeface="Quattrocento Sans" pitchFamily="34" charset="0"/>
                <a:ea typeface="Quattrocento Sans" pitchFamily="34" charset="-122"/>
                <a:cs typeface="Quattrocento Sans" pitchFamily="34" charset="-120"/>
              </a:rPr>
              <a:t> designed to streamline the entire patient journey from appointment booking to prescription management. The system enables patients to book doctor appointments online, receive automatic token numbers, complete digital payments, and store prescriptions for future reference.</a:t>
            </a:r>
            <a:endParaRPr lang="en-US" sz="1600" dirty="0"/>
          </a:p>
        </p:txBody>
      </p:sp>
      <p:sp>
        <p:nvSpPr>
          <p:cNvPr id="11" name="Shape 9"/>
          <p:cNvSpPr/>
          <p:nvPr/>
        </p:nvSpPr>
        <p:spPr>
          <a:xfrm>
            <a:off x="400050" y="3276600"/>
            <a:ext cx="8058150" cy="2247900"/>
          </a:xfrm>
          <a:custGeom>
            <a:avLst/>
            <a:gdLst/>
            <a:ahLst/>
            <a:cxnLst/>
            <a:rect l="l" t="t" r="r" b="b"/>
            <a:pathLst>
              <a:path w="8058150" h="2247900">
                <a:moveTo>
                  <a:pt x="38100" y="0"/>
                </a:moveTo>
                <a:lnTo>
                  <a:pt x="7943844" y="0"/>
                </a:lnTo>
                <a:cubicBezTo>
                  <a:pt x="8006974" y="0"/>
                  <a:pt x="8058150" y="51176"/>
                  <a:pt x="8058150" y="114306"/>
                </a:cubicBezTo>
                <a:lnTo>
                  <a:pt x="8058150" y="2133594"/>
                </a:lnTo>
                <a:cubicBezTo>
                  <a:pt x="8058150" y="2196724"/>
                  <a:pt x="8006974" y="2247900"/>
                  <a:pt x="7943844" y="2247900"/>
                </a:cubicBezTo>
                <a:lnTo>
                  <a:pt x="38100" y="2247900"/>
                </a:lnTo>
                <a:cubicBezTo>
                  <a:pt x="17072" y="2247900"/>
                  <a:pt x="0" y="2230828"/>
                  <a:pt x="0" y="2209800"/>
                </a:cubicBezTo>
                <a:lnTo>
                  <a:pt x="0" y="38100"/>
                </a:lnTo>
                <a:cubicBezTo>
                  <a:pt x="0" y="17072"/>
                  <a:pt x="17072" y="0"/>
                  <a:pt x="38100" y="0"/>
                </a:cubicBezTo>
                <a:close/>
              </a:path>
            </a:pathLst>
          </a:custGeom>
          <a:solidFill>
            <a:srgbClr val="FFFFFF"/>
          </a:solidFill>
          <a:ln/>
          <a:effectLst>
            <a:outerShdw blurRad="57150" dist="38100" dir="5400000" algn="bl" rotWithShape="0">
              <a:srgbClr val="000000">
                <a:alpha val="10196"/>
              </a:srgbClr>
            </a:outerShdw>
          </a:effectLst>
        </p:spPr>
      </p:sp>
      <p:sp>
        <p:nvSpPr>
          <p:cNvPr id="12" name="Shape 10"/>
          <p:cNvSpPr/>
          <p:nvPr/>
        </p:nvSpPr>
        <p:spPr>
          <a:xfrm>
            <a:off x="400050" y="3276600"/>
            <a:ext cx="38100" cy="2247900"/>
          </a:xfrm>
          <a:custGeom>
            <a:avLst/>
            <a:gdLst/>
            <a:ahLst/>
            <a:cxnLst/>
            <a:rect l="l" t="t" r="r" b="b"/>
            <a:pathLst>
              <a:path w="38100" h="2247900">
                <a:moveTo>
                  <a:pt x="38100" y="0"/>
                </a:moveTo>
                <a:lnTo>
                  <a:pt x="38100" y="0"/>
                </a:lnTo>
                <a:lnTo>
                  <a:pt x="38100" y="2247900"/>
                </a:lnTo>
                <a:lnTo>
                  <a:pt x="38100" y="2247900"/>
                </a:lnTo>
                <a:cubicBezTo>
                  <a:pt x="17072" y="2247900"/>
                  <a:pt x="0" y="2230828"/>
                  <a:pt x="0" y="2209800"/>
                </a:cubicBezTo>
                <a:lnTo>
                  <a:pt x="0" y="38100"/>
                </a:lnTo>
                <a:cubicBezTo>
                  <a:pt x="0" y="17072"/>
                  <a:pt x="17072" y="0"/>
                  <a:pt x="38100" y="0"/>
                </a:cubicBezTo>
                <a:close/>
              </a:path>
            </a:pathLst>
          </a:custGeom>
          <a:solidFill>
            <a:srgbClr val="10B981"/>
          </a:solidFill>
          <a:ln/>
        </p:spPr>
      </p:sp>
      <p:sp>
        <p:nvSpPr>
          <p:cNvPr id="13" name="Shape 11"/>
          <p:cNvSpPr/>
          <p:nvPr/>
        </p:nvSpPr>
        <p:spPr>
          <a:xfrm>
            <a:off x="609600" y="3467100"/>
            <a:ext cx="457200" cy="457200"/>
          </a:xfrm>
          <a:custGeom>
            <a:avLst/>
            <a:gdLst/>
            <a:ahLst/>
            <a:cxnLst/>
            <a:rect l="l" t="t" r="r" b="b"/>
            <a:pathLst>
              <a:path w="457200" h="457200">
                <a:moveTo>
                  <a:pt x="76202" y="0"/>
                </a:moveTo>
                <a:lnTo>
                  <a:pt x="380998" y="0"/>
                </a:lnTo>
                <a:cubicBezTo>
                  <a:pt x="423055" y="0"/>
                  <a:pt x="457200" y="34145"/>
                  <a:pt x="457200" y="76202"/>
                </a:cubicBezTo>
                <a:lnTo>
                  <a:pt x="457200" y="380998"/>
                </a:lnTo>
                <a:cubicBezTo>
                  <a:pt x="457200" y="423055"/>
                  <a:pt x="423055" y="457200"/>
                  <a:pt x="380998" y="457200"/>
                </a:cubicBezTo>
                <a:lnTo>
                  <a:pt x="76202" y="457200"/>
                </a:lnTo>
                <a:cubicBezTo>
                  <a:pt x="34145" y="457200"/>
                  <a:pt x="0" y="423055"/>
                  <a:pt x="0" y="380998"/>
                </a:cubicBezTo>
                <a:lnTo>
                  <a:pt x="0" y="76202"/>
                </a:lnTo>
                <a:cubicBezTo>
                  <a:pt x="0" y="34145"/>
                  <a:pt x="34145" y="0"/>
                  <a:pt x="76202" y="0"/>
                </a:cubicBezTo>
                <a:close/>
              </a:path>
            </a:pathLst>
          </a:custGeom>
          <a:solidFill>
            <a:srgbClr val="10B981">
              <a:alpha val="10196"/>
            </a:srgbClr>
          </a:solidFill>
          <a:ln/>
        </p:spPr>
      </p:sp>
      <p:sp>
        <p:nvSpPr>
          <p:cNvPr id="14" name="Shape 12"/>
          <p:cNvSpPr/>
          <p:nvPr/>
        </p:nvSpPr>
        <p:spPr>
          <a:xfrm>
            <a:off x="719138" y="3600450"/>
            <a:ext cx="238125" cy="190500"/>
          </a:xfrm>
          <a:custGeom>
            <a:avLst/>
            <a:gdLst/>
            <a:ahLst/>
            <a:cxnLst/>
            <a:rect l="l" t="t" r="r" b="b"/>
            <a:pathLst>
              <a:path w="238125" h="190500">
                <a:moveTo>
                  <a:pt x="119063" y="83344"/>
                </a:moveTo>
                <a:cubicBezTo>
                  <a:pt x="140419" y="83344"/>
                  <a:pt x="157758" y="66005"/>
                  <a:pt x="157758" y="44648"/>
                </a:cubicBezTo>
                <a:cubicBezTo>
                  <a:pt x="157758" y="23292"/>
                  <a:pt x="140419" y="5953"/>
                  <a:pt x="119063" y="5953"/>
                </a:cubicBezTo>
                <a:cubicBezTo>
                  <a:pt x="97706" y="5953"/>
                  <a:pt x="80367" y="23292"/>
                  <a:pt x="80367" y="44648"/>
                </a:cubicBezTo>
                <a:cubicBezTo>
                  <a:pt x="80367" y="66005"/>
                  <a:pt x="97706" y="83344"/>
                  <a:pt x="119063" y="83344"/>
                </a:cubicBezTo>
                <a:close/>
                <a:moveTo>
                  <a:pt x="35719" y="86320"/>
                </a:moveTo>
                <a:cubicBezTo>
                  <a:pt x="50504" y="86320"/>
                  <a:pt x="62508" y="74317"/>
                  <a:pt x="62508" y="59531"/>
                </a:cubicBezTo>
                <a:cubicBezTo>
                  <a:pt x="62508" y="44746"/>
                  <a:pt x="50504" y="32742"/>
                  <a:pt x="35719" y="32742"/>
                </a:cubicBezTo>
                <a:cubicBezTo>
                  <a:pt x="20933" y="32742"/>
                  <a:pt x="8930" y="44746"/>
                  <a:pt x="8930" y="59531"/>
                </a:cubicBezTo>
                <a:cubicBezTo>
                  <a:pt x="8930" y="74317"/>
                  <a:pt x="20933" y="86320"/>
                  <a:pt x="35719" y="86320"/>
                </a:cubicBezTo>
                <a:close/>
                <a:moveTo>
                  <a:pt x="0" y="154781"/>
                </a:moveTo>
                <a:lnTo>
                  <a:pt x="0" y="166688"/>
                </a:lnTo>
                <a:cubicBezTo>
                  <a:pt x="0" y="173273"/>
                  <a:pt x="5321" y="178594"/>
                  <a:pt x="11906" y="178594"/>
                </a:cubicBezTo>
                <a:lnTo>
                  <a:pt x="44165" y="178594"/>
                </a:lnTo>
                <a:cubicBezTo>
                  <a:pt x="42565" y="174947"/>
                  <a:pt x="41672" y="170929"/>
                  <a:pt x="41672" y="166688"/>
                </a:cubicBezTo>
                <a:lnTo>
                  <a:pt x="41672" y="160734"/>
                </a:lnTo>
                <a:cubicBezTo>
                  <a:pt x="41672" y="140940"/>
                  <a:pt x="49113" y="122858"/>
                  <a:pt x="61354" y="109165"/>
                </a:cubicBezTo>
                <a:cubicBezTo>
                  <a:pt x="57001" y="107863"/>
                  <a:pt x="52388" y="107156"/>
                  <a:pt x="47625" y="107156"/>
                </a:cubicBezTo>
                <a:cubicBezTo>
                  <a:pt x="21320" y="107156"/>
                  <a:pt x="0" y="128476"/>
                  <a:pt x="0" y="154781"/>
                </a:cubicBezTo>
                <a:close/>
                <a:moveTo>
                  <a:pt x="229195" y="59531"/>
                </a:moveTo>
                <a:cubicBezTo>
                  <a:pt x="229195" y="44746"/>
                  <a:pt x="217192" y="32742"/>
                  <a:pt x="202406" y="32742"/>
                </a:cubicBezTo>
                <a:cubicBezTo>
                  <a:pt x="187621" y="32742"/>
                  <a:pt x="175617" y="44746"/>
                  <a:pt x="175617" y="59531"/>
                </a:cubicBezTo>
                <a:cubicBezTo>
                  <a:pt x="175617" y="74317"/>
                  <a:pt x="187621" y="86320"/>
                  <a:pt x="202406" y="86320"/>
                </a:cubicBezTo>
                <a:cubicBezTo>
                  <a:pt x="217192" y="86320"/>
                  <a:pt x="229195" y="74317"/>
                  <a:pt x="229195" y="59531"/>
                </a:cubicBezTo>
                <a:close/>
                <a:moveTo>
                  <a:pt x="59531" y="160734"/>
                </a:moveTo>
                <a:lnTo>
                  <a:pt x="59531" y="166688"/>
                </a:lnTo>
                <a:cubicBezTo>
                  <a:pt x="59531" y="173273"/>
                  <a:pt x="64852" y="178594"/>
                  <a:pt x="71438" y="178594"/>
                </a:cubicBezTo>
                <a:lnTo>
                  <a:pt x="129778" y="178594"/>
                </a:lnTo>
                <a:cubicBezTo>
                  <a:pt x="127136" y="170557"/>
                  <a:pt x="127434" y="162074"/>
                  <a:pt x="133759" y="154781"/>
                </a:cubicBezTo>
                <a:cubicBezTo>
                  <a:pt x="128550" y="148754"/>
                  <a:pt x="126132" y="140010"/>
                  <a:pt x="129518" y="131229"/>
                </a:cubicBezTo>
                <a:cubicBezTo>
                  <a:pt x="131973" y="124867"/>
                  <a:pt x="135434" y="118914"/>
                  <a:pt x="139712" y="113630"/>
                </a:cubicBezTo>
                <a:cubicBezTo>
                  <a:pt x="141722" y="111175"/>
                  <a:pt x="144028" y="109277"/>
                  <a:pt x="146521" y="107900"/>
                </a:cubicBezTo>
                <a:cubicBezTo>
                  <a:pt x="138299" y="103622"/>
                  <a:pt x="128960" y="101203"/>
                  <a:pt x="119063" y="101203"/>
                </a:cubicBezTo>
                <a:cubicBezTo>
                  <a:pt x="86171" y="101203"/>
                  <a:pt x="59531" y="127843"/>
                  <a:pt x="59531" y="160734"/>
                </a:cubicBezTo>
                <a:close/>
                <a:moveTo>
                  <a:pt x="232395" y="144326"/>
                </a:moveTo>
                <a:cubicBezTo>
                  <a:pt x="234739" y="142987"/>
                  <a:pt x="235930" y="140196"/>
                  <a:pt x="234925" y="137629"/>
                </a:cubicBezTo>
                <a:cubicBezTo>
                  <a:pt x="233139" y="133015"/>
                  <a:pt x="230646" y="128662"/>
                  <a:pt x="227521" y="124830"/>
                </a:cubicBezTo>
                <a:cubicBezTo>
                  <a:pt x="225809" y="122709"/>
                  <a:pt x="222796" y="122337"/>
                  <a:pt x="220452" y="123713"/>
                </a:cubicBezTo>
                <a:cubicBezTo>
                  <a:pt x="212341" y="128401"/>
                  <a:pt x="202369" y="122672"/>
                  <a:pt x="202369" y="113258"/>
                </a:cubicBezTo>
                <a:cubicBezTo>
                  <a:pt x="202369" y="110542"/>
                  <a:pt x="200546" y="108124"/>
                  <a:pt x="197867" y="107714"/>
                </a:cubicBezTo>
                <a:cubicBezTo>
                  <a:pt x="193067" y="106970"/>
                  <a:pt x="187896" y="106970"/>
                  <a:pt x="183096" y="107714"/>
                </a:cubicBezTo>
                <a:cubicBezTo>
                  <a:pt x="180417" y="108124"/>
                  <a:pt x="178594" y="110542"/>
                  <a:pt x="178594" y="113258"/>
                </a:cubicBezTo>
                <a:cubicBezTo>
                  <a:pt x="178594" y="122634"/>
                  <a:pt x="168622" y="128401"/>
                  <a:pt x="160511" y="123713"/>
                </a:cubicBezTo>
                <a:cubicBezTo>
                  <a:pt x="158167" y="122374"/>
                  <a:pt x="155153" y="122746"/>
                  <a:pt x="153442" y="124830"/>
                </a:cubicBezTo>
                <a:cubicBezTo>
                  <a:pt x="150316" y="128662"/>
                  <a:pt x="147824" y="133015"/>
                  <a:pt x="146038" y="137629"/>
                </a:cubicBezTo>
                <a:cubicBezTo>
                  <a:pt x="145070" y="140159"/>
                  <a:pt x="146224" y="142949"/>
                  <a:pt x="148568" y="144289"/>
                </a:cubicBezTo>
                <a:cubicBezTo>
                  <a:pt x="156716" y="148977"/>
                  <a:pt x="156716" y="160474"/>
                  <a:pt x="148568" y="165199"/>
                </a:cubicBezTo>
                <a:cubicBezTo>
                  <a:pt x="146224" y="166539"/>
                  <a:pt x="145033" y="169329"/>
                  <a:pt x="146038" y="171859"/>
                </a:cubicBezTo>
                <a:cubicBezTo>
                  <a:pt x="147824" y="176473"/>
                  <a:pt x="150316" y="180826"/>
                  <a:pt x="153442" y="184658"/>
                </a:cubicBezTo>
                <a:cubicBezTo>
                  <a:pt x="155153" y="186779"/>
                  <a:pt x="158167" y="187151"/>
                  <a:pt x="160511" y="185775"/>
                </a:cubicBezTo>
                <a:cubicBezTo>
                  <a:pt x="168622" y="181087"/>
                  <a:pt x="178594" y="186854"/>
                  <a:pt x="178594" y="196230"/>
                </a:cubicBezTo>
                <a:cubicBezTo>
                  <a:pt x="178594" y="198946"/>
                  <a:pt x="180417" y="201364"/>
                  <a:pt x="183096" y="201774"/>
                </a:cubicBezTo>
                <a:cubicBezTo>
                  <a:pt x="187896" y="202518"/>
                  <a:pt x="193067" y="202518"/>
                  <a:pt x="197867" y="201774"/>
                </a:cubicBezTo>
                <a:cubicBezTo>
                  <a:pt x="200546" y="201364"/>
                  <a:pt x="202369" y="198946"/>
                  <a:pt x="202369" y="196230"/>
                </a:cubicBezTo>
                <a:cubicBezTo>
                  <a:pt x="202369" y="186854"/>
                  <a:pt x="212341" y="181087"/>
                  <a:pt x="220452" y="185775"/>
                </a:cubicBezTo>
                <a:cubicBezTo>
                  <a:pt x="222796" y="187114"/>
                  <a:pt x="225809" y="186742"/>
                  <a:pt x="227521" y="184658"/>
                </a:cubicBezTo>
                <a:cubicBezTo>
                  <a:pt x="230646" y="180826"/>
                  <a:pt x="233139" y="176473"/>
                  <a:pt x="234925" y="171859"/>
                </a:cubicBezTo>
                <a:cubicBezTo>
                  <a:pt x="235893" y="169329"/>
                  <a:pt x="234739" y="166539"/>
                  <a:pt x="232395" y="165199"/>
                </a:cubicBezTo>
                <a:cubicBezTo>
                  <a:pt x="224247" y="160511"/>
                  <a:pt x="224247" y="149014"/>
                  <a:pt x="232395" y="144289"/>
                </a:cubicBezTo>
                <a:close/>
                <a:moveTo>
                  <a:pt x="175617" y="154781"/>
                </a:moveTo>
                <a:cubicBezTo>
                  <a:pt x="175617" y="146567"/>
                  <a:pt x="182286" y="139898"/>
                  <a:pt x="190500" y="139898"/>
                </a:cubicBezTo>
                <a:cubicBezTo>
                  <a:pt x="198714" y="139898"/>
                  <a:pt x="205383" y="146567"/>
                  <a:pt x="205383" y="154781"/>
                </a:cubicBezTo>
                <a:cubicBezTo>
                  <a:pt x="205383" y="162995"/>
                  <a:pt x="198714" y="169664"/>
                  <a:pt x="190500" y="169664"/>
                </a:cubicBezTo>
                <a:cubicBezTo>
                  <a:pt x="182286" y="169664"/>
                  <a:pt x="175617" y="162995"/>
                  <a:pt x="175617" y="154781"/>
                </a:cubicBezTo>
                <a:close/>
              </a:path>
            </a:pathLst>
          </a:custGeom>
          <a:solidFill>
            <a:srgbClr val="10B981"/>
          </a:solidFill>
          <a:ln/>
        </p:spPr>
      </p:sp>
      <p:sp>
        <p:nvSpPr>
          <p:cNvPr id="15" name="Text 13"/>
          <p:cNvSpPr/>
          <p:nvPr/>
        </p:nvSpPr>
        <p:spPr>
          <a:xfrm>
            <a:off x="1219200" y="3467100"/>
            <a:ext cx="7143750" cy="266700"/>
          </a:xfrm>
          <a:prstGeom prst="rect">
            <a:avLst/>
          </a:prstGeom>
          <a:noFill/>
          <a:ln/>
        </p:spPr>
        <p:txBody>
          <a:bodyPr wrap="square" lIns="0" tIns="0" rIns="0" bIns="0" rtlCol="0" anchor="ctr"/>
          <a:lstStyle/>
          <a:p>
            <a:pPr>
              <a:lnSpc>
                <a:spcPct val="120000"/>
              </a:lnSpc>
            </a:pPr>
            <a:r>
              <a:rPr lang="en-US" sz="1500" b="1" dirty="0">
                <a:solidFill>
                  <a:srgbClr val="1E3A5F"/>
                </a:solidFill>
                <a:latin typeface="Liter" pitchFamily="34" charset="0"/>
                <a:ea typeface="Liter" pitchFamily="34" charset="-122"/>
                <a:cs typeface="Liter" pitchFamily="34" charset="-120"/>
              </a:rPr>
              <a:t>Multi-Role Architecture</a:t>
            </a:r>
            <a:endParaRPr lang="en-US" sz="1600" dirty="0"/>
          </a:p>
        </p:txBody>
      </p:sp>
      <p:sp>
        <p:nvSpPr>
          <p:cNvPr id="16" name="Text 14"/>
          <p:cNvSpPr/>
          <p:nvPr/>
        </p:nvSpPr>
        <p:spPr>
          <a:xfrm>
            <a:off x="1219200" y="3810000"/>
            <a:ext cx="7124700" cy="495300"/>
          </a:xfrm>
          <a:prstGeom prst="rect">
            <a:avLst/>
          </a:prstGeom>
          <a:noFill/>
          <a:ln/>
        </p:spPr>
        <p:txBody>
          <a:bodyPr wrap="square" lIns="0" tIns="0" rIns="0" bIns="0" rtlCol="0" anchor="ctr"/>
          <a:lstStyle/>
          <a:p>
            <a:pPr>
              <a:lnSpc>
                <a:spcPct val="140000"/>
              </a:lnSpc>
            </a:pPr>
            <a:r>
              <a:rPr lang="en-US" sz="1200" dirty="0">
                <a:solidFill>
                  <a:srgbClr val="1E293B">
                    <a:alpha val="80000"/>
                  </a:srgbClr>
                </a:solidFill>
                <a:latin typeface="Quattrocento Sans" pitchFamily="34" charset="0"/>
                <a:ea typeface="Quattrocento Sans" pitchFamily="34" charset="-122"/>
                <a:cs typeface="Quattrocento Sans" pitchFamily="34" charset="-120"/>
              </a:rPr>
              <a:t>The system supports </a:t>
            </a:r>
            <a:r>
              <a:rPr lang="en-US" sz="1200" b="1" dirty="0">
                <a:solidFill>
                  <a:srgbClr val="10B981"/>
                </a:solidFill>
                <a:latin typeface="Quattrocento Sans" pitchFamily="34" charset="0"/>
                <a:ea typeface="Quattrocento Sans" pitchFamily="34" charset="-122"/>
                <a:cs typeface="Quattrocento Sans" pitchFamily="34" charset="-120"/>
              </a:rPr>
              <a:t>three distinct user roles</a:t>
            </a:r>
            <a:r>
              <a:rPr lang="en-US" sz="1200" dirty="0">
                <a:solidFill>
                  <a:srgbClr val="1E293B">
                    <a:alpha val="80000"/>
                  </a:srgbClr>
                </a:solidFill>
                <a:latin typeface="Quattrocento Sans" pitchFamily="34" charset="0"/>
                <a:ea typeface="Quattrocento Sans" pitchFamily="34" charset="-122"/>
                <a:cs typeface="Quattrocento Sans" pitchFamily="34" charset="-120"/>
              </a:rPr>
              <a:t> with role-based access control, ensuring secure and efficient management of healthcare operations:</a:t>
            </a:r>
            <a:endParaRPr lang="en-US" sz="1600" dirty="0"/>
          </a:p>
        </p:txBody>
      </p:sp>
      <p:sp>
        <p:nvSpPr>
          <p:cNvPr id="17" name="Shape 15"/>
          <p:cNvSpPr/>
          <p:nvPr/>
        </p:nvSpPr>
        <p:spPr>
          <a:xfrm>
            <a:off x="1219200" y="4419600"/>
            <a:ext cx="2276475" cy="914400"/>
          </a:xfrm>
          <a:custGeom>
            <a:avLst/>
            <a:gdLst/>
            <a:ahLst/>
            <a:cxnLst/>
            <a:rect l="l" t="t" r="r" b="b"/>
            <a:pathLst>
              <a:path w="2276475" h="914400">
                <a:moveTo>
                  <a:pt x="76197" y="0"/>
                </a:moveTo>
                <a:lnTo>
                  <a:pt x="2200278" y="0"/>
                </a:lnTo>
                <a:cubicBezTo>
                  <a:pt x="2242360" y="0"/>
                  <a:pt x="2276475" y="34115"/>
                  <a:pt x="2276475" y="76197"/>
                </a:cubicBezTo>
                <a:lnTo>
                  <a:pt x="2276475" y="838203"/>
                </a:lnTo>
                <a:cubicBezTo>
                  <a:pt x="2276475" y="880285"/>
                  <a:pt x="2242360" y="914400"/>
                  <a:pt x="2200278" y="914400"/>
                </a:cubicBezTo>
                <a:lnTo>
                  <a:pt x="76197" y="914400"/>
                </a:lnTo>
                <a:cubicBezTo>
                  <a:pt x="34115" y="914400"/>
                  <a:pt x="0" y="880285"/>
                  <a:pt x="0" y="838203"/>
                </a:cubicBezTo>
                <a:lnTo>
                  <a:pt x="0" y="76197"/>
                </a:lnTo>
                <a:cubicBezTo>
                  <a:pt x="0" y="34143"/>
                  <a:pt x="34143" y="0"/>
                  <a:pt x="76197" y="0"/>
                </a:cubicBezTo>
                <a:close/>
              </a:path>
            </a:pathLst>
          </a:custGeom>
          <a:solidFill>
            <a:srgbClr val="1E3A5F">
              <a:alpha val="5098"/>
            </a:srgbClr>
          </a:solidFill>
          <a:ln/>
        </p:spPr>
      </p:sp>
      <p:sp>
        <p:nvSpPr>
          <p:cNvPr id="18" name="Shape 16"/>
          <p:cNvSpPr/>
          <p:nvPr/>
        </p:nvSpPr>
        <p:spPr>
          <a:xfrm>
            <a:off x="2227183" y="4533900"/>
            <a:ext cx="257175" cy="228600"/>
          </a:xfrm>
          <a:custGeom>
            <a:avLst/>
            <a:gdLst/>
            <a:ahLst/>
            <a:cxnLst/>
            <a:rect l="l" t="t" r="r" b="b"/>
            <a:pathLst>
              <a:path w="257175" h="228600">
                <a:moveTo>
                  <a:pt x="100013" y="110728"/>
                </a:moveTo>
                <a:cubicBezTo>
                  <a:pt x="129583" y="110728"/>
                  <a:pt x="153591" y="86721"/>
                  <a:pt x="153591" y="57150"/>
                </a:cubicBezTo>
                <a:cubicBezTo>
                  <a:pt x="153591" y="27579"/>
                  <a:pt x="129583" y="3572"/>
                  <a:pt x="100013" y="3572"/>
                </a:cubicBezTo>
                <a:cubicBezTo>
                  <a:pt x="70442" y="3572"/>
                  <a:pt x="46434" y="27579"/>
                  <a:pt x="46434" y="57150"/>
                </a:cubicBezTo>
                <a:cubicBezTo>
                  <a:pt x="46434" y="86721"/>
                  <a:pt x="70442" y="110728"/>
                  <a:pt x="100012" y="110728"/>
                </a:cubicBezTo>
                <a:close/>
                <a:moveTo>
                  <a:pt x="86752" y="135731"/>
                </a:moveTo>
                <a:cubicBezTo>
                  <a:pt x="42773" y="135731"/>
                  <a:pt x="7144" y="171361"/>
                  <a:pt x="7144" y="215339"/>
                </a:cubicBezTo>
                <a:cubicBezTo>
                  <a:pt x="7144" y="222662"/>
                  <a:pt x="13082" y="228600"/>
                  <a:pt x="20404" y="228600"/>
                </a:cubicBezTo>
                <a:lnTo>
                  <a:pt x="132695" y="228600"/>
                </a:lnTo>
                <a:cubicBezTo>
                  <a:pt x="116532" y="209580"/>
                  <a:pt x="107156" y="185068"/>
                  <a:pt x="107156" y="159127"/>
                </a:cubicBezTo>
                <a:lnTo>
                  <a:pt x="107156" y="145241"/>
                </a:lnTo>
                <a:cubicBezTo>
                  <a:pt x="107156" y="141982"/>
                  <a:pt x="107603" y="138767"/>
                  <a:pt x="108451" y="135731"/>
                </a:cubicBezTo>
                <a:lnTo>
                  <a:pt x="86752" y="135731"/>
                </a:lnTo>
                <a:close/>
                <a:moveTo>
                  <a:pt x="198819" y="218108"/>
                </a:moveTo>
                <a:lnTo>
                  <a:pt x="192881" y="220920"/>
                </a:lnTo>
                <a:lnTo>
                  <a:pt x="192881" y="136937"/>
                </a:lnTo>
                <a:lnTo>
                  <a:pt x="235744" y="151224"/>
                </a:lnTo>
                <a:lnTo>
                  <a:pt x="235744" y="159975"/>
                </a:lnTo>
                <a:cubicBezTo>
                  <a:pt x="235744" y="184889"/>
                  <a:pt x="221367" y="207526"/>
                  <a:pt x="198819" y="218152"/>
                </a:cubicBezTo>
                <a:close/>
                <a:moveTo>
                  <a:pt x="188372" y="115863"/>
                </a:moveTo>
                <a:lnTo>
                  <a:pt x="138366" y="132517"/>
                </a:lnTo>
                <a:cubicBezTo>
                  <a:pt x="132517" y="134481"/>
                  <a:pt x="128588" y="139928"/>
                  <a:pt x="128588" y="146090"/>
                </a:cubicBezTo>
                <a:lnTo>
                  <a:pt x="128588" y="159975"/>
                </a:lnTo>
                <a:cubicBezTo>
                  <a:pt x="128588" y="193194"/>
                  <a:pt x="147786" y="223421"/>
                  <a:pt x="177790" y="237530"/>
                </a:cubicBezTo>
                <a:lnTo>
                  <a:pt x="186050" y="241414"/>
                </a:lnTo>
                <a:cubicBezTo>
                  <a:pt x="188193" y="242396"/>
                  <a:pt x="190515" y="242932"/>
                  <a:pt x="192837" y="242932"/>
                </a:cubicBezTo>
                <a:cubicBezTo>
                  <a:pt x="195158" y="242932"/>
                  <a:pt x="197525" y="242396"/>
                  <a:pt x="199623" y="241414"/>
                </a:cubicBezTo>
                <a:lnTo>
                  <a:pt x="207883" y="237530"/>
                </a:lnTo>
                <a:cubicBezTo>
                  <a:pt x="237976" y="223376"/>
                  <a:pt x="257175" y="193149"/>
                  <a:pt x="257175" y="159931"/>
                </a:cubicBezTo>
                <a:lnTo>
                  <a:pt x="257175" y="146045"/>
                </a:lnTo>
                <a:cubicBezTo>
                  <a:pt x="257175" y="139884"/>
                  <a:pt x="253246" y="134436"/>
                  <a:pt x="247397" y="132472"/>
                </a:cubicBezTo>
                <a:lnTo>
                  <a:pt x="197391" y="115818"/>
                </a:lnTo>
                <a:cubicBezTo>
                  <a:pt x="194444" y="114836"/>
                  <a:pt x="191274" y="114836"/>
                  <a:pt x="188372" y="115818"/>
                </a:cubicBezTo>
                <a:close/>
              </a:path>
            </a:pathLst>
          </a:custGeom>
          <a:solidFill>
            <a:srgbClr val="1E3A5F"/>
          </a:solidFill>
          <a:ln/>
        </p:spPr>
      </p:sp>
      <p:sp>
        <p:nvSpPr>
          <p:cNvPr id="19" name="Text 17"/>
          <p:cNvSpPr/>
          <p:nvPr/>
        </p:nvSpPr>
        <p:spPr>
          <a:xfrm>
            <a:off x="1300163" y="4838700"/>
            <a:ext cx="2114550" cy="190500"/>
          </a:xfrm>
          <a:prstGeom prst="rect">
            <a:avLst/>
          </a:prstGeom>
          <a:noFill/>
          <a:ln/>
        </p:spPr>
        <p:txBody>
          <a:bodyPr wrap="square" lIns="0" tIns="0" rIns="0" bIns="0" rtlCol="0" anchor="ctr"/>
          <a:lstStyle/>
          <a:p>
            <a:pPr algn="ctr">
              <a:lnSpc>
                <a:spcPct val="120000"/>
              </a:lnSpc>
            </a:pPr>
            <a:r>
              <a:rPr lang="en-US" sz="1050" b="1" dirty="0">
                <a:solidFill>
                  <a:srgbClr val="1E3A5F"/>
                </a:solidFill>
                <a:latin typeface="Quattrocento Sans" pitchFamily="34" charset="0"/>
                <a:ea typeface="Quattrocento Sans" pitchFamily="34" charset="-122"/>
                <a:cs typeface="Quattrocento Sans" pitchFamily="34" charset="-120"/>
              </a:rPr>
              <a:t>Admin</a:t>
            </a:r>
            <a:endParaRPr lang="en-US" sz="1600" dirty="0"/>
          </a:p>
        </p:txBody>
      </p:sp>
      <p:sp>
        <p:nvSpPr>
          <p:cNvPr id="20" name="Text 18"/>
          <p:cNvSpPr/>
          <p:nvPr/>
        </p:nvSpPr>
        <p:spPr>
          <a:xfrm>
            <a:off x="1304925" y="5067300"/>
            <a:ext cx="2105025" cy="152400"/>
          </a:xfrm>
          <a:prstGeom prst="rect">
            <a:avLst/>
          </a:prstGeom>
          <a:noFill/>
          <a:ln/>
        </p:spPr>
        <p:txBody>
          <a:bodyPr wrap="square" lIns="0" tIns="0" rIns="0" bIns="0" rtlCol="0" anchor="ctr"/>
          <a:lstStyle/>
          <a:p>
            <a:pPr algn="ctr">
              <a:lnSpc>
                <a:spcPct val="110000"/>
              </a:lnSpc>
            </a:pPr>
            <a:r>
              <a:rPr lang="en-US" sz="900" dirty="0">
                <a:solidFill>
                  <a:srgbClr val="1E293B">
                    <a:alpha val="70000"/>
                  </a:srgbClr>
                </a:solidFill>
                <a:latin typeface="Quattrocento Sans" pitchFamily="34" charset="0"/>
                <a:ea typeface="Quattrocento Sans" pitchFamily="34" charset="-122"/>
                <a:cs typeface="Quattrocento Sans" pitchFamily="34" charset="-120"/>
              </a:rPr>
              <a:t>System Management</a:t>
            </a:r>
            <a:endParaRPr lang="en-US" sz="1600" dirty="0"/>
          </a:p>
        </p:txBody>
      </p:sp>
      <p:sp>
        <p:nvSpPr>
          <p:cNvPr id="21" name="Shape 19"/>
          <p:cNvSpPr/>
          <p:nvPr/>
        </p:nvSpPr>
        <p:spPr>
          <a:xfrm>
            <a:off x="3606760" y="4419600"/>
            <a:ext cx="2276475" cy="914400"/>
          </a:xfrm>
          <a:custGeom>
            <a:avLst/>
            <a:gdLst/>
            <a:ahLst/>
            <a:cxnLst/>
            <a:rect l="l" t="t" r="r" b="b"/>
            <a:pathLst>
              <a:path w="2276475" h="914400">
                <a:moveTo>
                  <a:pt x="76197" y="0"/>
                </a:moveTo>
                <a:lnTo>
                  <a:pt x="2200278" y="0"/>
                </a:lnTo>
                <a:cubicBezTo>
                  <a:pt x="2242360" y="0"/>
                  <a:pt x="2276475" y="34115"/>
                  <a:pt x="2276475" y="76197"/>
                </a:cubicBezTo>
                <a:lnTo>
                  <a:pt x="2276475" y="838203"/>
                </a:lnTo>
                <a:cubicBezTo>
                  <a:pt x="2276475" y="880285"/>
                  <a:pt x="2242360" y="914400"/>
                  <a:pt x="2200278" y="914400"/>
                </a:cubicBezTo>
                <a:lnTo>
                  <a:pt x="76197" y="914400"/>
                </a:lnTo>
                <a:cubicBezTo>
                  <a:pt x="34115" y="914400"/>
                  <a:pt x="0" y="880285"/>
                  <a:pt x="0" y="838203"/>
                </a:cubicBezTo>
                <a:lnTo>
                  <a:pt x="0" y="76197"/>
                </a:lnTo>
                <a:cubicBezTo>
                  <a:pt x="0" y="34143"/>
                  <a:pt x="34143" y="0"/>
                  <a:pt x="76197" y="0"/>
                </a:cubicBezTo>
                <a:close/>
              </a:path>
            </a:pathLst>
          </a:custGeom>
          <a:solidFill>
            <a:srgbClr val="3B82F6">
              <a:alpha val="5098"/>
            </a:srgbClr>
          </a:solidFill>
          <a:ln/>
        </p:spPr>
      </p:sp>
      <p:sp>
        <p:nvSpPr>
          <p:cNvPr id="22" name="Shape 20"/>
          <p:cNvSpPr/>
          <p:nvPr/>
        </p:nvSpPr>
        <p:spPr>
          <a:xfrm>
            <a:off x="4643319" y="4533900"/>
            <a:ext cx="200025" cy="228600"/>
          </a:xfrm>
          <a:custGeom>
            <a:avLst/>
            <a:gdLst/>
            <a:ahLst/>
            <a:cxnLst/>
            <a:rect l="l" t="t" r="r" b="b"/>
            <a:pathLst>
              <a:path w="200025" h="228600">
                <a:moveTo>
                  <a:pt x="100013" y="3572"/>
                </a:moveTo>
                <a:cubicBezTo>
                  <a:pt x="70442" y="3572"/>
                  <a:pt x="46434" y="27579"/>
                  <a:pt x="46434" y="57150"/>
                </a:cubicBezTo>
                <a:cubicBezTo>
                  <a:pt x="46434" y="86721"/>
                  <a:pt x="70442" y="110728"/>
                  <a:pt x="100012" y="110728"/>
                </a:cubicBezTo>
                <a:cubicBezTo>
                  <a:pt x="129583" y="110728"/>
                  <a:pt x="153591" y="86721"/>
                  <a:pt x="153591" y="57150"/>
                </a:cubicBezTo>
                <a:cubicBezTo>
                  <a:pt x="153591" y="27579"/>
                  <a:pt x="129583" y="3572"/>
                  <a:pt x="100013" y="3572"/>
                </a:cubicBezTo>
                <a:close/>
                <a:moveTo>
                  <a:pt x="126802" y="143232"/>
                </a:moveTo>
                <a:cubicBezTo>
                  <a:pt x="124391" y="143009"/>
                  <a:pt x="121890" y="142875"/>
                  <a:pt x="119390" y="142875"/>
                </a:cubicBezTo>
                <a:lnTo>
                  <a:pt x="80590" y="142875"/>
                </a:lnTo>
                <a:cubicBezTo>
                  <a:pt x="78090" y="142875"/>
                  <a:pt x="75634" y="143009"/>
                  <a:pt x="73179" y="143232"/>
                </a:cubicBezTo>
                <a:lnTo>
                  <a:pt x="73179" y="173370"/>
                </a:lnTo>
                <a:cubicBezTo>
                  <a:pt x="80546" y="176763"/>
                  <a:pt x="85680" y="184219"/>
                  <a:pt x="85680" y="192837"/>
                </a:cubicBezTo>
                <a:cubicBezTo>
                  <a:pt x="85680" y="204668"/>
                  <a:pt x="76081" y="214268"/>
                  <a:pt x="64249" y="214268"/>
                </a:cubicBezTo>
                <a:cubicBezTo>
                  <a:pt x="52417" y="214268"/>
                  <a:pt x="42818" y="204668"/>
                  <a:pt x="42818" y="192837"/>
                </a:cubicBezTo>
                <a:cubicBezTo>
                  <a:pt x="42818" y="184175"/>
                  <a:pt x="47952" y="176719"/>
                  <a:pt x="55319" y="173370"/>
                </a:cubicBezTo>
                <a:lnTo>
                  <a:pt x="55319" y="147295"/>
                </a:lnTo>
                <a:cubicBezTo>
                  <a:pt x="27236" y="157609"/>
                  <a:pt x="7144" y="184666"/>
                  <a:pt x="7144" y="216366"/>
                </a:cubicBezTo>
                <a:cubicBezTo>
                  <a:pt x="7144" y="223108"/>
                  <a:pt x="12636" y="228600"/>
                  <a:pt x="19377" y="228600"/>
                </a:cubicBezTo>
                <a:lnTo>
                  <a:pt x="180603" y="228600"/>
                </a:lnTo>
                <a:cubicBezTo>
                  <a:pt x="187345" y="228600"/>
                  <a:pt x="192837" y="223108"/>
                  <a:pt x="192837" y="216366"/>
                </a:cubicBezTo>
                <a:cubicBezTo>
                  <a:pt x="192837" y="184666"/>
                  <a:pt x="172745" y="157654"/>
                  <a:pt x="144616" y="147340"/>
                </a:cubicBezTo>
                <a:lnTo>
                  <a:pt x="144616" y="164038"/>
                </a:lnTo>
                <a:cubicBezTo>
                  <a:pt x="155019" y="167700"/>
                  <a:pt x="162476" y="177656"/>
                  <a:pt x="162476" y="189309"/>
                </a:cubicBezTo>
                <a:lnTo>
                  <a:pt x="162476" y="203597"/>
                </a:lnTo>
                <a:cubicBezTo>
                  <a:pt x="162476" y="208508"/>
                  <a:pt x="158457" y="212527"/>
                  <a:pt x="153546" y="212527"/>
                </a:cubicBezTo>
                <a:cubicBezTo>
                  <a:pt x="148635" y="212527"/>
                  <a:pt x="144616" y="208508"/>
                  <a:pt x="144616" y="203597"/>
                </a:cubicBezTo>
                <a:lnTo>
                  <a:pt x="144616" y="189309"/>
                </a:lnTo>
                <a:cubicBezTo>
                  <a:pt x="144616" y="184398"/>
                  <a:pt x="140598" y="180380"/>
                  <a:pt x="135687" y="180380"/>
                </a:cubicBezTo>
                <a:cubicBezTo>
                  <a:pt x="130775" y="180380"/>
                  <a:pt x="126757" y="184398"/>
                  <a:pt x="126757" y="189309"/>
                </a:cubicBezTo>
                <a:lnTo>
                  <a:pt x="126757" y="203597"/>
                </a:lnTo>
                <a:cubicBezTo>
                  <a:pt x="126757" y="208508"/>
                  <a:pt x="122739" y="212527"/>
                  <a:pt x="117827" y="212527"/>
                </a:cubicBezTo>
                <a:cubicBezTo>
                  <a:pt x="112916" y="212527"/>
                  <a:pt x="108898" y="208508"/>
                  <a:pt x="108898" y="203597"/>
                </a:cubicBezTo>
                <a:lnTo>
                  <a:pt x="108898" y="189309"/>
                </a:lnTo>
                <a:cubicBezTo>
                  <a:pt x="108898" y="177656"/>
                  <a:pt x="116354" y="167744"/>
                  <a:pt x="126757" y="164038"/>
                </a:cubicBezTo>
                <a:lnTo>
                  <a:pt x="126757" y="143232"/>
                </a:lnTo>
                <a:close/>
              </a:path>
            </a:pathLst>
          </a:custGeom>
          <a:solidFill>
            <a:srgbClr val="3B82F6"/>
          </a:solidFill>
          <a:ln/>
        </p:spPr>
      </p:sp>
      <p:sp>
        <p:nvSpPr>
          <p:cNvPr id="23" name="Text 21"/>
          <p:cNvSpPr/>
          <p:nvPr/>
        </p:nvSpPr>
        <p:spPr>
          <a:xfrm>
            <a:off x="3687723" y="4838700"/>
            <a:ext cx="2114550" cy="190500"/>
          </a:xfrm>
          <a:prstGeom prst="rect">
            <a:avLst/>
          </a:prstGeom>
          <a:noFill/>
          <a:ln/>
        </p:spPr>
        <p:txBody>
          <a:bodyPr wrap="square" lIns="0" tIns="0" rIns="0" bIns="0" rtlCol="0" anchor="ctr"/>
          <a:lstStyle/>
          <a:p>
            <a:pPr algn="ctr">
              <a:lnSpc>
                <a:spcPct val="120000"/>
              </a:lnSpc>
            </a:pPr>
            <a:r>
              <a:rPr lang="en-US" sz="1050" b="1" dirty="0">
                <a:solidFill>
                  <a:srgbClr val="3B82F6"/>
                </a:solidFill>
                <a:latin typeface="Quattrocento Sans" pitchFamily="34" charset="0"/>
                <a:ea typeface="Quattrocento Sans" pitchFamily="34" charset="-122"/>
                <a:cs typeface="Quattrocento Sans" pitchFamily="34" charset="-120"/>
              </a:rPr>
              <a:t>Doctor</a:t>
            </a:r>
            <a:endParaRPr lang="en-US" sz="1600" dirty="0"/>
          </a:p>
        </p:txBody>
      </p:sp>
      <p:sp>
        <p:nvSpPr>
          <p:cNvPr id="24" name="Text 22"/>
          <p:cNvSpPr/>
          <p:nvPr/>
        </p:nvSpPr>
        <p:spPr>
          <a:xfrm>
            <a:off x="3692485" y="5067300"/>
            <a:ext cx="2105025" cy="152400"/>
          </a:xfrm>
          <a:prstGeom prst="rect">
            <a:avLst/>
          </a:prstGeom>
          <a:noFill/>
          <a:ln/>
        </p:spPr>
        <p:txBody>
          <a:bodyPr wrap="square" lIns="0" tIns="0" rIns="0" bIns="0" rtlCol="0" anchor="ctr"/>
          <a:lstStyle/>
          <a:p>
            <a:pPr algn="ctr">
              <a:lnSpc>
                <a:spcPct val="110000"/>
              </a:lnSpc>
            </a:pPr>
            <a:r>
              <a:rPr lang="en-US" sz="900" dirty="0">
                <a:solidFill>
                  <a:srgbClr val="1E293B">
                    <a:alpha val="70000"/>
                  </a:srgbClr>
                </a:solidFill>
                <a:latin typeface="Quattrocento Sans" pitchFamily="34" charset="0"/>
                <a:ea typeface="Quattrocento Sans" pitchFamily="34" charset="-122"/>
                <a:cs typeface="Quattrocento Sans" pitchFamily="34" charset="-120"/>
              </a:rPr>
              <a:t>Medical Services</a:t>
            </a:r>
            <a:endParaRPr lang="en-US" sz="1600" dirty="0"/>
          </a:p>
        </p:txBody>
      </p:sp>
      <p:sp>
        <p:nvSpPr>
          <p:cNvPr id="25" name="Shape 23"/>
          <p:cNvSpPr/>
          <p:nvPr/>
        </p:nvSpPr>
        <p:spPr>
          <a:xfrm>
            <a:off x="5994321" y="4419600"/>
            <a:ext cx="2276475" cy="914400"/>
          </a:xfrm>
          <a:custGeom>
            <a:avLst/>
            <a:gdLst/>
            <a:ahLst/>
            <a:cxnLst/>
            <a:rect l="l" t="t" r="r" b="b"/>
            <a:pathLst>
              <a:path w="2276475" h="914400">
                <a:moveTo>
                  <a:pt x="76197" y="0"/>
                </a:moveTo>
                <a:lnTo>
                  <a:pt x="2200278" y="0"/>
                </a:lnTo>
                <a:cubicBezTo>
                  <a:pt x="2242360" y="0"/>
                  <a:pt x="2276475" y="34115"/>
                  <a:pt x="2276475" y="76197"/>
                </a:cubicBezTo>
                <a:lnTo>
                  <a:pt x="2276475" y="838203"/>
                </a:lnTo>
                <a:cubicBezTo>
                  <a:pt x="2276475" y="880285"/>
                  <a:pt x="2242360" y="914400"/>
                  <a:pt x="2200278" y="914400"/>
                </a:cubicBezTo>
                <a:lnTo>
                  <a:pt x="76197" y="914400"/>
                </a:lnTo>
                <a:cubicBezTo>
                  <a:pt x="34115" y="914400"/>
                  <a:pt x="0" y="880285"/>
                  <a:pt x="0" y="838203"/>
                </a:cubicBezTo>
                <a:lnTo>
                  <a:pt x="0" y="76197"/>
                </a:lnTo>
                <a:cubicBezTo>
                  <a:pt x="0" y="34143"/>
                  <a:pt x="34143" y="0"/>
                  <a:pt x="76197" y="0"/>
                </a:cubicBezTo>
                <a:close/>
              </a:path>
            </a:pathLst>
          </a:custGeom>
          <a:solidFill>
            <a:srgbClr val="10B981">
              <a:alpha val="5098"/>
            </a:srgbClr>
          </a:solidFill>
          <a:ln/>
        </p:spPr>
      </p:sp>
      <p:sp>
        <p:nvSpPr>
          <p:cNvPr id="26" name="Shape 24"/>
          <p:cNvSpPr/>
          <p:nvPr/>
        </p:nvSpPr>
        <p:spPr>
          <a:xfrm>
            <a:off x="7030998" y="4533900"/>
            <a:ext cx="200025" cy="228600"/>
          </a:xfrm>
          <a:custGeom>
            <a:avLst/>
            <a:gdLst/>
            <a:ahLst/>
            <a:cxnLst/>
            <a:rect l="l" t="t" r="r" b="b"/>
            <a:pathLst>
              <a:path w="200025" h="228600">
                <a:moveTo>
                  <a:pt x="108362" y="35719"/>
                </a:moveTo>
                <a:lnTo>
                  <a:pt x="149126" y="35719"/>
                </a:lnTo>
                <a:cubicBezTo>
                  <a:pt x="144348" y="24735"/>
                  <a:pt x="135954" y="15672"/>
                  <a:pt x="125507" y="10001"/>
                </a:cubicBezTo>
                <a:lnTo>
                  <a:pt x="108362" y="35719"/>
                </a:lnTo>
                <a:close/>
                <a:moveTo>
                  <a:pt x="107960" y="4152"/>
                </a:moveTo>
                <a:cubicBezTo>
                  <a:pt x="105370" y="3750"/>
                  <a:pt x="102691" y="3572"/>
                  <a:pt x="100013" y="3572"/>
                </a:cubicBezTo>
                <a:cubicBezTo>
                  <a:pt x="78045" y="3572"/>
                  <a:pt x="59159" y="16788"/>
                  <a:pt x="50899" y="35719"/>
                </a:cubicBezTo>
                <a:lnTo>
                  <a:pt x="86886" y="35719"/>
                </a:lnTo>
                <a:lnTo>
                  <a:pt x="107915" y="4152"/>
                </a:lnTo>
                <a:close/>
                <a:moveTo>
                  <a:pt x="100013" y="110728"/>
                </a:moveTo>
                <a:cubicBezTo>
                  <a:pt x="129614" y="110728"/>
                  <a:pt x="153591" y="86752"/>
                  <a:pt x="153591" y="57150"/>
                </a:cubicBezTo>
                <a:lnTo>
                  <a:pt x="46434" y="57150"/>
                </a:lnTo>
                <a:cubicBezTo>
                  <a:pt x="46434" y="86752"/>
                  <a:pt x="70411" y="110728"/>
                  <a:pt x="100013" y="110728"/>
                </a:cubicBezTo>
                <a:close/>
                <a:moveTo>
                  <a:pt x="44068" y="152608"/>
                </a:moveTo>
                <a:cubicBezTo>
                  <a:pt x="22012" y="165289"/>
                  <a:pt x="7144" y="189086"/>
                  <a:pt x="7144" y="216366"/>
                </a:cubicBezTo>
                <a:cubicBezTo>
                  <a:pt x="7144" y="223108"/>
                  <a:pt x="12636" y="228600"/>
                  <a:pt x="19377" y="228600"/>
                </a:cubicBezTo>
                <a:lnTo>
                  <a:pt x="86797" y="228600"/>
                </a:lnTo>
                <a:lnTo>
                  <a:pt x="44023" y="152608"/>
                </a:lnTo>
                <a:close/>
                <a:moveTo>
                  <a:pt x="64204" y="144706"/>
                </a:moveTo>
                <a:lnTo>
                  <a:pt x="83269" y="178594"/>
                </a:lnTo>
                <a:lnTo>
                  <a:pt x="121444" y="178594"/>
                </a:lnTo>
                <a:cubicBezTo>
                  <a:pt x="141178" y="178594"/>
                  <a:pt x="157163" y="194578"/>
                  <a:pt x="157163" y="214313"/>
                </a:cubicBezTo>
                <a:cubicBezTo>
                  <a:pt x="157163" y="219402"/>
                  <a:pt x="156091" y="224224"/>
                  <a:pt x="154171" y="228600"/>
                </a:cubicBezTo>
                <a:lnTo>
                  <a:pt x="180603" y="228600"/>
                </a:lnTo>
                <a:cubicBezTo>
                  <a:pt x="187345" y="228600"/>
                  <a:pt x="192837" y="223108"/>
                  <a:pt x="192837" y="216366"/>
                </a:cubicBezTo>
                <a:cubicBezTo>
                  <a:pt x="192837" y="175781"/>
                  <a:pt x="159931" y="142875"/>
                  <a:pt x="119345" y="142875"/>
                </a:cubicBezTo>
                <a:lnTo>
                  <a:pt x="80546" y="142875"/>
                </a:lnTo>
                <a:cubicBezTo>
                  <a:pt x="74920" y="142875"/>
                  <a:pt x="69428" y="143500"/>
                  <a:pt x="64160" y="144706"/>
                </a:cubicBezTo>
                <a:close/>
                <a:moveTo>
                  <a:pt x="95324" y="200025"/>
                </a:moveTo>
                <a:lnTo>
                  <a:pt x="111398" y="228600"/>
                </a:lnTo>
                <a:lnTo>
                  <a:pt x="121444" y="228600"/>
                </a:lnTo>
                <a:cubicBezTo>
                  <a:pt x="129347" y="228600"/>
                  <a:pt x="135731" y="222215"/>
                  <a:pt x="135731" y="214313"/>
                </a:cubicBezTo>
                <a:cubicBezTo>
                  <a:pt x="135731" y="206410"/>
                  <a:pt x="129347" y="200025"/>
                  <a:pt x="121444" y="200025"/>
                </a:cubicBezTo>
                <a:lnTo>
                  <a:pt x="95324" y="200025"/>
                </a:lnTo>
                <a:close/>
              </a:path>
            </a:pathLst>
          </a:custGeom>
          <a:solidFill>
            <a:srgbClr val="10B981"/>
          </a:solidFill>
          <a:ln/>
        </p:spPr>
      </p:sp>
      <p:sp>
        <p:nvSpPr>
          <p:cNvPr id="27" name="Text 25"/>
          <p:cNvSpPr/>
          <p:nvPr/>
        </p:nvSpPr>
        <p:spPr>
          <a:xfrm>
            <a:off x="6075283" y="4838700"/>
            <a:ext cx="2114550" cy="190500"/>
          </a:xfrm>
          <a:prstGeom prst="rect">
            <a:avLst/>
          </a:prstGeom>
          <a:noFill/>
          <a:ln/>
        </p:spPr>
        <p:txBody>
          <a:bodyPr wrap="square" lIns="0" tIns="0" rIns="0" bIns="0" rtlCol="0" anchor="ctr"/>
          <a:lstStyle/>
          <a:p>
            <a:pPr algn="ctr">
              <a:lnSpc>
                <a:spcPct val="120000"/>
              </a:lnSpc>
            </a:pPr>
            <a:r>
              <a:rPr lang="en-US" sz="1050" b="1" dirty="0">
                <a:solidFill>
                  <a:srgbClr val="10B981"/>
                </a:solidFill>
                <a:latin typeface="Quattrocento Sans" pitchFamily="34" charset="0"/>
                <a:ea typeface="Quattrocento Sans" pitchFamily="34" charset="-122"/>
                <a:cs typeface="Quattrocento Sans" pitchFamily="34" charset="-120"/>
              </a:rPr>
              <a:t>Patient</a:t>
            </a:r>
            <a:endParaRPr lang="en-US" sz="1600" dirty="0"/>
          </a:p>
        </p:txBody>
      </p:sp>
      <p:sp>
        <p:nvSpPr>
          <p:cNvPr id="28" name="Text 26"/>
          <p:cNvSpPr/>
          <p:nvPr/>
        </p:nvSpPr>
        <p:spPr>
          <a:xfrm>
            <a:off x="6080046" y="5067300"/>
            <a:ext cx="2105025" cy="152400"/>
          </a:xfrm>
          <a:prstGeom prst="rect">
            <a:avLst/>
          </a:prstGeom>
          <a:noFill/>
          <a:ln/>
        </p:spPr>
        <p:txBody>
          <a:bodyPr wrap="square" lIns="0" tIns="0" rIns="0" bIns="0" rtlCol="0" anchor="ctr"/>
          <a:lstStyle/>
          <a:p>
            <a:pPr algn="ctr">
              <a:lnSpc>
                <a:spcPct val="110000"/>
              </a:lnSpc>
            </a:pPr>
            <a:r>
              <a:rPr lang="en-US" sz="900" dirty="0">
                <a:solidFill>
                  <a:srgbClr val="1E293B">
                    <a:alpha val="70000"/>
                  </a:srgbClr>
                </a:solidFill>
                <a:latin typeface="Quattrocento Sans" pitchFamily="34" charset="0"/>
                <a:ea typeface="Quattrocento Sans" pitchFamily="34" charset="-122"/>
                <a:cs typeface="Quattrocento Sans" pitchFamily="34" charset="-120"/>
              </a:rPr>
              <a:t>Healthcare Access</a:t>
            </a:r>
            <a:endParaRPr lang="en-US" sz="1600" dirty="0"/>
          </a:p>
        </p:txBody>
      </p:sp>
      <p:sp>
        <p:nvSpPr>
          <p:cNvPr id="29" name="Shape 27"/>
          <p:cNvSpPr/>
          <p:nvPr/>
        </p:nvSpPr>
        <p:spPr>
          <a:xfrm>
            <a:off x="8763000" y="381000"/>
            <a:ext cx="3048000" cy="2476500"/>
          </a:xfrm>
          <a:custGeom>
            <a:avLst/>
            <a:gdLst/>
            <a:ahLst/>
            <a:cxnLst/>
            <a:rect l="l" t="t" r="r" b="b"/>
            <a:pathLst>
              <a:path w="3048000" h="2476500">
                <a:moveTo>
                  <a:pt x="114290" y="0"/>
                </a:moveTo>
                <a:lnTo>
                  <a:pt x="2933710" y="0"/>
                </a:lnTo>
                <a:cubicBezTo>
                  <a:pt x="2996830" y="0"/>
                  <a:pt x="3048000" y="51170"/>
                  <a:pt x="3048000" y="114290"/>
                </a:cubicBezTo>
                <a:lnTo>
                  <a:pt x="3048000" y="2362210"/>
                </a:lnTo>
                <a:cubicBezTo>
                  <a:pt x="3048000" y="2425330"/>
                  <a:pt x="2996830" y="2476500"/>
                  <a:pt x="2933710" y="2476500"/>
                </a:cubicBezTo>
                <a:lnTo>
                  <a:pt x="114290" y="2476500"/>
                </a:lnTo>
                <a:cubicBezTo>
                  <a:pt x="51170" y="2476500"/>
                  <a:pt x="0" y="2425330"/>
                  <a:pt x="0" y="2362210"/>
                </a:cubicBezTo>
                <a:lnTo>
                  <a:pt x="0" y="114290"/>
                </a:lnTo>
                <a:cubicBezTo>
                  <a:pt x="0" y="51212"/>
                  <a:pt x="51212" y="0"/>
                  <a:pt x="114290" y="0"/>
                </a:cubicBezTo>
                <a:close/>
              </a:path>
            </a:pathLst>
          </a:custGeom>
          <a:gradFill flip="none" rotWithShape="1">
            <a:gsLst>
              <a:gs pos="0">
                <a:srgbClr val="1E3A5F"/>
              </a:gs>
              <a:gs pos="100000">
                <a:srgbClr val="3B82F6"/>
              </a:gs>
            </a:gsLst>
            <a:lin ang="2700000" scaled="1"/>
          </a:gradFill>
          <a:ln/>
          <a:effectLst>
            <a:outerShdw blurRad="142875" dist="95250" dir="5400000" algn="bl" rotWithShape="0">
              <a:srgbClr val="000000">
                <a:alpha val="10196"/>
              </a:srgbClr>
            </a:outerShdw>
          </a:effectLst>
        </p:spPr>
      </p:sp>
      <p:sp>
        <p:nvSpPr>
          <p:cNvPr id="30" name="Shape 28"/>
          <p:cNvSpPr/>
          <p:nvPr/>
        </p:nvSpPr>
        <p:spPr>
          <a:xfrm>
            <a:off x="8998744" y="619125"/>
            <a:ext cx="128588" cy="171450"/>
          </a:xfrm>
          <a:custGeom>
            <a:avLst/>
            <a:gdLst/>
            <a:ahLst/>
            <a:cxnLst/>
            <a:rect l="l" t="t" r="r" b="b"/>
            <a:pathLst>
              <a:path w="128588" h="171450">
                <a:moveTo>
                  <a:pt x="98081" y="128588"/>
                </a:moveTo>
                <a:cubicBezTo>
                  <a:pt x="100526" y="121120"/>
                  <a:pt x="105415" y="114356"/>
                  <a:pt x="110940" y="108529"/>
                </a:cubicBezTo>
                <a:cubicBezTo>
                  <a:pt x="121890" y="97010"/>
                  <a:pt x="128587" y="81439"/>
                  <a:pt x="128587" y="64294"/>
                </a:cubicBezTo>
                <a:cubicBezTo>
                  <a:pt x="128587" y="28798"/>
                  <a:pt x="99789" y="0"/>
                  <a:pt x="64294" y="0"/>
                </a:cubicBezTo>
                <a:cubicBezTo>
                  <a:pt x="28798" y="0"/>
                  <a:pt x="0" y="28798"/>
                  <a:pt x="0" y="64294"/>
                </a:cubicBezTo>
                <a:cubicBezTo>
                  <a:pt x="0" y="81439"/>
                  <a:pt x="6697" y="97010"/>
                  <a:pt x="17647" y="108529"/>
                </a:cubicBezTo>
                <a:cubicBezTo>
                  <a:pt x="23173" y="114356"/>
                  <a:pt x="28095" y="121120"/>
                  <a:pt x="30506" y="128588"/>
                </a:cubicBezTo>
                <a:lnTo>
                  <a:pt x="98048" y="128588"/>
                </a:lnTo>
                <a:close/>
                <a:moveTo>
                  <a:pt x="96441" y="144661"/>
                </a:moveTo>
                <a:lnTo>
                  <a:pt x="32147" y="144661"/>
                </a:lnTo>
                <a:lnTo>
                  <a:pt x="32147" y="150019"/>
                </a:lnTo>
                <a:cubicBezTo>
                  <a:pt x="32147" y="164820"/>
                  <a:pt x="44135" y="176808"/>
                  <a:pt x="58936" y="176808"/>
                </a:cubicBezTo>
                <a:lnTo>
                  <a:pt x="69652" y="176808"/>
                </a:lnTo>
                <a:cubicBezTo>
                  <a:pt x="84453" y="176808"/>
                  <a:pt x="96441" y="164820"/>
                  <a:pt x="96441" y="150019"/>
                </a:cubicBezTo>
                <a:lnTo>
                  <a:pt x="96441" y="144661"/>
                </a:lnTo>
                <a:close/>
                <a:moveTo>
                  <a:pt x="61615" y="37505"/>
                </a:moveTo>
                <a:cubicBezTo>
                  <a:pt x="48287" y="37505"/>
                  <a:pt x="37505" y="48287"/>
                  <a:pt x="37505" y="61615"/>
                </a:cubicBezTo>
                <a:cubicBezTo>
                  <a:pt x="37505" y="66069"/>
                  <a:pt x="33922" y="69652"/>
                  <a:pt x="29468" y="69652"/>
                </a:cubicBezTo>
                <a:cubicBezTo>
                  <a:pt x="25014" y="69652"/>
                  <a:pt x="21431" y="66069"/>
                  <a:pt x="21431" y="61615"/>
                </a:cubicBezTo>
                <a:cubicBezTo>
                  <a:pt x="21431" y="39413"/>
                  <a:pt x="39413" y="21431"/>
                  <a:pt x="61615" y="21431"/>
                </a:cubicBezTo>
                <a:cubicBezTo>
                  <a:pt x="66069" y="21431"/>
                  <a:pt x="69652" y="25014"/>
                  <a:pt x="69652" y="29468"/>
                </a:cubicBezTo>
                <a:cubicBezTo>
                  <a:pt x="69652" y="33922"/>
                  <a:pt x="66069" y="37505"/>
                  <a:pt x="61615" y="37505"/>
                </a:cubicBezTo>
                <a:close/>
              </a:path>
            </a:pathLst>
          </a:custGeom>
          <a:solidFill>
            <a:srgbClr val="10B981"/>
          </a:solidFill>
          <a:ln/>
        </p:spPr>
      </p:sp>
      <p:sp>
        <p:nvSpPr>
          <p:cNvPr id="31" name="Text 29"/>
          <p:cNvSpPr/>
          <p:nvPr/>
        </p:nvSpPr>
        <p:spPr>
          <a:xfrm>
            <a:off x="9172575" y="571500"/>
            <a:ext cx="2533650" cy="266700"/>
          </a:xfrm>
          <a:prstGeom prst="rect">
            <a:avLst/>
          </a:prstGeom>
          <a:noFill/>
          <a:ln/>
        </p:spPr>
        <p:txBody>
          <a:bodyPr wrap="square" lIns="0" tIns="0" rIns="0" bIns="0" rtlCol="0" anchor="ctr"/>
          <a:lstStyle/>
          <a:p>
            <a:pPr>
              <a:lnSpc>
                <a:spcPct val="130000"/>
              </a:lnSpc>
            </a:pPr>
            <a:r>
              <a:rPr lang="en-US" sz="1350" b="1" dirty="0">
                <a:solidFill>
                  <a:srgbClr val="FFFFFF"/>
                </a:solidFill>
                <a:latin typeface="Liter" pitchFamily="34" charset="0"/>
                <a:ea typeface="Liter" pitchFamily="34" charset="-122"/>
                <a:cs typeface="Liter" pitchFamily="34" charset="-120"/>
              </a:rPr>
              <a:t>Key Benefits</a:t>
            </a:r>
            <a:endParaRPr lang="en-US" sz="1600" dirty="0"/>
          </a:p>
        </p:txBody>
      </p:sp>
      <p:sp>
        <p:nvSpPr>
          <p:cNvPr id="32" name="Shape 30"/>
          <p:cNvSpPr/>
          <p:nvPr/>
        </p:nvSpPr>
        <p:spPr>
          <a:xfrm>
            <a:off x="8972550" y="1028700"/>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10B981"/>
          </a:solidFill>
          <a:ln/>
        </p:spPr>
      </p:sp>
      <p:sp>
        <p:nvSpPr>
          <p:cNvPr id="33" name="Text 31"/>
          <p:cNvSpPr/>
          <p:nvPr/>
        </p:nvSpPr>
        <p:spPr>
          <a:xfrm>
            <a:off x="9258300" y="990600"/>
            <a:ext cx="2428875" cy="381000"/>
          </a:xfrm>
          <a:prstGeom prst="rect">
            <a:avLst/>
          </a:prstGeom>
          <a:noFill/>
          <a:ln/>
        </p:spPr>
        <p:txBody>
          <a:bodyPr wrap="square" lIns="0" tIns="0" rIns="0" bIns="0" rtlCol="0" anchor="ctr"/>
          <a:lstStyle/>
          <a:p>
            <a:pPr>
              <a:lnSpc>
                <a:spcPct val="120000"/>
              </a:lnSpc>
            </a:pPr>
            <a:r>
              <a:rPr lang="en-US" sz="1050" dirty="0">
                <a:solidFill>
                  <a:srgbClr val="F1F5F9">
                    <a:alpha val="90000"/>
                  </a:srgbClr>
                </a:solidFill>
                <a:latin typeface="Quattrocento Sans" pitchFamily="34" charset="0"/>
                <a:ea typeface="Quattrocento Sans" pitchFamily="34" charset="-122"/>
                <a:cs typeface="Quattrocento Sans" pitchFamily="34" charset="-120"/>
              </a:rPr>
              <a:t>Automated token generation eliminates conflicts</a:t>
            </a:r>
            <a:endParaRPr lang="en-US" sz="1600" dirty="0"/>
          </a:p>
        </p:txBody>
      </p:sp>
      <p:sp>
        <p:nvSpPr>
          <p:cNvPr id="34" name="Shape 32"/>
          <p:cNvSpPr/>
          <p:nvPr/>
        </p:nvSpPr>
        <p:spPr>
          <a:xfrm>
            <a:off x="8972550" y="1524000"/>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10B981"/>
          </a:solidFill>
          <a:ln/>
        </p:spPr>
      </p:sp>
      <p:sp>
        <p:nvSpPr>
          <p:cNvPr id="35" name="Text 33"/>
          <p:cNvSpPr/>
          <p:nvPr/>
        </p:nvSpPr>
        <p:spPr>
          <a:xfrm>
            <a:off x="9258300" y="1485900"/>
            <a:ext cx="2428875" cy="381000"/>
          </a:xfrm>
          <a:prstGeom prst="rect">
            <a:avLst/>
          </a:prstGeom>
          <a:noFill/>
          <a:ln/>
        </p:spPr>
        <p:txBody>
          <a:bodyPr wrap="square" lIns="0" tIns="0" rIns="0" bIns="0" rtlCol="0" anchor="ctr"/>
          <a:lstStyle/>
          <a:p>
            <a:pPr>
              <a:lnSpc>
                <a:spcPct val="120000"/>
              </a:lnSpc>
            </a:pPr>
            <a:r>
              <a:rPr lang="en-US" sz="1050" dirty="0">
                <a:solidFill>
                  <a:srgbClr val="F1F5F9">
                    <a:alpha val="90000"/>
                  </a:srgbClr>
                </a:solidFill>
                <a:latin typeface="Quattrocento Sans" pitchFamily="34" charset="0"/>
                <a:ea typeface="Quattrocento Sans" pitchFamily="34" charset="-122"/>
                <a:cs typeface="Quattrocento Sans" pitchFamily="34" charset="-120"/>
              </a:rPr>
              <a:t>Digital prescription storage for easy access</a:t>
            </a:r>
            <a:endParaRPr lang="en-US" sz="1600" dirty="0"/>
          </a:p>
        </p:txBody>
      </p:sp>
      <p:sp>
        <p:nvSpPr>
          <p:cNvPr id="36" name="Shape 34"/>
          <p:cNvSpPr/>
          <p:nvPr/>
        </p:nvSpPr>
        <p:spPr>
          <a:xfrm>
            <a:off x="8972550" y="2019300"/>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10B981"/>
          </a:solidFill>
          <a:ln/>
        </p:spPr>
      </p:sp>
      <p:sp>
        <p:nvSpPr>
          <p:cNvPr id="37" name="Text 35"/>
          <p:cNvSpPr/>
          <p:nvPr/>
        </p:nvSpPr>
        <p:spPr>
          <a:xfrm>
            <a:off x="9258300" y="1981200"/>
            <a:ext cx="2428875" cy="381000"/>
          </a:xfrm>
          <a:prstGeom prst="rect">
            <a:avLst/>
          </a:prstGeom>
          <a:noFill/>
          <a:ln/>
        </p:spPr>
        <p:txBody>
          <a:bodyPr wrap="square" lIns="0" tIns="0" rIns="0" bIns="0" rtlCol="0" anchor="ctr"/>
          <a:lstStyle/>
          <a:p>
            <a:pPr>
              <a:lnSpc>
                <a:spcPct val="120000"/>
              </a:lnSpc>
            </a:pPr>
            <a:r>
              <a:rPr lang="en-US" sz="1050" dirty="0">
                <a:solidFill>
                  <a:srgbClr val="F1F5F9">
                    <a:alpha val="90000"/>
                  </a:srgbClr>
                </a:solidFill>
                <a:latin typeface="Quattrocento Sans" pitchFamily="34" charset="0"/>
                <a:ea typeface="Quattrocento Sans" pitchFamily="34" charset="-122"/>
                <a:cs typeface="Quattrocento Sans" pitchFamily="34" charset="-120"/>
              </a:rPr>
              <a:t>Secure payment tracking with transaction IDs</a:t>
            </a:r>
            <a:endParaRPr lang="en-US" sz="1600" dirty="0"/>
          </a:p>
        </p:txBody>
      </p:sp>
      <p:sp>
        <p:nvSpPr>
          <p:cNvPr id="38" name="Shape 36"/>
          <p:cNvSpPr/>
          <p:nvPr/>
        </p:nvSpPr>
        <p:spPr>
          <a:xfrm>
            <a:off x="8972550" y="2514600"/>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10B981"/>
          </a:solidFill>
          <a:ln/>
        </p:spPr>
      </p:sp>
      <p:sp>
        <p:nvSpPr>
          <p:cNvPr id="39" name="Text 37"/>
          <p:cNvSpPr/>
          <p:nvPr/>
        </p:nvSpPr>
        <p:spPr>
          <a:xfrm>
            <a:off x="9258300" y="2476500"/>
            <a:ext cx="2057400" cy="190500"/>
          </a:xfrm>
          <a:prstGeom prst="rect">
            <a:avLst/>
          </a:prstGeom>
          <a:noFill/>
          <a:ln/>
        </p:spPr>
        <p:txBody>
          <a:bodyPr wrap="square" lIns="0" tIns="0" rIns="0" bIns="0" rtlCol="0" anchor="ctr"/>
          <a:lstStyle/>
          <a:p>
            <a:pPr>
              <a:lnSpc>
                <a:spcPct val="120000"/>
              </a:lnSpc>
            </a:pPr>
            <a:r>
              <a:rPr lang="en-US" sz="1050" dirty="0">
                <a:solidFill>
                  <a:srgbClr val="F1F5F9">
                    <a:alpha val="90000"/>
                  </a:srgbClr>
                </a:solidFill>
                <a:latin typeface="Quattrocento Sans" pitchFamily="34" charset="0"/>
                <a:ea typeface="Quattrocento Sans" pitchFamily="34" charset="-122"/>
                <a:cs typeface="Quattrocento Sans" pitchFamily="34" charset="-120"/>
              </a:rPr>
              <a:t>Centralized patient medical history</a:t>
            </a:r>
            <a:endParaRPr lang="en-US" sz="1600" dirty="0"/>
          </a:p>
        </p:txBody>
      </p:sp>
      <p:sp>
        <p:nvSpPr>
          <p:cNvPr id="40" name="Shape 38"/>
          <p:cNvSpPr/>
          <p:nvPr/>
        </p:nvSpPr>
        <p:spPr>
          <a:xfrm>
            <a:off x="8763000" y="3009900"/>
            <a:ext cx="3048000" cy="3467100"/>
          </a:xfrm>
          <a:custGeom>
            <a:avLst/>
            <a:gdLst/>
            <a:ahLst/>
            <a:cxnLst/>
            <a:rect l="l" t="t" r="r" b="b"/>
            <a:pathLst>
              <a:path w="3048000" h="3467100">
                <a:moveTo>
                  <a:pt x="114300" y="0"/>
                </a:moveTo>
                <a:lnTo>
                  <a:pt x="2933700" y="0"/>
                </a:lnTo>
                <a:cubicBezTo>
                  <a:pt x="2996784" y="0"/>
                  <a:pt x="3048000" y="51216"/>
                  <a:pt x="3048000" y="114300"/>
                </a:cubicBezTo>
                <a:lnTo>
                  <a:pt x="3048000" y="3352800"/>
                </a:lnTo>
                <a:cubicBezTo>
                  <a:pt x="3048000" y="3415884"/>
                  <a:pt x="2996784" y="3467100"/>
                  <a:pt x="2933700" y="3467100"/>
                </a:cubicBezTo>
                <a:lnTo>
                  <a:pt x="114300" y="3467100"/>
                </a:lnTo>
                <a:cubicBezTo>
                  <a:pt x="51216" y="3467100"/>
                  <a:pt x="0" y="3415884"/>
                  <a:pt x="0" y="3352800"/>
                </a:cubicBezTo>
                <a:lnTo>
                  <a:pt x="0" y="114300"/>
                </a:lnTo>
                <a:cubicBezTo>
                  <a:pt x="0" y="51216"/>
                  <a:pt x="51216" y="0"/>
                  <a:pt x="114300" y="0"/>
                </a:cubicBezTo>
                <a:close/>
              </a:path>
            </a:pathLst>
          </a:custGeom>
          <a:solidFill>
            <a:srgbClr val="FFFFFF"/>
          </a:solidFill>
          <a:ln/>
          <a:effectLst>
            <a:outerShdw blurRad="57150" dist="38100" dir="5400000" algn="bl" rotWithShape="0">
              <a:srgbClr val="000000">
                <a:alpha val="10196"/>
              </a:srgbClr>
            </a:outerShdw>
          </a:effectLst>
        </p:spPr>
      </p:sp>
      <p:sp>
        <p:nvSpPr>
          <p:cNvPr id="41" name="Shape 39"/>
          <p:cNvSpPr/>
          <p:nvPr/>
        </p:nvSpPr>
        <p:spPr>
          <a:xfrm>
            <a:off x="8988028" y="3248025"/>
            <a:ext cx="150019" cy="171450"/>
          </a:xfrm>
          <a:custGeom>
            <a:avLst/>
            <a:gdLst/>
            <a:ahLst/>
            <a:cxnLst/>
            <a:rect l="l" t="t" r="r" b="b"/>
            <a:pathLst>
              <a:path w="150019" h="171450">
                <a:moveTo>
                  <a:pt x="150019" y="68915"/>
                </a:moveTo>
                <a:cubicBezTo>
                  <a:pt x="145063" y="72197"/>
                  <a:pt x="139370" y="74842"/>
                  <a:pt x="133443" y="76952"/>
                </a:cubicBezTo>
                <a:cubicBezTo>
                  <a:pt x="117704" y="82577"/>
                  <a:pt x="97043" y="85725"/>
                  <a:pt x="75009" y="85725"/>
                </a:cubicBezTo>
                <a:cubicBezTo>
                  <a:pt x="52975" y="85725"/>
                  <a:pt x="32281" y="82544"/>
                  <a:pt x="16576" y="76952"/>
                </a:cubicBezTo>
                <a:cubicBezTo>
                  <a:pt x="10682" y="74842"/>
                  <a:pt x="4956" y="72197"/>
                  <a:pt x="0" y="68915"/>
                </a:cubicBezTo>
                <a:lnTo>
                  <a:pt x="0" y="96441"/>
                </a:lnTo>
                <a:cubicBezTo>
                  <a:pt x="0" y="111242"/>
                  <a:pt x="33587" y="123230"/>
                  <a:pt x="75009" y="123230"/>
                </a:cubicBezTo>
                <a:cubicBezTo>
                  <a:pt x="116432" y="123230"/>
                  <a:pt x="150019" y="111242"/>
                  <a:pt x="150019" y="96441"/>
                </a:cubicBezTo>
                <a:lnTo>
                  <a:pt x="150019" y="68915"/>
                </a:lnTo>
                <a:close/>
                <a:moveTo>
                  <a:pt x="150019" y="42863"/>
                </a:moveTo>
                <a:lnTo>
                  <a:pt x="150019" y="26789"/>
                </a:lnTo>
                <a:cubicBezTo>
                  <a:pt x="150019" y="11988"/>
                  <a:pt x="116432" y="0"/>
                  <a:pt x="75009" y="0"/>
                </a:cubicBezTo>
                <a:cubicBezTo>
                  <a:pt x="33587" y="0"/>
                  <a:pt x="0" y="11988"/>
                  <a:pt x="0" y="26789"/>
                </a:cubicBezTo>
                <a:lnTo>
                  <a:pt x="0" y="42863"/>
                </a:lnTo>
                <a:cubicBezTo>
                  <a:pt x="0" y="57663"/>
                  <a:pt x="33587" y="69652"/>
                  <a:pt x="75009" y="69652"/>
                </a:cubicBezTo>
                <a:cubicBezTo>
                  <a:pt x="116432" y="69652"/>
                  <a:pt x="150019" y="57663"/>
                  <a:pt x="150019" y="42863"/>
                </a:cubicBezTo>
                <a:close/>
                <a:moveTo>
                  <a:pt x="133443" y="130530"/>
                </a:moveTo>
                <a:cubicBezTo>
                  <a:pt x="117738" y="136122"/>
                  <a:pt x="97077" y="139303"/>
                  <a:pt x="75009" y="139303"/>
                </a:cubicBezTo>
                <a:cubicBezTo>
                  <a:pt x="52942" y="139303"/>
                  <a:pt x="32281" y="136122"/>
                  <a:pt x="16576" y="130530"/>
                </a:cubicBezTo>
                <a:cubicBezTo>
                  <a:pt x="10682" y="128420"/>
                  <a:pt x="4956" y="125775"/>
                  <a:pt x="0" y="122493"/>
                </a:cubicBezTo>
                <a:lnTo>
                  <a:pt x="0" y="144661"/>
                </a:lnTo>
                <a:cubicBezTo>
                  <a:pt x="0" y="159462"/>
                  <a:pt x="33587" y="171450"/>
                  <a:pt x="75009" y="171450"/>
                </a:cubicBezTo>
                <a:cubicBezTo>
                  <a:pt x="116432" y="171450"/>
                  <a:pt x="150019" y="159462"/>
                  <a:pt x="150019" y="144661"/>
                </a:cubicBezTo>
                <a:lnTo>
                  <a:pt x="150019" y="122493"/>
                </a:lnTo>
                <a:cubicBezTo>
                  <a:pt x="145063" y="125775"/>
                  <a:pt x="139370" y="128420"/>
                  <a:pt x="133443" y="130530"/>
                </a:cubicBezTo>
                <a:close/>
              </a:path>
            </a:pathLst>
          </a:custGeom>
          <a:solidFill>
            <a:srgbClr val="3B82F6"/>
          </a:solidFill>
          <a:ln/>
        </p:spPr>
      </p:sp>
      <p:sp>
        <p:nvSpPr>
          <p:cNvPr id="42" name="Text 40"/>
          <p:cNvSpPr/>
          <p:nvPr/>
        </p:nvSpPr>
        <p:spPr>
          <a:xfrm>
            <a:off x="9172575" y="3200400"/>
            <a:ext cx="2533650" cy="266700"/>
          </a:xfrm>
          <a:prstGeom prst="rect">
            <a:avLst/>
          </a:prstGeom>
          <a:noFill/>
          <a:ln/>
        </p:spPr>
        <p:txBody>
          <a:bodyPr wrap="square" lIns="0" tIns="0" rIns="0" bIns="0" rtlCol="0" anchor="ctr"/>
          <a:lstStyle/>
          <a:p>
            <a:pPr>
              <a:lnSpc>
                <a:spcPct val="130000"/>
              </a:lnSpc>
            </a:pPr>
            <a:r>
              <a:rPr lang="en-US" sz="1350" b="1" dirty="0">
                <a:solidFill>
                  <a:srgbClr val="1E3A5F"/>
                </a:solidFill>
                <a:latin typeface="Liter" pitchFamily="34" charset="0"/>
                <a:ea typeface="Liter" pitchFamily="34" charset="-122"/>
                <a:cs typeface="Liter" pitchFamily="34" charset="-120"/>
              </a:rPr>
              <a:t>Core Modules</a:t>
            </a:r>
            <a:endParaRPr lang="en-US" sz="1600" dirty="0"/>
          </a:p>
        </p:txBody>
      </p:sp>
      <p:sp>
        <p:nvSpPr>
          <p:cNvPr id="43" name="Shape 41"/>
          <p:cNvSpPr/>
          <p:nvPr/>
        </p:nvSpPr>
        <p:spPr>
          <a:xfrm>
            <a:off x="8953500" y="3619500"/>
            <a:ext cx="2667000" cy="342900"/>
          </a:xfrm>
          <a:custGeom>
            <a:avLst/>
            <a:gdLst/>
            <a:ahLst/>
            <a:cxnLst/>
            <a:rect l="l" t="t" r="r" b="b"/>
            <a:pathLst>
              <a:path w="2667000" h="342900">
                <a:moveTo>
                  <a:pt x="76199" y="0"/>
                </a:moveTo>
                <a:lnTo>
                  <a:pt x="2590801" y="0"/>
                </a:lnTo>
                <a:cubicBezTo>
                  <a:pt x="2632884" y="0"/>
                  <a:pt x="2667000" y="34116"/>
                  <a:pt x="2667000" y="76199"/>
                </a:cubicBezTo>
                <a:lnTo>
                  <a:pt x="2667000" y="266701"/>
                </a:lnTo>
                <a:cubicBezTo>
                  <a:pt x="2667000" y="308784"/>
                  <a:pt x="2632884" y="342900"/>
                  <a:pt x="2590801" y="342900"/>
                </a:cubicBezTo>
                <a:lnTo>
                  <a:pt x="76199" y="342900"/>
                </a:lnTo>
                <a:cubicBezTo>
                  <a:pt x="34144" y="342900"/>
                  <a:pt x="0" y="308756"/>
                  <a:pt x="0" y="266701"/>
                </a:cubicBezTo>
                <a:lnTo>
                  <a:pt x="0" y="76199"/>
                </a:lnTo>
                <a:cubicBezTo>
                  <a:pt x="0" y="34144"/>
                  <a:pt x="34144" y="0"/>
                  <a:pt x="76199" y="0"/>
                </a:cubicBezTo>
                <a:close/>
              </a:path>
            </a:pathLst>
          </a:custGeom>
          <a:solidFill>
            <a:srgbClr val="F8FAFC"/>
          </a:solidFill>
          <a:ln/>
        </p:spPr>
      </p:sp>
      <p:sp>
        <p:nvSpPr>
          <p:cNvPr id="44" name="Shape 42"/>
          <p:cNvSpPr/>
          <p:nvPr/>
        </p:nvSpPr>
        <p:spPr>
          <a:xfrm>
            <a:off x="9029700" y="3752850"/>
            <a:ext cx="76200" cy="76200"/>
          </a:xfrm>
          <a:custGeom>
            <a:avLst/>
            <a:gdLst/>
            <a:ahLst/>
            <a:cxnLst/>
            <a:rect l="l" t="t" r="r" b="b"/>
            <a:pathLst>
              <a:path w="76200" h="76200">
                <a:moveTo>
                  <a:pt x="38100" y="0"/>
                </a:moveTo>
                <a:lnTo>
                  <a:pt x="38100" y="0"/>
                </a:lnTo>
                <a:cubicBezTo>
                  <a:pt x="59128" y="0"/>
                  <a:pt x="76200" y="17072"/>
                  <a:pt x="76200" y="38100"/>
                </a:cubicBezTo>
                <a:lnTo>
                  <a:pt x="76200" y="38100"/>
                </a:lnTo>
                <a:cubicBezTo>
                  <a:pt x="76200" y="59128"/>
                  <a:pt x="59128" y="76200"/>
                  <a:pt x="38100" y="76200"/>
                </a:cubicBezTo>
                <a:lnTo>
                  <a:pt x="38100" y="76200"/>
                </a:lnTo>
                <a:cubicBezTo>
                  <a:pt x="17072" y="76200"/>
                  <a:pt x="0" y="59128"/>
                  <a:pt x="0" y="38100"/>
                </a:cubicBezTo>
                <a:lnTo>
                  <a:pt x="0" y="38100"/>
                </a:lnTo>
                <a:cubicBezTo>
                  <a:pt x="0" y="17072"/>
                  <a:pt x="17072" y="0"/>
                  <a:pt x="38100" y="0"/>
                </a:cubicBezTo>
                <a:close/>
              </a:path>
            </a:pathLst>
          </a:custGeom>
          <a:solidFill>
            <a:srgbClr val="3B82F6"/>
          </a:solidFill>
          <a:ln/>
        </p:spPr>
      </p:sp>
      <p:sp>
        <p:nvSpPr>
          <p:cNvPr id="45" name="Text 43"/>
          <p:cNvSpPr/>
          <p:nvPr/>
        </p:nvSpPr>
        <p:spPr>
          <a:xfrm>
            <a:off x="9182100" y="3695700"/>
            <a:ext cx="1314450" cy="190500"/>
          </a:xfrm>
          <a:prstGeom prst="rect">
            <a:avLst/>
          </a:prstGeom>
          <a:noFill/>
          <a:ln/>
        </p:spPr>
        <p:txBody>
          <a:bodyPr wrap="square" lIns="0" tIns="0" rIns="0" bIns="0" rtlCol="0" anchor="ctr"/>
          <a:lstStyle/>
          <a:p>
            <a:pPr>
              <a:lnSpc>
                <a:spcPct val="120000"/>
              </a:lnSpc>
            </a:pPr>
            <a:r>
              <a:rPr lang="en-US" sz="1050" dirty="0">
                <a:solidFill>
                  <a:srgbClr val="1E293B"/>
                </a:solidFill>
                <a:latin typeface="Quattrocento Sans" pitchFamily="34" charset="0"/>
                <a:ea typeface="Quattrocento Sans" pitchFamily="34" charset="-122"/>
                <a:cs typeface="Quattrocento Sans" pitchFamily="34" charset="-120"/>
              </a:rPr>
              <a:t>Appointment Booking</a:t>
            </a:r>
            <a:endParaRPr lang="en-US" sz="1600" dirty="0"/>
          </a:p>
        </p:txBody>
      </p:sp>
      <p:sp>
        <p:nvSpPr>
          <p:cNvPr id="46" name="Shape 44"/>
          <p:cNvSpPr/>
          <p:nvPr/>
        </p:nvSpPr>
        <p:spPr>
          <a:xfrm>
            <a:off x="8953500" y="4038600"/>
            <a:ext cx="2667000" cy="342900"/>
          </a:xfrm>
          <a:custGeom>
            <a:avLst/>
            <a:gdLst/>
            <a:ahLst/>
            <a:cxnLst/>
            <a:rect l="l" t="t" r="r" b="b"/>
            <a:pathLst>
              <a:path w="2667000" h="342900">
                <a:moveTo>
                  <a:pt x="76199" y="0"/>
                </a:moveTo>
                <a:lnTo>
                  <a:pt x="2590801" y="0"/>
                </a:lnTo>
                <a:cubicBezTo>
                  <a:pt x="2632884" y="0"/>
                  <a:pt x="2667000" y="34116"/>
                  <a:pt x="2667000" y="76199"/>
                </a:cubicBezTo>
                <a:lnTo>
                  <a:pt x="2667000" y="266701"/>
                </a:lnTo>
                <a:cubicBezTo>
                  <a:pt x="2667000" y="308784"/>
                  <a:pt x="2632884" y="342900"/>
                  <a:pt x="2590801" y="342900"/>
                </a:cubicBezTo>
                <a:lnTo>
                  <a:pt x="76199" y="342900"/>
                </a:lnTo>
                <a:cubicBezTo>
                  <a:pt x="34144" y="342900"/>
                  <a:pt x="0" y="308756"/>
                  <a:pt x="0" y="266701"/>
                </a:cubicBezTo>
                <a:lnTo>
                  <a:pt x="0" y="76199"/>
                </a:lnTo>
                <a:cubicBezTo>
                  <a:pt x="0" y="34144"/>
                  <a:pt x="34144" y="0"/>
                  <a:pt x="76199" y="0"/>
                </a:cubicBezTo>
                <a:close/>
              </a:path>
            </a:pathLst>
          </a:custGeom>
          <a:solidFill>
            <a:srgbClr val="F8FAFC"/>
          </a:solidFill>
          <a:ln/>
        </p:spPr>
      </p:sp>
      <p:sp>
        <p:nvSpPr>
          <p:cNvPr id="47" name="Shape 45"/>
          <p:cNvSpPr/>
          <p:nvPr/>
        </p:nvSpPr>
        <p:spPr>
          <a:xfrm>
            <a:off x="9029700" y="4171950"/>
            <a:ext cx="76200" cy="76200"/>
          </a:xfrm>
          <a:custGeom>
            <a:avLst/>
            <a:gdLst/>
            <a:ahLst/>
            <a:cxnLst/>
            <a:rect l="l" t="t" r="r" b="b"/>
            <a:pathLst>
              <a:path w="76200" h="76200">
                <a:moveTo>
                  <a:pt x="38100" y="0"/>
                </a:moveTo>
                <a:lnTo>
                  <a:pt x="38100" y="0"/>
                </a:lnTo>
                <a:cubicBezTo>
                  <a:pt x="59128" y="0"/>
                  <a:pt x="76200" y="17072"/>
                  <a:pt x="76200" y="38100"/>
                </a:cubicBezTo>
                <a:lnTo>
                  <a:pt x="76200" y="38100"/>
                </a:lnTo>
                <a:cubicBezTo>
                  <a:pt x="76200" y="59128"/>
                  <a:pt x="59128" y="76200"/>
                  <a:pt x="38100" y="76200"/>
                </a:cubicBezTo>
                <a:lnTo>
                  <a:pt x="38100" y="76200"/>
                </a:lnTo>
                <a:cubicBezTo>
                  <a:pt x="17072" y="76200"/>
                  <a:pt x="0" y="59128"/>
                  <a:pt x="0" y="38100"/>
                </a:cubicBezTo>
                <a:lnTo>
                  <a:pt x="0" y="38100"/>
                </a:lnTo>
                <a:cubicBezTo>
                  <a:pt x="0" y="17072"/>
                  <a:pt x="17072" y="0"/>
                  <a:pt x="38100" y="0"/>
                </a:cubicBezTo>
                <a:close/>
              </a:path>
            </a:pathLst>
          </a:custGeom>
          <a:solidFill>
            <a:srgbClr val="10B981"/>
          </a:solidFill>
          <a:ln/>
        </p:spPr>
      </p:sp>
      <p:sp>
        <p:nvSpPr>
          <p:cNvPr id="48" name="Text 46"/>
          <p:cNvSpPr/>
          <p:nvPr/>
        </p:nvSpPr>
        <p:spPr>
          <a:xfrm>
            <a:off x="9182100" y="4114800"/>
            <a:ext cx="1352550" cy="190500"/>
          </a:xfrm>
          <a:prstGeom prst="rect">
            <a:avLst/>
          </a:prstGeom>
          <a:noFill/>
          <a:ln/>
        </p:spPr>
        <p:txBody>
          <a:bodyPr wrap="square" lIns="0" tIns="0" rIns="0" bIns="0" rtlCol="0" anchor="ctr"/>
          <a:lstStyle/>
          <a:p>
            <a:pPr>
              <a:lnSpc>
                <a:spcPct val="120000"/>
              </a:lnSpc>
            </a:pPr>
            <a:r>
              <a:rPr lang="en-US" sz="1050" dirty="0">
                <a:solidFill>
                  <a:srgbClr val="1E293B"/>
                </a:solidFill>
                <a:latin typeface="Quattrocento Sans" pitchFamily="34" charset="0"/>
                <a:ea typeface="Quattrocento Sans" pitchFamily="34" charset="-122"/>
                <a:cs typeface="Quattrocento Sans" pitchFamily="34" charset="-120"/>
              </a:rPr>
              <a:t>Payment Management</a:t>
            </a:r>
            <a:endParaRPr lang="en-US" sz="1600" dirty="0"/>
          </a:p>
        </p:txBody>
      </p:sp>
      <p:sp>
        <p:nvSpPr>
          <p:cNvPr id="49" name="Shape 47"/>
          <p:cNvSpPr/>
          <p:nvPr/>
        </p:nvSpPr>
        <p:spPr>
          <a:xfrm>
            <a:off x="8953500" y="4457700"/>
            <a:ext cx="2667000" cy="342900"/>
          </a:xfrm>
          <a:custGeom>
            <a:avLst/>
            <a:gdLst/>
            <a:ahLst/>
            <a:cxnLst/>
            <a:rect l="l" t="t" r="r" b="b"/>
            <a:pathLst>
              <a:path w="2667000" h="342900">
                <a:moveTo>
                  <a:pt x="76199" y="0"/>
                </a:moveTo>
                <a:lnTo>
                  <a:pt x="2590801" y="0"/>
                </a:lnTo>
                <a:cubicBezTo>
                  <a:pt x="2632884" y="0"/>
                  <a:pt x="2667000" y="34116"/>
                  <a:pt x="2667000" y="76199"/>
                </a:cubicBezTo>
                <a:lnTo>
                  <a:pt x="2667000" y="266701"/>
                </a:lnTo>
                <a:cubicBezTo>
                  <a:pt x="2667000" y="308784"/>
                  <a:pt x="2632884" y="342900"/>
                  <a:pt x="2590801" y="342900"/>
                </a:cubicBezTo>
                <a:lnTo>
                  <a:pt x="76199" y="342900"/>
                </a:lnTo>
                <a:cubicBezTo>
                  <a:pt x="34144" y="342900"/>
                  <a:pt x="0" y="308756"/>
                  <a:pt x="0" y="266701"/>
                </a:cubicBezTo>
                <a:lnTo>
                  <a:pt x="0" y="76199"/>
                </a:lnTo>
                <a:cubicBezTo>
                  <a:pt x="0" y="34144"/>
                  <a:pt x="34144" y="0"/>
                  <a:pt x="76199" y="0"/>
                </a:cubicBezTo>
                <a:close/>
              </a:path>
            </a:pathLst>
          </a:custGeom>
          <a:solidFill>
            <a:srgbClr val="F8FAFC"/>
          </a:solidFill>
          <a:ln/>
        </p:spPr>
      </p:sp>
      <p:sp>
        <p:nvSpPr>
          <p:cNvPr id="50" name="Shape 48"/>
          <p:cNvSpPr/>
          <p:nvPr/>
        </p:nvSpPr>
        <p:spPr>
          <a:xfrm>
            <a:off x="9029700" y="4591050"/>
            <a:ext cx="76200" cy="76200"/>
          </a:xfrm>
          <a:custGeom>
            <a:avLst/>
            <a:gdLst/>
            <a:ahLst/>
            <a:cxnLst/>
            <a:rect l="l" t="t" r="r" b="b"/>
            <a:pathLst>
              <a:path w="76200" h="76200">
                <a:moveTo>
                  <a:pt x="38100" y="0"/>
                </a:moveTo>
                <a:lnTo>
                  <a:pt x="38100" y="0"/>
                </a:lnTo>
                <a:cubicBezTo>
                  <a:pt x="59128" y="0"/>
                  <a:pt x="76200" y="17072"/>
                  <a:pt x="76200" y="38100"/>
                </a:cubicBezTo>
                <a:lnTo>
                  <a:pt x="76200" y="38100"/>
                </a:lnTo>
                <a:cubicBezTo>
                  <a:pt x="76200" y="59128"/>
                  <a:pt x="59128" y="76200"/>
                  <a:pt x="38100" y="76200"/>
                </a:cubicBezTo>
                <a:lnTo>
                  <a:pt x="38100" y="76200"/>
                </a:lnTo>
                <a:cubicBezTo>
                  <a:pt x="17072" y="76200"/>
                  <a:pt x="0" y="59128"/>
                  <a:pt x="0" y="38100"/>
                </a:cubicBezTo>
                <a:lnTo>
                  <a:pt x="0" y="38100"/>
                </a:lnTo>
                <a:cubicBezTo>
                  <a:pt x="0" y="17072"/>
                  <a:pt x="17072" y="0"/>
                  <a:pt x="38100" y="0"/>
                </a:cubicBezTo>
                <a:close/>
              </a:path>
            </a:pathLst>
          </a:custGeom>
          <a:solidFill>
            <a:srgbClr val="1E3A5F"/>
          </a:solidFill>
          <a:ln/>
        </p:spPr>
      </p:sp>
      <p:sp>
        <p:nvSpPr>
          <p:cNvPr id="51" name="Text 49"/>
          <p:cNvSpPr/>
          <p:nvPr/>
        </p:nvSpPr>
        <p:spPr>
          <a:xfrm>
            <a:off x="9182100" y="4533900"/>
            <a:ext cx="1209675" cy="190500"/>
          </a:xfrm>
          <a:prstGeom prst="rect">
            <a:avLst/>
          </a:prstGeom>
          <a:noFill/>
          <a:ln/>
        </p:spPr>
        <p:txBody>
          <a:bodyPr wrap="square" lIns="0" tIns="0" rIns="0" bIns="0" rtlCol="0" anchor="ctr"/>
          <a:lstStyle/>
          <a:p>
            <a:pPr>
              <a:lnSpc>
                <a:spcPct val="120000"/>
              </a:lnSpc>
            </a:pPr>
            <a:r>
              <a:rPr lang="en-US" sz="1050" dirty="0">
                <a:solidFill>
                  <a:srgbClr val="1E293B"/>
                </a:solidFill>
                <a:latin typeface="Quattrocento Sans" pitchFamily="34" charset="0"/>
                <a:ea typeface="Quattrocento Sans" pitchFamily="34" charset="-122"/>
                <a:cs typeface="Quattrocento Sans" pitchFamily="34" charset="-120"/>
              </a:rPr>
              <a:t>Prescription System</a:t>
            </a:r>
            <a:endParaRPr lang="en-US" sz="1600" dirty="0"/>
          </a:p>
        </p:txBody>
      </p:sp>
      <p:sp>
        <p:nvSpPr>
          <p:cNvPr id="52" name="Shape 50"/>
          <p:cNvSpPr/>
          <p:nvPr/>
        </p:nvSpPr>
        <p:spPr>
          <a:xfrm>
            <a:off x="8953500" y="4876800"/>
            <a:ext cx="2667000" cy="342900"/>
          </a:xfrm>
          <a:custGeom>
            <a:avLst/>
            <a:gdLst/>
            <a:ahLst/>
            <a:cxnLst/>
            <a:rect l="l" t="t" r="r" b="b"/>
            <a:pathLst>
              <a:path w="2667000" h="342900">
                <a:moveTo>
                  <a:pt x="76199" y="0"/>
                </a:moveTo>
                <a:lnTo>
                  <a:pt x="2590801" y="0"/>
                </a:lnTo>
                <a:cubicBezTo>
                  <a:pt x="2632884" y="0"/>
                  <a:pt x="2667000" y="34116"/>
                  <a:pt x="2667000" y="76199"/>
                </a:cubicBezTo>
                <a:lnTo>
                  <a:pt x="2667000" y="266701"/>
                </a:lnTo>
                <a:cubicBezTo>
                  <a:pt x="2667000" y="308784"/>
                  <a:pt x="2632884" y="342900"/>
                  <a:pt x="2590801" y="342900"/>
                </a:cubicBezTo>
                <a:lnTo>
                  <a:pt x="76199" y="342900"/>
                </a:lnTo>
                <a:cubicBezTo>
                  <a:pt x="34144" y="342900"/>
                  <a:pt x="0" y="308756"/>
                  <a:pt x="0" y="266701"/>
                </a:cubicBezTo>
                <a:lnTo>
                  <a:pt x="0" y="76199"/>
                </a:lnTo>
                <a:cubicBezTo>
                  <a:pt x="0" y="34144"/>
                  <a:pt x="34144" y="0"/>
                  <a:pt x="76199" y="0"/>
                </a:cubicBezTo>
                <a:close/>
              </a:path>
            </a:pathLst>
          </a:custGeom>
          <a:solidFill>
            <a:srgbClr val="F8FAFC"/>
          </a:solidFill>
          <a:ln/>
        </p:spPr>
      </p:sp>
      <p:sp>
        <p:nvSpPr>
          <p:cNvPr id="53" name="Shape 51"/>
          <p:cNvSpPr/>
          <p:nvPr/>
        </p:nvSpPr>
        <p:spPr>
          <a:xfrm>
            <a:off x="9029700" y="5010150"/>
            <a:ext cx="76200" cy="76200"/>
          </a:xfrm>
          <a:custGeom>
            <a:avLst/>
            <a:gdLst/>
            <a:ahLst/>
            <a:cxnLst/>
            <a:rect l="l" t="t" r="r" b="b"/>
            <a:pathLst>
              <a:path w="76200" h="76200">
                <a:moveTo>
                  <a:pt x="38100" y="0"/>
                </a:moveTo>
                <a:lnTo>
                  <a:pt x="38100" y="0"/>
                </a:lnTo>
                <a:cubicBezTo>
                  <a:pt x="59128" y="0"/>
                  <a:pt x="76200" y="17072"/>
                  <a:pt x="76200" y="38100"/>
                </a:cubicBezTo>
                <a:lnTo>
                  <a:pt x="76200" y="38100"/>
                </a:lnTo>
                <a:cubicBezTo>
                  <a:pt x="76200" y="59128"/>
                  <a:pt x="59128" y="76200"/>
                  <a:pt x="38100" y="76200"/>
                </a:cubicBezTo>
                <a:lnTo>
                  <a:pt x="38100" y="76200"/>
                </a:lnTo>
                <a:cubicBezTo>
                  <a:pt x="17072" y="76200"/>
                  <a:pt x="0" y="59128"/>
                  <a:pt x="0" y="38100"/>
                </a:cubicBezTo>
                <a:lnTo>
                  <a:pt x="0" y="38100"/>
                </a:lnTo>
                <a:cubicBezTo>
                  <a:pt x="0" y="17072"/>
                  <a:pt x="17072" y="0"/>
                  <a:pt x="38100" y="0"/>
                </a:cubicBezTo>
                <a:close/>
              </a:path>
            </a:pathLst>
          </a:custGeom>
          <a:solidFill>
            <a:srgbClr val="3B82F6"/>
          </a:solidFill>
          <a:ln/>
        </p:spPr>
      </p:sp>
      <p:sp>
        <p:nvSpPr>
          <p:cNvPr id="54" name="Text 52"/>
          <p:cNvSpPr/>
          <p:nvPr/>
        </p:nvSpPr>
        <p:spPr>
          <a:xfrm>
            <a:off x="9182100" y="4953000"/>
            <a:ext cx="1114425" cy="190500"/>
          </a:xfrm>
          <a:prstGeom prst="rect">
            <a:avLst/>
          </a:prstGeom>
          <a:noFill/>
          <a:ln/>
        </p:spPr>
        <p:txBody>
          <a:bodyPr wrap="square" lIns="0" tIns="0" rIns="0" bIns="0" rtlCol="0" anchor="ctr"/>
          <a:lstStyle/>
          <a:p>
            <a:pPr>
              <a:lnSpc>
                <a:spcPct val="120000"/>
              </a:lnSpc>
            </a:pPr>
            <a:r>
              <a:rPr lang="en-US" sz="1050" dirty="0">
                <a:solidFill>
                  <a:srgbClr val="1E293B"/>
                </a:solidFill>
                <a:latin typeface="Quattrocento Sans" pitchFamily="34" charset="0"/>
                <a:ea typeface="Quattrocento Sans" pitchFamily="34" charset="-122"/>
                <a:cs typeface="Quattrocento Sans" pitchFamily="34" charset="-120"/>
              </a:rPr>
              <a:t>User Management</a:t>
            </a:r>
            <a:endParaRPr lang="en-US" sz="1600" dirty="0"/>
          </a:p>
        </p:txBody>
      </p:sp>
      <p:pic>
        <p:nvPicPr>
          <p:cNvPr id="55" name="Picture 54">
            <a:extLst>
              <a:ext uri="{FF2B5EF4-FFF2-40B4-BE49-F238E27FC236}">
                <a16:creationId xmlns:a16="http://schemas.microsoft.com/office/drawing/2014/main" id="{7076EBC2-A8F8-4F84-8630-FC481C095855}"/>
              </a:ext>
            </a:extLst>
          </p:cNvPr>
          <p:cNvPicPr>
            <a:picLocks noChangeAspect="1"/>
          </p:cNvPicPr>
          <p:nvPr/>
        </p:nvPicPr>
        <p:blipFill>
          <a:blip r:embed="rId3"/>
          <a:stretch>
            <a:fillRect/>
          </a:stretch>
        </p:blipFill>
        <p:spPr>
          <a:xfrm>
            <a:off x="238125" y="5931969"/>
            <a:ext cx="719138" cy="964131"/>
          </a:xfrm>
          <a:prstGeom prst="rect">
            <a:avLst/>
          </a:prstGeom>
        </p:spPr>
      </p:pic>
      <p:sp>
        <p:nvSpPr>
          <p:cNvPr id="56" name="TextBox 55">
            <a:extLst>
              <a:ext uri="{FF2B5EF4-FFF2-40B4-BE49-F238E27FC236}">
                <a16:creationId xmlns:a16="http://schemas.microsoft.com/office/drawing/2014/main" id="{B878E5D4-563E-4BB1-B6E2-22835663D442}"/>
              </a:ext>
            </a:extLst>
          </p:cNvPr>
          <p:cNvSpPr txBox="1"/>
          <p:nvPr/>
        </p:nvSpPr>
        <p:spPr>
          <a:xfrm>
            <a:off x="11671221" y="6473785"/>
            <a:ext cx="457200"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03</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kern="0" spc="53" dirty="0">
                <a:solidFill>
                  <a:srgbClr val="3B82F6"/>
                </a:solidFill>
                <a:latin typeface="Quattrocento Sans" pitchFamily="34" charset="0"/>
                <a:ea typeface="Quattrocento Sans" pitchFamily="34" charset="-122"/>
                <a:cs typeface="Quattrocento Sans" pitchFamily="34" charset="-120"/>
              </a:rPr>
              <a:t>IDENTIFYING CHALLENGES</a:t>
            </a:r>
            <a:endParaRPr lang="en-US" sz="1600" dirty="0"/>
          </a:p>
        </p:txBody>
      </p:sp>
      <p:sp>
        <p:nvSpPr>
          <p:cNvPr id="3" name="Text 1"/>
          <p:cNvSpPr/>
          <p:nvPr/>
        </p:nvSpPr>
        <p:spPr>
          <a:xfrm>
            <a:off x="381000" y="647700"/>
            <a:ext cx="11601450" cy="381000"/>
          </a:xfrm>
          <a:prstGeom prst="rect">
            <a:avLst/>
          </a:prstGeom>
          <a:noFill/>
          <a:ln/>
        </p:spPr>
        <p:txBody>
          <a:bodyPr wrap="square" lIns="0" tIns="0" rIns="0" bIns="0" rtlCol="0" anchor="ctr"/>
          <a:lstStyle/>
          <a:p>
            <a:pPr>
              <a:lnSpc>
                <a:spcPct val="90000"/>
              </a:lnSpc>
            </a:pPr>
            <a:r>
              <a:rPr lang="en-US" sz="2700" b="1" dirty="0">
                <a:solidFill>
                  <a:srgbClr val="1E3A5F"/>
                </a:solidFill>
                <a:latin typeface="Liter" pitchFamily="34" charset="0"/>
                <a:ea typeface="Liter" pitchFamily="34" charset="-122"/>
                <a:cs typeface="Liter" pitchFamily="34" charset="-120"/>
              </a:rPr>
              <a:t>Problem Statement</a:t>
            </a:r>
            <a:endParaRPr lang="en-US" sz="1600" dirty="0"/>
          </a:p>
        </p:txBody>
      </p:sp>
      <p:sp>
        <p:nvSpPr>
          <p:cNvPr id="4" name="Shape 2"/>
          <p:cNvSpPr/>
          <p:nvPr/>
        </p:nvSpPr>
        <p:spPr>
          <a:xfrm>
            <a:off x="381000" y="1143000"/>
            <a:ext cx="762000" cy="38100"/>
          </a:xfrm>
          <a:custGeom>
            <a:avLst/>
            <a:gdLst/>
            <a:ahLst/>
            <a:cxnLst/>
            <a:rect l="l" t="t" r="r" b="b"/>
            <a:pathLst>
              <a:path w="762000" h="38100">
                <a:moveTo>
                  <a:pt x="19050" y="0"/>
                </a:moveTo>
                <a:lnTo>
                  <a:pt x="742950" y="0"/>
                </a:lnTo>
                <a:cubicBezTo>
                  <a:pt x="753464" y="0"/>
                  <a:pt x="762000" y="8536"/>
                  <a:pt x="762000" y="19050"/>
                </a:cubicBezTo>
                <a:lnTo>
                  <a:pt x="762000" y="19050"/>
                </a:lnTo>
                <a:cubicBezTo>
                  <a:pt x="762000" y="29564"/>
                  <a:pt x="753464" y="38100"/>
                  <a:pt x="742950" y="38100"/>
                </a:cubicBezTo>
                <a:lnTo>
                  <a:pt x="19050" y="38100"/>
                </a:lnTo>
                <a:cubicBezTo>
                  <a:pt x="8536" y="38100"/>
                  <a:pt x="0" y="29564"/>
                  <a:pt x="0" y="19050"/>
                </a:cubicBezTo>
                <a:lnTo>
                  <a:pt x="0" y="19050"/>
                </a:lnTo>
                <a:cubicBezTo>
                  <a:pt x="0" y="8536"/>
                  <a:pt x="8536" y="0"/>
                  <a:pt x="19050" y="0"/>
                </a:cubicBezTo>
                <a:close/>
              </a:path>
            </a:pathLst>
          </a:custGeom>
          <a:solidFill>
            <a:srgbClr val="10B981"/>
          </a:solidFill>
          <a:ln/>
        </p:spPr>
      </p:sp>
      <p:sp>
        <p:nvSpPr>
          <p:cNvPr id="5" name="Shape 3"/>
          <p:cNvSpPr/>
          <p:nvPr/>
        </p:nvSpPr>
        <p:spPr>
          <a:xfrm>
            <a:off x="381000" y="1409700"/>
            <a:ext cx="6724650" cy="3581400"/>
          </a:xfrm>
          <a:custGeom>
            <a:avLst/>
            <a:gdLst/>
            <a:ahLst/>
            <a:cxnLst/>
            <a:rect l="l" t="t" r="r" b="b"/>
            <a:pathLst>
              <a:path w="6724650" h="3581400">
                <a:moveTo>
                  <a:pt x="114282" y="0"/>
                </a:moveTo>
                <a:lnTo>
                  <a:pt x="6610368" y="0"/>
                </a:lnTo>
                <a:cubicBezTo>
                  <a:pt x="6673484" y="0"/>
                  <a:pt x="6724650" y="51166"/>
                  <a:pt x="6724650" y="114282"/>
                </a:cubicBezTo>
                <a:lnTo>
                  <a:pt x="6724650" y="3467118"/>
                </a:lnTo>
                <a:cubicBezTo>
                  <a:pt x="6724650" y="3530234"/>
                  <a:pt x="6673484" y="3581400"/>
                  <a:pt x="6610368" y="3581400"/>
                </a:cubicBezTo>
                <a:lnTo>
                  <a:pt x="114282" y="3581400"/>
                </a:lnTo>
                <a:cubicBezTo>
                  <a:pt x="51166" y="3581400"/>
                  <a:pt x="0" y="3530234"/>
                  <a:pt x="0" y="3467118"/>
                </a:cubicBezTo>
                <a:lnTo>
                  <a:pt x="0" y="114282"/>
                </a:lnTo>
                <a:cubicBezTo>
                  <a:pt x="0" y="51208"/>
                  <a:pt x="51208" y="0"/>
                  <a:pt x="114282" y="0"/>
                </a:cubicBezTo>
                <a:close/>
              </a:path>
            </a:pathLst>
          </a:custGeom>
          <a:solidFill>
            <a:srgbClr val="FFFFFF"/>
          </a:solidFill>
          <a:ln/>
          <a:effectLst>
            <a:outerShdw blurRad="57150" dist="38100" dir="5400000" algn="bl" rotWithShape="0">
              <a:srgbClr val="000000">
                <a:alpha val="10196"/>
              </a:srgbClr>
            </a:outerShdw>
          </a:effectLst>
        </p:spPr>
      </p:sp>
      <p:sp>
        <p:nvSpPr>
          <p:cNvPr id="6" name="Shape 4"/>
          <p:cNvSpPr/>
          <p:nvPr/>
        </p:nvSpPr>
        <p:spPr>
          <a:xfrm>
            <a:off x="571500" y="16002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FFE2E2"/>
          </a:solidFill>
          <a:ln/>
        </p:spPr>
      </p:sp>
      <p:sp>
        <p:nvSpPr>
          <p:cNvPr id="7" name="Shape 5"/>
          <p:cNvSpPr/>
          <p:nvPr/>
        </p:nvSpPr>
        <p:spPr>
          <a:xfrm>
            <a:off x="678656" y="1704975"/>
            <a:ext cx="171450" cy="171450"/>
          </a:xfrm>
          <a:custGeom>
            <a:avLst/>
            <a:gdLst/>
            <a:ahLst/>
            <a:cxnLst/>
            <a:rect l="l" t="t" r="r" b="b"/>
            <a:pathLst>
              <a:path w="171450" h="171450">
                <a:moveTo>
                  <a:pt x="85725" y="0"/>
                </a:moveTo>
                <a:cubicBezTo>
                  <a:pt x="90647" y="0"/>
                  <a:pt x="95168" y="2712"/>
                  <a:pt x="97512" y="7032"/>
                </a:cubicBezTo>
                <a:lnTo>
                  <a:pt x="169843" y="140977"/>
                </a:lnTo>
                <a:cubicBezTo>
                  <a:pt x="172086" y="145130"/>
                  <a:pt x="171986" y="150153"/>
                  <a:pt x="169575" y="154205"/>
                </a:cubicBezTo>
                <a:cubicBezTo>
                  <a:pt x="167164" y="158256"/>
                  <a:pt x="162777" y="160734"/>
                  <a:pt x="158055" y="160734"/>
                </a:cubicBezTo>
                <a:lnTo>
                  <a:pt x="13395" y="160734"/>
                </a:lnTo>
                <a:cubicBezTo>
                  <a:pt x="8673" y="160734"/>
                  <a:pt x="4320" y="158256"/>
                  <a:pt x="1875" y="154205"/>
                </a:cubicBezTo>
                <a:cubicBezTo>
                  <a:pt x="-569" y="150153"/>
                  <a:pt x="-636" y="145130"/>
                  <a:pt x="1607" y="140977"/>
                </a:cubicBezTo>
                <a:lnTo>
                  <a:pt x="73938" y="7032"/>
                </a:lnTo>
                <a:cubicBezTo>
                  <a:pt x="76282" y="2712"/>
                  <a:pt x="80803" y="0"/>
                  <a:pt x="85725" y="0"/>
                </a:cubicBezTo>
                <a:close/>
                <a:moveTo>
                  <a:pt x="85725" y="56257"/>
                </a:moveTo>
                <a:cubicBezTo>
                  <a:pt x="81271" y="56257"/>
                  <a:pt x="77688" y="59840"/>
                  <a:pt x="77688" y="64294"/>
                </a:cubicBezTo>
                <a:lnTo>
                  <a:pt x="77688" y="101798"/>
                </a:lnTo>
                <a:cubicBezTo>
                  <a:pt x="77688" y="106252"/>
                  <a:pt x="81271" y="109835"/>
                  <a:pt x="85725" y="109835"/>
                </a:cubicBezTo>
                <a:cubicBezTo>
                  <a:pt x="90179" y="109835"/>
                  <a:pt x="93762" y="106252"/>
                  <a:pt x="93762" y="101798"/>
                </a:cubicBezTo>
                <a:lnTo>
                  <a:pt x="93762" y="64294"/>
                </a:lnTo>
                <a:cubicBezTo>
                  <a:pt x="93762" y="59840"/>
                  <a:pt x="90179" y="56257"/>
                  <a:pt x="85725" y="56257"/>
                </a:cubicBezTo>
                <a:close/>
                <a:moveTo>
                  <a:pt x="94666" y="128588"/>
                </a:moveTo>
                <a:cubicBezTo>
                  <a:pt x="94869" y="125269"/>
                  <a:pt x="93214" y="122111"/>
                  <a:pt x="90369" y="120390"/>
                </a:cubicBezTo>
                <a:cubicBezTo>
                  <a:pt x="87524" y="118670"/>
                  <a:pt x="83959" y="118670"/>
                  <a:pt x="81114" y="120390"/>
                </a:cubicBezTo>
                <a:cubicBezTo>
                  <a:pt x="78269" y="122111"/>
                  <a:pt x="76614" y="125269"/>
                  <a:pt x="76818" y="128587"/>
                </a:cubicBezTo>
                <a:cubicBezTo>
                  <a:pt x="76614" y="131906"/>
                  <a:pt x="78269" y="135064"/>
                  <a:pt x="81114" y="136785"/>
                </a:cubicBezTo>
                <a:cubicBezTo>
                  <a:pt x="83959" y="138505"/>
                  <a:pt x="87524" y="138505"/>
                  <a:pt x="90369" y="136785"/>
                </a:cubicBezTo>
                <a:cubicBezTo>
                  <a:pt x="93214" y="135064"/>
                  <a:pt x="94869" y="131906"/>
                  <a:pt x="94666" y="128588"/>
                </a:cubicBezTo>
                <a:close/>
              </a:path>
            </a:pathLst>
          </a:custGeom>
          <a:solidFill>
            <a:srgbClr val="E7000B"/>
          </a:solidFill>
          <a:ln/>
        </p:spPr>
      </p:sp>
      <p:sp>
        <p:nvSpPr>
          <p:cNvPr id="8" name="Text 6"/>
          <p:cNvSpPr/>
          <p:nvPr/>
        </p:nvSpPr>
        <p:spPr>
          <a:xfrm>
            <a:off x="1066800" y="1657350"/>
            <a:ext cx="2381250" cy="266700"/>
          </a:xfrm>
          <a:prstGeom prst="rect">
            <a:avLst/>
          </a:prstGeom>
          <a:noFill/>
          <a:ln/>
        </p:spPr>
        <p:txBody>
          <a:bodyPr wrap="square" lIns="0" tIns="0" rIns="0" bIns="0" rtlCol="0" anchor="ctr"/>
          <a:lstStyle/>
          <a:p>
            <a:pPr>
              <a:lnSpc>
                <a:spcPct val="120000"/>
              </a:lnSpc>
            </a:pPr>
            <a:r>
              <a:rPr lang="en-US" sz="1500" b="1" dirty="0">
                <a:solidFill>
                  <a:srgbClr val="1E3A5F"/>
                </a:solidFill>
                <a:latin typeface="Liter" pitchFamily="34" charset="0"/>
                <a:ea typeface="Liter" pitchFamily="34" charset="-122"/>
                <a:cs typeface="Liter" pitchFamily="34" charset="-120"/>
              </a:rPr>
              <a:t>Current System Limitations</a:t>
            </a:r>
            <a:endParaRPr lang="en-US" sz="1600" dirty="0"/>
          </a:p>
        </p:txBody>
      </p:sp>
      <p:sp>
        <p:nvSpPr>
          <p:cNvPr id="9" name="Text 7"/>
          <p:cNvSpPr/>
          <p:nvPr/>
        </p:nvSpPr>
        <p:spPr>
          <a:xfrm>
            <a:off x="571500" y="2133600"/>
            <a:ext cx="6419850" cy="495300"/>
          </a:xfrm>
          <a:prstGeom prst="rect">
            <a:avLst/>
          </a:prstGeom>
          <a:noFill/>
          <a:ln/>
        </p:spPr>
        <p:txBody>
          <a:bodyPr wrap="square" lIns="0" tIns="0" rIns="0" bIns="0" rtlCol="0" anchor="ctr"/>
          <a:lstStyle/>
          <a:p>
            <a:pPr>
              <a:lnSpc>
                <a:spcPct val="140000"/>
              </a:lnSpc>
            </a:pPr>
            <a:r>
              <a:rPr lang="en-US" sz="1200" dirty="0">
                <a:solidFill>
                  <a:srgbClr val="1E293B">
                    <a:alpha val="80000"/>
                  </a:srgbClr>
                </a:solidFill>
                <a:latin typeface="Quattrocento Sans" pitchFamily="34" charset="0"/>
                <a:ea typeface="Quattrocento Sans" pitchFamily="34" charset="-122"/>
                <a:cs typeface="Quattrocento Sans" pitchFamily="34" charset="-120"/>
              </a:rPr>
              <a:t>Many hospitals and clinics still rely on </a:t>
            </a:r>
            <a:r>
              <a:rPr lang="en-US" sz="1200" b="1" dirty="0">
                <a:solidFill>
                  <a:srgbClr val="E7000B"/>
                </a:solidFill>
                <a:latin typeface="Quattrocento Sans" pitchFamily="34" charset="0"/>
                <a:ea typeface="Quattrocento Sans" pitchFamily="34" charset="-122"/>
                <a:cs typeface="Quattrocento Sans" pitchFamily="34" charset="-120"/>
              </a:rPr>
              <a:t>manual appointment and token management systems</a:t>
            </a:r>
            <a:r>
              <a:rPr lang="en-US" sz="1200" dirty="0">
                <a:solidFill>
                  <a:srgbClr val="1E293B">
                    <a:alpha val="80000"/>
                  </a:srgbClr>
                </a:solidFill>
                <a:latin typeface="Quattrocento Sans" pitchFamily="34" charset="0"/>
                <a:ea typeface="Quattrocento Sans" pitchFamily="34" charset="-122"/>
                <a:cs typeface="Quattrocento Sans" pitchFamily="34" charset="-120"/>
              </a:rPr>
              <a:t>, which create significant operational challenges and negatively impact patient experience.</a:t>
            </a:r>
            <a:endParaRPr lang="en-US" sz="1600" dirty="0"/>
          </a:p>
        </p:txBody>
      </p:sp>
      <p:sp>
        <p:nvSpPr>
          <p:cNvPr id="10" name="Shape 8"/>
          <p:cNvSpPr/>
          <p:nvPr/>
        </p:nvSpPr>
        <p:spPr>
          <a:xfrm>
            <a:off x="590550" y="2781300"/>
            <a:ext cx="3095625" cy="952500"/>
          </a:xfrm>
          <a:custGeom>
            <a:avLst/>
            <a:gdLst/>
            <a:ahLst/>
            <a:cxnLst/>
            <a:rect l="l" t="t" r="r" b="b"/>
            <a:pathLst>
              <a:path w="3095625" h="952500">
                <a:moveTo>
                  <a:pt x="38100" y="0"/>
                </a:moveTo>
                <a:lnTo>
                  <a:pt x="3019425" y="0"/>
                </a:lnTo>
                <a:cubicBezTo>
                  <a:pt x="3061481" y="0"/>
                  <a:pt x="3095625" y="34144"/>
                  <a:pt x="3095625" y="76200"/>
                </a:cubicBezTo>
                <a:lnTo>
                  <a:pt x="3095625" y="876300"/>
                </a:lnTo>
                <a:cubicBezTo>
                  <a:pt x="3095625" y="918356"/>
                  <a:pt x="3061481" y="952500"/>
                  <a:pt x="3019425" y="952500"/>
                </a:cubicBezTo>
                <a:lnTo>
                  <a:pt x="38100" y="952500"/>
                </a:lnTo>
                <a:cubicBezTo>
                  <a:pt x="17072" y="952500"/>
                  <a:pt x="0" y="935428"/>
                  <a:pt x="0" y="914400"/>
                </a:cubicBezTo>
                <a:lnTo>
                  <a:pt x="0" y="38100"/>
                </a:lnTo>
                <a:cubicBezTo>
                  <a:pt x="0" y="17072"/>
                  <a:pt x="17072" y="0"/>
                  <a:pt x="38100" y="0"/>
                </a:cubicBezTo>
                <a:close/>
              </a:path>
            </a:pathLst>
          </a:custGeom>
          <a:solidFill>
            <a:srgbClr val="FEF2F2"/>
          </a:solidFill>
          <a:ln/>
        </p:spPr>
      </p:sp>
      <p:sp>
        <p:nvSpPr>
          <p:cNvPr id="11" name="Shape 9"/>
          <p:cNvSpPr/>
          <p:nvPr/>
        </p:nvSpPr>
        <p:spPr>
          <a:xfrm>
            <a:off x="590550" y="2781300"/>
            <a:ext cx="38100" cy="952500"/>
          </a:xfrm>
          <a:custGeom>
            <a:avLst/>
            <a:gdLst/>
            <a:ahLst/>
            <a:cxnLst/>
            <a:rect l="l" t="t" r="r" b="b"/>
            <a:pathLst>
              <a:path w="38100" h="952500">
                <a:moveTo>
                  <a:pt x="38100" y="0"/>
                </a:moveTo>
                <a:lnTo>
                  <a:pt x="38100" y="0"/>
                </a:lnTo>
                <a:lnTo>
                  <a:pt x="38100" y="952500"/>
                </a:lnTo>
                <a:lnTo>
                  <a:pt x="38100" y="952500"/>
                </a:lnTo>
                <a:cubicBezTo>
                  <a:pt x="17072" y="952500"/>
                  <a:pt x="0" y="935428"/>
                  <a:pt x="0" y="914400"/>
                </a:cubicBezTo>
                <a:lnTo>
                  <a:pt x="0" y="38100"/>
                </a:lnTo>
                <a:cubicBezTo>
                  <a:pt x="0" y="17072"/>
                  <a:pt x="17072" y="0"/>
                  <a:pt x="38100" y="0"/>
                </a:cubicBezTo>
                <a:close/>
              </a:path>
            </a:pathLst>
          </a:custGeom>
          <a:solidFill>
            <a:srgbClr val="FB2C36"/>
          </a:solidFill>
          <a:ln/>
        </p:spPr>
      </p:sp>
      <p:sp>
        <p:nvSpPr>
          <p:cNvPr id="12" name="Shape 10"/>
          <p:cNvSpPr/>
          <p:nvPr/>
        </p:nvSpPr>
        <p:spPr>
          <a:xfrm>
            <a:off x="781050" y="2952750"/>
            <a:ext cx="152400" cy="152400"/>
          </a:xfrm>
          <a:custGeom>
            <a:avLst/>
            <a:gdLst/>
            <a:ahLst/>
            <a:cxnLst/>
            <a:rect l="l" t="t" r="r" b="b"/>
            <a:pathLst>
              <a:path w="152400" h="152400">
                <a:moveTo>
                  <a:pt x="120194" y="10239"/>
                </a:moveTo>
                <a:cubicBezTo>
                  <a:pt x="123765" y="8751"/>
                  <a:pt x="127843" y="9585"/>
                  <a:pt x="130582" y="12293"/>
                </a:cubicBezTo>
                <a:lnTo>
                  <a:pt x="149632" y="31343"/>
                </a:lnTo>
                <a:cubicBezTo>
                  <a:pt x="151418" y="33129"/>
                  <a:pt x="152430" y="35540"/>
                  <a:pt x="152430" y="38070"/>
                </a:cubicBezTo>
                <a:cubicBezTo>
                  <a:pt x="152430" y="40600"/>
                  <a:pt x="151418" y="43011"/>
                  <a:pt x="149632" y="44797"/>
                </a:cubicBezTo>
                <a:lnTo>
                  <a:pt x="130582" y="63847"/>
                </a:lnTo>
                <a:cubicBezTo>
                  <a:pt x="127843" y="66586"/>
                  <a:pt x="123765" y="67389"/>
                  <a:pt x="120194" y="65901"/>
                </a:cubicBezTo>
                <a:cubicBezTo>
                  <a:pt x="116622" y="64413"/>
                  <a:pt x="114300" y="60990"/>
                  <a:pt x="114300" y="57150"/>
                </a:cubicBezTo>
                <a:lnTo>
                  <a:pt x="114300" y="47625"/>
                </a:lnTo>
                <a:lnTo>
                  <a:pt x="104775" y="47625"/>
                </a:lnTo>
                <a:cubicBezTo>
                  <a:pt x="101769" y="47625"/>
                  <a:pt x="98941" y="49024"/>
                  <a:pt x="97155" y="51435"/>
                </a:cubicBezTo>
                <a:lnTo>
                  <a:pt x="87511" y="64294"/>
                </a:lnTo>
                <a:lnTo>
                  <a:pt x="75605" y="48429"/>
                </a:lnTo>
                <a:lnTo>
                  <a:pt x="81915" y="40005"/>
                </a:lnTo>
                <a:cubicBezTo>
                  <a:pt x="87303" y="32802"/>
                  <a:pt x="95786" y="28575"/>
                  <a:pt x="104775" y="28575"/>
                </a:cubicBezTo>
                <a:lnTo>
                  <a:pt x="114300" y="28575"/>
                </a:lnTo>
                <a:lnTo>
                  <a:pt x="114300" y="19050"/>
                </a:lnTo>
                <a:cubicBezTo>
                  <a:pt x="114300" y="15210"/>
                  <a:pt x="116622" y="11728"/>
                  <a:pt x="120194" y="10239"/>
                </a:cubicBezTo>
                <a:close/>
                <a:moveTo>
                  <a:pt x="45839" y="88106"/>
                </a:moveTo>
                <a:lnTo>
                  <a:pt x="57745" y="103971"/>
                </a:lnTo>
                <a:lnTo>
                  <a:pt x="51435" y="112395"/>
                </a:lnTo>
                <a:cubicBezTo>
                  <a:pt x="46047" y="119598"/>
                  <a:pt x="37564" y="123825"/>
                  <a:pt x="28575" y="123825"/>
                </a:cubicBezTo>
                <a:lnTo>
                  <a:pt x="9525" y="123825"/>
                </a:lnTo>
                <a:cubicBezTo>
                  <a:pt x="4256" y="123825"/>
                  <a:pt x="0" y="119569"/>
                  <a:pt x="0" y="114300"/>
                </a:cubicBezTo>
                <a:cubicBezTo>
                  <a:pt x="0" y="109031"/>
                  <a:pt x="4256" y="104775"/>
                  <a:pt x="9525" y="104775"/>
                </a:cubicBezTo>
                <a:lnTo>
                  <a:pt x="28575" y="104775"/>
                </a:lnTo>
                <a:cubicBezTo>
                  <a:pt x="31581" y="104775"/>
                  <a:pt x="34409" y="103376"/>
                  <a:pt x="36195" y="100965"/>
                </a:cubicBezTo>
                <a:lnTo>
                  <a:pt x="45839" y="88106"/>
                </a:lnTo>
                <a:close/>
                <a:moveTo>
                  <a:pt x="130552" y="140077"/>
                </a:moveTo>
                <a:cubicBezTo>
                  <a:pt x="127814" y="142815"/>
                  <a:pt x="123736" y="143619"/>
                  <a:pt x="120164" y="142131"/>
                </a:cubicBezTo>
                <a:cubicBezTo>
                  <a:pt x="116592" y="140643"/>
                  <a:pt x="114300" y="137190"/>
                  <a:pt x="114300" y="133350"/>
                </a:cubicBezTo>
                <a:lnTo>
                  <a:pt x="114300" y="123825"/>
                </a:lnTo>
                <a:lnTo>
                  <a:pt x="104775" y="123825"/>
                </a:lnTo>
                <a:cubicBezTo>
                  <a:pt x="95786" y="123825"/>
                  <a:pt x="87303" y="119598"/>
                  <a:pt x="81915" y="112395"/>
                </a:cubicBezTo>
                <a:lnTo>
                  <a:pt x="36195" y="51435"/>
                </a:lnTo>
                <a:cubicBezTo>
                  <a:pt x="34409" y="49024"/>
                  <a:pt x="31581" y="47625"/>
                  <a:pt x="28575" y="47625"/>
                </a:cubicBezTo>
                <a:lnTo>
                  <a:pt x="9525" y="47625"/>
                </a:lnTo>
                <a:cubicBezTo>
                  <a:pt x="4256" y="47625"/>
                  <a:pt x="0" y="43369"/>
                  <a:pt x="0" y="38100"/>
                </a:cubicBezTo>
                <a:cubicBezTo>
                  <a:pt x="0" y="32831"/>
                  <a:pt x="4256" y="28575"/>
                  <a:pt x="9525" y="28575"/>
                </a:cubicBezTo>
                <a:lnTo>
                  <a:pt x="28575" y="28575"/>
                </a:lnTo>
                <a:cubicBezTo>
                  <a:pt x="37564" y="28575"/>
                  <a:pt x="46047" y="32802"/>
                  <a:pt x="51435" y="40005"/>
                </a:cubicBezTo>
                <a:lnTo>
                  <a:pt x="97155" y="100965"/>
                </a:lnTo>
                <a:cubicBezTo>
                  <a:pt x="98941" y="103376"/>
                  <a:pt x="101769" y="104775"/>
                  <a:pt x="104775" y="104775"/>
                </a:cubicBezTo>
                <a:lnTo>
                  <a:pt x="114300" y="104775"/>
                </a:lnTo>
                <a:lnTo>
                  <a:pt x="114300" y="95250"/>
                </a:lnTo>
                <a:cubicBezTo>
                  <a:pt x="114300" y="91410"/>
                  <a:pt x="116622" y="87928"/>
                  <a:pt x="120194" y="86439"/>
                </a:cubicBezTo>
                <a:cubicBezTo>
                  <a:pt x="123765" y="84951"/>
                  <a:pt x="127843" y="85785"/>
                  <a:pt x="130582" y="88493"/>
                </a:cubicBezTo>
                <a:lnTo>
                  <a:pt x="149632" y="107543"/>
                </a:lnTo>
                <a:cubicBezTo>
                  <a:pt x="151418" y="109329"/>
                  <a:pt x="152430" y="111740"/>
                  <a:pt x="152430" y="114270"/>
                </a:cubicBezTo>
                <a:cubicBezTo>
                  <a:pt x="152430" y="116800"/>
                  <a:pt x="151418" y="119211"/>
                  <a:pt x="149632" y="120997"/>
                </a:cubicBezTo>
                <a:lnTo>
                  <a:pt x="130582" y="140047"/>
                </a:lnTo>
                <a:close/>
              </a:path>
            </a:pathLst>
          </a:custGeom>
          <a:solidFill>
            <a:srgbClr val="E7000B"/>
          </a:solidFill>
          <a:ln/>
        </p:spPr>
      </p:sp>
      <p:sp>
        <p:nvSpPr>
          <p:cNvPr id="13" name="Text 11"/>
          <p:cNvSpPr/>
          <p:nvPr/>
        </p:nvSpPr>
        <p:spPr>
          <a:xfrm>
            <a:off x="1028700" y="2933700"/>
            <a:ext cx="952500" cy="190500"/>
          </a:xfrm>
          <a:prstGeom prst="rect">
            <a:avLst/>
          </a:prstGeom>
          <a:noFill/>
          <a:ln/>
        </p:spPr>
        <p:txBody>
          <a:bodyPr wrap="square" lIns="0" tIns="0" rIns="0" bIns="0" rtlCol="0" anchor="ctr"/>
          <a:lstStyle/>
          <a:p>
            <a:pPr>
              <a:lnSpc>
                <a:spcPct val="120000"/>
              </a:lnSpc>
            </a:pPr>
            <a:r>
              <a:rPr lang="en-US" sz="1050" b="1" dirty="0">
                <a:solidFill>
                  <a:srgbClr val="1E3A5F"/>
                </a:solidFill>
                <a:latin typeface="Liter" pitchFamily="34" charset="0"/>
                <a:ea typeface="Liter" pitchFamily="34" charset="-122"/>
                <a:cs typeface="Liter" pitchFamily="34" charset="-120"/>
              </a:rPr>
              <a:t>Serial Conflicts</a:t>
            </a:r>
            <a:endParaRPr lang="en-US" sz="1600" dirty="0"/>
          </a:p>
        </p:txBody>
      </p:sp>
      <p:sp>
        <p:nvSpPr>
          <p:cNvPr id="14" name="Text 12"/>
          <p:cNvSpPr/>
          <p:nvPr/>
        </p:nvSpPr>
        <p:spPr>
          <a:xfrm>
            <a:off x="762000" y="3200400"/>
            <a:ext cx="2838450" cy="381000"/>
          </a:xfrm>
          <a:prstGeom prst="rect">
            <a:avLst/>
          </a:prstGeom>
          <a:noFill/>
          <a:ln/>
        </p:spPr>
        <p:txBody>
          <a:bodyPr wrap="square" lIns="0" tIns="0" rIns="0" bIns="0" rtlCol="0" anchor="ctr"/>
          <a:lstStyle/>
          <a:p>
            <a:pPr>
              <a:lnSpc>
                <a:spcPct val="120000"/>
              </a:lnSpc>
            </a:pPr>
            <a:r>
              <a:rPr lang="en-US" sz="1050" dirty="0">
                <a:solidFill>
                  <a:srgbClr val="1E293B">
                    <a:alpha val="70000"/>
                  </a:srgbClr>
                </a:solidFill>
                <a:latin typeface="Quattrocento Sans" pitchFamily="34" charset="0"/>
                <a:ea typeface="Quattrocento Sans" pitchFamily="34" charset="-122"/>
                <a:cs typeface="Quattrocento Sans" pitchFamily="34" charset="-120"/>
              </a:rPr>
              <a:t>Multiple patients assigned same token numbers causing confusion and delays</a:t>
            </a:r>
            <a:endParaRPr lang="en-US" sz="1600" dirty="0"/>
          </a:p>
        </p:txBody>
      </p:sp>
      <p:sp>
        <p:nvSpPr>
          <p:cNvPr id="15" name="Shape 13"/>
          <p:cNvSpPr/>
          <p:nvPr/>
        </p:nvSpPr>
        <p:spPr>
          <a:xfrm>
            <a:off x="3817620" y="2781300"/>
            <a:ext cx="3095625" cy="952500"/>
          </a:xfrm>
          <a:custGeom>
            <a:avLst/>
            <a:gdLst/>
            <a:ahLst/>
            <a:cxnLst/>
            <a:rect l="l" t="t" r="r" b="b"/>
            <a:pathLst>
              <a:path w="3095625" h="952500">
                <a:moveTo>
                  <a:pt x="38100" y="0"/>
                </a:moveTo>
                <a:lnTo>
                  <a:pt x="3019425" y="0"/>
                </a:lnTo>
                <a:cubicBezTo>
                  <a:pt x="3061481" y="0"/>
                  <a:pt x="3095625" y="34144"/>
                  <a:pt x="3095625" y="76200"/>
                </a:cubicBezTo>
                <a:lnTo>
                  <a:pt x="3095625" y="876300"/>
                </a:lnTo>
                <a:cubicBezTo>
                  <a:pt x="3095625" y="918356"/>
                  <a:pt x="3061481" y="952500"/>
                  <a:pt x="3019425" y="952500"/>
                </a:cubicBezTo>
                <a:lnTo>
                  <a:pt x="38100" y="952500"/>
                </a:lnTo>
                <a:cubicBezTo>
                  <a:pt x="17072" y="952500"/>
                  <a:pt x="0" y="935428"/>
                  <a:pt x="0" y="914400"/>
                </a:cubicBezTo>
                <a:lnTo>
                  <a:pt x="0" y="38100"/>
                </a:lnTo>
                <a:cubicBezTo>
                  <a:pt x="0" y="17072"/>
                  <a:pt x="17072" y="0"/>
                  <a:pt x="38100" y="0"/>
                </a:cubicBezTo>
                <a:close/>
              </a:path>
            </a:pathLst>
          </a:custGeom>
          <a:solidFill>
            <a:srgbClr val="FEF2F2"/>
          </a:solidFill>
          <a:ln/>
        </p:spPr>
      </p:sp>
      <p:sp>
        <p:nvSpPr>
          <p:cNvPr id="16" name="Shape 14"/>
          <p:cNvSpPr/>
          <p:nvPr/>
        </p:nvSpPr>
        <p:spPr>
          <a:xfrm>
            <a:off x="3817620" y="2781300"/>
            <a:ext cx="38100" cy="952500"/>
          </a:xfrm>
          <a:custGeom>
            <a:avLst/>
            <a:gdLst/>
            <a:ahLst/>
            <a:cxnLst/>
            <a:rect l="l" t="t" r="r" b="b"/>
            <a:pathLst>
              <a:path w="38100" h="952500">
                <a:moveTo>
                  <a:pt x="38100" y="0"/>
                </a:moveTo>
                <a:lnTo>
                  <a:pt x="38100" y="0"/>
                </a:lnTo>
                <a:lnTo>
                  <a:pt x="38100" y="952500"/>
                </a:lnTo>
                <a:lnTo>
                  <a:pt x="38100" y="952500"/>
                </a:lnTo>
                <a:cubicBezTo>
                  <a:pt x="17072" y="952500"/>
                  <a:pt x="0" y="935428"/>
                  <a:pt x="0" y="914400"/>
                </a:cubicBezTo>
                <a:lnTo>
                  <a:pt x="0" y="38100"/>
                </a:lnTo>
                <a:cubicBezTo>
                  <a:pt x="0" y="17072"/>
                  <a:pt x="17072" y="0"/>
                  <a:pt x="38100" y="0"/>
                </a:cubicBezTo>
                <a:close/>
              </a:path>
            </a:pathLst>
          </a:custGeom>
          <a:solidFill>
            <a:srgbClr val="FB2C36"/>
          </a:solidFill>
          <a:ln/>
        </p:spPr>
      </p:sp>
      <p:sp>
        <p:nvSpPr>
          <p:cNvPr id="17" name="Shape 15"/>
          <p:cNvSpPr/>
          <p:nvPr/>
        </p:nvSpPr>
        <p:spPr>
          <a:xfrm>
            <a:off x="4008120" y="2952750"/>
            <a:ext cx="152400" cy="152400"/>
          </a:xfrm>
          <a:custGeom>
            <a:avLst/>
            <a:gdLst/>
            <a:ahLst/>
            <a:cxnLst/>
            <a:rect l="l" t="t" r="r" b="b"/>
            <a:pathLst>
              <a:path w="152400" h="152400">
                <a:moveTo>
                  <a:pt x="0" y="124897"/>
                </a:moveTo>
                <a:lnTo>
                  <a:pt x="0" y="32593"/>
                </a:lnTo>
                <a:cubicBezTo>
                  <a:pt x="0" y="25688"/>
                  <a:pt x="7174" y="21104"/>
                  <a:pt x="13781" y="23068"/>
                </a:cubicBezTo>
                <a:cubicBezTo>
                  <a:pt x="39886" y="30867"/>
                  <a:pt x="58341" y="24705"/>
                  <a:pt x="76914" y="18514"/>
                </a:cubicBezTo>
                <a:cubicBezTo>
                  <a:pt x="96113" y="12115"/>
                  <a:pt x="115431" y="5685"/>
                  <a:pt x="143381" y="14615"/>
                </a:cubicBezTo>
                <a:cubicBezTo>
                  <a:pt x="148888" y="16371"/>
                  <a:pt x="152400" y="21699"/>
                  <a:pt x="152400" y="27503"/>
                </a:cubicBezTo>
                <a:lnTo>
                  <a:pt x="152400" y="119807"/>
                </a:lnTo>
                <a:cubicBezTo>
                  <a:pt x="152400" y="126712"/>
                  <a:pt x="145226" y="131296"/>
                  <a:pt x="138648" y="129332"/>
                </a:cubicBezTo>
                <a:cubicBezTo>
                  <a:pt x="112544" y="121533"/>
                  <a:pt x="94059" y="127695"/>
                  <a:pt x="75515" y="133886"/>
                </a:cubicBezTo>
                <a:cubicBezTo>
                  <a:pt x="56317" y="140285"/>
                  <a:pt x="36999" y="146715"/>
                  <a:pt x="9049" y="137785"/>
                </a:cubicBezTo>
                <a:cubicBezTo>
                  <a:pt x="3542" y="136029"/>
                  <a:pt x="30" y="130701"/>
                  <a:pt x="30" y="124897"/>
                </a:cubicBezTo>
                <a:close/>
                <a:moveTo>
                  <a:pt x="100013" y="76200"/>
                </a:moveTo>
                <a:cubicBezTo>
                  <a:pt x="100013" y="60424"/>
                  <a:pt x="89356" y="47625"/>
                  <a:pt x="76200" y="47625"/>
                </a:cubicBezTo>
                <a:cubicBezTo>
                  <a:pt x="63044" y="47625"/>
                  <a:pt x="52388" y="60424"/>
                  <a:pt x="52388" y="76200"/>
                </a:cubicBezTo>
                <a:cubicBezTo>
                  <a:pt x="52388" y="91976"/>
                  <a:pt x="63044" y="104775"/>
                  <a:pt x="76200" y="104775"/>
                </a:cubicBezTo>
                <a:cubicBezTo>
                  <a:pt x="89356" y="104775"/>
                  <a:pt x="100013" y="91976"/>
                  <a:pt x="100013" y="76200"/>
                </a:cubicBezTo>
                <a:close/>
                <a:moveTo>
                  <a:pt x="35719" y="123111"/>
                </a:moveTo>
                <a:cubicBezTo>
                  <a:pt x="37028" y="123111"/>
                  <a:pt x="38070" y="121980"/>
                  <a:pt x="37862" y="120700"/>
                </a:cubicBezTo>
                <a:cubicBezTo>
                  <a:pt x="36493" y="112425"/>
                  <a:pt x="29825" y="105966"/>
                  <a:pt x="21431" y="104924"/>
                </a:cubicBezTo>
                <a:cubicBezTo>
                  <a:pt x="20122" y="104775"/>
                  <a:pt x="19050" y="105847"/>
                  <a:pt x="19050" y="107156"/>
                </a:cubicBezTo>
                <a:lnTo>
                  <a:pt x="19050" y="119033"/>
                </a:lnTo>
                <a:cubicBezTo>
                  <a:pt x="19050" y="120104"/>
                  <a:pt x="19764" y="121057"/>
                  <a:pt x="20836" y="121325"/>
                </a:cubicBezTo>
                <a:cubicBezTo>
                  <a:pt x="26164" y="122575"/>
                  <a:pt x="31046" y="123140"/>
                  <a:pt x="35719" y="123140"/>
                </a:cubicBezTo>
                <a:close/>
                <a:moveTo>
                  <a:pt x="130522" y="107900"/>
                </a:moveTo>
                <a:cubicBezTo>
                  <a:pt x="132011" y="108139"/>
                  <a:pt x="133350" y="107007"/>
                  <a:pt x="133350" y="105519"/>
                </a:cubicBezTo>
                <a:lnTo>
                  <a:pt x="133350" y="92839"/>
                </a:lnTo>
                <a:cubicBezTo>
                  <a:pt x="133350" y="91529"/>
                  <a:pt x="132278" y="90428"/>
                  <a:pt x="130969" y="90607"/>
                </a:cubicBezTo>
                <a:cubicBezTo>
                  <a:pt x="123468" y="91529"/>
                  <a:pt x="117306" y="96828"/>
                  <a:pt x="115133" y="103882"/>
                </a:cubicBezTo>
                <a:cubicBezTo>
                  <a:pt x="114717" y="105281"/>
                  <a:pt x="115818" y="106591"/>
                  <a:pt x="117277" y="106620"/>
                </a:cubicBezTo>
                <a:cubicBezTo>
                  <a:pt x="121503" y="106740"/>
                  <a:pt x="125909" y="107126"/>
                  <a:pt x="130493" y="107900"/>
                </a:cubicBezTo>
                <a:close/>
                <a:moveTo>
                  <a:pt x="133350" y="45244"/>
                </a:moveTo>
                <a:lnTo>
                  <a:pt x="133350" y="33367"/>
                </a:lnTo>
                <a:cubicBezTo>
                  <a:pt x="133350" y="32296"/>
                  <a:pt x="132606" y="31343"/>
                  <a:pt x="131564" y="31075"/>
                </a:cubicBezTo>
                <a:cubicBezTo>
                  <a:pt x="126236" y="29825"/>
                  <a:pt x="121354" y="29260"/>
                  <a:pt x="116681" y="29260"/>
                </a:cubicBezTo>
                <a:cubicBezTo>
                  <a:pt x="115372" y="29260"/>
                  <a:pt x="114330" y="30391"/>
                  <a:pt x="114538" y="31671"/>
                </a:cubicBezTo>
                <a:cubicBezTo>
                  <a:pt x="115907" y="39945"/>
                  <a:pt x="122575" y="46405"/>
                  <a:pt x="130969" y="47446"/>
                </a:cubicBezTo>
                <a:cubicBezTo>
                  <a:pt x="132278" y="47595"/>
                  <a:pt x="133350" y="46524"/>
                  <a:pt x="133350" y="45214"/>
                </a:cubicBezTo>
                <a:close/>
                <a:moveTo>
                  <a:pt x="37267" y="48488"/>
                </a:moveTo>
                <a:cubicBezTo>
                  <a:pt x="37683" y="47089"/>
                  <a:pt x="36582" y="45780"/>
                  <a:pt x="35123" y="45750"/>
                </a:cubicBezTo>
                <a:cubicBezTo>
                  <a:pt x="30897" y="45631"/>
                  <a:pt x="26491" y="45244"/>
                  <a:pt x="21908" y="44470"/>
                </a:cubicBezTo>
                <a:cubicBezTo>
                  <a:pt x="20419" y="44232"/>
                  <a:pt x="19080" y="45363"/>
                  <a:pt x="19080" y="46851"/>
                </a:cubicBezTo>
                <a:lnTo>
                  <a:pt x="19050" y="59531"/>
                </a:lnTo>
                <a:cubicBezTo>
                  <a:pt x="19050" y="60841"/>
                  <a:pt x="20122" y="61942"/>
                  <a:pt x="21431" y="61764"/>
                </a:cubicBezTo>
                <a:cubicBezTo>
                  <a:pt x="28932" y="60841"/>
                  <a:pt x="35094" y="55543"/>
                  <a:pt x="37267" y="48488"/>
                </a:cubicBezTo>
                <a:close/>
              </a:path>
            </a:pathLst>
          </a:custGeom>
          <a:solidFill>
            <a:srgbClr val="E7000B"/>
          </a:solidFill>
          <a:ln/>
        </p:spPr>
      </p:sp>
      <p:sp>
        <p:nvSpPr>
          <p:cNvPr id="18" name="Text 16"/>
          <p:cNvSpPr/>
          <p:nvPr/>
        </p:nvSpPr>
        <p:spPr>
          <a:xfrm>
            <a:off x="4255770" y="2933700"/>
            <a:ext cx="1533525" cy="190500"/>
          </a:xfrm>
          <a:prstGeom prst="rect">
            <a:avLst/>
          </a:prstGeom>
          <a:noFill/>
          <a:ln/>
        </p:spPr>
        <p:txBody>
          <a:bodyPr wrap="square" lIns="0" tIns="0" rIns="0" bIns="0" rtlCol="0" anchor="ctr"/>
          <a:lstStyle/>
          <a:p>
            <a:pPr>
              <a:lnSpc>
                <a:spcPct val="120000"/>
              </a:lnSpc>
            </a:pPr>
            <a:r>
              <a:rPr lang="en-US" sz="1050" b="1" dirty="0">
                <a:solidFill>
                  <a:srgbClr val="1E3A5F"/>
                </a:solidFill>
                <a:latin typeface="Liter" pitchFamily="34" charset="0"/>
                <a:ea typeface="Liter" pitchFamily="34" charset="-122"/>
                <a:cs typeface="Liter" pitchFamily="34" charset="-120"/>
              </a:rPr>
              <a:t>Payment Tracking Issues</a:t>
            </a:r>
            <a:endParaRPr lang="en-US" sz="1600" dirty="0"/>
          </a:p>
        </p:txBody>
      </p:sp>
      <p:sp>
        <p:nvSpPr>
          <p:cNvPr id="19" name="Text 17"/>
          <p:cNvSpPr/>
          <p:nvPr/>
        </p:nvSpPr>
        <p:spPr>
          <a:xfrm>
            <a:off x="3989070" y="3200400"/>
            <a:ext cx="2838450" cy="381000"/>
          </a:xfrm>
          <a:prstGeom prst="rect">
            <a:avLst/>
          </a:prstGeom>
          <a:noFill/>
          <a:ln/>
        </p:spPr>
        <p:txBody>
          <a:bodyPr wrap="square" lIns="0" tIns="0" rIns="0" bIns="0" rtlCol="0" anchor="ctr"/>
          <a:lstStyle/>
          <a:p>
            <a:pPr>
              <a:lnSpc>
                <a:spcPct val="120000"/>
              </a:lnSpc>
            </a:pPr>
            <a:r>
              <a:rPr lang="en-US" sz="1050" dirty="0">
                <a:solidFill>
                  <a:srgbClr val="1E293B">
                    <a:alpha val="70000"/>
                  </a:srgbClr>
                </a:solidFill>
                <a:latin typeface="Quattrocento Sans" pitchFamily="34" charset="0"/>
                <a:ea typeface="Quattrocento Sans" pitchFamily="34" charset="-122"/>
                <a:cs typeface="Quattrocento Sans" pitchFamily="34" charset="-120"/>
              </a:rPr>
              <a:t>Difficulty tracking payment status (pending/success/failed/refunded)</a:t>
            </a:r>
            <a:endParaRPr lang="en-US" sz="1600" dirty="0"/>
          </a:p>
        </p:txBody>
      </p:sp>
      <p:sp>
        <p:nvSpPr>
          <p:cNvPr id="20" name="Shape 18"/>
          <p:cNvSpPr/>
          <p:nvPr/>
        </p:nvSpPr>
        <p:spPr>
          <a:xfrm>
            <a:off x="590550" y="3848100"/>
            <a:ext cx="3095625" cy="952500"/>
          </a:xfrm>
          <a:custGeom>
            <a:avLst/>
            <a:gdLst/>
            <a:ahLst/>
            <a:cxnLst/>
            <a:rect l="l" t="t" r="r" b="b"/>
            <a:pathLst>
              <a:path w="3095625" h="952500">
                <a:moveTo>
                  <a:pt x="38100" y="0"/>
                </a:moveTo>
                <a:lnTo>
                  <a:pt x="3019425" y="0"/>
                </a:lnTo>
                <a:cubicBezTo>
                  <a:pt x="3061481" y="0"/>
                  <a:pt x="3095625" y="34144"/>
                  <a:pt x="3095625" y="76200"/>
                </a:cubicBezTo>
                <a:lnTo>
                  <a:pt x="3095625" y="876300"/>
                </a:lnTo>
                <a:cubicBezTo>
                  <a:pt x="3095625" y="918356"/>
                  <a:pt x="3061481" y="952500"/>
                  <a:pt x="3019425" y="952500"/>
                </a:cubicBezTo>
                <a:lnTo>
                  <a:pt x="38100" y="952500"/>
                </a:lnTo>
                <a:cubicBezTo>
                  <a:pt x="17072" y="952500"/>
                  <a:pt x="0" y="935428"/>
                  <a:pt x="0" y="914400"/>
                </a:cubicBezTo>
                <a:lnTo>
                  <a:pt x="0" y="38100"/>
                </a:lnTo>
                <a:cubicBezTo>
                  <a:pt x="0" y="17072"/>
                  <a:pt x="17072" y="0"/>
                  <a:pt x="38100" y="0"/>
                </a:cubicBezTo>
                <a:close/>
              </a:path>
            </a:pathLst>
          </a:custGeom>
          <a:solidFill>
            <a:srgbClr val="FEF2F2"/>
          </a:solidFill>
          <a:ln/>
        </p:spPr>
      </p:sp>
      <p:sp>
        <p:nvSpPr>
          <p:cNvPr id="21" name="Shape 19"/>
          <p:cNvSpPr/>
          <p:nvPr/>
        </p:nvSpPr>
        <p:spPr>
          <a:xfrm>
            <a:off x="590550" y="3848100"/>
            <a:ext cx="38100" cy="952500"/>
          </a:xfrm>
          <a:custGeom>
            <a:avLst/>
            <a:gdLst/>
            <a:ahLst/>
            <a:cxnLst/>
            <a:rect l="l" t="t" r="r" b="b"/>
            <a:pathLst>
              <a:path w="38100" h="952500">
                <a:moveTo>
                  <a:pt x="38100" y="0"/>
                </a:moveTo>
                <a:lnTo>
                  <a:pt x="38100" y="0"/>
                </a:lnTo>
                <a:lnTo>
                  <a:pt x="38100" y="952500"/>
                </a:lnTo>
                <a:lnTo>
                  <a:pt x="38100" y="952500"/>
                </a:lnTo>
                <a:cubicBezTo>
                  <a:pt x="17072" y="952500"/>
                  <a:pt x="0" y="935428"/>
                  <a:pt x="0" y="914400"/>
                </a:cubicBezTo>
                <a:lnTo>
                  <a:pt x="0" y="38100"/>
                </a:lnTo>
                <a:cubicBezTo>
                  <a:pt x="0" y="17072"/>
                  <a:pt x="17072" y="0"/>
                  <a:pt x="38100" y="0"/>
                </a:cubicBezTo>
                <a:close/>
              </a:path>
            </a:pathLst>
          </a:custGeom>
          <a:solidFill>
            <a:srgbClr val="FB2C36"/>
          </a:solidFill>
          <a:ln/>
        </p:spPr>
      </p:sp>
      <p:sp>
        <p:nvSpPr>
          <p:cNvPr id="22" name="Shape 20"/>
          <p:cNvSpPr/>
          <p:nvPr/>
        </p:nvSpPr>
        <p:spPr>
          <a:xfrm>
            <a:off x="800100" y="4019550"/>
            <a:ext cx="114300" cy="152400"/>
          </a:xfrm>
          <a:custGeom>
            <a:avLst/>
            <a:gdLst/>
            <a:ahLst/>
            <a:cxnLst/>
            <a:rect l="l" t="t" r="r" b="b"/>
            <a:pathLst>
              <a:path w="114300" h="152400">
                <a:moveTo>
                  <a:pt x="0" y="19050"/>
                </a:moveTo>
                <a:cubicBezTo>
                  <a:pt x="0" y="8543"/>
                  <a:pt x="8543" y="0"/>
                  <a:pt x="19050" y="0"/>
                </a:cubicBezTo>
                <a:lnTo>
                  <a:pt x="63550" y="0"/>
                </a:lnTo>
                <a:cubicBezTo>
                  <a:pt x="68610" y="0"/>
                  <a:pt x="73462" y="1994"/>
                  <a:pt x="77033" y="5566"/>
                </a:cubicBezTo>
                <a:lnTo>
                  <a:pt x="108734" y="37296"/>
                </a:lnTo>
                <a:cubicBezTo>
                  <a:pt x="112306" y="40868"/>
                  <a:pt x="114300" y="45720"/>
                  <a:pt x="114300" y="50780"/>
                </a:cubicBezTo>
                <a:lnTo>
                  <a:pt x="114300" y="133350"/>
                </a:lnTo>
                <a:cubicBezTo>
                  <a:pt x="114300" y="143857"/>
                  <a:pt x="105757" y="152400"/>
                  <a:pt x="95250" y="152400"/>
                </a:cubicBezTo>
                <a:lnTo>
                  <a:pt x="19050" y="152400"/>
                </a:lnTo>
                <a:cubicBezTo>
                  <a:pt x="8543" y="152400"/>
                  <a:pt x="0" y="143857"/>
                  <a:pt x="0" y="133350"/>
                </a:cubicBezTo>
                <a:lnTo>
                  <a:pt x="0" y="19050"/>
                </a:lnTo>
                <a:close/>
                <a:moveTo>
                  <a:pt x="61912" y="17413"/>
                </a:moveTo>
                <a:lnTo>
                  <a:pt x="61912" y="45244"/>
                </a:lnTo>
                <a:cubicBezTo>
                  <a:pt x="61912" y="49203"/>
                  <a:pt x="65097" y="52388"/>
                  <a:pt x="69056" y="52388"/>
                </a:cubicBezTo>
                <a:lnTo>
                  <a:pt x="96887" y="52388"/>
                </a:lnTo>
                <a:lnTo>
                  <a:pt x="61912" y="17413"/>
                </a:lnTo>
                <a:close/>
                <a:moveTo>
                  <a:pt x="47625" y="83344"/>
                </a:moveTo>
                <a:lnTo>
                  <a:pt x="47625" y="95250"/>
                </a:lnTo>
                <a:lnTo>
                  <a:pt x="35719" y="95250"/>
                </a:lnTo>
                <a:cubicBezTo>
                  <a:pt x="33099" y="95250"/>
                  <a:pt x="30956" y="97393"/>
                  <a:pt x="30956" y="100013"/>
                </a:cubicBezTo>
                <a:lnTo>
                  <a:pt x="30956" y="109537"/>
                </a:lnTo>
                <a:cubicBezTo>
                  <a:pt x="30956" y="112157"/>
                  <a:pt x="33099" y="114300"/>
                  <a:pt x="35719" y="114300"/>
                </a:cubicBezTo>
                <a:lnTo>
                  <a:pt x="47625" y="114300"/>
                </a:lnTo>
                <a:lnTo>
                  <a:pt x="47625" y="126206"/>
                </a:lnTo>
                <a:cubicBezTo>
                  <a:pt x="47625" y="128826"/>
                  <a:pt x="49768" y="130969"/>
                  <a:pt x="52388" y="130969"/>
                </a:cubicBezTo>
                <a:lnTo>
                  <a:pt x="61912" y="130969"/>
                </a:lnTo>
                <a:cubicBezTo>
                  <a:pt x="64532" y="130969"/>
                  <a:pt x="66675" y="128826"/>
                  <a:pt x="66675" y="126206"/>
                </a:cubicBezTo>
                <a:lnTo>
                  <a:pt x="66675" y="114300"/>
                </a:lnTo>
                <a:lnTo>
                  <a:pt x="78581" y="114300"/>
                </a:lnTo>
                <a:cubicBezTo>
                  <a:pt x="81201" y="114300"/>
                  <a:pt x="83344" y="112157"/>
                  <a:pt x="83344" y="109537"/>
                </a:cubicBezTo>
                <a:lnTo>
                  <a:pt x="83344" y="100013"/>
                </a:lnTo>
                <a:cubicBezTo>
                  <a:pt x="83344" y="97393"/>
                  <a:pt x="81201" y="95250"/>
                  <a:pt x="78581" y="95250"/>
                </a:cubicBezTo>
                <a:lnTo>
                  <a:pt x="66675" y="95250"/>
                </a:lnTo>
                <a:lnTo>
                  <a:pt x="66675" y="83344"/>
                </a:lnTo>
                <a:cubicBezTo>
                  <a:pt x="66675" y="80724"/>
                  <a:pt x="64532" y="78581"/>
                  <a:pt x="61912" y="78581"/>
                </a:cubicBezTo>
                <a:lnTo>
                  <a:pt x="52388" y="78581"/>
                </a:lnTo>
                <a:cubicBezTo>
                  <a:pt x="49768" y="78581"/>
                  <a:pt x="47625" y="80724"/>
                  <a:pt x="47625" y="83344"/>
                </a:cubicBezTo>
                <a:close/>
              </a:path>
            </a:pathLst>
          </a:custGeom>
          <a:solidFill>
            <a:srgbClr val="E7000B"/>
          </a:solidFill>
          <a:ln/>
        </p:spPr>
      </p:sp>
      <p:sp>
        <p:nvSpPr>
          <p:cNvPr id="23" name="Text 21"/>
          <p:cNvSpPr/>
          <p:nvPr/>
        </p:nvSpPr>
        <p:spPr>
          <a:xfrm>
            <a:off x="1028700" y="4000500"/>
            <a:ext cx="1133475" cy="190500"/>
          </a:xfrm>
          <a:prstGeom prst="rect">
            <a:avLst/>
          </a:prstGeom>
          <a:noFill/>
          <a:ln/>
        </p:spPr>
        <p:txBody>
          <a:bodyPr wrap="square" lIns="0" tIns="0" rIns="0" bIns="0" rtlCol="0" anchor="ctr"/>
          <a:lstStyle/>
          <a:p>
            <a:pPr>
              <a:lnSpc>
                <a:spcPct val="120000"/>
              </a:lnSpc>
            </a:pPr>
            <a:r>
              <a:rPr lang="en-US" sz="1050" b="1" dirty="0">
                <a:solidFill>
                  <a:srgbClr val="1E3A5F"/>
                </a:solidFill>
                <a:latin typeface="Liter" pitchFamily="34" charset="0"/>
                <a:ea typeface="Liter" pitchFamily="34" charset="-122"/>
                <a:cs typeface="Liter" pitchFamily="34" charset="-120"/>
              </a:rPr>
              <a:t>Lost Prescriptions</a:t>
            </a:r>
            <a:endParaRPr lang="en-US" sz="1600" dirty="0"/>
          </a:p>
        </p:txBody>
      </p:sp>
      <p:sp>
        <p:nvSpPr>
          <p:cNvPr id="24" name="Text 22"/>
          <p:cNvSpPr/>
          <p:nvPr/>
        </p:nvSpPr>
        <p:spPr>
          <a:xfrm>
            <a:off x="762000" y="4267200"/>
            <a:ext cx="2838450" cy="381000"/>
          </a:xfrm>
          <a:prstGeom prst="rect">
            <a:avLst/>
          </a:prstGeom>
          <a:noFill/>
          <a:ln/>
        </p:spPr>
        <p:txBody>
          <a:bodyPr wrap="square" lIns="0" tIns="0" rIns="0" bIns="0" rtlCol="0" anchor="ctr"/>
          <a:lstStyle/>
          <a:p>
            <a:pPr>
              <a:lnSpc>
                <a:spcPct val="120000"/>
              </a:lnSpc>
            </a:pPr>
            <a:r>
              <a:rPr lang="en-US" sz="1050" dirty="0">
                <a:solidFill>
                  <a:srgbClr val="1E293B">
                    <a:alpha val="70000"/>
                  </a:srgbClr>
                </a:solidFill>
                <a:latin typeface="Quattrocento Sans" pitchFamily="34" charset="0"/>
                <a:ea typeface="Quattrocento Sans" pitchFamily="34" charset="-122"/>
                <a:cs typeface="Quattrocento Sans" pitchFamily="34" charset="-120"/>
              </a:rPr>
              <a:t>Paper prescriptions easily lost or damaged, not accessible for future visits</a:t>
            </a:r>
            <a:endParaRPr lang="en-US" sz="1600" dirty="0"/>
          </a:p>
        </p:txBody>
      </p:sp>
      <p:sp>
        <p:nvSpPr>
          <p:cNvPr id="25" name="Shape 23"/>
          <p:cNvSpPr/>
          <p:nvPr/>
        </p:nvSpPr>
        <p:spPr>
          <a:xfrm>
            <a:off x="3817620" y="3848100"/>
            <a:ext cx="3095625" cy="952500"/>
          </a:xfrm>
          <a:custGeom>
            <a:avLst/>
            <a:gdLst/>
            <a:ahLst/>
            <a:cxnLst/>
            <a:rect l="l" t="t" r="r" b="b"/>
            <a:pathLst>
              <a:path w="3095625" h="952500">
                <a:moveTo>
                  <a:pt x="38100" y="0"/>
                </a:moveTo>
                <a:lnTo>
                  <a:pt x="3019425" y="0"/>
                </a:lnTo>
                <a:cubicBezTo>
                  <a:pt x="3061481" y="0"/>
                  <a:pt x="3095625" y="34144"/>
                  <a:pt x="3095625" y="76200"/>
                </a:cubicBezTo>
                <a:lnTo>
                  <a:pt x="3095625" y="876300"/>
                </a:lnTo>
                <a:cubicBezTo>
                  <a:pt x="3095625" y="918356"/>
                  <a:pt x="3061481" y="952500"/>
                  <a:pt x="3019425" y="952500"/>
                </a:cubicBezTo>
                <a:lnTo>
                  <a:pt x="38100" y="952500"/>
                </a:lnTo>
                <a:cubicBezTo>
                  <a:pt x="17072" y="952500"/>
                  <a:pt x="0" y="935428"/>
                  <a:pt x="0" y="914400"/>
                </a:cubicBezTo>
                <a:lnTo>
                  <a:pt x="0" y="38100"/>
                </a:lnTo>
                <a:cubicBezTo>
                  <a:pt x="0" y="17072"/>
                  <a:pt x="17072" y="0"/>
                  <a:pt x="38100" y="0"/>
                </a:cubicBezTo>
                <a:close/>
              </a:path>
            </a:pathLst>
          </a:custGeom>
          <a:solidFill>
            <a:srgbClr val="FEF2F2"/>
          </a:solidFill>
          <a:ln/>
        </p:spPr>
      </p:sp>
      <p:sp>
        <p:nvSpPr>
          <p:cNvPr id="26" name="Shape 24"/>
          <p:cNvSpPr/>
          <p:nvPr/>
        </p:nvSpPr>
        <p:spPr>
          <a:xfrm>
            <a:off x="3817620" y="3848100"/>
            <a:ext cx="38100" cy="952500"/>
          </a:xfrm>
          <a:custGeom>
            <a:avLst/>
            <a:gdLst/>
            <a:ahLst/>
            <a:cxnLst/>
            <a:rect l="l" t="t" r="r" b="b"/>
            <a:pathLst>
              <a:path w="38100" h="952500">
                <a:moveTo>
                  <a:pt x="38100" y="0"/>
                </a:moveTo>
                <a:lnTo>
                  <a:pt x="38100" y="0"/>
                </a:lnTo>
                <a:lnTo>
                  <a:pt x="38100" y="952500"/>
                </a:lnTo>
                <a:lnTo>
                  <a:pt x="38100" y="952500"/>
                </a:lnTo>
                <a:cubicBezTo>
                  <a:pt x="17072" y="952500"/>
                  <a:pt x="0" y="935428"/>
                  <a:pt x="0" y="914400"/>
                </a:cubicBezTo>
                <a:lnTo>
                  <a:pt x="0" y="38100"/>
                </a:lnTo>
                <a:cubicBezTo>
                  <a:pt x="0" y="17072"/>
                  <a:pt x="17072" y="0"/>
                  <a:pt x="38100" y="0"/>
                </a:cubicBezTo>
                <a:close/>
              </a:path>
            </a:pathLst>
          </a:custGeom>
          <a:solidFill>
            <a:srgbClr val="FB2C36"/>
          </a:solidFill>
          <a:ln/>
        </p:spPr>
      </p:sp>
      <p:sp>
        <p:nvSpPr>
          <p:cNvPr id="27" name="Shape 25"/>
          <p:cNvSpPr/>
          <p:nvPr/>
        </p:nvSpPr>
        <p:spPr>
          <a:xfrm>
            <a:off x="3998595" y="4019550"/>
            <a:ext cx="171450" cy="152400"/>
          </a:xfrm>
          <a:custGeom>
            <a:avLst/>
            <a:gdLst/>
            <a:ahLst/>
            <a:cxnLst/>
            <a:rect l="l" t="t" r="r" b="b"/>
            <a:pathLst>
              <a:path w="171450" h="152400">
                <a:moveTo>
                  <a:pt x="85725" y="19050"/>
                </a:moveTo>
                <a:cubicBezTo>
                  <a:pt x="117277" y="19050"/>
                  <a:pt x="142875" y="44648"/>
                  <a:pt x="142875" y="76200"/>
                </a:cubicBezTo>
                <a:cubicBezTo>
                  <a:pt x="142875" y="107752"/>
                  <a:pt x="117277" y="133350"/>
                  <a:pt x="85725" y="133350"/>
                </a:cubicBezTo>
                <a:cubicBezTo>
                  <a:pt x="66318" y="133350"/>
                  <a:pt x="49143" y="123676"/>
                  <a:pt x="38814" y="108853"/>
                </a:cubicBezTo>
                <a:cubicBezTo>
                  <a:pt x="35808" y="104537"/>
                  <a:pt x="29855" y="103495"/>
                  <a:pt x="25539" y="106501"/>
                </a:cubicBezTo>
                <a:cubicBezTo>
                  <a:pt x="21223" y="109508"/>
                  <a:pt x="20181" y="115461"/>
                  <a:pt x="23187" y="119777"/>
                </a:cubicBezTo>
                <a:cubicBezTo>
                  <a:pt x="36939" y="139482"/>
                  <a:pt x="59829" y="152400"/>
                  <a:pt x="85725" y="152400"/>
                </a:cubicBezTo>
                <a:cubicBezTo>
                  <a:pt x="127814" y="152400"/>
                  <a:pt x="161925" y="118289"/>
                  <a:pt x="161925" y="76200"/>
                </a:cubicBezTo>
                <a:cubicBezTo>
                  <a:pt x="161925" y="34111"/>
                  <a:pt x="127814" y="0"/>
                  <a:pt x="85725" y="0"/>
                </a:cubicBezTo>
                <a:cubicBezTo>
                  <a:pt x="60216" y="0"/>
                  <a:pt x="37654" y="12531"/>
                  <a:pt x="23813" y="31760"/>
                </a:cubicBezTo>
                <a:lnTo>
                  <a:pt x="23813" y="23813"/>
                </a:lnTo>
                <a:cubicBezTo>
                  <a:pt x="23813" y="18544"/>
                  <a:pt x="19556" y="14288"/>
                  <a:pt x="14288" y="14288"/>
                </a:cubicBezTo>
                <a:cubicBezTo>
                  <a:pt x="9019" y="14288"/>
                  <a:pt x="4763" y="18544"/>
                  <a:pt x="4763" y="23813"/>
                </a:cubicBezTo>
                <a:lnTo>
                  <a:pt x="4763" y="57150"/>
                </a:lnTo>
                <a:cubicBezTo>
                  <a:pt x="4763" y="62419"/>
                  <a:pt x="9019" y="66675"/>
                  <a:pt x="14288" y="66675"/>
                </a:cubicBezTo>
                <a:lnTo>
                  <a:pt x="21610" y="66675"/>
                </a:lnTo>
                <a:cubicBezTo>
                  <a:pt x="21759" y="66675"/>
                  <a:pt x="21908" y="66675"/>
                  <a:pt x="22056" y="66675"/>
                </a:cubicBezTo>
                <a:lnTo>
                  <a:pt x="47655" y="66675"/>
                </a:lnTo>
                <a:cubicBezTo>
                  <a:pt x="52923" y="66675"/>
                  <a:pt x="57180" y="62419"/>
                  <a:pt x="57180" y="57150"/>
                </a:cubicBezTo>
                <a:cubicBezTo>
                  <a:pt x="57180" y="51881"/>
                  <a:pt x="52923" y="47625"/>
                  <a:pt x="47655" y="47625"/>
                </a:cubicBezTo>
                <a:lnTo>
                  <a:pt x="36255" y="47625"/>
                </a:lnTo>
                <a:cubicBezTo>
                  <a:pt x="46107" y="30540"/>
                  <a:pt x="64591" y="19050"/>
                  <a:pt x="85725" y="19050"/>
                </a:cubicBezTo>
                <a:close/>
                <a:moveTo>
                  <a:pt x="92869" y="45244"/>
                </a:moveTo>
                <a:cubicBezTo>
                  <a:pt x="92869" y="41285"/>
                  <a:pt x="89684" y="38100"/>
                  <a:pt x="85725" y="38100"/>
                </a:cubicBezTo>
                <a:cubicBezTo>
                  <a:pt x="81766" y="38100"/>
                  <a:pt x="78581" y="41285"/>
                  <a:pt x="78581" y="45244"/>
                </a:cubicBezTo>
                <a:lnTo>
                  <a:pt x="78581" y="76200"/>
                </a:lnTo>
                <a:cubicBezTo>
                  <a:pt x="78581" y="78105"/>
                  <a:pt x="79325" y="79921"/>
                  <a:pt x="80665" y="81260"/>
                </a:cubicBezTo>
                <a:lnTo>
                  <a:pt x="102096" y="102691"/>
                </a:lnTo>
                <a:cubicBezTo>
                  <a:pt x="104894" y="105489"/>
                  <a:pt x="109418" y="105489"/>
                  <a:pt x="112187" y="102691"/>
                </a:cubicBezTo>
                <a:cubicBezTo>
                  <a:pt x="114955" y="99893"/>
                  <a:pt x="114985" y="95369"/>
                  <a:pt x="112187" y="92601"/>
                </a:cubicBezTo>
                <a:lnTo>
                  <a:pt x="92839" y="73253"/>
                </a:lnTo>
                <a:lnTo>
                  <a:pt x="92839" y="45244"/>
                </a:lnTo>
                <a:close/>
              </a:path>
            </a:pathLst>
          </a:custGeom>
          <a:solidFill>
            <a:srgbClr val="E7000B"/>
          </a:solidFill>
          <a:ln/>
        </p:spPr>
      </p:sp>
      <p:sp>
        <p:nvSpPr>
          <p:cNvPr id="28" name="Text 26"/>
          <p:cNvSpPr/>
          <p:nvPr/>
        </p:nvSpPr>
        <p:spPr>
          <a:xfrm>
            <a:off x="4255770" y="4000500"/>
            <a:ext cx="1133475" cy="190500"/>
          </a:xfrm>
          <a:prstGeom prst="rect">
            <a:avLst/>
          </a:prstGeom>
          <a:noFill/>
          <a:ln/>
        </p:spPr>
        <p:txBody>
          <a:bodyPr wrap="square" lIns="0" tIns="0" rIns="0" bIns="0" rtlCol="0" anchor="ctr"/>
          <a:lstStyle/>
          <a:p>
            <a:pPr>
              <a:lnSpc>
                <a:spcPct val="120000"/>
              </a:lnSpc>
            </a:pPr>
            <a:r>
              <a:rPr lang="en-US" sz="1050" b="1" dirty="0">
                <a:solidFill>
                  <a:srgbClr val="1E3A5F"/>
                </a:solidFill>
                <a:latin typeface="Liter" pitchFamily="34" charset="0"/>
                <a:ea typeface="Liter" pitchFamily="34" charset="-122"/>
                <a:cs typeface="Liter" pitchFamily="34" charset="-120"/>
              </a:rPr>
              <a:t>No Patient History</a:t>
            </a:r>
            <a:endParaRPr lang="en-US" sz="1600" dirty="0"/>
          </a:p>
        </p:txBody>
      </p:sp>
      <p:sp>
        <p:nvSpPr>
          <p:cNvPr id="29" name="Text 27"/>
          <p:cNvSpPr/>
          <p:nvPr/>
        </p:nvSpPr>
        <p:spPr>
          <a:xfrm>
            <a:off x="3989070" y="4267200"/>
            <a:ext cx="2838450" cy="381000"/>
          </a:xfrm>
          <a:prstGeom prst="rect">
            <a:avLst/>
          </a:prstGeom>
          <a:noFill/>
          <a:ln/>
        </p:spPr>
        <p:txBody>
          <a:bodyPr wrap="square" lIns="0" tIns="0" rIns="0" bIns="0" rtlCol="0" anchor="ctr"/>
          <a:lstStyle/>
          <a:p>
            <a:pPr>
              <a:lnSpc>
                <a:spcPct val="120000"/>
              </a:lnSpc>
            </a:pPr>
            <a:r>
              <a:rPr lang="en-US" sz="1050" dirty="0">
                <a:solidFill>
                  <a:srgbClr val="1E293B">
                    <a:alpha val="70000"/>
                  </a:srgbClr>
                </a:solidFill>
                <a:latin typeface="Quattrocento Sans" pitchFamily="34" charset="0"/>
                <a:ea typeface="Quattrocento Sans" pitchFamily="34" charset="-122"/>
                <a:cs typeface="Quattrocento Sans" pitchFamily="34" charset="-120"/>
              </a:rPr>
              <a:t>Patient medical details not stored systematically, making diagnosis difficult</a:t>
            </a:r>
            <a:endParaRPr lang="en-US" sz="1600" dirty="0"/>
          </a:p>
        </p:txBody>
      </p:sp>
      <p:sp>
        <p:nvSpPr>
          <p:cNvPr id="30" name="Shape 28"/>
          <p:cNvSpPr/>
          <p:nvPr/>
        </p:nvSpPr>
        <p:spPr>
          <a:xfrm>
            <a:off x="381000" y="5143500"/>
            <a:ext cx="6724650" cy="1066800"/>
          </a:xfrm>
          <a:custGeom>
            <a:avLst/>
            <a:gdLst/>
            <a:ahLst/>
            <a:cxnLst/>
            <a:rect l="l" t="t" r="r" b="b"/>
            <a:pathLst>
              <a:path w="6724650" h="1066800">
                <a:moveTo>
                  <a:pt x="114297" y="0"/>
                </a:moveTo>
                <a:lnTo>
                  <a:pt x="6610353" y="0"/>
                </a:lnTo>
                <a:cubicBezTo>
                  <a:pt x="6673478" y="0"/>
                  <a:pt x="6724650" y="51172"/>
                  <a:pt x="6724650" y="114297"/>
                </a:cubicBezTo>
                <a:lnTo>
                  <a:pt x="6724650" y="952503"/>
                </a:lnTo>
                <a:cubicBezTo>
                  <a:pt x="6724650" y="1015628"/>
                  <a:pt x="6673478" y="1066800"/>
                  <a:pt x="6610353" y="1066800"/>
                </a:cubicBezTo>
                <a:lnTo>
                  <a:pt x="114297" y="1066800"/>
                </a:lnTo>
                <a:cubicBezTo>
                  <a:pt x="51172" y="1066800"/>
                  <a:pt x="0" y="1015628"/>
                  <a:pt x="0" y="952503"/>
                </a:cubicBezTo>
                <a:lnTo>
                  <a:pt x="0" y="114297"/>
                </a:lnTo>
                <a:cubicBezTo>
                  <a:pt x="0" y="51172"/>
                  <a:pt x="51172" y="0"/>
                  <a:pt x="114297" y="0"/>
                </a:cubicBezTo>
                <a:close/>
              </a:path>
            </a:pathLst>
          </a:custGeom>
          <a:gradFill flip="none" rotWithShape="1">
            <a:gsLst>
              <a:gs pos="0">
                <a:srgbClr val="1E3A5F"/>
              </a:gs>
              <a:gs pos="100000">
                <a:srgbClr val="3B82F6"/>
              </a:gs>
            </a:gsLst>
            <a:lin ang="0" scaled="1"/>
          </a:gradFill>
          <a:ln/>
        </p:spPr>
      </p:sp>
      <p:sp>
        <p:nvSpPr>
          <p:cNvPr id="31" name="Shape 29"/>
          <p:cNvSpPr/>
          <p:nvPr/>
        </p:nvSpPr>
        <p:spPr>
          <a:xfrm>
            <a:off x="576263" y="5562600"/>
            <a:ext cx="171450" cy="228600"/>
          </a:xfrm>
          <a:custGeom>
            <a:avLst/>
            <a:gdLst/>
            <a:ahLst/>
            <a:cxnLst/>
            <a:rect l="l" t="t" r="r" b="b"/>
            <a:pathLst>
              <a:path w="171450" h="228600">
                <a:moveTo>
                  <a:pt x="130775" y="171450"/>
                </a:moveTo>
                <a:cubicBezTo>
                  <a:pt x="134035" y="161493"/>
                  <a:pt x="140553" y="152474"/>
                  <a:pt x="147920" y="144706"/>
                </a:cubicBezTo>
                <a:cubicBezTo>
                  <a:pt x="162520" y="129347"/>
                  <a:pt x="171450" y="108585"/>
                  <a:pt x="171450" y="85725"/>
                </a:cubicBezTo>
                <a:cubicBezTo>
                  <a:pt x="171450" y="38398"/>
                  <a:pt x="133052" y="0"/>
                  <a:pt x="85725" y="0"/>
                </a:cubicBezTo>
                <a:cubicBezTo>
                  <a:pt x="38398" y="0"/>
                  <a:pt x="0" y="38398"/>
                  <a:pt x="0" y="85725"/>
                </a:cubicBezTo>
                <a:cubicBezTo>
                  <a:pt x="0" y="108585"/>
                  <a:pt x="8930" y="129347"/>
                  <a:pt x="23530" y="144706"/>
                </a:cubicBezTo>
                <a:cubicBezTo>
                  <a:pt x="30897" y="152474"/>
                  <a:pt x="37460" y="161493"/>
                  <a:pt x="40675" y="171450"/>
                </a:cubicBezTo>
                <a:lnTo>
                  <a:pt x="130731" y="171450"/>
                </a:lnTo>
                <a:close/>
                <a:moveTo>
                  <a:pt x="128588" y="192881"/>
                </a:moveTo>
                <a:lnTo>
                  <a:pt x="42863" y="192881"/>
                </a:lnTo>
                <a:lnTo>
                  <a:pt x="42863" y="200025"/>
                </a:lnTo>
                <a:cubicBezTo>
                  <a:pt x="42863" y="219760"/>
                  <a:pt x="58847" y="235744"/>
                  <a:pt x="78581" y="235744"/>
                </a:cubicBezTo>
                <a:lnTo>
                  <a:pt x="92869" y="235744"/>
                </a:lnTo>
                <a:cubicBezTo>
                  <a:pt x="112603" y="235744"/>
                  <a:pt x="128588" y="219760"/>
                  <a:pt x="128588" y="200025"/>
                </a:cubicBezTo>
                <a:lnTo>
                  <a:pt x="128588" y="192881"/>
                </a:lnTo>
                <a:close/>
                <a:moveTo>
                  <a:pt x="82153" y="50006"/>
                </a:moveTo>
                <a:cubicBezTo>
                  <a:pt x="64383" y="50006"/>
                  <a:pt x="50006" y="64383"/>
                  <a:pt x="50006" y="82153"/>
                </a:cubicBezTo>
                <a:cubicBezTo>
                  <a:pt x="50006" y="88091"/>
                  <a:pt x="45229" y="92869"/>
                  <a:pt x="39291" y="92869"/>
                </a:cubicBezTo>
                <a:cubicBezTo>
                  <a:pt x="33352" y="92869"/>
                  <a:pt x="28575" y="88091"/>
                  <a:pt x="28575" y="82153"/>
                </a:cubicBezTo>
                <a:cubicBezTo>
                  <a:pt x="28575" y="52551"/>
                  <a:pt x="52551" y="28575"/>
                  <a:pt x="82153" y="28575"/>
                </a:cubicBezTo>
                <a:cubicBezTo>
                  <a:pt x="88091" y="28575"/>
                  <a:pt x="92869" y="33352"/>
                  <a:pt x="92869" y="39291"/>
                </a:cubicBezTo>
                <a:cubicBezTo>
                  <a:pt x="92869" y="45229"/>
                  <a:pt x="88091" y="50006"/>
                  <a:pt x="82153" y="50006"/>
                </a:cubicBezTo>
                <a:close/>
              </a:path>
            </a:pathLst>
          </a:custGeom>
          <a:solidFill>
            <a:srgbClr val="10B981"/>
          </a:solidFill>
          <a:ln/>
        </p:spPr>
      </p:sp>
      <p:sp>
        <p:nvSpPr>
          <p:cNvPr id="32" name="Text 30"/>
          <p:cNvSpPr/>
          <p:nvPr/>
        </p:nvSpPr>
        <p:spPr>
          <a:xfrm>
            <a:off x="863679" y="5334000"/>
            <a:ext cx="6134100" cy="266700"/>
          </a:xfrm>
          <a:prstGeom prst="rect">
            <a:avLst/>
          </a:prstGeom>
          <a:noFill/>
          <a:ln/>
        </p:spPr>
        <p:txBody>
          <a:bodyPr wrap="square" lIns="0" tIns="0" rIns="0" bIns="0" rtlCol="0" anchor="ctr"/>
          <a:lstStyle/>
          <a:p>
            <a:pPr>
              <a:lnSpc>
                <a:spcPct val="130000"/>
              </a:lnSpc>
            </a:pPr>
            <a:r>
              <a:rPr lang="en-US" sz="1350" b="1" dirty="0">
                <a:solidFill>
                  <a:srgbClr val="FFFFFF"/>
                </a:solidFill>
                <a:latin typeface="Liter" pitchFamily="34" charset="0"/>
                <a:ea typeface="Liter" pitchFamily="34" charset="-122"/>
                <a:cs typeface="Liter" pitchFamily="34" charset="-120"/>
              </a:rPr>
              <a:t>The Solution</a:t>
            </a:r>
            <a:endParaRPr lang="en-US" sz="1600" dirty="0"/>
          </a:p>
        </p:txBody>
      </p:sp>
      <p:sp>
        <p:nvSpPr>
          <p:cNvPr id="33" name="Text 31"/>
          <p:cNvSpPr/>
          <p:nvPr/>
        </p:nvSpPr>
        <p:spPr>
          <a:xfrm>
            <a:off x="863679" y="5638800"/>
            <a:ext cx="6115050" cy="381000"/>
          </a:xfrm>
          <a:prstGeom prst="rect">
            <a:avLst/>
          </a:prstGeom>
          <a:noFill/>
          <a:ln/>
        </p:spPr>
        <p:txBody>
          <a:bodyPr wrap="square" lIns="0" tIns="0" rIns="0" bIns="0" rtlCol="0" anchor="ctr"/>
          <a:lstStyle/>
          <a:p>
            <a:pPr>
              <a:lnSpc>
                <a:spcPct val="120000"/>
              </a:lnSpc>
            </a:pPr>
            <a:r>
              <a:rPr lang="en-US" sz="1050" dirty="0">
                <a:solidFill>
                  <a:srgbClr val="F1F5F9">
                    <a:alpha val="90000"/>
                  </a:srgbClr>
                </a:solidFill>
                <a:latin typeface="Quattrocento Sans" pitchFamily="34" charset="0"/>
                <a:ea typeface="Quattrocento Sans" pitchFamily="34" charset="-122"/>
                <a:cs typeface="Quattrocento Sans" pitchFamily="34" charset="-120"/>
              </a:rPr>
              <a:t>A </a:t>
            </a:r>
            <a:r>
              <a:rPr lang="en-US" sz="1050" b="1" dirty="0">
                <a:solidFill>
                  <a:srgbClr val="F1F5F9">
                    <a:alpha val="90000"/>
                  </a:srgbClr>
                </a:solidFill>
                <a:latin typeface="Quattrocento Sans" pitchFamily="34" charset="0"/>
                <a:ea typeface="Quattrocento Sans" pitchFamily="34" charset="-122"/>
                <a:cs typeface="Quattrocento Sans" pitchFamily="34" charset="-120"/>
              </a:rPr>
              <a:t>structured database-based system</a:t>
            </a:r>
            <a:r>
              <a:rPr lang="en-US" sz="1050" dirty="0">
                <a:solidFill>
                  <a:srgbClr val="F1F5F9">
                    <a:alpha val="90000"/>
                  </a:srgbClr>
                </a:solidFill>
                <a:latin typeface="Quattrocento Sans" pitchFamily="34" charset="0"/>
                <a:ea typeface="Quattrocento Sans" pitchFamily="34" charset="-122"/>
                <a:cs typeface="Quattrocento Sans" pitchFamily="34" charset="-120"/>
              </a:rPr>
              <a:t> is required to manage appointments, payments, and prescriptions accurately and efficiently, ensuring data integrity and improving healthcare service quality.</a:t>
            </a:r>
            <a:endParaRPr lang="en-US" sz="1600" dirty="0"/>
          </a:p>
        </p:txBody>
      </p:sp>
      <p:sp>
        <p:nvSpPr>
          <p:cNvPr id="34" name="Shape 32"/>
          <p:cNvSpPr/>
          <p:nvPr/>
        </p:nvSpPr>
        <p:spPr>
          <a:xfrm>
            <a:off x="7330440" y="1409700"/>
            <a:ext cx="4476750" cy="2133600"/>
          </a:xfrm>
          <a:custGeom>
            <a:avLst/>
            <a:gdLst/>
            <a:ahLst/>
            <a:cxnLst/>
            <a:rect l="l" t="t" r="r" b="b"/>
            <a:pathLst>
              <a:path w="4476750" h="2133600">
                <a:moveTo>
                  <a:pt x="114297" y="0"/>
                </a:moveTo>
                <a:lnTo>
                  <a:pt x="4362453" y="0"/>
                </a:lnTo>
                <a:cubicBezTo>
                  <a:pt x="4425578" y="0"/>
                  <a:pt x="4476750" y="51172"/>
                  <a:pt x="4476750" y="114297"/>
                </a:cubicBezTo>
                <a:lnTo>
                  <a:pt x="4476750" y="2019303"/>
                </a:lnTo>
                <a:cubicBezTo>
                  <a:pt x="4476750" y="2082428"/>
                  <a:pt x="4425578" y="2133600"/>
                  <a:pt x="4362453" y="2133600"/>
                </a:cubicBezTo>
                <a:lnTo>
                  <a:pt x="114297" y="2133600"/>
                </a:lnTo>
                <a:cubicBezTo>
                  <a:pt x="51172" y="2133600"/>
                  <a:pt x="0" y="2082428"/>
                  <a:pt x="0" y="2019303"/>
                </a:cubicBezTo>
                <a:lnTo>
                  <a:pt x="0" y="114297"/>
                </a:lnTo>
                <a:cubicBezTo>
                  <a:pt x="0" y="51172"/>
                  <a:pt x="51172" y="0"/>
                  <a:pt x="114297" y="0"/>
                </a:cubicBezTo>
                <a:close/>
              </a:path>
            </a:pathLst>
          </a:custGeom>
          <a:solidFill>
            <a:srgbClr val="FFFFFF"/>
          </a:solidFill>
          <a:ln/>
          <a:effectLst>
            <a:outerShdw blurRad="57150" dist="38100" dir="5400000" algn="bl" rotWithShape="0">
              <a:srgbClr val="000000">
                <a:alpha val="10196"/>
              </a:srgbClr>
            </a:outerShdw>
          </a:effectLst>
        </p:spPr>
      </p:sp>
      <p:sp>
        <p:nvSpPr>
          <p:cNvPr id="35" name="Shape 33"/>
          <p:cNvSpPr/>
          <p:nvPr/>
        </p:nvSpPr>
        <p:spPr>
          <a:xfrm>
            <a:off x="7544753" y="1647825"/>
            <a:ext cx="171450" cy="171450"/>
          </a:xfrm>
          <a:custGeom>
            <a:avLst/>
            <a:gdLst/>
            <a:ahLst/>
            <a:cxnLst/>
            <a:rect l="l" t="t" r="r" b="b"/>
            <a:pathLst>
              <a:path w="171450" h="171450">
                <a:moveTo>
                  <a:pt x="21431" y="21431"/>
                </a:moveTo>
                <a:cubicBezTo>
                  <a:pt x="21431" y="15504"/>
                  <a:pt x="16643" y="10716"/>
                  <a:pt x="10716" y="10716"/>
                </a:cubicBezTo>
                <a:cubicBezTo>
                  <a:pt x="4789" y="10716"/>
                  <a:pt x="0" y="15504"/>
                  <a:pt x="0" y="21431"/>
                </a:cubicBezTo>
                <a:lnTo>
                  <a:pt x="0" y="133945"/>
                </a:lnTo>
                <a:cubicBezTo>
                  <a:pt x="0" y="148746"/>
                  <a:pt x="11988" y="160734"/>
                  <a:pt x="26789" y="160734"/>
                </a:cubicBezTo>
                <a:lnTo>
                  <a:pt x="160734" y="160734"/>
                </a:lnTo>
                <a:cubicBezTo>
                  <a:pt x="166661" y="160734"/>
                  <a:pt x="171450" y="155946"/>
                  <a:pt x="171450" y="150019"/>
                </a:cubicBezTo>
                <a:cubicBezTo>
                  <a:pt x="171450" y="144092"/>
                  <a:pt x="166661" y="139303"/>
                  <a:pt x="160734" y="139303"/>
                </a:cubicBezTo>
                <a:lnTo>
                  <a:pt x="26789" y="139303"/>
                </a:lnTo>
                <a:cubicBezTo>
                  <a:pt x="23842" y="139303"/>
                  <a:pt x="21431" y="136892"/>
                  <a:pt x="21431" y="133945"/>
                </a:cubicBezTo>
                <a:lnTo>
                  <a:pt x="21431" y="21431"/>
                </a:lnTo>
                <a:close/>
                <a:moveTo>
                  <a:pt x="157587" y="50430"/>
                </a:moveTo>
                <a:cubicBezTo>
                  <a:pt x="161772" y="46245"/>
                  <a:pt x="161772" y="39447"/>
                  <a:pt x="157587" y="35261"/>
                </a:cubicBezTo>
                <a:cubicBezTo>
                  <a:pt x="153401" y="31075"/>
                  <a:pt x="146603" y="31075"/>
                  <a:pt x="142417" y="35261"/>
                </a:cubicBezTo>
                <a:lnTo>
                  <a:pt x="107156" y="70556"/>
                </a:lnTo>
                <a:lnTo>
                  <a:pt x="87935" y="51368"/>
                </a:lnTo>
                <a:cubicBezTo>
                  <a:pt x="83749" y="47182"/>
                  <a:pt x="76952" y="47182"/>
                  <a:pt x="72766" y="51368"/>
                </a:cubicBezTo>
                <a:lnTo>
                  <a:pt x="40619" y="83515"/>
                </a:lnTo>
                <a:cubicBezTo>
                  <a:pt x="36433" y="87701"/>
                  <a:pt x="36433" y="94498"/>
                  <a:pt x="40619" y="98684"/>
                </a:cubicBezTo>
                <a:cubicBezTo>
                  <a:pt x="44805" y="102870"/>
                  <a:pt x="51602" y="102870"/>
                  <a:pt x="55788" y="98684"/>
                </a:cubicBezTo>
                <a:lnTo>
                  <a:pt x="80367" y="74105"/>
                </a:lnTo>
                <a:lnTo>
                  <a:pt x="99588" y="93326"/>
                </a:lnTo>
                <a:cubicBezTo>
                  <a:pt x="103774" y="97512"/>
                  <a:pt x="110572" y="97512"/>
                  <a:pt x="114758" y="93326"/>
                </a:cubicBezTo>
                <a:lnTo>
                  <a:pt x="157620" y="50464"/>
                </a:lnTo>
                <a:close/>
              </a:path>
            </a:pathLst>
          </a:custGeom>
          <a:solidFill>
            <a:srgbClr val="3B82F6"/>
          </a:solidFill>
          <a:ln/>
        </p:spPr>
      </p:sp>
      <p:sp>
        <p:nvSpPr>
          <p:cNvPr id="36" name="Text 34"/>
          <p:cNvSpPr/>
          <p:nvPr/>
        </p:nvSpPr>
        <p:spPr>
          <a:xfrm>
            <a:off x="7740015" y="1600200"/>
            <a:ext cx="3962400" cy="266700"/>
          </a:xfrm>
          <a:prstGeom prst="rect">
            <a:avLst/>
          </a:prstGeom>
          <a:noFill/>
          <a:ln/>
        </p:spPr>
        <p:txBody>
          <a:bodyPr wrap="square" lIns="0" tIns="0" rIns="0" bIns="0" rtlCol="0" anchor="ctr"/>
          <a:lstStyle/>
          <a:p>
            <a:pPr>
              <a:lnSpc>
                <a:spcPct val="130000"/>
              </a:lnSpc>
            </a:pPr>
            <a:r>
              <a:rPr lang="en-US" sz="1350" b="1" dirty="0">
                <a:solidFill>
                  <a:srgbClr val="1E3A5F"/>
                </a:solidFill>
                <a:latin typeface="Liter" pitchFamily="34" charset="0"/>
                <a:ea typeface="Liter" pitchFamily="34" charset="-122"/>
                <a:cs typeface="Liter" pitchFamily="34" charset="-120"/>
              </a:rPr>
              <a:t>Impact Analysis</a:t>
            </a:r>
            <a:endParaRPr lang="en-US" sz="1600" dirty="0"/>
          </a:p>
        </p:txBody>
      </p:sp>
      <p:sp>
        <p:nvSpPr>
          <p:cNvPr id="37" name="Text 35"/>
          <p:cNvSpPr/>
          <p:nvPr/>
        </p:nvSpPr>
        <p:spPr>
          <a:xfrm>
            <a:off x="7520940" y="2019300"/>
            <a:ext cx="1333500" cy="190500"/>
          </a:xfrm>
          <a:prstGeom prst="rect">
            <a:avLst/>
          </a:prstGeom>
          <a:noFill/>
          <a:ln/>
        </p:spPr>
        <p:txBody>
          <a:bodyPr wrap="square" lIns="0" tIns="0" rIns="0" bIns="0" rtlCol="0" anchor="ctr"/>
          <a:lstStyle/>
          <a:p>
            <a:pPr>
              <a:lnSpc>
                <a:spcPct val="120000"/>
              </a:lnSpc>
            </a:pPr>
            <a:r>
              <a:rPr lang="en-US" sz="1050" b="1" dirty="0">
                <a:solidFill>
                  <a:srgbClr val="1E293B"/>
                </a:solidFill>
                <a:latin typeface="Quattrocento Sans" pitchFamily="34" charset="0"/>
                <a:ea typeface="Quattrocento Sans" pitchFamily="34" charset="-122"/>
                <a:cs typeface="Quattrocento Sans" pitchFamily="34" charset="-120"/>
              </a:rPr>
              <a:t>Operational Efficiency</a:t>
            </a:r>
            <a:endParaRPr lang="en-US" sz="1600" dirty="0"/>
          </a:p>
        </p:txBody>
      </p:sp>
      <p:sp>
        <p:nvSpPr>
          <p:cNvPr id="38" name="Text 36"/>
          <p:cNvSpPr/>
          <p:nvPr/>
        </p:nvSpPr>
        <p:spPr>
          <a:xfrm>
            <a:off x="11292244" y="2019300"/>
            <a:ext cx="390525" cy="190500"/>
          </a:xfrm>
          <a:prstGeom prst="rect">
            <a:avLst/>
          </a:prstGeom>
          <a:noFill/>
          <a:ln/>
        </p:spPr>
        <p:txBody>
          <a:bodyPr wrap="square" lIns="0" tIns="0" rIns="0" bIns="0" rtlCol="0" anchor="ctr"/>
          <a:lstStyle/>
          <a:p>
            <a:pPr>
              <a:lnSpc>
                <a:spcPct val="120000"/>
              </a:lnSpc>
            </a:pPr>
            <a:r>
              <a:rPr lang="en-US" sz="1050" b="1" dirty="0">
                <a:solidFill>
                  <a:srgbClr val="E7000B"/>
                </a:solidFill>
                <a:latin typeface="Quattrocento Sans" pitchFamily="34" charset="0"/>
                <a:ea typeface="Quattrocento Sans" pitchFamily="34" charset="-122"/>
                <a:cs typeface="Quattrocento Sans" pitchFamily="34" charset="-120"/>
              </a:rPr>
              <a:t>-40%</a:t>
            </a:r>
            <a:endParaRPr lang="en-US" sz="1600" dirty="0"/>
          </a:p>
        </p:txBody>
      </p:sp>
      <p:sp>
        <p:nvSpPr>
          <p:cNvPr id="39" name="Shape 37"/>
          <p:cNvSpPr/>
          <p:nvPr/>
        </p:nvSpPr>
        <p:spPr>
          <a:xfrm>
            <a:off x="7520940" y="2286000"/>
            <a:ext cx="4095750" cy="76200"/>
          </a:xfrm>
          <a:custGeom>
            <a:avLst/>
            <a:gdLst/>
            <a:ahLst/>
            <a:cxnLst/>
            <a:rect l="l" t="t" r="r" b="b"/>
            <a:pathLst>
              <a:path w="4095750" h="76200">
                <a:moveTo>
                  <a:pt x="38100" y="0"/>
                </a:moveTo>
                <a:lnTo>
                  <a:pt x="4057650" y="0"/>
                </a:lnTo>
                <a:cubicBezTo>
                  <a:pt x="4078678" y="0"/>
                  <a:pt x="4095750" y="17072"/>
                  <a:pt x="4095750" y="38100"/>
                </a:cubicBezTo>
                <a:lnTo>
                  <a:pt x="4095750" y="38100"/>
                </a:lnTo>
                <a:cubicBezTo>
                  <a:pt x="4095750" y="59128"/>
                  <a:pt x="4078678" y="76200"/>
                  <a:pt x="4057650" y="76200"/>
                </a:cubicBezTo>
                <a:lnTo>
                  <a:pt x="38100" y="76200"/>
                </a:lnTo>
                <a:cubicBezTo>
                  <a:pt x="17072" y="76200"/>
                  <a:pt x="0" y="59128"/>
                  <a:pt x="0" y="38100"/>
                </a:cubicBezTo>
                <a:lnTo>
                  <a:pt x="0" y="38100"/>
                </a:lnTo>
                <a:cubicBezTo>
                  <a:pt x="0" y="17072"/>
                  <a:pt x="17072" y="0"/>
                  <a:pt x="38100" y="0"/>
                </a:cubicBezTo>
                <a:close/>
              </a:path>
            </a:pathLst>
          </a:custGeom>
          <a:solidFill>
            <a:srgbClr val="E5E7EB"/>
          </a:solidFill>
          <a:ln/>
        </p:spPr>
      </p:sp>
      <p:sp>
        <p:nvSpPr>
          <p:cNvPr id="40" name="Shape 38"/>
          <p:cNvSpPr/>
          <p:nvPr/>
        </p:nvSpPr>
        <p:spPr>
          <a:xfrm>
            <a:off x="7520940" y="2286000"/>
            <a:ext cx="1638300" cy="76200"/>
          </a:xfrm>
          <a:custGeom>
            <a:avLst/>
            <a:gdLst/>
            <a:ahLst/>
            <a:cxnLst/>
            <a:rect l="l" t="t" r="r" b="b"/>
            <a:pathLst>
              <a:path w="1638300" h="76200">
                <a:moveTo>
                  <a:pt x="38100" y="0"/>
                </a:moveTo>
                <a:lnTo>
                  <a:pt x="1600200" y="0"/>
                </a:lnTo>
                <a:cubicBezTo>
                  <a:pt x="1621228" y="0"/>
                  <a:pt x="1638300" y="17072"/>
                  <a:pt x="1638300" y="38100"/>
                </a:cubicBezTo>
                <a:lnTo>
                  <a:pt x="1638300" y="38100"/>
                </a:lnTo>
                <a:cubicBezTo>
                  <a:pt x="1638300" y="59128"/>
                  <a:pt x="1621228" y="76200"/>
                  <a:pt x="1600200" y="76200"/>
                </a:cubicBezTo>
                <a:lnTo>
                  <a:pt x="38100" y="76200"/>
                </a:lnTo>
                <a:cubicBezTo>
                  <a:pt x="17072" y="76200"/>
                  <a:pt x="0" y="59128"/>
                  <a:pt x="0" y="38100"/>
                </a:cubicBezTo>
                <a:lnTo>
                  <a:pt x="0" y="38100"/>
                </a:lnTo>
                <a:cubicBezTo>
                  <a:pt x="0" y="17072"/>
                  <a:pt x="17072" y="0"/>
                  <a:pt x="38100" y="0"/>
                </a:cubicBezTo>
                <a:close/>
              </a:path>
            </a:pathLst>
          </a:custGeom>
          <a:solidFill>
            <a:srgbClr val="FB2C36"/>
          </a:solidFill>
          <a:ln/>
        </p:spPr>
      </p:sp>
      <p:sp>
        <p:nvSpPr>
          <p:cNvPr id="41" name="Text 39"/>
          <p:cNvSpPr/>
          <p:nvPr/>
        </p:nvSpPr>
        <p:spPr>
          <a:xfrm>
            <a:off x="7520940" y="2514600"/>
            <a:ext cx="1152525" cy="190500"/>
          </a:xfrm>
          <a:prstGeom prst="rect">
            <a:avLst/>
          </a:prstGeom>
          <a:noFill/>
          <a:ln/>
        </p:spPr>
        <p:txBody>
          <a:bodyPr wrap="square" lIns="0" tIns="0" rIns="0" bIns="0" rtlCol="0" anchor="ctr"/>
          <a:lstStyle/>
          <a:p>
            <a:pPr>
              <a:lnSpc>
                <a:spcPct val="120000"/>
              </a:lnSpc>
            </a:pPr>
            <a:r>
              <a:rPr lang="en-US" sz="1050" b="1" dirty="0">
                <a:solidFill>
                  <a:srgbClr val="1E293B"/>
                </a:solidFill>
                <a:latin typeface="Quattrocento Sans" pitchFamily="34" charset="0"/>
                <a:ea typeface="Quattrocento Sans" pitchFamily="34" charset="-122"/>
                <a:cs typeface="Quattrocento Sans" pitchFamily="34" charset="-120"/>
              </a:rPr>
              <a:t>Patient Satisfaction</a:t>
            </a:r>
            <a:endParaRPr lang="en-US" sz="1600" dirty="0"/>
          </a:p>
        </p:txBody>
      </p:sp>
      <p:sp>
        <p:nvSpPr>
          <p:cNvPr id="42" name="Text 40"/>
          <p:cNvSpPr/>
          <p:nvPr/>
        </p:nvSpPr>
        <p:spPr>
          <a:xfrm>
            <a:off x="11303437" y="2514600"/>
            <a:ext cx="381000" cy="190500"/>
          </a:xfrm>
          <a:prstGeom prst="rect">
            <a:avLst/>
          </a:prstGeom>
          <a:noFill/>
          <a:ln/>
        </p:spPr>
        <p:txBody>
          <a:bodyPr wrap="square" lIns="0" tIns="0" rIns="0" bIns="0" rtlCol="0" anchor="ctr"/>
          <a:lstStyle/>
          <a:p>
            <a:pPr>
              <a:lnSpc>
                <a:spcPct val="120000"/>
              </a:lnSpc>
            </a:pPr>
            <a:r>
              <a:rPr lang="en-US" sz="1050" b="1" dirty="0">
                <a:solidFill>
                  <a:srgbClr val="E7000B"/>
                </a:solidFill>
                <a:latin typeface="Quattrocento Sans" pitchFamily="34" charset="0"/>
                <a:ea typeface="Quattrocento Sans" pitchFamily="34" charset="-122"/>
                <a:cs typeface="Quattrocento Sans" pitchFamily="34" charset="-120"/>
              </a:rPr>
              <a:t>-35%</a:t>
            </a:r>
            <a:endParaRPr lang="en-US" sz="1600" dirty="0"/>
          </a:p>
        </p:txBody>
      </p:sp>
      <p:sp>
        <p:nvSpPr>
          <p:cNvPr id="43" name="Shape 41"/>
          <p:cNvSpPr/>
          <p:nvPr/>
        </p:nvSpPr>
        <p:spPr>
          <a:xfrm>
            <a:off x="7520940" y="2781300"/>
            <a:ext cx="4095750" cy="76200"/>
          </a:xfrm>
          <a:custGeom>
            <a:avLst/>
            <a:gdLst/>
            <a:ahLst/>
            <a:cxnLst/>
            <a:rect l="l" t="t" r="r" b="b"/>
            <a:pathLst>
              <a:path w="4095750" h="76200">
                <a:moveTo>
                  <a:pt x="38100" y="0"/>
                </a:moveTo>
                <a:lnTo>
                  <a:pt x="4057650" y="0"/>
                </a:lnTo>
                <a:cubicBezTo>
                  <a:pt x="4078678" y="0"/>
                  <a:pt x="4095750" y="17072"/>
                  <a:pt x="4095750" y="38100"/>
                </a:cubicBezTo>
                <a:lnTo>
                  <a:pt x="4095750" y="38100"/>
                </a:lnTo>
                <a:cubicBezTo>
                  <a:pt x="4095750" y="59128"/>
                  <a:pt x="4078678" y="76200"/>
                  <a:pt x="4057650" y="76200"/>
                </a:cubicBezTo>
                <a:lnTo>
                  <a:pt x="38100" y="76200"/>
                </a:lnTo>
                <a:cubicBezTo>
                  <a:pt x="17072" y="76200"/>
                  <a:pt x="0" y="59128"/>
                  <a:pt x="0" y="38100"/>
                </a:cubicBezTo>
                <a:lnTo>
                  <a:pt x="0" y="38100"/>
                </a:lnTo>
                <a:cubicBezTo>
                  <a:pt x="0" y="17072"/>
                  <a:pt x="17072" y="0"/>
                  <a:pt x="38100" y="0"/>
                </a:cubicBezTo>
                <a:close/>
              </a:path>
            </a:pathLst>
          </a:custGeom>
          <a:solidFill>
            <a:srgbClr val="E5E7EB"/>
          </a:solidFill>
          <a:ln/>
        </p:spPr>
      </p:sp>
      <p:sp>
        <p:nvSpPr>
          <p:cNvPr id="44" name="Shape 42"/>
          <p:cNvSpPr/>
          <p:nvPr/>
        </p:nvSpPr>
        <p:spPr>
          <a:xfrm>
            <a:off x="7520940" y="2781300"/>
            <a:ext cx="1438275" cy="76200"/>
          </a:xfrm>
          <a:custGeom>
            <a:avLst/>
            <a:gdLst/>
            <a:ahLst/>
            <a:cxnLst/>
            <a:rect l="l" t="t" r="r" b="b"/>
            <a:pathLst>
              <a:path w="1438275" h="76200">
                <a:moveTo>
                  <a:pt x="38100" y="0"/>
                </a:moveTo>
                <a:lnTo>
                  <a:pt x="1400175" y="0"/>
                </a:lnTo>
                <a:cubicBezTo>
                  <a:pt x="1421203" y="0"/>
                  <a:pt x="1438275" y="17072"/>
                  <a:pt x="1438275" y="38100"/>
                </a:cubicBezTo>
                <a:lnTo>
                  <a:pt x="1438275" y="38100"/>
                </a:lnTo>
                <a:cubicBezTo>
                  <a:pt x="1438275" y="59128"/>
                  <a:pt x="1421203" y="76200"/>
                  <a:pt x="1400175" y="76200"/>
                </a:cubicBezTo>
                <a:lnTo>
                  <a:pt x="38100" y="76200"/>
                </a:lnTo>
                <a:cubicBezTo>
                  <a:pt x="17072" y="76200"/>
                  <a:pt x="0" y="59128"/>
                  <a:pt x="0" y="38100"/>
                </a:cubicBezTo>
                <a:lnTo>
                  <a:pt x="0" y="38100"/>
                </a:lnTo>
                <a:cubicBezTo>
                  <a:pt x="0" y="17072"/>
                  <a:pt x="17072" y="0"/>
                  <a:pt x="38100" y="0"/>
                </a:cubicBezTo>
                <a:close/>
              </a:path>
            </a:pathLst>
          </a:custGeom>
          <a:solidFill>
            <a:srgbClr val="FB2C36"/>
          </a:solidFill>
          <a:ln/>
        </p:spPr>
      </p:sp>
      <p:sp>
        <p:nvSpPr>
          <p:cNvPr id="45" name="Text 43"/>
          <p:cNvSpPr/>
          <p:nvPr/>
        </p:nvSpPr>
        <p:spPr>
          <a:xfrm>
            <a:off x="7520940" y="3009900"/>
            <a:ext cx="904875" cy="190500"/>
          </a:xfrm>
          <a:prstGeom prst="rect">
            <a:avLst/>
          </a:prstGeom>
          <a:noFill/>
          <a:ln/>
        </p:spPr>
        <p:txBody>
          <a:bodyPr wrap="square" lIns="0" tIns="0" rIns="0" bIns="0" rtlCol="0" anchor="ctr"/>
          <a:lstStyle/>
          <a:p>
            <a:pPr>
              <a:lnSpc>
                <a:spcPct val="120000"/>
              </a:lnSpc>
            </a:pPr>
            <a:r>
              <a:rPr lang="en-US" sz="1050" b="1" dirty="0">
                <a:solidFill>
                  <a:srgbClr val="1E293B"/>
                </a:solidFill>
                <a:latin typeface="Quattrocento Sans" pitchFamily="34" charset="0"/>
                <a:ea typeface="Quattrocento Sans" pitchFamily="34" charset="-122"/>
                <a:cs typeface="Quattrocento Sans" pitchFamily="34" charset="-120"/>
              </a:rPr>
              <a:t>Data Accuracy</a:t>
            </a:r>
            <a:endParaRPr lang="en-US" sz="1600" dirty="0"/>
          </a:p>
        </p:txBody>
      </p:sp>
      <p:sp>
        <p:nvSpPr>
          <p:cNvPr id="46" name="Text 44"/>
          <p:cNvSpPr/>
          <p:nvPr/>
        </p:nvSpPr>
        <p:spPr>
          <a:xfrm>
            <a:off x="11288316" y="3009900"/>
            <a:ext cx="400050" cy="190500"/>
          </a:xfrm>
          <a:prstGeom prst="rect">
            <a:avLst/>
          </a:prstGeom>
          <a:noFill/>
          <a:ln/>
        </p:spPr>
        <p:txBody>
          <a:bodyPr wrap="square" lIns="0" tIns="0" rIns="0" bIns="0" rtlCol="0" anchor="ctr"/>
          <a:lstStyle/>
          <a:p>
            <a:pPr>
              <a:lnSpc>
                <a:spcPct val="120000"/>
              </a:lnSpc>
            </a:pPr>
            <a:r>
              <a:rPr lang="en-US" sz="1050" b="1" dirty="0">
                <a:solidFill>
                  <a:srgbClr val="E7000B"/>
                </a:solidFill>
                <a:latin typeface="Quattrocento Sans" pitchFamily="34" charset="0"/>
                <a:ea typeface="Quattrocento Sans" pitchFamily="34" charset="-122"/>
                <a:cs typeface="Quattrocento Sans" pitchFamily="34" charset="-120"/>
              </a:rPr>
              <a:t>-50%</a:t>
            </a:r>
            <a:endParaRPr lang="en-US" sz="1600" dirty="0"/>
          </a:p>
        </p:txBody>
      </p:sp>
      <p:sp>
        <p:nvSpPr>
          <p:cNvPr id="47" name="Shape 45"/>
          <p:cNvSpPr/>
          <p:nvPr/>
        </p:nvSpPr>
        <p:spPr>
          <a:xfrm>
            <a:off x="7520940" y="3276600"/>
            <a:ext cx="4095750" cy="76200"/>
          </a:xfrm>
          <a:custGeom>
            <a:avLst/>
            <a:gdLst/>
            <a:ahLst/>
            <a:cxnLst/>
            <a:rect l="l" t="t" r="r" b="b"/>
            <a:pathLst>
              <a:path w="4095750" h="76200">
                <a:moveTo>
                  <a:pt x="38100" y="0"/>
                </a:moveTo>
                <a:lnTo>
                  <a:pt x="4057650" y="0"/>
                </a:lnTo>
                <a:cubicBezTo>
                  <a:pt x="4078678" y="0"/>
                  <a:pt x="4095750" y="17072"/>
                  <a:pt x="4095750" y="38100"/>
                </a:cubicBezTo>
                <a:lnTo>
                  <a:pt x="4095750" y="38100"/>
                </a:lnTo>
                <a:cubicBezTo>
                  <a:pt x="4095750" y="59128"/>
                  <a:pt x="4078678" y="76200"/>
                  <a:pt x="4057650" y="76200"/>
                </a:cubicBezTo>
                <a:lnTo>
                  <a:pt x="38100" y="76200"/>
                </a:lnTo>
                <a:cubicBezTo>
                  <a:pt x="17072" y="76200"/>
                  <a:pt x="0" y="59128"/>
                  <a:pt x="0" y="38100"/>
                </a:cubicBezTo>
                <a:lnTo>
                  <a:pt x="0" y="38100"/>
                </a:lnTo>
                <a:cubicBezTo>
                  <a:pt x="0" y="17072"/>
                  <a:pt x="17072" y="0"/>
                  <a:pt x="38100" y="0"/>
                </a:cubicBezTo>
                <a:close/>
              </a:path>
            </a:pathLst>
          </a:custGeom>
          <a:solidFill>
            <a:srgbClr val="E5E7EB"/>
          </a:solidFill>
          <a:ln/>
        </p:spPr>
      </p:sp>
      <p:sp>
        <p:nvSpPr>
          <p:cNvPr id="48" name="Shape 46"/>
          <p:cNvSpPr/>
          <p:nvPr/>
        </p:nvSpPr>
        <p:spPr>
          <a:xfrm>
            <a:off x="7520940" y="3276600"/>
            <a:ext cx="2047875" cy="76200"/>
          </a:xfrm>
          <a:custGeom>
            <a:avLst/>
            <a:gdLst/>
            <a:ahLst/>
            <a:cxnLst/>
            <a:rect l="l" t="t" r="r" b="b"/>
            <a:pathLst>
              <a:path w="2047875" h="76200">
                <a:moveTo>
                  <a:pt x="38100" y="0"/>
                </a:moveTo>
                <a:lnTo>
                  <a:pt x="2009775" y="0"/>
                </a:lnTo>
                <a:cubicBezTo>
                  <a:pt x="2030803" y="0"/>
                  <a:pt x="2047875" y="17072"/>
                  <a:pt x="2047875" y="38100"/>
                </a:cubicBezTo>
                <a:lnTo>
                  <a:pt x="2047875" y="38100"/>
                </a:lnTo>
                <a:cubicBezTo>
                  <a:pt x="2047875" y="59128"/>
                  <a:pt x="2030803" y="76200"/>
                  <a:pt x="2009775" y="76200"/>
                </a:cubicBezTo>
                <a:lnTo>
                  <a:pt x="38100" y="76200"/>
                </a:lnTo>
                <a:cubicBezTo>
                  <a:pt x="17072" y="76200"/>
                  <a:pt x="0" y="59128"/>
                  <a:pt x="0" y="38100"/>
                </a:cubicBezTo>
                <a:lnTo>
                  <a:pt x="0" y="38100"/>
                </a:lnTo>
                <a:cubicBezTo>
                  <a:pt x="0" y="17072"/>
                  <a:pt x="17072" y="0"/>
                  <a:pt x="38100" y="0"/>
                </a:cubicBezTo>
                <a:close/>
              </a:path>
            </a:pathLst>
          </a:custGeom>
          <a:solidFill>
            <a:srgbClr val="FB2C36"/>
          </a:solidFill>
          <a:ln/>
        </p:spPr>
      </p:sp>
      <p:sp>
        <p:nvSpPr>
          <p:cNvPr id="49" name="Shape 47"/>
          <p:cNvSpPr/>
          <p:nvPr/>
        </p:nvSpPr>
        <p:spPr>
          <a:xfrm>
            <a:off x="7330440" y="3695700"/>
            <a:ext cx="4476750" cy="2971800"/>
          </a:xfrm>
          <a:custGeom>
            <a:avLst/>
            <a:gdLst/>
            <a:ahLst/>
            <a:cxnLst/>
            <a:rect l="l" t="t" r="r" b="b"/>
            <a:pathLst>
              <a:path w="4476750" h="2971800">
                <a:moveTo>
                  <a:pt x="114295" y="0"/>
                </a:moveTo>
                <a:lnTo>
                  <a:pt x="4362455" y="0"/>
                </a:lnTo>
                <a:cubicBezTo>
                  <a:pt x="4425536" y="0"/>
                  <a:pt x="4476750" y="51214"/>
                  <a:pt x="4476750" y="114295"/>
                </a:cubicBezTo>
                <a:lnTo>
                  <a:pt x="4476750" y="2857505"/>
                </a:lnTo>
                <a:cubicBezTo>
                  <a:pt x="4476750" y="2920586"/>
                  <a:pt x="4425536" y="2971800"/>
                  <a:pt x="4362455" y="2971800"/>
                </a:cubicBezTo>
                <a:lnTo>
                  <a:pt x="114295" y="2971800"/>
                </a:lnTo>
                <a:cubicBezTo>
                  <a:pt x="51214" y="2971800"/>
                  <a:pt x="0" y="2920586"/>
                  <a:pt x="0" y="2857505"/>
                </a:cubicBezTo>
                <a:lnTo>
                  <a:pt x="0" y="114295"/>
                </a:lnTo>
                <a:cubicBezTo>
                  <a:pt x="0" y="51214"/>
                  <a:pt x="51214" y="0"/>
                  <a:pt x="114295" y="0"/>
                </a:cubicBezTo>
                <a:close/>
              </a:path>
            </a:pathLst>
          </a:custGeom>
          <a:solidFill>
            <a:srgbClr val="FFFFFF"/>
          </a:solidFill>
          <a:ln/>
          <a:effectLst>
            <a:outerShdw blurRad="57150" dist="38100" dir="5400000" algn="bl" rotWithShape="0">
              <a:srgbClr val="000000">
                <a:alpha val="10196"/>
              </a:srgbClr>
            </a:outerShdw>
          </a:effectLst>
        </p:spPr>
      </p:sp>
      <p:sp>
        <p:nvSpPr>
          <p:cNvPr id="50" name="Shape 48"/>
          <p:cNvSpPr/>
          <p:nvPr/>
        </p:nvSpPr>
        <p:spPr>
          <a:xfrm>
            <a:off x="7566184" y="3933825"/>
            <a:ext cx="128588" cy="171450"/>
          </a:xfrm>
          <a:custGeom>
            <a:avLst/>
            <a:gdLst/>
            <a:ahLst/>
            <a:cxnLst/>
            <a:rect l="l" t="t" r="r" b="b"/>
            <a:pathLst>
              <a:path w="128588" h="171450">
                <a:moveTo>
                  <a:pt x="104276" y="10716"/>
                </a:moveTo>
                <a:lnTo>
                  <a:pt x="107156" y="10716"/>
                </a:lnTo>
                <a:cubicBezTo>
                  <a:pt x="118977" y="10716"/>
                  <a:pt x="128588" y="20326"/>
                  <a:pt x="128588" y="32147"/>
                </a:cubicBezTo>
                <a:lnTo>
                  <a:pt x="128588" y="150019"/>
                </a:lnTo>
                <a:cubicBezTo>
                  <a:pt x="128588" y="161839"/>
                  <a:pt x="118977" y="171450"/>
                  <a:pt x="107156" y="171450"/>
                </a:cubicBezTo>
                <a:lnTo>
                  <a:pt x="21431" y="171450"/>
                </a:lnTo>
                <a:cubicBezTo>
                  <a:pt x="9611" y="171450"/>
                  <a:pt x="0" y="161839"/>
                  <a:pt x="0" y="150019"/>
                </a:cubicBezTo>
                <a:lnTo>
                  <a:pt x="0" y="32147"/>
                </a:lnTo>
                <a:cubicBezTo>
                  <a:pt x="0" y="20326"/>
                  <a:pt x="9611" y="10716"/>
                  <a:pt x="21431" y="10716"/>
                </a:cubicBezTo>
                <a:lnTo>
                  <a:pt x="24311" y="10716"/>
                </a:lnTo>
                <a:cubicBezTo>
                  <a:pt x="27995" y="4320"/>
                  <a:pt x="34926" y="0"/>
                  <a:pt x="42863" y="0"/>
                </a:cubicBezTo>
                <a:lnTo>
                  <a:pt x="85725" y="0"/>
                </a:lnTo>
                <a:cubicBezTo>
                  <a:pt x="93661" y="0"/>
                  <a:pt x="100593" y="4320"/>
                  <a:pt x="104276" y="10716"/>
                </a:cubicBezTo>
                <a:close/>
                <a:moveTo>
                  <a:pt x="83046" y="37505"/>
                </a:moveTo>
                <a:cubicBezTo>
                  <a:pt x="87500" y="37505"/>
                  <a:pt x="91083" y="33922"/>
                  <a:pt x="91083" y="29468"/>
                </a:cubicBezTo>
                <a:cubicBezTo>
                  <a:pt x="91083" y="25014"/>
                  <a:pt x="87500" y="21431"/>
                  <a:pt x="83046" y="21431"/>
                </a:cubicBezTo>
                <a:lnTo>
                  <a:pt x="45541" y="21431"/>
                </a:lnTo>
                <a:cubicBezTo>
                  <a:pt x="41088" y="21431"/>
                  <a:pt x="37505" y="25014"/>
                  <a:pt x="37505" y="29468"/>
                </a:cubicBezTo>
                <a:cubicBezTo>
                  <a:pt x="37505" y="33922"/>
                  <a:pt x="41088" y="37505"/>
                  <a:pt x="45541" y="37505"/>
                </a:cubicBezTo>
                <a:lnTo>
                  <a:pt x="83046" y="37505"/>
                </a:lnTo>
                <a:close/>
                <a:moveTo>
                  <a:pt x="42863" y="85725"/>
                </a:moveTo>
                <a:cubicBezTo>
                  <a:pt x="42863" y="79811"/>
                  <a:pt x="38061" y="75009"/>
                  <a:pt x="32147" y="75009"/>
                </a:cubicBezTo>
                <a:cubicBezTo>
                  <a:pt x="26233" y="75009"/>
                  <a:pt x="21431" y="79811"/>
                  <a:pt x="21431" y="85725"/>
                </a:cubicBezTo>
                <a:cubicBezTo>
                  <a:pt x="21431" y="91639"/>
                  <a:pt x="26233" y="96441"/>
                  <a:pt x="32147" y="96441"/>
                </a:cubicBezTo>
                <a:cubicBezTo>
                  <a:pt x="38061" y="96441"/>
                  <a:pt x="42863" y="91639"/>
                  <a:pt x="42863" y="85725"/>
                </a:cubicBezTo>
                <a:close/>
                <a:moveTo>
                  <a:pt x="53578" y="85725"/>
                </a:moveTo>
                <a:cubicBezTo>
                  <a:pt x="53578" y="90179"/>
                  <a:pt x="57161" y="93762"/>
                  <a:pt x="61615" y="93762"/>
                </a:cubicBezTo>
                <a:lnTo>
                  <a:pt x="99120" y="93762"/>
                </a:lnTo>
                <a:cubicBezTo>
                  <a:pt x="103573" y="93762"/>
                  <a:pt x="107156" y="90179"/>
                  <a:pt x="107156" y="85725"/>
                </a:cubicBezTo>
                <a:cubicBezTo>
                  <a:pt x="107156" y="81271"/>
                  <a:pt x="103573" y="77688"/>
                  <a:pt x="99120" y="77688"/>
                </a:cubicBezTo>
                <a:lnTo>
                  <a:pt x="61615" y="77688"/>
                </a:lnTo>
                <a:cubicBezTo>
                  <a:pt x="57161" y="77688"/>
                  <a:pt x="53578" y="81271"/>
                  <a:pt x="53578" y="85725"/>
                </a:cubicBezTo>
                <a:close/>
                <a:moveTo>
                  <a:pt x="53578" y="128588"/>
                </a:moveTo>
                <a:cubicBezTo>
                  <a:pt x="53578" y="133041"/>
                  <a:pt x="57161" y="136624"/>
                  <a:pt x="61615" y="136624"/>
                </a:cubicBezTo>
                <a:lnTo>
                  <a:pt x="99120" y="136624"/>
                </a:lnTo>
                <a:cubicBezTo>
                  <a:pt x="103573" y="136624"/>
                  <a:pt x="107156" y="133041"/>
                  <a:pt x="107156" y="128588"/>
                </a:cubicBezTo>
                <a:cubicBezTo>
                  <a:pt x="107156" y="124134"/>
                  <a:pt x="103573" y="120551"/>
                  <a:pt x="99120" y="120551"/>
                </a:cubicBezTo>
                <a:lnTo>
                  <a:pt x="61615" y="120551"/>
                </a:lnTo>
                <a:cubicBezTo>
                  <a:pt x="57161" y="120551"/>
                  <a:pt x="53578" y="124134"/>
                  <a:pt x="53578" y="128588"/>
                </a:cubicBezTo>
                <a:close/>
                <a:moveTo>
                  <a:pt x="32147" y="139303"/>
                </a:moveTo>
                <a:cubicBezTo>
                  <a:pt x="38061" y="139303"/>
                  <a:pt x="42863" y="134502"/>
                  <a:pt x="42863" y="128588"/>
                </a:cubicBezTo>
                <a:cubicBezTo>
                  <a:pt x="42863" y="122673"/>
                  <a:pt x="38061" y="117872"/>
                  <a:pt x="32147" y="117872"/>
                </a:cubicBezTo>
                <a:cubicBezTo>
                  <a:pt x="26233" y="117872"/>
                  <a:pt x="21431" y="122673"/>
                  <a:pt x="21431" y="128588"/>
                </a:cubicBezTo>
                <a:cubicBezTo>
                  <a:pt x="21431" y="134502"/>
                  <a:pt x="26233" y="139303"/>
                  <a:pt x="32147" y="139303"/>
                </a:cubicBezTo>
                <a:close/>
              </a:path>
            </a:pathLst>
          </a:custGeom>
          <a:solidFill>
            <a:srgbClr val="10B981"/>
          </a:solidFill>
          <a:ln/>
        </p:spPr>
      </p:sp>
      <p:sp>
        <p:nvSpPr>
          <p:cNvPr id="51" name="Text 49"/>
          <p:cNvSpPr/>
          <p:nvPr/>
        </p:nvSpPr>
        <p:spPr>
          <a:xfrm>
            <a:off x="7740015" y="3886200"/>
            <a:ext cx="3962400" cy="266700"/>
          </a:xfrm>
          <a:prstGeom prst="rect">
            <a:avLst/>
          </a:prstGeom>
          <a:noFill/>
          <a:ln/>
        </p:spPr>
        <p:txBody>
          <a:bodyPr wrap="square" lIns="0" tIns="0" rIns="0" bIns="0" rtlCol="0" anchor="ctr"/>
          <a:lstStyle/>
          <a:p>
            <a:pPr>
              <a:lnSpc>
                <a:spcPct val="130000"/>
              </a:lnSpc>
            </a:pPr>
            <a:r>
              <a:rPr lang="en-US" sz="1350" b="1" dirty="0">
                <a:solidFill>
                  <a:srgbClr val="1E3A5F"/>
                </a:solidFill>
                <a:latin typeface="Liter" pitchFamily="34" charset="0"/>
                <a:ea typeface="Liter" pitchFamily="34" charset="-122"/>
                <a:cs typeface="Liter" pitchFamily="34" charset="-120"/>
              </a:rPr>
              <a:t>Key Issues Summary</a:t>
            </a:r>
            <a:endParaRPr lang="en-US" sz="1600" dirty="0"/>
          </a:p>
        </p:txBody>
      </p:sp>
      <p:sp>
        <p:nvSpPr>
          <p:cNvPr id="52" name="Shape 50"/>
          <p:cNvSpPr/>
          <p:nvPr/>
        </p:nvSpPr>
        <p:spPr>
          <a:xfrm>
            <a:off x="7520940" y="4305300"/>
            <a:ext cx="4095750" cy="457200"/>
          </a:xfrm>
          <a:custGeom>
            <a:avLst/>
            <a:gdLst/>
            <a:ahLst/>
            <a:cxnLst/>
            <a:rect l="l" t="t" r="r" b="b"/>
            <a:pathLst>
              <a:path w="4095750" h="457200">
                <a:moveTo>
                  <a:pt x="76202" y="0"/>
                </a:moveTo>
                <a:lnTo>
                  <a:pt x="4019548" y="0"/>
                </a:lnTo>
                <a:cubicBezTo>
                  <a:pt x="4061633" y="0"/>
                  <a:pt x="4095750" y="34117"/>
                  <a:pt x="4095750" y="76202"/>
                </a:cubicBezTo>
                <a:lnTo>
                  <a:pt x="4095750" y="380998"/>
                </a:lnTo>
                <a:cubicBezTo>
                  <a:pt x="4095750" y="423083"/>
                  <a:pt x="4061633" y="457200"/>
                  <a:pt x="4019548" y="457200"/>
                </a:cubicBezTo>
                <a:lnTo>
                  <a:pt x="76202" y="457200"/>
                </a:lnTo>
                <a:cubicBezTo>
                  <a:pt x="34145" y="457200"/>
                  <a:pt x="0" y="423055"/>
                  <a:pt x="0" y="380998"/>
                </a:cubicBezTo>
                <a:lnTo>
                  <a:pt x="0" y="76202"/>
                </a:lnTo>
                <a:cubicBezTo>
                  <a:pt x="0" y="34145"/>
                  <a:pt x="34145" y="0"/>
                  <a:pt x="76202" y="0"/>
                </a:cubicBezTo>
                <a:close/>
              </a:path>
            </a:pathLst>
          </a:custGeom>
          <a:solidFill>
            <a:srgbClr val="F8FAFC"/>
          </a:solidFill>
          <a:ln/>
        </p:spPr>
      </p:sp>
      <p:sp>
        <p:nvSpPr>
          <p:cNvPr id="53" name="Shape 51"/>
          <p:cNvSpPr/>
          <p:nvPr/>
        </p:nvSpPr>
        <p:spPr>
          <a:xfrm>
            <a:off x="7635240" y="4419600"/>
            <a:ext cx="228600" cy="228600"/>
          </a:xfrm>
          <a:custGeom>
            <a:avLst/>
            <a:gdLst/>
            <a:ahLst/>
            <a:cxnLst/>
            <a:rect l="l" t="t" r="r" b="b"/>
            <a:pathLst>
              <a:path w="228600" h="228600">
                <a:moveTo>
                  <a:pt x="114300" y="0"/>
                </a:moveTo>
                <a:lnTo>
                  <a:pt x="114300" y="0"/>
                </a:lnTo>
                <a:cubicBezTo>
                  <a:pt x="177384" y="0"/>
                  <a:pt x="228600" y="51216"/>
                  <a:pt x="228600" y="114300"/>
                </a:cubicBezTo>
                <a:lnTo>
                  <a:pt x="228600" y="114300"/>
                </a:lnTo>
                <a:cubicBezTo>
                  <a:pt x="228600" y="177384"/>
                  <a:pt x="177384" y="228600"/>
                  <a:pt x="114300" y="228600"/>
                </a:cubicBezTo>
                <a:lnTo>
                  <a:pt x="114300" y="228600"/>
                </a:lnTo>
                <a:cubicBezTo>
                  <a:pt x="51216" y="228600"/>
                  <a:pt x="0" y="177384"/>
                  <a:pt x="0" y="114300"/>
                </a:cubicBezTo>
                <a:lnTo>
                  <a:pt x="0" y="114300"/>
                </a:lnTo>
                <a:cubicBezTo>
                  <a:pt x="0" y="51216"/>
                  <a:pt x="51216" y="0"/>
                  <a:pt x="114300" y="0"/>
                </a:cubicBezTo>
                <a:close/>
              </a:path>
            </a:pathLst>
          </a:custGeom>
          <a:solidFill>
            <a:srgbClr val="FFE2E2"/>
          </a:solidFill>
          <a:ln/>
        </p:spPr>
      </p:sp>
      <p:sp>
        <p:nvSpPr>
          <p:cNvPr id="54" name="Text 52"/>
          <p:cNvSpPr/>
          <p:nvPr/>
        </p:nvSpPr>
        <p:spPr>
          <a:xfrm>
            <a:off x="7606665" y="4419600"/>
            <a:ext cx="285750" cy="228600"/>
          </a:xfrm>
          <a:prstGeom prst="rect">
            <a:avLst/>
          </a:prstGeom>
          <a:noFill/>
          <a:ln/>
        </p:spPr>
        <p:txBody>
          <a:bodyPr wrap="square" lIns="0" tIns="0" rIns="0" bIns="0" rtlCol="0" anchor="ctr"/>
          <a:lstStyle/>
          <a:p>
            <a:pPr algn="ctr">
              <a:lnSpc>
                <a:spcPct val="110000"/>
              </a:lnSpc>
            </a:pPr>
            <a:r>
              <a:rPr lang="en-US" sz="900" b="1" dirty="0">
                <a:solidFill>
                  <a:srgbClr val="E7000B"/>
                </a:solidFill>
                <a:latin typeface="Quattrocento Sans" pitchFamily="34" charset="0"/>
                <a:ea typeface="Quattrocento Sans" pitchFamily="34" charset="-122"/>
                <a:cs typeface="Quattrocento Sans" pitchFamily="34" charset="-120"/>
              </a:rPr>
              <a:t>1</a:t>
            </a:r>
            <a:endParaRPr lang="en-US" sz="1600" dirty="0"/>
          </a:p>
        </p:txBody>
      </p:sp>
      <p:sp>
        <p:nvSpPr>
          <p:cNvPr id="55" name="Text 53"/>
          <p:cNvSpPr/>
          <p:nvPr/>
        </p:nvSpPr>
        <p:spPr>
          <a:xfrm>
            <a:off x="7978140" y="4419600"/>
            <a:ext cx="3095625" cy="190500"/>
          </a:xfrm>
          <a:prstGeom prst="rect">
            <a:avLst/>
          </a:prstGeom>
          <a:noFill/>
          <a:ln/>
        </p:spPr>
        <p:txBody>
          <a:bodyPr wrap="square" lIns="0" tIns="0" rIns="0" bIns="0" rtlCol="0" anchor="ctr"/>
          <a:lstStyle/>
          <a:p>
            <a:pPr>
              <a:lnSpc>
                <a:spcPct val="120000"/>
              </a:lnSpc>
            </a:pPr>
            <a:r>
              <a:rPr lang="en-US" sz="1050" dirty="0">
                <a:solidFill>
                  <a:srgbClr val="1E293B"/>
                </a:solidFill>
                <a:latin typeface="Quattrocento Sans" pitchFamily="34" charset="0"/>
                <a:ea typeface="Quattrocento Sans" pitchFamily="34" charset="-122"/>
                <a:cs typeface="Quattrocento Sans" pitchFamily="34" charset="-120"/>
              </a:rPr>
              <a:t>Manual systems are slow and prone to human errors</a:t>
            </a:r>
            <a:endParaRPr lang="en-US" sz="1600" dirty="0"/>
          </a:p>
        </p:txBody>
      </p:sp>
      <p:sp>
        <p:nvSpPr>
          <p:cNvPr id="56" name="Shape 54"/>
          <p:cNvSpPr/>
          <p:nvPr/>
        </p:nvSpPr>
        <p:spPr>
          <a:xfrm>
            <a:off x="7520940" y="4876800"/>
            <a:ext cx="4095750" cy="457200"/>
          </a:xfrm>
          <a:custGeom>
            <a:avLst/>
            <a:gdLst/>
            <a:ahLst/>
            <a:cxnLst/>
            <a:rect l="l" t="t" r="r" b="b"/>
            <a:pathLst>
              <a:path w="4095750" h="457200">
                <a:moveTo>
                  <a:pt x="76202" y="0"/>
                </a:moveTo>
                <a:lnTo>
                  <a:pt x="4019548" y="0"/>
                </a:lnTo>
                <a:cubicBezTo>
                  <a:pt x="4061633" y="0"/>
                  <a:pt x="4095750" y="34117"/>
                  <a:pt x="4095750" y="76202"/>
                </a:cubicBezTo>
                <a:lnTo>
                  <a:pt x="4095750" y="380998"/>
                </a:lnTo>
                <a:cubicBezTo>
                  <a:pt x="4095750" y="423083"/>
                  <a:pt x="4061633" y="457200"/>
                  <a:pt x="4019548" y="457200"/>
                </a:cubicBezTo>
                <a:lnTo>
                  <a:pt x="76202" y="457200"/>
                </a:lnTo>
                <a:cubicBezTo>
                  <a:pt x="34145" y="457200"/>
                  <a:pt x="0" y="423055"/>
                  <a:pt x="0" y="380998"/>
                </a:cubicBezTo>
                <a:lnTo>
                  <a:pt x="0" y="76202"/>
                </a:lnTo>
                <a:cubicBezTo>
                  <a:pt x="0" y="34145"/>
                  <a:pt x="34145" y="0"/>
                  <a:pt x="76202" y="0"/>
                </a:cubicBezTo>
                <a:close/>
              </a:path>
            </a:pathLst>
          </a:custGeom>
          <a:solidFill>
            <a:srgbClr val="F8FAFC"/>
          </a:solidFill>
          <a:ln/>
        </p:spPr>
      </p:sp>
      <p:sp>
        <p:nvSpPr>
          <p:cNvPr id="57" name="Shape 55"/>
          <p:cNvSpPr/>
          <p:nvPr/>
        </p:nvSpPr>
        <p:spPr>
          <a:xfrm>
            <a:off x="7635240" y="4991100"/>
            <a:ext cx="228600" cy="228600"/>
          </a:xfrm>
          <a:custGeom>
            <a:avLst/>
            <a:gdLst/>
            <a:ahLst/>
            <a:cxnLst/>
            <a:rect l="l" t="t" r="r" b="b"/>
            <a:pathLst>
              <a:path w="228600" h="228600">
                <a:moveTo>
                  <a:pt x="114300" y="0"/>
                </a:moveTo>
                <a:lnTo>
                  <a:pt x="114300" y="0"/>
                </a:lnTo>
                <a:cubicBezTo>
                  <a:pt x="177384" y="0"/>
                  <a:pt x="228600" y="51216"/>
                  <a:pt x="228600" y="114300"/>
                </a:cubicBezTo>
                <a:lnTo>
                  <a:pt x="228600" y="114300"/>
                </a:lnTo>
                <a:cubicBezTo>
                  <a:pt x="228600" y="177384"/>
                  <a:pt x="177384" y="228600"/>
                  <a:pt x="114300" y="228600"/>
                </a:cubicBezTo>
                <a:lnTo>
                  <a:pt x="114300" y="228600"/>
                </a:lnTo>
                <a:cubicBezTo>
                  <a:pt x="51216" y="228600"/>
                  <a:pt x="0" y="177384"/>
                  <a:pt x="0" y="114300"/>
                </a:cubicBezTo>
                <a:lnTo>
                  <a:pt x="0" y="114300"/>
                </a:lnTo>
                <a:cubicBezTo>
                  <a:pt x="0" y="51216"/>
                  <a:pt x="51216" y="0"/>
                  <a:pt x="114300" y="0"/>
                </a:cubicBezTo>
                <a:close/>
              </a:path>
            </a:pathLst>
          </a:custGeom>
          <a:solidFill>
            <a:srgbClr val="FFE2E2"/>
          </a:solidFill>
          <a:ln/>
        </p:spPr>
      </p:sp>
      <p:sp>
        <p:nvSpPr>
          <p:cNvPr id="58" name="Text 56"/>
          <p:cNvSpPr/>
          <p:nvPr/>
        </p:nvSpPr>
        <p:spPr>
          <a:xfrm>
            <a:off x="7606665" y="4991100"/>
            <a:ext cx="285750" cy="228600"/>
          </a:xfrm>
          <a:prstGeom prst="rect">
            <a:avLst/>
          </a:prstGeom>
          <a:noFill/>
          <a:ln/>
        </p:spPr>
        <p:txBody>
          <a:bodyPr wrap="square" lIns="0" tIns="0" rIns="0" bIns="0" rtlCol="0" anchor="ctr"/>
          <a:lstStyle/>
          <a:p>
            <a:pPr algn="ctr">
              <a:lnSpc>
                <a:spcPct val="110000"/>
              </a:lnSpc>
            </a:pPr>
            <a:r>
              <a:rPr lang="en-US" sz="900" b="1" dirty="0">
                <a:solidFill>
                  <a:srgbClr val="E7000B"/>
                </a:solidFill>
                <a:latin typeface="Quattrocento Sans" pitchFamily="34" charset="0"/>
                <a:ea typeface="Quattrocento Sans" pitchFamily="34" charset="-122"/>
                <a:cs typeface="Quattrocento Sans" pitchFamily="34" charset="-120"/>
              </a:rPr>
              <a:t>2</a:t>
            </a:r>
            <a:endParaRPr lang="en-US" sz="1600" dirty="0"/>
          </a:p>
        </p:txBody>
      </p:sp>
      <p:sp>
        <p:nvSpPr>
          <p:cNvPr id="59" name="Text 57"/>
          <p:cNvSpPr/>
          <p:nvPr/>
        </p:nvSpPr>
        <p:spPr>
          <a:xfrm>
            <a:off x="7978140" y="4991100"/>
            <a:ext cx="2771775" cy="190500"/>
          </a:xfrm>
          <a:prstGeom prst="rect">
            <a:avLst/>
          </a:prstGeom>
          <a:noFill/>
          <a:ln/>
        </p:spPr>
        <p:txBody>
          <a:bodyPr wrap="square" lIns="0" tIns="0" rIns="0" bIns="0" rtlCol="0" anchor="ctr"/>
          <a:lstStyle/>
          <a:p>
            <a:pPr>
              <a:lnSpc>
                <a:spcPct val="120000"/>
              </a:lnSpc>
            </a:pPr>
            <a:r>
              <a:rPr lang="en-US" sz="1050" dirty="0">
                <a:solidFill>
                  <a:srgbClr val="1E293B"/>
                </a:solidFill>
                <a:latin typeface="Quattrocento Sans" pitchFamily="34" charset="0"/>
                <a:ea typeface="Quattrocento Sans" pitchFamily="34" charset="-122"/>
                <a:cs typeface="Quattrocento Sans" pitchFamily="34" charset="-120"/>
              </a:rPr>
              <a:t>No centralized database for patient information</a:t>
            </a:r>
            <a:endParaRPr lang="en-US" sz="1600" dirty="0"/>
          </a:p>
        </p:txBody>
      </p:sp>
      <p:sp>
        <p:nvSpPr>
          <p:cNvPr id="60" name="Shape 58"/>
          <p:cNvSpPr/>
          <p:nvPr/>
        </p:nvSpPr>
        <p:spPr>
          <a:xfrm>
            <a:off x="7520940" y="5448300"/>
            <a:ext cx="4095750" cy="457200"/>
          </a:xfrm>
          <a:custGeom>
            <a:avLst/>
            <a:gdLst/>
            <a:ahLst/>
            <a:cxnLst/>
            <a:rect l="l" t="t" r="r" b="b"/>
            <a:pathLst>
              <a:path w="4095750" h="457200">
                <a:moveTo>
                  <a:pt x="76202" y="0"/>
                </a:moveTo>
                <a:lnTo>
                  <a:pt x="4019548" y="0"/>
                </a:lnTo>
                <a:cubicBezTo>
                  <a:pt x="4061633" y="0"/>
                  <a:pt x="4095750" y="34117"/>
                  <a:pt x="4095750" y="76202"/>
                </a:cubicBezTo>
                <a:lnTo>
                  <a:pt x="4095750" y="380998"/>
                </a:lnTo>
                <a:cubicBezTo>
                  <a:pt x="4095750" y="423083"/>
                  <a:pt x="4061633" y="457200"/>
                  <a:pt x="4019548" y="457200"/>
                </a:cubicBezTo>
                <a:lnTo>
                  <a:pt x="76202" y="457200"/>
                </a:lnTo>
                <a:cubicBezTo>
                  <a:pt x="34145" y="457200"/>
                  <a:pt x="0" y="423055"/>
                  <a:pt x="0" y="380998"/>
                </a:cubicBezTo>
                <a:lnTo>
                  <a:pt x="0" y="76202"/>
                </a:lnTo>
                <a:cubicBezTo>
                  <a:pt x="0" y="34145"/>
                  <a:pt x="34145" y="0"/>
                  <a:pt x="76202" y="0"/>
                </a:cubicBezTo>
                <a:close/>
              </a:path>
            </a:pathLst>
          </a:custGeom>
          <a:solidFill>
            <a:srgbClr val="F8FAFC"/>
          </a:solidFill>
          <a:ln/>
        </p:spPr>
      </p:sp>
      <p:sp>
        <p:nvSpPr>
          <p:cNvPr id="61" name="Shape 59"/>
          <p:cNvSpPr/>
          <p:nvPr/>
        </p:nvSpPr>
        <p:spPr>
          <a:xfrm>
            <a:off x="7635240" y="5562600"/>
            <a:ext cx="228600" cy="228600"/>
          </a:xfrm>
          <a:custGeom>
            <a:avLst/>
            <a:gdLst/>
            <a:ahLst/>
            <a:cxnLst/>
            <a:rect l="l" t="t" r="r" b="b"/>
            <a:pathLst>
              <a:path w="228600" h="228600">
                <a:moveTo>
                  <a:pt x="114300" y="0"/>
                </a:moveTo>
                <a:lnTo>
                  <a:pt x="114300" y="0"/>
                </a:lnTo>
                <a:cubicBezTo>
                  <a:pt x="177384" y="0"/>
                  <a:pt x="228600" y="51216"/>
                  <a:pt x="228600" y="114300"/>
                </a:cubicBezTo>
                <a:lnTo>
                  <a:pt x="228600" y="114300"/>
                </a:lnTo>
                <a:cubicBezTo>
                  <a:pt x="228600" y="177384"/>
                  <a:pt x="177384" y="228600"/>
                  <a:pt x="114300" y="228600"/>
                </a:cubicBezTo>
                <a:lnTo>
                  <a:pt x="114300" y="228600"/>
                </a:lnTo>
                <a:cubicBezTo>
                  <a:pt x="51216" y="228600"/>
                  <a:pt x="0" y="177384"/>
                  <a:pt x="0" y="114300"/>
                </a:cubicBezTo>
                <a:lnTo>
                  <a:pt x="0" y="114300"/>
                </a:lnTo>
                <a:cubicBezTo>
                  <a:pt x="0" y="51216"/>
                  <a:pt x="51216" y="0"/>
                  <a:pt x="114300" y="0"/>
                </a:cubicBezTo>
                <a:close/>
              </a:path>
            </a:pathLst>
          </a:custGeom>
          <a:solidFill>
            <a:srgbClr val="FFE2E2"/>
          </a:solidFill>
          <a:ln/>
        </p:spPr>
      </p:sp>
      <p:sp>
        <p:nvSpPr>
          <p:cNvPr id="62" name="Text 60"/>
          <p:cNvSpPr/>
          <p:nvPr/>
        </p:nvSpPr>
        <p:spPr>
          <a:xfrm>
            <a:off x="7606665" y="5562600"/>
            <a:ext cx="285750" cy="228600"/>
          </a:xfrm>
          <a:prstGeom prst="rect">
            <a:avLst/>
          </a:prstGeom>
          <a:noFill/>
          <a:ln/>
        </p:spPr>
        <p:txBody>
          <a:bodyPr wrap="square" lIns="0" tIns="0" rIns="0" bIns="0" rtlCol="0" anchor="ctr"/>
          <a:lstStyle/>
          <a:p>
            <a:pPr algn="ctr">
              <a:lnSpc>
                <a:spcPct val="110000"/>
              </a:lnSpc>
            </a:pPr>
            <a:r>
              <a:rPr lang="en-US" sz="900" b="1" dirty="0">
                <a:solidFill>
                  <a:srgbClr val="E7000B"/>
                </a:solidFill>
                <a:latin typeface="Quattrocento Sans" pitchFamily="34" charset="0"/>
                <a:ea typeface="Quattrocento Sans" pitchFamily="34" charset="-122"/>
                <a:cs typeface="Quattrocento Sans" pitchFamily="34" charset="-120"/>
              </a:rPr>
              <a:t>3</a:t>
            </a:r>
            <a:endParaRPr lang="en-US" sz="1600" dirty="0"/>
          </a:p>
        </p:txBody>
      </p:sp>
      <p:sp>
        <p:nvSpPr>
          <p:cNvPr id="63" name="Text 61"/>
          <p:cNvSpPr/>
          <p:nvPr/>
        </p:nvSpPr>
        <p:spPr>
          <a:xfrm>
            <a:off x="7978140" y="5562600"/>
            <a:ext cx="2924175" cy="190500"/>
          </a:xfrm>
          <a:prstGeom prst="rect">
            <a:avLst/>
          </a:prstGeom>
          <a:noFill/>
          <a:ln/>
        </p:spPr>
        <p:txBody>
          <a:bodyPr wrap="square" lIns="0" tIns="0" rIns="0" bIns="0" rtlCol="0" anchor="ctr"/>
          <a:lstStyle/>
          <a:p>
            <a:pPr>
              <a:lnSpc>
                <a:spcPct val="120000"/>
              </a:lnSpc>
            </a:pPr>
            <a:r>
              <a:rPr lang="en-US" sz="1050" dirty="0">
                <a:solidFill>
                  <a:srgbClr val="1E293B"/>
                </a:solidFill>
                <a:latin typeface="Quattrocento Sans" pitchFamily="34" charset="0"/>
                <a:ea typeface="Quattrocento Sans" pitchFamily="34" charset="-122"/>
                <a:cs typeface="Quattrocento Sans" pitchFamily="34" charset="-120"/>
              </a:rPr>
              <a:t>Difficulty in managing doctor schedules efficiently</a:t>
            </a:r>
            <a:endParaRPr lang="en-US" sz="1600" dirty="0"/>
          </a:p>
        </p:txBody>
      </p:sp>
      <p:sp>
        <p:nvSpPr>
          <p:cNvPr id="64" name="Shape 62"/>
          <p:cNvSpPr/>
          <p:nvPr/>
        </p:nvSpPr>
        <p:spPr>
          <a:xfrm>
            <a:off x="7520940" y="6019800"/>
            <a:ext cx="4095750" cy="457200"/>
          </a:xfrm>
          <a:custGeom>
            <a:avLst/>
            <a:gdLst/>
            <a:ahLst/>
            <a:cxnLst/>
            <a:rect l="l" t="t" r="r" b="b"/>
            <a:pathLst>
              <a:path w="4095750" h="457200">
                <a:moveTo>
                  <a:pt x="76202" y="0"/>
                </a:moveTo>
                <a:lnTo>
                  <a:pt x="4019548" y="0"/>
                </a:lnTo>
                <a:cubicBezTo>
                  <a:pt x="4061633" y="0"/>
                  <a:pt x="4095750" y="34117"/>
                  <a:pt x="4095750" y="76202"/>
                </a:cubicBezTo>
                <a:lnTo>
                  <a:pt x="4095750" y="380998"/>
                </a:lnTo>
                <a:cubicBezTo>
                  <a:pt x="4095750" y="423083"/>
                  <a:pt x="4061633" y="457200"/>
                  <a:pt x="4019548" y="457200"/>
                </a:cubicBezTo>
                <a:lnTo>
                  <a:pt x="76202" y="457200"/>
                </a:lnTo>
                <a:cubicBezTo>
                  <a:pt x="34145" y="457200"/>
                  <a:pt x="0" y="423055"/>
                  <a:pt x="0" y="380998"/>
                </a:cubicBezTo>
                <a:lnTo>
                  <a:pt x="0" y="76202"/>
                </a:lnTo>
                <a:cubicBezTo>
                  <a:pt x="0" y="34145"/>
                  <a:pt x="34145" y="0"/>
                  <a:pt x="76202" y="0"/>
                </a:cubicBezTo>
                <a:close/>
              </a:path>
            </a:pathLst>
          </a:custGeom>
          <a:solidFill>
            <a:srgbClr val="F8FAFC"/>
          </a:solidFill>
          <a:ln/>
        </p:spPr>
      </p:sp>
      <p:sp>
        <p:nvSpPr>
          <p:cNvPr id="65" name="Shape 63"/>
          <p:cNvSpPr/>
          <p:nvPr/>
        </p:nvSpPr>
        <p:spPr>
          <a:xfrm>
            <a:off x="7635240" y="6134100"/>
            <a:ext cx="228600" cy="228600"/>
          </a:xfrm>
          <a:custGeom>
            <a:avLst/>
            <a:gdLst/>
            <a:ahLst/>
            <a:cxnLst/>
            <a:rect l="l" t="t" r="r" b="b"/>
            <a:pathLst>
              <a:path w="228600" h="228600">
                <a:moveTo>
                  <a:pt x="114300" y="0"/>
                </a:moveTo>
                <a:lnTo>
                  <a:pt x="114300" y="0"/>
                </a:lnTo>
                <a:cubicBezTo>
                  <a:pt x="177384" y="0"/>
                  <a:pt x="228600" y="51216"/>
                  <a:pt x="228600" y="114300"/>
                </a:cubicBezTo>
                <a:lnTo>
                  <a:pt x="228600" y="114300"/>
                </a:lnTo>
                <a:cubicBezTo>
                  <a:pt x="228600" y="177384"/>
                  <a:pt x="177384" y="228600"/>
                  <a:pt x="114300" y="228600"/>
                </a:cubicBezTo>
                <a:lnTo>
                  <a:pt x="114300" y="228600"/>
                </a:lnTo>
                <a:cubicBezTo>
                  <a:pt x="51216" y="228600"/>
                  <a:pt x="0" y="177384"/>
                  <a:pt x="0" y="114300"/>
                </a:cubicBezTo>
                <a:lnTo>
                  <a:pt x="0" y="114300"/>
                </a:lnTo>
                <a:cubicBezTo>
                  <a:pt x="0" y="51216"/>
                  <a:pt x="51216" y="0"/>
                  <a:pt x="114300" y="0"/>
                </a:cubicBezTo>
                <a:close/>
              </a:path>
            </a:pathLst>
          </a:custGeom>
          <a:solidFill>
            <a:srgbClr val="FFE2E2"/>
          </a:solidFill>
          <a:ln/>
        </p:spPr>
      </p:sp>
      <p:sp>
        <p:nvSpPr>
          <p:cNvPr id="66" name="Text 64"/>
          <p:cNvSpPr/>
          <p:nvPr/>
        </p:nvSpPr>
        <p:spPr>
          <a:xfrm>
            <a:off x="7606665" y="6134100"/>
            <a:ext cx="285750" cy="228600"/>
          </a:xfrm>
          <a:prstGeom prst="rect">
            <a:avLst/>
          </a:prstGeom>
          <a:noFill/>
          <a:ln/>
        </p:spPr>
        <p:txBody>
          <a:bodyPr wrap="square" lIns="0" tIns="0" rIns="0" bIns="0" rtlCol="0" anchor="ctr"/>
          <a:lstStyle/>
          <a:p>
            <a:pPr algn="ctr">
              <a:lnSpc>
                <a:spcPct val="110000"/>
              </a:lnSpc>
            </a:pPr>
            <a:r>
              <a:rPr lang="en-US" sz="900" b="1" dirty="0">
                <a:solidFill>
                  <a:srgbClr val="E7000B"/>
                </a:solidFill>
                <a:latin typeface="Quattrocento Sans" pitchFamily="34" charset="0"/>
                <a:ea typeface="Quattrocento Sans" pitchFamily="34" charset="-122"/>
                <a:cs typeface="Quattrocento Sans" pitchFamily="34" charset="-120"/>
              </a:rPr>
              <a:t>4</a:t>
            </a:r>
            <a:endParaRPr lang="en-US" sz="1600" dirty="0"/>
          </a:p>
        </p:txBody>
      </p:sp>
      <p:sp>
        <p:nvSpPr>
          <p:cNvPr id="67" name="Text 65"/>
          <p:cNvSpPr/>
          <p:nvPr/>
        </p:nvSpPr>
        <p:spPr>
          <a:xfrm>
            <a:off x="7978140" y="6134100"/>
            <a:ext cx="2914650" cy="190500"/>
          </a:xfrm>
          <a:prstGeom prst="rect">
            <a:avLst/>
          </a:prstGeom>
          <a:noFill/>
          <a:ln/>
        </p:spPr>
        <p:txBody>
          <a:bodyPr wrap="square" lIns="0" tIns="0" rIns="0" bIns="0" rtlCol="0" anchor="ctr"/>
          <a:lstStyle/>
          <a:p>
            <a:pPr>
              <a:lnSpc>
                <a:spcPct val="120000"/>
              </a:lnSpc>
            </a:pPr>
            <a:r>
              <a:rPr lang="en-US" sz="1050" dirty="0">
                <a:solidFill>
                  <a:srgbClr val="1E293B"/>
                </a:solidFill>
                <a:latin typeface="Quattrocento Sans" pitchFamily="34" charset="0"/>
                <a:ea typeface="Quattrocento Sans" pitchFamily="34" charset="-122"/>
                <a:cs typeface="Quattrocento Sans" pitchFamily="34" charset="-120"/>
              </a:rPr>
              <a:t>Lack of audit trail for payments and appointments</a:t>
            </a:r>
            <a:endParaRPr lang="en-US" sz="1600" dirty="0"/>
          </a:p>
        </p:txBody>
      </p:sp>
      <p:pic>
        <p:nvPicPr>
          <p:cNvPr id="68" name="Picture 67">
            <a:extLst>
              <a:ext uri="{FF2B5EF4-FFF2-40B4-BE49-F238E27FC236}">
                <a16:creationId xmlns:a16="http://schemas.microsoft.com/office/drawing/2014/main" id="{12164FDE-BD72-486C-ABD0-182219693FCC}"/>
              </a:ext>
            </a:extLst>
          </p:cNvPr>
          <p:cNvPicPr>
            <a:picLocks noChangeAspect="1"/>
          </p:cNvPicPr>
          <p:nvPr/>
        </p:nvPicPr>
        <p:blipFill>
          <a:blip r:embed="rId3"/>
          <a:stretch>
            <a:fillRect/>
          </a:stretch>
        </p:blipFill>
        <p:spPr>
          <a:xfrm>
            <a:off x="11073765" y="269670"/>
            <a:ext cx="734451" cy="984660"/>
          </a:xfrm>
          <a:prstGeom prst="rect">
            <a:avLst/>
          </a:prstGeom>
        </p:spPr>
      </p:pic>
      <p:sp>
        <p:nvSpPr>
          <p:cNvPr id="69" name="TextBox 68">
            <a:extLst>
              <a:ext uri="{FF2B5EF4-FFF2-40B4-BE49-F238E27FC236}">
                <a16:creationId xmlns:a16="http://schemas.microsoft.com/office/drawing/2014/main" id="{0585F722-2F96-4EA8-ADF2-4DC0770BEDE8}"/>
              </a:ext>
            </a:extLst>
          </p:cNvPr>
          <p:cNvSpPr txBox="1"/>
          <p:nvPr/>
        </p:nvSpPr>
        <p:spPr>
          <a:xfrm>
            <a:off x="11740436" y="6473785"/>
            <a:ext cx="457200"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04</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kern="0" spc="53" dirty="0">
                <a:solidFill>
                  <a:srgbClr val="3B82F6"/>
                </a:solidFill>
                <a:latin typeface="Quattrocento Sans" pitchFamily="34" charset="0"/>
                <a:ea typeface="Quattrocento Sans" pitchFamily="34" charset="-122"/>
                <a:cs typeface="Quattrocento Sans" pitchFamily="34" charset="-120"/>
              </a:rPr>
              <a:t>PROJECT FOUNDATION</a:t>
            </a:r>
            <a:endParaRPr lang="en-US" sz="1600" dirty="0"/>
          </a:p>
        </p:txBody>
      </p:sp>
      <p:sp>
        <p:nvSpPr>
          <p:cNvPr id="3" name="Text 1"/>
          <p:cNvSpPr/>
          <p:nvPr/>
        </p:nvSpPr>
        <p:spPr>
          <a:xfrm>
            <a:off x="381000" y="647700"/>
            <a:ext cx="11601450" cy="381000"/>
          </a:xfrm>
          <a:prstGeom prst="rect">
            <a:avLst/>
          </a:prstGeom>
          <a:noFill/>
          <a:ln/>
        </p:spPr>
        <p:txBody>
          <a:bodyPr wrap="square" lIns="0" tIns="0" rIns="0" bIns="0" rtlCol="0" anchor="ctr"/>
          <a:lstStyle/>
          <a:p>
            <a:pPr>
              <a:lnSpc>
                <a:spcPct val="90000"/>
              </a:lnSpc>
            </a:pPr>
            <a:r>
              <a:rPr lang="en-US" sz="2700" b="1" dirty="0">
                <a:solidFill>
                  <a:srgbClr val="1E3A5F"/>
                </a:solidFill>
                <a:latin typeface="Liter" pitchFamily="34" charset="0"/>
                <a:ea typeface="Liter" pitchFamily="34" charset="-122"/>
                <a:cs typeface="Liter" pitchFamily="34" charset="-120"/>
              </a:rPr>
              <a:t>Motivation &amp; Objectives</a:t>
            </a:r>
            <a:endParaRPr lang="en-US" sz="1600" dirty="0"/>
          </a:p>
        </p:txBody>
      </p:sp>
      <p:sp>
        <p:nvSpPr>
          <p:cNvPr id="4" name="Shape 2"/>
          <p:cNvSpPr/>
          <p:nvPr/>
        </p:nvSpPr>
        <p:spPr>
          <a:xfrm>
            <a:off x="381000" y="1143000"/>
            <a:ext cx="762000" cy="38100"/>
          </a:xfrm>
          <a:custGeom>
            <a:avLst/>
            <a:gdLst/>
            <a:ahLst/>
            <a:cxnLst/>
            <a:rect l="l" t="t" r="r" b="b"/>
            <a:pathLst>
              <a:path w="762000" h="38100">
                <a:moveTo>
                  <a:pt x="19050" y="0"/>
                </a:moveTo>
                <a:lnTo>
                  <a:pt x="742950" y="0"/>
                </a:lnTo>
                <a:cubicBezTo>
                  <a:pt x="753464" y="0"/>
                  <a:pt x="762000" y="8536"/>
                  <a:pt x="762000" y="19050"/>
                </a:cubicBezTo>
                <a:lnTo>
                  <a:pt x="762000" y="19050"/>
                </a:lnTo>
                <a:cubicBezTo>
                  <a:pt x="762000" y="29564"/>
                  <a:pt x="753464" y="38100"/>
                  <a:pt x="742950" y="38100"/>
                </a:cubicBezTo>
                <a:lnTo>
                  <a:pt x="19050" y="38100"/>
                </a:lnTo>
                <a:cubicBezTo>
                  <a:pt x="8536" y="38100"/>
                  <a:pt x="0" y="29564"/>
                  <a:pt x="0" y="19050"/>
                </a:cubicBezTo>
                <a:lnTo>
                  <a:pt x="0" y="19050"/>
                </a:lnTo>
                <a:cubicBezTo>
                  <a:pt x="0" y="8536"/>
                  <a:pt x="8536" y="0"/>
                  <a:pt x="19050" y="0"/>
                </a:cubicBezTo>
                <a:close/>
              </a:path>
            </a:pathLst>
          </a:custGeom>
          <a:solidFill>
            <a:srgbClr val="10B981"/>
          </a:solidFill>
          <a:ln/>
        </p:spPr>
      </p:sp>
      <p:sp>
        <p:nvSpPr>
          <p:cNvPr id="5" name="Shape 3"/>
          <p:cNvSpPr/>
          <p:nvPr/>
        </p:nvSpPr>
        <p:spPr>
          <a:xfrm>
            <a:off x="381000" y="1409700"/>
            <a:ext cx="5600700" cy="5067300"/>
          </a:xfrm>
          <a:custGeom>
            <a:avLst/>
            <a:gdLst/>
            <a:ahLst/>
            <a:cxnLst/>
            <a:rect l="l" t="t" r="r" b="b"/>
            <a:pathLst>
              <a:path w="5600700" h="5067300">
                <a:moveTo>
                  <a:pt x="114318" y="0"/>
                </a:moveTo>
                <a:lnTo>
                  <a:pt x="5486382" y="0"/>
                </a:lnTo>
                <a:cubicBezTo>
                  <a:pt x="5549518" y="0"/>
                  <a:pt x="5600700" y="51182"/>
                  <a:pt x="5600700" y="114318"/>
                </a:cubicBezTo>
                <a:lnTo>
                  <a:pt x="5600700" y="4952982"/>
                </a:lnTo>
                <a:cubicBezTo>
                  <a:pt x="5600700" y="5016118"/>
                  <a:pt x="5549518" y="5067300"/>
                  <a:pt x="5486382" y="5067300"/>
                </a:cubicBezTo>
                <a:lnTo>
                  <a:pt x="114318" y="5067300"/>
                </a:lnTo>
                <a:cubicBezTo>
                  <a:pt x="51182" y="5067300"/>
                  <a:pt x="0" y="5016118"/>
                  <a:pt x="0" y="4952982"/>
                </a:cubicBezTo>
                <a:lnTo>
                  <a:pt x="0" y="114318"/>
                </a:lnTo>
                <a:cubicBezTo>
                  <a:pt x="0" y="51224"/>
                  <a:pt x="51224" y="0"/>
                  <a:pt x="114318" y="0"/>
                </a:cubicBezTo>
                <a:close/>
              </a:path>
            </a:pathLst>
          </a:custGeom>
          <a:solidFill>
            <a:srgbClr val="FFFFFF"/>
          </a:solidFill>
          <a:ln/>
          <a:effectLst>
            <a:outerShdw blurRad="57150" dist="38100" dir="5400000" algn="bl" rotWithShape="0">
              <a:srgbClr val="000000">
                <a:alpha val="10196"/>
              </a:srgbClr>
            </a:outerShdw>
          </a:effectLst>
        </p:spPr>
      </p:sp>
      <p:sp>
        <p:nvSpPr>
          <p:cNvPr id="6" name="Shape 4"/>
          <p:cNvSpPr/>
          <p:nvPr/>
        </p:nvSpPr>
        <p:spPr>
          <a:xfrm>
            <a:off x="609600" y="1638300"/>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3B82F6">
              <a:alpha val="10196"/>
            </a:srgbClr>
          </a:solidFill>
          <a:ln/>
        </p:spPr>
      </p:sp>
      <p:sp>
        <p:nvSpPr>
          <p:cNvPr id="7" name="Shape 5"/>
          <p:cNvSpPr/>
          <p:nvPr/>
        </p:nvSpPr>
        <p:spPr>
          <a:xfrm>
            <a:off x="723900" y="1752600"/>
            <a:ext cx="228600" cy="228600"/>
          </a:xfrm>
          <a:custGeom>
            <a:avLst/>
            <a:gdLst/>
            <a:ahLst/>
            <a:cxnLst/>
            <a:rect l="l" t="t" r="r" b="b"/>
            <a:pathLst>
              <a:path w="228600" h="228600">
                <a:moveTo>
                  <a:pt x="200025" y="114300"/>
                </a:moveTo>
                <a:cubicBezTo>
                  <a:pt x="200025" y="66987"/>
                  <a:pt x="161613" y="28575"/>
                  <a:pt x="114300" y="28575"/>
                </a:cubicBezTo>
                <a:cubicBezTo>
                  <a:pt x="66987" y="28575"/>
                  <a:pt x="28575" y="66987"/>
                  <a:pt x="28575" y="114300"/>
                </a:cubicBezTo>
                <a:cubicBezTo>
                  <a:pt x="28575" y="161613"/>
                  <a:pt x="66987" y="200025"/>
                  <a:pt x="114300" y="200025"/>
                </a:cubicBezTo>
                <a:cubicBezTo>
                  <a:pt x="161613" y="200025"/>
                  <a:pt x="200025" y="161613"/>
                  <a:pt x="200025" y="114300"/>
                </a:cubicBezTo>
                <a:close/>
                <a:moveTo>
                  <a:pt x="0" y="114300"/>
                </a:moveTo>
                <a:cubicBezTo>
                  <a:pt x="0" y="51216"/>
                  <a:pt x="51216" y="0"/>
                  <a:pt x="114300" y="0"/>
                </a:cubicBezTo>
                <a:cubicBezTo>
                  <a:pt x="177384" y="0"/>
                  <a:pt x="228600" y="51216"/>
                  <a:pt x="228600" y="114300"/>
                </a:cubicBezTo>
                <a:cubicBezTo>
                  <a:pt x="228600" y="177384"/>
                  <a:pt x="177384" y="228600"/>
                  <a:pt x="114300" y="228600"/>
                </a:cubicBezTo>
                <a:cubicBezTo>
                  <a:pt x="51216" y="228600"/>
                  <a:pt x="0" y="177384"/>
                  <a:pt x="0" y="114300"/>
                </a:cubicBezTo>
                <a:close/>
                <a:moveTo>
                  <a:pt x="114300" y="150019"/>
                </a:moveTo>
                <a:cubicBezTo>
                  <a:pt x="134014" y="150019"/>
                  <a:pt x="150019" y="134014"/>
                  <a:pt x="150019" y="114300"/>
                </a:cubicBezTo>
                <a:cubicBezTo>
                  <a:pt x="150019" y="94586"/>
                  <a:pt x="134014" y="78581"/>
                  <a:pt x="114300" y="78581"/>
                </a:cubicBezTo>
                <a:cubicBezTo>
                  <a:pt x="94586" y="78581"/>
                  <a:pt x="78581" y="94586"/>
                  <a:pt x="78581" y="114300"/>
                </a:cubicBezTo>
                <a:cubicBezTo>
                  <a:pt x="78581" y="134014"/>
                  <a:pt x="94586" y="150019"/>
                  <a:pt x="114300" y="150019"/>
                </a:cubicBezTo>
                <a:close/>
                <a:moveTo>
                  <a:pt x="114300" y="50006"/>
                </a:moveTo>
                <a:cubicBezTo>
                  <a:pt x="149785" y="50006"/>
                  <a:pt x="178594" y="78815"/>
                  <a:pt x="178594" y="114300"/>
                </a:cubicBezTo>
                <a:cubicBezTo>
                  <a:pt x="178594" y="149785"/>
                  <a:pt x="149785" y="178594"/>
                  <a:pt x="114300" y="178594"/>
                </a:cubicBezTo>
                <a:cubicBezTo>
                  <a:pt x="78815" y="178594"/>
                  <a:pt x="50006" y="149785"/>
                  <a:pt x="50006" y="114300"/>
                </a:cubicBezTo>
                <a:cubicBezTo>
                  <a:pt x="50006" y="78815"/>
                  <a:pt x="78815" y="50006"/>
                  <a:pt x="114300" y="50006"/>
                </a:cubicBezTo>
                <a:close/>
                <a:moveTo>
                  <a:pt x="100013" y="114300"/>
                </a:moveTo>
                <a:cubicBezTo>
                  <a:pt x="100013" y="106415"/>
                  <a:pt x="106415" y="100013"/>
                  <a:pt x="114300" y="100013"/>
                </a:cubicBezTo>
                <a:cubicBezTo>
                  <a:pt x="122185" y="100013"/>
                  <a:pt x="128588" y="106415"/>
                  <a:pt x="128588" y="114300"/>
                </a:cubicBezTo>
                <a:cubicBezTo>
                  <a:pt x="128588" y="122185"/>
                  <a:pt x="122185" y="128588"/>
                  <a:pt x="114300" y="128588"/>
                </a:cubicBezTo>
                <a:cubicBezTo>
                  <a:pt x="106415" y="128588"/>
                  <a:pt x="100013" y="122185"/>
                  <a:pt x="100013" y="114300"/>
                </a:cubicBezTo>
                <a:close/>
              </a:path>
            </a:pathLst>
          </a:custGeom>
          <a:solidFill>
            <a:srgbClr val="3B82F6"/>
          </a:solidFill>
          <a:ln/>
        </p:spPr>
      </p:sp>
      <p:sp>
        <p:nvSpPr>
          <p:cNvPr id="8" name="Text 6"/>
          <p:cNvSpPr/>
          <p:nvPr/>
        </p:nvSpPr>
        <p:spPr>
          <a:xfrm>
            <a:off x="1181100" y="1714500"/>
            <a:ext cx="1190625" cy="304800"/>
          </a:xfrm>
          <a:prstGeom prst="rect">
            <a:avLst/>
          </a:prstGeom>
          <a:noFill/>
          <a:ln/>
        </p:spPr>
        <p:txBody>
          <a:bodyPr wrap="square" lIns="0" tIns="0" rIns="0" bIns="0" rtlCol="0" anchor="ctr"/>
          <a:lstStyle/>
          <a:p>
            <a:pPr>
              <a:lnSpc>
                <a:spcPct val="110000"/>
              </a:lnSpc>
            </a:pPr>
            <a:r>
              <a:rPr lang="en-US" sz="1800" b="1" dirty="0">
                <a:solidFill>
                  <a:srgbClr val="1E3A5F"/>
                </a:solidFill>
                <a:latin typeface="Liter" pitchFamily="34" charset="0"/>
                <a:ea typeface="Liter" pitchFamily="34" charset="-122"/>
                <a:cs typeface="Liter" pitchFamily="34" charset="-120"/>
              </a:rPr>
              <a:t>Motivation</a:t>
            </a:r>
            <a:endParaRPr lang="en-US" sz="1600" dirty="0"/>
          </a:p>
        </p:txBody>
      </p:sp>
      <p:sp>
        <p:nvSpPr>
          <p:cNvPr id="9" name="Shape 7"/>
          <p:cNvSpPr/>
          <p:nvPr/>
        </p:nvSpPr>
        <p:spPr>
          <a:xfrm>
            <a:off x="628650" y="2286000"/>
            <a:ext cx="5124450" cy="1009650"/>
          </a:xfrm>
          <a:custGeom>
            <a:avLst/>
            <a:gdLst/>
            <a:ahLst/>
            <a:cxnLst/>
            <a:rect l="l" t="t" r="r" b="b"/>
            <a:pathLst>
              <a:path w="5124450" h="1009650">
                <a:moveTo>
                  <a:pt x="38100" y="0"/>
                </a:moveTo>
                <a:lnTo>
                  <a:pt x="5048252" y="0"/>
                </a:lnTo>
                <a:cubicBezTo>
                  <a:pt x="5090335" y="0"/>
                  <a:pt x="5124450" y="34115"/>
                  <a:pt x="5124450" y="76198"/>
                </a:cubicBezTo>
                <a:lnTo>
                  <a:pt x="5124450" y="933452"/>
                </a:lnTo>
                <a:cubicBezTo>
                  <a:pt x="5124450" y="975535"/>
                  <a:pt x="5090335" y="1009650"/>
                  <a:pt x="5048252" y="1009650"/>
                </a:cubicBezTo>
                <a:lnTo>
                  <a:pt x="38100" y="1009650"/>
                </a:lnTo>
                <a:cubicBezTo>
                  <a:pt x="17058" y="1009650"/>
                  <a:pt x="0" y="992592"/>
                  <a:pt x="0" y="971550"/>
                </a:cubicBezTo>
                <a:lnTo>
                  <a:pt x="0" y="38100"/>
                </a:lnTo>
                <a:cubicBezTo>
                  <a:pt x="0" y="17072"/>
                  <a:pt x="17072" y="0"/>
                  <a:pt x="38100" y="0"/>
                </a:cubicBezTo>
                <a:close/>
              </a:path>
            </a:pathLst>
          </a:custGeom>
          <a:gradFill flip="none" rotWithShape="1">
            <a:gsLst>
              <a:gs pos="0">
                <a:srgbClr val="3B82F6">
                  <a:alpha val="5000"/>
                </a:srgbClr>
              </a:gs>
              <a:gs pos="100000">
                <a:srgbClr val="000000">
                  <a:alpha val="0"/>
                </a:srgbClr>
              </a:gs>
            </a:gsLst>
            <a:lin ang="0" scaled="1"/>
          </a:gradFill>
          <a:ln/>
        </p:spPr>
      </p:sp>
      <p:sp>
        <p:nvSpPr>
          <p:cNvPr id="10" name="Shape 8"/>
          <p:cNvSpPr/>
          <p:nvPr/>
        </p:nvSpPr>
        <p:spPr>
          <a:xfrm>
            <a:off x="628650" y="2286000"/>
            <a:ext cx="38100" cy="1009650"/>
          </a:xfrm>
          <a:custGeom>
            <a:avLst/>
            <a:gdLst/>
            <a:ahLst/>
            <a:cxnLst/>
            <a:rect l="l" t="t" r="r" b="b"/>
            <a:pathLst>
              <a:path w="38100" h="1009650">
                <a:moveTo>
                  <a:pt x="38100" y="0"/>
                </a:moveTo>
                <a:lnTo>
                  <a:pt x="38100" y="0"/>
                </a:lnTo>
                <a:lnTo>
                  <a:pt x="38100" y="1009650"/>
                </a:lnTo>
                <a:lnTo>
                  <a:pt x="38100" y="1009650"/>
                </a:lnTo>
                <a:cubicBezTo>
                  <a:pt x="17072" y="1009650"/>
                  <a:pt x="0" y="992578"/>
                  <a:pt x="0" y="971550"/>
                </a:cubicBezTo>
                <a:lnTo>
                  <a:pt x="0" y="38100"/>
                </a:lnTo>
                <a:cubicBezTo>
                  <a:pt x="0" y="17072"/>
                  <a:pt x="17072" y="0"/>
                  <a:pt x="38100" y="0"/>
                </a:cubicBezTo>
                <a:close/>
              </a:path>
            </a:pathLst>
          </a:custGeom>
          <a:solidFill>
            <a:srgbClr val="3B82F6"/>
          </a:solidFill>
          <a:ln/>
        </p:spPr>
      </p:sp>
      <p:sp>
        <p:nvSpPr>
          <p:cNvPr id="11" name="Shape 9"/>
          <p:cNvSpPr/>
          <p:nvPr/>
        </p:nvSpPr>
        <p:spPr>
          <a:xfrm>
            <a:off x="823913" y="2476500"/>
            <a:ext cx="190500" cy="190500"/>
          </a:xfrm>
          <a:custGeom>
            <a:avLst/>
            <a:gdLst/>
            <a:ahLst/>
            <a:cxnLst/>
            <a:rect l="l" t="t" r="r" b="b"/>
            <a:pathLst>
              <a:path w="190500" h="190500">
                <a:moveTo>
                  <a:pt x="0" y="95250"/>
                </a:moveTo>
                <a:cubicBezTo>
                  <a:pt x="0" y="42680"/>
                  <a:pt x="42680" y="0"/>
                  <a:pt x="95250" y="0"/>
                </a:cubicBezTo>
                <a:cubicBezTo>
                  <a:pt x="147820" y="0"/>
                  <a:pt x="190500" y="42680"/>
                  <a:pt x="190500" y="95250"/>
                </a:cubicBezTo>
                <a:cubicBezTo>
                  <a:pt x="190500" y="147820"/>
                  <a:pt x="147820" y="190500"/>
                  <a:pt x="95250" y="190500"/>
                </a:cubicBezTo>
                <a:cubicBezTo>
                  <a:pt x="42680" y="190500"/>
                  <a:pt x="0" y="147820"/>
                  <a:pt x="0" y="95250"/>
                </a:cubicBezTo>
                <a:close/>
                <a:moveTo>
                  <a:pt x="107156" y="35719"/>
                </a:moveTo>
                <a:cubicBezTo>
                  <a:pt x="107156" y="29148"/>
                  <a:pt x="101821" y="23812"/>
                  <a:pt x="95250" y="23812"/>
                </a:cubicBezTo>
                <a:cubicBezTo>
                  <a:pt x="88679" y="23812"/>
                  <a:pt x="83344" y="29148"/>
                  <a:pt x="83344" y="35719"/>
                </a:cubicBezTo>
                <a:cubicBezTo>
                  <a:pt x="83344" y="42290"/>
                  <a:pt x="88679" y="47625"/>
                  <a:pt x="95250" y="47625"/>
                </a:cubicBezTo>
                <a:cubicBezTo>
                  <a:pt x="101821" y="47625"/>
                  <a:pt x="107156" y="42290"/>
                  <a:pt x="107156" y="35719"/>
                </a:cubicBezTo>
                <a:close/>
                <a:moveTo>
                  <a:pt x="95250" y="154781"/>
                </a:moveTo>
                <a:cubicBezTo>
                  <a:pt x="108384" y="154781"/>
                  <a:pt x="119063" y="144103"/>
                  <a:pt x="119063" y="130969"/>
                </a:cubicBezTo>
                <a:cubicBezTo>
                  <a:pt x="119063" y="124941"/>
                  <a:pt x="116830" y="119397"/>
                  <a:pt x="113109" y="115230"/>
                </a:cubicBezTo>
                <a:lnTo>
                  <a:pt x="138968" y="63550"/>
                </a:lnTo>
                <a:cubicBezTo>
                  <a:pt x="141163" y="59122"/>
                  <a:pt x="139378" y="53764"/>
                  <a:pt x="134987" y="51569"/>
                </a:cubicBezTo>
                <a:cubicBezTo>
                  <a:pt x="130597" y="49374"/>
                  <a:pt x="125202" y="51160"/>
                  <a:pt x="123006" y="55550"/>
                </a:cubicBezTo>
                <a:lnTo>
                  <a:pt x="97148" y="107231"/>
                </a:lnTo>
                <a:cubicBezTo>
                  <a:pt x="96515" y="107193"/>
                  <a:pt x="95883" y="107156"/>
                  <a:pt x="95250" y="107156"/>
                </a:cubicBezTo>
                <a:cubicBezTo>
                  <a:pt x="82116" y="107156"/>
                  <a:pt x="71438" y="117835"/>
                  <a:pt x="71438" y="130969"/>
                </a:cubicBezTo>
                <a:cubicBezTo>
                  <a:pt x="71438" y="144103"/>
                  <a:pt x="82116" y="154781"/>
                  <a:pt x="95250" y="154781"/>
                </a:cubicBezTo>
                <a:close/>
                <a:moveTo>
                  <a:pt x="65484" y="53578"/>
                </a:moveTo>
                <a:cubicBezTo>
                  <a:pt x="65484" y="47007"/>
                  <a:pt x="60149" y="41672"/>
                  <a:pt x="53578" y="41672"/>
                </a:cubicBezTo>
                <a:cubicBezTo>
                  <a:pt x="47007" y="41672"/>
                  <a:pt x="41672" y="47007"/>
                  <a:pt x="41672" y="53578"/>
                </a:cubicBezTo>
                <a:cubicBezTo>
                  <a:pt x="41672" y="60149"/>
                  <a:pt x="47007" y="65484"/>
                  <a:pt x="53578" y="65484"/>
                </a:cubicBezTo>
                <a:cubicBezTo>
                  <a:pt x="60149" y="65484"/>
                  <a:pt x="65484" y="60149"/>
                  <a:pt x="65484" y="53578"/>
                </a:cubicBezTo>
                <a:close/>
                <a:moveTo>
                  <a:pt x="35719" y="107156"/>
                </a:moveTo>
                <a:cubicBezTo>
                  <a:pt x="42290" y="107156"/>
                  <a:pt x="47625" y="101821"/>
                  <a:pt x="47625" y="95250"/>
                </a:cubicBezTo>
                <a:cubicBezTo>
                  <a:pt x="47625" y="88679"/>
                  <a:pt x="42290" y="83344"/>
                  <a:pt x="35719" y="83344"/>
                </a:cubicBezTo>
                <a:cubicBezTo>
                  <a:pt x="29148" y="83344"/>
                  <a:pt x="23812" y="88679"/>
                  <a:pt x="23812" y="95250"/>
                </a:cubicBezTo>
                <a:cubicBezTo>
                  <a:pt x="23812" y="101821"/>
                  <a:pt x="29148" y="107156"/>
                  <a:pt x="35719" y="107156"/>
                </a:cubicBezTo>
                <a:close/>
                <a:moveTo>
                  <a:pt x="166688" y="95250"/>
                </a:moveTo>
                <a:cubicBezTo>
                  <a:pt x="166688" y="88679"/>
                  <a:pt x="161352" y="83344"/>
                  <a:pt x="154781" y="83344"/>
                </a:cubicBezTo>
                <a:cubicBezTo>
                  <a:pt x="148210" y="83344"/>
                  <a:pt x="142875" y="88679"/>
                  <a:pt x="142875" y="95250"/>
                </a:cubicBezTo>
                <a:cubicBezTo>
                  <a:pt x="142875" y="101821"/>
                  <a:pt x="148210" y="107156"/>
                  <a:pt x="154781" y="107156"/>
                </a:cubicBezTo>
                <a:cubicBezTo>
                  <a:pt x="161352" y="107156"/>
                  <a:pt x="166688" y="101821"/>
                  <a:pt x="166688" y="95250"/>
                </a:cubicBezTo>
                <a:close/>
              </a:path>
            </a:pathLst>
          </a:custGeom>
          <a:solidFill>
            <a:srgbClr val="3B82F6"/>
          </a:solidFill>
          <a:ln/>
        </p:spPr>
      </p:sp>
      <p:sp>
        <p:nvSpPr>
          <p:cNvPr id="12" name="Text 10"/>
          <p:cNvSpPr/>
          <p:nvPr/>
        </p:nvSpPr>
        <p:spPr>
          <a:xfrm>
            <a:off x="1152525" y="2438400"/>
            <a:ext cx="4524375" cy="228600"/>
          </a:xfrm>
          <a:prstGeom prst="rect">
            <a:avLst/>
          </a:prstGeom>
          <a:noFill/>
          <a:ln/>
        </p:spPr>
        <p:txBody>
          <a:bodyPr wrap="square" lIns="0" tIns="0" rIns="0" bIns="0" rtlCol="0" anchor="ctr"/>
          <a:lstStyle/>
          <a:p>
            <a:pPr>
              <a:lnSpc>
                <a:spcPct val="130000"/>
              </a:lnSpc>
            </a:pPr>
            <a:r>
              <a:rPr lang="en-US" sz="1200" b="1" dirty="0">
                <a:solidFill>
                  <a:srgbClr val="1E3A5F"/>
                </a:solidFill>
                <a:latin typeface="Liter" pitchFamily="34" charset="0"/>
                <a:ea typeface="Liter" pitchFamily="34" charset="-122"/>
                <a:cs typeface="Liter" pitchFamily="34" charset="-120"/>
              </a:rPr>
              <a:t>Need for Speed</a:t>
            </a:r>
            <a:endParaRPr lang="en-US" sz="1600" dirty="0"/>
          </a:p>
        </p:txBody>
      </p:sp>
      <p:sp>
        <p:nvSpPr>
          <p:cNvPr id="13" name="Text 11"/>
          <p:cNvSpPr/>
          <p:nvPr/>
        </p:nvSpPr>
        <p:spPr>
          <a:xfrm>
            <a:off x="1152525" y="2705100"/>
            <a:ext cx="4514850" cy="438150"/>
          </a:xfrm>
          <a:prstGeom prst="rect">
            <a:avLst/>
          </a:prstGeom>
          <a:noFill/>
          <a:ln/>
        </p:spPr>
        <p:txBody>
          <a:bodyPr wrap="square" lIns="0" tIns="0" rIns="0" bIns="0" rtlCol="0" anchor="ctr"/>
          <a:lstStyle/>
          <a:p>
            <a:pPr>
              <a:lnSpc>
                <a:spcPct val="140000"/>
              </a:lnSpc>
            </a:pPr>
            <a:r>
              <a:rPr lang="en-US" sz="1050" dirty="0">
                <a:solidFill>
                  <a:srgbClr val="1E293B">
                    <a:alpha val="80000"/>
                  </a:srgbClr>
                </a:solidFill>
                <a:latin typeface="Quattrocento Sans" pitchFamily="34" charset="0"/>
                <a:ea typeface="Quattrocento Sans" pitchFamily="34" charset="-122"/>
                <a:cs typeface="Quattrocento Sans" pitchFamily="34" charset="-120"/>
              </a:rPr>
              <a:t>Healthcare systems require </a:t>
            </a:r>
            <a:r>
              <a:rPr lang="en-US" sz="1050" b="1" dirty="0">
                <a:solidFill>
                  <a:srgbClr val="3B82F6"/>
                </a:solidFill>
                <a:latin typeface="Quattrocento Sans" pitchFamily="34" charset="0"/>
                <a:ea typeface="Quattrocento Sans" pitchFamily="34" charset="-122"/>
                <a:cs typeface="Quattrocento Sans" pitchFamily="34" charset="-120"/>
              </a:rPr>
              <a:t>faster and more reliable appointment management</a:t>
            </a:r>
            <a:r>
              <a:rPr lang="en-US" sz="1050" dirty="0">
                <a:solidFill>
                  <a:srgbClr val="1E293B">
                    <a:alpha val="80000"/>
                  </a:srgbClr>
                </a:solidFill>
                <a:latin typeface="Quattrocento Sans" pitchFamily="34" charset="0"/>
                <a:ea typeface="Quattrocento Sans" pitchFamily="34" charset="-122"/>
                <a:cs typeface="Quattrocento Sans" pitchFamily="34" charset="-120"/>
              </a:rPr>
              <a:t> to handle increasing patient volumes efficiently.</a:t>
            </a:r>
            <a:endParaRPr lang="en-US" sz="1600" dirty="0"/>
          </a:p>
        </p:txBody>
      </p:sp>
      <p:sp>
        <p:nvSpPr>
          <p:cNvPr id="14" name="Shape 12"/>
          <p:cNvSpPr/>
          <p:nvPr/>
        </p:nvSpPr>
        <p:spPr>
          <a:xfrm>
            <a:off x="628650" y="3443288"/>
            <a:ext cx="5124450" cy="1219200"/>
          </a:xfrm>
          <a:custGeom>
            <a:avLst/>
            <a:gdLst/>
            <a:ahLst/>
            <a:cxnLst/>
            <a:rect l="l" t="t" r="r" b="b"/>
            <a:pathLst>
              <a:path w="5124450" h="1219200">
                <a:moveTo>
                  <a:pt x="38100" y="0"/>
                </a:moveTo>
                <a:lnTo>
                  <a:pt x="5048250" y="0"/>
                </a:lnTo>
                <a:cubicBezTo>
                  <a:pt x="5090306" y="0"/>
                  <a:pt x="5124450" y="34144"/>
                  <a:pt x="5124450" y="76200"/>
                </a:cubicBezTo>
                <a:lnTo>
                  <a:pt x="5124450" y="1143000"/>
                </a:lnTo>
                <a:cubicBezTo>
                  <a:pt x="5124450" y="1185056"/>
                  <a:pt x="5090306" y="1219200"/>
                  <a:pt x="5048250" y="1219200"/>
                </a:cubicBezTo>
                <a:lnTo>
                  <a:pt x="38100" y="1219200"/>
                </a:lnTo>
                <a:cubicBezTo>
                  <a:pt x="17072" y="1219200"/>
                  <a:pt x="0" y="1202128"/>
                  <a:pt x="0" y="1181100"/>
                </a:cubicBezTo>
                <a:lnTo>
                  <a:pt x="0" y="38100"/>
                </a:lnTo>
                <a:cubicBezTo>
                  <a:pt x="0" y="17072"/>
                  <a:pt x="17072" y="0"/>
                  <a:pt x="38100" y="0"/>
                </a:cubicBezTo>
                <a:close/>
              </a:path>
            </a:pathLst>
          </a:custGeom>
          <a:gradFill flip="none" rotWithShape="1">
            <a:gsLst>
              <a:gs pos="0">
                <a:srgbClr val="10B981">
                  <a:alpha val="5000"/>
                </a:srgbClr>
              </a:gs>
              <a:gs pos="100000">
                <a:srgbClr val="000000">
                  <a:alpha val="0"/>
                </a:srgbClr>
              </a:gs>
            </a:gsLst>
            <a:lin ang="0" scaled="1"/>
          </a:gradFill>
          <a:ln/>
        </p:spPr>
      </p:sp>
      <p:sp>
        <p:nvSpPr>
          <p:cNvPr id="15" name="Shape 13"/>
          <p:cNvSpPr/>
          <p:nvPr/>
        </p:nvSpPr>
        <p:spPr>
          <a:xfrm>
            <a:off x="628650" y="3443288"/>
            <a:ext cx="38100" cy="1219200"/>
          </a:xfrm>
          <a:custGeom>
            <a:avLst/>
            <a:gdLst/>
            <a:ahLst/>
            <a:cxnLst/>
            <a:rect l="l" t="t" r="r" b="b"/>
            <a:pathLst>
              <a:path w="38100" h="1219200">
                <a:moveTo>
                  <a:pt x="38100" y="0"/>
                </a:moveTo>
                <a:lnTo>
                  <a:pt x="38100" y="0"/>
                </a:lnTo>
                <a:lnTo>
                  <a:pt x="38100" y="1219200"/>
                </a:lnTo>
                <a:lnTo>
                  <a:pt x="38100" y="1219200"/>
                </a:lnTo>
                <a:cubicBezTo>
                  <a:pt x="17072" y="1219200"/>
                  <a:pt x="0" y="1202128"/>
                  <a:pt x="0" y="1181100"/>
                </a:cubicBezTo>
                <a:lnTo>
                  <a:pt x="0" y="38100"/>
                </a:lnTo>
                <a:cubicBezTo>
                  <a:pt x="0" y="17072"/>
                  <a:pt x="17072" y="0"/>
                  <a:pt x="38100" y="0"/>
                </a:cubicBezTo>
                <a:close/>
              </a:path>
            </a:pathLst>
          </a:custGeom>
          <a:solidFill>
            <a:srgbClr val="10B981"/>
          </a:solidFill>
          <a:ln/>
        </p:spPr>
      </p:sp>
      <p:sp>
        <p:nvSpPr>
          <p:cNvPr id="16" name="Shape 14"/>
          <p:cNvSpPr/>
          <p:nvPr/>
        </p:nvSpPr>
        <p:spPr>
          <a:xfrm>
            <a:off x="823913" y="3633788"/>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95250" y="50602"/>
                </a:moveTo>
                <a:cubicBezTo>
                  <a:pt x="100199" y="50602"/>
                  <a:pt x="104180" y="54583"/>
                  <a:pt x="104180" y="59531"/>
                </a:cubicBezTo>
                <a:lnTo>
                  <a:pt x="104180" y="101203"/>
                </a:lnTo>
                <a:cubicBezTo>
                  <a:pt x="104180" y="106152"/>
                  <a:pt x="100199" y="110133"/>
                  <a:pt x="95250" y="110133"/>
                </a:cubicBezTo>
                <a:cubicBezTo>
                  <a:pt x="90301" y="110133"/>
                  <a:pt x="86320" y="106152"/>
                  <a:pt x="86320" y="101203"/>
                </a:cubicBezTo>
                <a:lnTo>
                  <a:pt x="86320" y="59531"/>
                </a:lnTo>
                <a:cubicBezTo>
                  <a:pt x="86320" y="54583"/>
                  <a:pt x="90301" y="50602"/>
                  <a:pt x="95250" y="50602"/>
                </a:cubicBezTo>
                <a:close/>
                <a:moveTo>
                  <a:pt x="85316" y="130969"/>
                </a:moveTo>
                <a:cubicBezTo>
                  <a:pt x="85090" y="127281"/>
                  <a:pt x="86929" y="123773"/>
                  <a:pt x="90090" y="121861"/>
                </a:cubicBezTo>
                <a:cubicBezTo>
                  <a:pt x="93251" y="119949"/>
                  <a:pt x="97212" y="119949"/>
                  <a:pt x="100373" y="121861"/>
                </a:cubicBezTo>
                <a:cubicBezTo>
                  <a:pt x="103534" y="123773"/>
                  <a:pt x="105373" y="127281"/>
                  <a:pt x="105147" y="130969"/>
                </a:cubicBezTo>
                <a:cubicBezTo>
                  <a:pt x="105373" y="134656"/>
                  <a:pt x="103534" y="138165"/>
                  <a:pt x="100373" y="140077"/>
                </a:cubicBezTo>
                <a:cubicBezTo>
                  <a:pt x="97212" y="141989"/>
                  <a:pt x="93251" y="141989"/>
                  <a:pt x="90090" y="140077"/>
                </a:cubicBezTo>
                <a:cubicBezTo>
                  <a:pt x="86929" y="138165"/>
                  <a:pt x="85090" y="134656"/>
                  <a:pt x="85316" y="130969"/>
                </a:cubicBezTo>
                <a:close/>
              </a:path>
            </a:pathLst>
          </a:custGeom>
          <a:solidFill>
            <a:srgbClr val="10B981"/>
          </a:solidFill>
          <a:ln/>
        </p:spPr>
      </p:sp>
      <p:sp>
        <p:nvSpPr>
          <p:cNvPr id="17" name="Text 15"/>
          <p:cNvSpPr/>
          <p:nvPr/>
        </p:nvSpPr>
        <p:spPr>
          <a:xfrm>
            <a:off x="1152525" y="3595688"/>
            <a:ext cx="4524375" cy="228600"/>
          </a:xfrm>
          <a:prstGeom prst="rect">
            <a:avLst/>
          </a:prstGeom>
          <a:noFill/>
          <a:ln/>
        </p:spPr>
        <p:txBody>
          <a:bodyPr wrap="square" lIns="0" tIns="0" rIns="0" bIns="0" rtlCol="0" anchor="ctr"/>
          <a:lstStyle/>
          <a:p>
            <a:pPr>
              <a:lnSpc>
                <a:spcPct val="130000"/>
              </a:lnSpc>
            </a:pPr>
            <a:r>
              <a:rPr lang="en-US" sz="1200" b="1" dirty="0">
                <a:solidFill>
                  <a:srgbClr val="1E3A5F"/>
                </a:solidFill>
                <a:latin typeface="Liter" pitchFamily="34" charset="0"/>
                <a:ea typeface="Liter" pitchFamily="34" charset="-122"/>
                <a:cs typeface="Liter" pitchFamily="34" charset="-120"/>
              </a:rPr>
              <a:t>Error Reduction</a:t>
            </a:r>
            <a:endParaRPr lang="en-US" sz="1600" dirty="0"/>
          </a:p>
        </p:txBody>
      </p:sp>
      <p:sp>
        <p:nvSpPr>
          <p:cNvPr id="18" name="Text 16"/>
          <p:cNvSpPr/>
          <p:nvPr/>
        </p:nvSpPr>
        <p:spPr>
          <a:xfrm>
            <a:off x="1152525" y="3862387"/>
            <a:ext cx="4514850" cy="647700"/>
          </a:xfrm>
          <a:prstGeom prst="rect">
            <a:avLst/>
          </a:prstGeom>
          <a:noFill/>
          <a:ln/>
        </p:spPr>
        <p:txBody>
          <a:bodyPr wrap="square" lIns="0" tIns="0" rIns="0" bIns="0" rtlCol="0" anchor="ctr"/>
          <a:lstStyle/>
          <a:p>
            <a:pPr>
              <a:lnSpc>
                <a:spcPct val="140000"/>
              </a:lnSpc>
            </a:pPr>
            <a:r>
              <a:rPr lang="en-US" sz="1050" b="1" dirty="0">
                <a:solidFill>
                  <a:srgbClr val="10B981"/>
                </a:solidFill>
                <a:latin typeface="Quattrocento Sans" pitchFamily="34" charset="0"/>
                <a:ea typeface="Quattrocento Sans" pitchFamily="34" charset="-122"/>
                <a:cs typeface="Quattrocento Sans" pitchFamily="34" charset="-120"/>
              </a:rPr>
              <a:t>Manual systems are slow and prone to errors</a:t>
            </a:r>
            <a:r>
              <a:rPr lang="en-US" sz="1050" dirty="0">
                <a:solidFill>
                  <a:srgbClr val="1E293B">
                    <a:alpha val="80000"/>
                  </a:srgbClr>
                </a:solidFill>
                <a:latin typeface="Quattrocento Sans" pitchFamily="34" charset="0"/>
                <a:ea typeface="Quattrocento Sans" pitchFamily="34" charset="-122"/>
                <a:cs typeface="Quattrocento Sans" pitchFamily="34" charset="-120"/>
              </a:rPr>
              <a:t>, leading to patient dissatisfaction and operational inefficiencies that can be life-threatening in healthcare settings.</a:t>
            </a:r>
            <a:endParaRPr lang="en-US" sz="1600" dirty="0"/>
          </a:p>
        </p:txBody>
      </p:sp>
      <p:sp>
        <p:nvSpPr>
          <p:cNvPr id="19" name="Shape 17"/>
          <p:cNvSpPr/>
          <p:nvPr/>
        </p:nvSpPr>
        <p:spPr>
          <a:xfrm>
            <a:off x="628650" y="4817269"/>
            <a:ext cx="5124450" cy="1009650"/>
          </a:xfrm>
          <a:custGeom>
            <a:avLst/>
            <a:gdLst/>
            <a:ahLst/>
            <a:cxnLst/>
            <a:rect l="l" t="t" r="r" b="b"/>
            <a:pathLst>
              <a:path w="5124450" h="1009650">
                <a:moveTo>
                  <a:pt x="38100" y="0"/>
                </a:moveTo>
                <a:lnTo>
                  <a:pt x="5048252" y="0"/>
                </a:lnTo>
                <a:cubicBezTo>
                  <a:pt x="5090335" y="0"/>
                  <a:pt x="5124450" y="34115"/>
                  <a:pt x="5124450" y="76198"/>
                </a:cubicBezTo>
                <a:lnTo>
                  <a:pt x="5124450" y="933452"/>
                </a:lnTo>
                <a:cubicBezTo>
                  <a:pt x="5124450" y="975535"/>
                  <a:pt x="5090335" y="1009650"/>
                  <a:pt x="5048252" y="1009650"/>
                </a:cubicBezTo>
                <a:lnTo>
                  <a:pt x="38100" y="1009650"/>
                </a:lnTo>
                <a:cubicBezTo>
                  <a:pt x="17058" y="1009650"/>
                  <a:pt x="0" y="992592"/>
                  <a:pt x="0" y="971550"/>
                </a:cubicBezTo>
                <a:lnTo>
                  <a:pt x="0" y="38100"/>
                </a:lnTo>
                <a:cubicBezTo>
                  <a:pt x="0" y="17072"/>
                  <a:pt x="17072" y="0"/>
                  <a:pt x="38100" y="0"/>
                </a:cubicBezTo>
                <a:close/>
              </a:path>
            </a:pathLst>
          </a:custGeom>
          <a:gradFill flip="none" rotWithShape="1">
            <a:gsLst>
              <a:gs pos="0">
                <a:srgbClr val="1E3A5F">
                  <a:alpha val="5000"/>
                </a:srgbClr>
              </a:gs>
              <a:gs pos="100000">
                <a:srgbClr val="000000">
                  <a:alpha val="0"/>
                </a:srgbClr>
              </a:gs>
            </a:gsLst>
            <a:lin ang="0" scaled="1"/>
          </a:gradFill>
          <a:ln/>
        </p:spPr>
      </p:sp>
      <p:sp>
        <p:nvSpPr>
          <p:cNvPr id="20" name="Shape 18"/>
          <p:cNvSpPr/>
          <p:nvPr/>
        </p:nvSpPr>
        <p:spPr>
          <a:xfrm>
            <a:off x="628650" y="4817269"/>
            <a:ext cx="38100" cy="1009650"/>
          </a:xfrm>
          <a:custGeom>
            <a:avLst/>
            <a:gdLst/>
            <a:ahLst/>
            <a:cxnLst/>
            <a:rect l="l" t="t" r="r" b="b"/>
            <a:pathLst>
              <a:path w="38100" h="1009650">
                <a:moveTo>
                  <a:pt x="38100" y="0"/>
                </a:moveTo>
                <a:lnTo>
                  <a:pt x="38100" y="0"/>
                </a:lnTo>
                <a:lnTo>
                  <a:pt x="38100" y="1009650"/>
                </a:lnTo>
                <a:lnTo>
                  <a:pt x="38100" y="1009650"/>
                </a:lnTo>
                <a:cubicBezTo>
                  <a:pt x="17072" y="1009650"/>
                  <a:pt x="0" y="992578"/>
                  <a:pt x="0" y="971550"/>
                </a:cubicBezTo>
                <a:lnTo>
                  <a:pt x="0" y="38100"/>
                </a:lnTo>
                <a:cubicBezTo>
                  <a:pt x="0" y="17072"/>
                  <a:pt x="17072" y="0"/>
                  <a:pt x="38100" y="0"/>
                </a:cubicBezTo>
                <a:close/>
              </a:path>
            </a:pathLst>
          </a:custGeom>
          <a:solidFill>
            <a:srgbClr val="1E3A5F"/>
          </a:solidFill>
          <a:ln/>
        </p:spPr>
      </p:sp>
      <p:sp>
        <p:nvSpPr>
          <p:cNvPr id="21" name="Shape 19"/>
          <p:cNvSpPr/>
          <p:nvPr/>
        </p:nvSpPr>
        <p:spPr>
          <a:xfrm>
            <a:off x="823913" y="5007769"/>
            <a:ext cx="190500" cy="190500"/>
          </a:xfrm>
          <a:custGeom>
            <a:avLst/>
            <a:gdLst/>
            <a:ahLst/>
            <a:cxnLst/>
            <a:rect l="l" t="t" r="r" b="b"/>
            <a:pathLst>
              <a:path w="190500" h="190500">
                <a:moveTo>
                  <a:pt x="95250" y="0"/>
                </a:moveTo>
                <a:cubicBezTo>
                  <a:pt x="96962" y="0"/>
                  <a:pt x="98673" y="372"/>
                  <a:pt x="100236" y="1079"/>
                </a:cubicBezTo>
                <a:lnTo>
                  <a:pt x="170334" y="30807"/>
                </a:lnTo>
                <a:cubicBezTo>
                  <a:pt x="178519" y="34268"/>
                  <a:pt x="184621" y="42342"/>
                  <a:pt x="184584" y="52090"/>
                </a:cubicBezTo>
                <a:cubicBezTo>
                  <a:pt x="184398" y="88999"/>
                  <a:pt x="169218" y="156530"/>
                  <a:pt x="105110" y="187226"/>
                </a:cubicBezTo>
                <a:cubicBezTo>
                  <a:pt x="98896" y="190202"/>
                  <a:pt x="91678" y="190202"/>
                  <a:pt x="85465" y="187226"/>
                </a:cubicBezTo>
                <a:cubicBezTo>
                  <a:pt x="21320" y="156530"/>
                  <a:pt x="6176" y="88999"/>
                  <a:pt x="5990" y="52090"/>
                </a:cubicBezTo>
                <a:cubicBezTo>
                  <a:pt x="5953" y="42342"/>
                  <a:pt x="12055" y="34268"/>
                  <a:pt x="20241" y="30807"/>
                </a:cubicBezTo>
                <a:lnTo>
                  <a:pt x="90301" y="1079"/>
                </a:lnTo>
                <a:cubicBezTo>
                  <a:pt x="91864" y="372"/>
                  <a:pt x="93538" y="0"/>
                  <a:pt x="95250" y="0"/>
                </a:cubicBezTo>
                <a:close/>
                <a:moveTo>
                  <a:pt x="95250" y="24854"/>
                </a:moveTo>
                <a:lnTo>
                  <a:pt x="95250" y="165534"/>
                </a:lnTo>
                <a:cubicBezTo>
                  <a:pt x="146596" y="140680"/>
                  <a:pt x="160400" y="85613"/>
                  <a:pt x="160734" y="52648"/>
                </a:cubicBezTo>
                <a:lnTo>
                  <a:pt x="95250" y="24892"/>
                </a:lnTo>
                <a:lnTo>
                  <a:pt x="95250" y="24892"/>
                </a:lnTo>
                <a:close/>
              </a:path>
            </a:pathLst>
          </a:custGeom>
          <a:solidFill>
            <a:srgbClr val="1E3A5F"/>
          </a:solidFill>
          <a:ln/>
        </p:spPr>
      </p:sp>
      <p:sp>
        <p:nvSpPr>
          <p:cNvPr id="22" name="Text 20"/>
          <p:cNvSpPr/>
          <p:nvPr/>
        </p:nvSpPr>
        <p:spPr>
          <a:xfrm>
            <a:off x="1152525" y="4969669"/>
            <a:ext cx="4524375" cy="228600"/>
          </a:xfrm>
          <a:prstGeom prst="rect">
            <a:avLst/>
          </a:prstGeom>
          <a:noFill/>
          <a:ln/>
        </p:spPr>
        <p:txBody>
          <a:bodyPr wrap="square" lIns="0" tIns="0" rIns="0" bIns="0" rtlCol="0" anchor="ctr"/>
          <a:lstStyle/>
          <a:p>
            <a:pPr>
              <a:lnSpc>
                <a:spcPct val="130000"/>
              </a:lnSpc>
            </a:pPr>
            <a:r>
              <a:rPr lang="en-US" sz="1200" b="1" dirty="0">
                <a:solidFill>
                  <a:srgbClr val="1E3A5F"/>
                </a:solidFill>
                <a:latin typeface="Liter" pitchFamily="34" charset="0"/>
                <a:ea typeface="Liter" pitchFamily="34" charset="-122"/>
                <a:cs typeface="Liter" pitchFamily="34" charset="-120"/>
              </a:rPr>
              <a:t>Data Security</a:t>
            </a:r>
            <a:endParaRPr lang="en-US" sz="1600" dirty="0"/>
          </a:p>
        </p:txBody>
      </p:sp>
      <p:sp>
        <p:nvSpPr>
          <p:cNvPr id="23" name="Text 21"/>
          <p:cNvSpPr/>
          <p:nvPr/>
        </p:nvSpPr>
        <p:spPr>
          <a:xfrm>
            <a:off x="1152525" y="5236369"/>
            <a:ext cx="4514850" cy="438150"/>
          </a:xfrm>
          <a:prstGeom prst="rect">
            <a:avLst/>
          </a:prstGeom>
          <a:noFill/>
          <a:ln/>
        </p:spPr>
        <p:txBody>
          <a:bodyPr wrap="square" lIns="0" tIns="0" rIns="0" bIns="0" rtlCol="0" anchor="ctr"/>
          <a:lstStyle/>
          <a:p>
            <a:pPr>
              <a:lnSpc>
                <a:spcPct val="140000"/>
              </a:lnSpc>
            </a:pPr>
            <a:r>
              <a:rPr lang="en-US" sz="1050" dirty="0">
                <a:solidFill>
                  <a:srgbClr val="1E293B">
                    <a:alpha val="80000"/>
                  </a:srgbClr>
                </a:solidFill>
                <a:latin typeface="Quattrocento Sans" pitchFamily="34" charset="0"/>
                <a:ea typeface="Quattrocento Sans" pitchFamily="34" charset="-122"/>
                <a:cs typeface="Quattrocento Sans" pitchFamily="34" charset="-120"/>
              </a:rPr>
              <a:t>Patient medical records require </a:t>
            </a:r>
            <a:r>
              <a:rPr lang="en-US" sz="1050" b="1" dirty="0">
                <a:solidFill>
                  <a:srgbClr val="1E3A5F"/>
                </a:solidFill>
                <a:latin typeface="Quattrocento Sans" pitchFamily="34" charset="0"/>
                <a:ea typeface="Quattrocento Sans" pitchFamily="34" charset="-122"/>
                <a:cs typeface="Quattrocento Sans" pitchFamily="34" charset="-120"/>
              </a:rPr>
              <a:t>secure, centralized storage</a:t>
            </a:r>
            <a:r>
              <a:rPr lang="en-US" sz="1050" dirty="0">
                <a:solidFill>
                  <a:srgbClr val="1E293B">
                    <a:alpha val="80000"/>
                  </a:srgbClr>
                </a:solidFill>
                <a:latin typeface="Quattrocento Sans" pitchFamily="34" charset="0"/>
                <a:ea typeface="Quattrocento Sans" pitchFamily="34" charset="-122"/>
                <a:cs typeface="Quattrocento Sans" pitchFamily="34" charset="-120"/>
              </a:rPr>
              <a:t> with proper access controls to protect sensitive health information.</a:t>
            </a:r>
            <a:endParaRPr lang="en-US" sz="1600" dirty="0"/>
          </a:p>
        </p:txBody>
      </p:sp>
      <p:sp>
        <p:nvSpPr>
          <p:cNvPr id="24" name="Shape 22"/>
          <p:cNvSpPr/>
          <p:nvPr/>
        </p:nvSpPr>
        <p:spPr>
          <a:xfrm>
            <a:off x="6210300" y="1409700"/>
            <a:ext cx="5600700" cy="5067300"/>
          </a:xfrm>
          <a:custGeom>
            <a:avLst/>
            <a:gdLst/>
            <a:ahLst/>
            <a:cxnLst/>
            <a:rect l="l" t="t" r="r" b="b"/>
            <a:pathLst>
              <a:path w="5600700" h="5067300">
                <a:moveTo>
                  <a:pt x="114318" y="0"/>
                </a:moveTo>
                <a:lnTo>
                  <a:pt x="5486382" y="0"/>
                </a:lnTo>
                <a:cubicBezTo>
                  <a:pt x="5549518" y="0"/>
                  <a:pt x="5600700" y="51182"/>
                  <a:pt x="5600700" y="114318"/>
                </a:cubicBezTo>
                <a:lnTo>
                  <a:pt x="5600700" y="4952982"/>
                </a:lnTo>
                <a:cubicBezTo>
                  <a:pt x="5600700" y="5016118"/>
                  <a:pt x="5549518" y="5067300"/>
                  <a:pt x="5486382" y="5067300"/>
                </a:cubicBezTo>
                <a:lnTo>
                  <a:pt x="114318" y="5067300"/>
                </a:lnTo>
                <a:cubicBezTo>
                  <a:pt x="51182" y="5067300"/>
                  <a:pt x="0" y="5016118"/>
                  <a:pt x="0" y="4952982"/>
                </a:cubicBezTo>
                <a:lnTo>
                  <a:pt x="0" y="114318"/>
                </a:lnTo>
                <a:cubicBezTo>
                  <a:pt x="0" y="51224"/>
                  <a:pt x="51224" y="0"/>
                  <a:pt x="114318" y="0"/>
                </a:cubicBezTo>
                <a:close/>
              </a:path>
            </a:pathLst>
          </a:custGeom>
          <a:solidFill>
            <a:srgbClr val="FFFFFF"/>
          </a:solidFill>
          <a:ln/>
          <a:effectLst>
            <a:outerShdw blurRad="57150" dist="38100" dir="5400000" algn="bl" rotWithShape="0">
              <a:srgbClr val="000000">
                <a:alpha val="10196"/>
              </a:srgbClr>
            </a:outerShdw>
          </a:effectLst>
        </p:spPr>
      </p:sp>
      <p:sp>
        <p:nvSpPr>
          <p:cNvPr id="25" name="Shape 23"/>
          <p:cNvSpPr/>
          <p:nvPr/>
        </p:nvSpPr>
        <p:spPr>
          <a:xfrm>
            <a:off x="6438900" y="1638300"/>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10B981">
              <a:alpha val="10196"/>
            </a:srgbClr>
          </a:solidFill>
          <a:ln/>
        </p:spPr>
      </p:sp>
      <p:sp>
        <p:nvSpPr>
          <p:cNvPr id="26" name="Shape 24"/>
          <p:cNvSpPr/>
          <p:nvPr/>
        </p:nvSpPr>
        <p:spPr>
          <a:xfrm>
            <a:off x="6567488" y="1752600"/>
            <a:ext cx="200025" cy="228600"/>
          </a:xfrm>
          <a:custGeom>
            <a:avLst/>
            <a:gdLst/>
            <a:ahLst/>
            <a:cxnLst/>
            <a:rect l="l" t="t" r="r" b="b"/>
            <a:pathLst>
              <a:path w="200025" h="228600">
                <a:moveTo>
                  <a:pt x="14288" y="0"/>
                </a:moveTo>
                <a:cubicBezTo>
                  <a:pt x="22190" y="0"/>
                  <a:pt x="28575" y="6385"/>
                  <a:pt x="28575" y="14288"/>
                </a:cubicBezTo>
                <a:lnTo>
                  <a:pt x="28575" y="21431"/>
                </a:lnTo>
                <a:lnTo>
                  <a:pt x="59382" y="13752"/>
                </a:lnTo>
                <a:cubicBezTo>
                  <a:pt x="76393" y="9510"/>
                  <a:pt x="94342" y="11475"/>
                  <a:pt x="110058" y="19333"/>
                </a:cubicBezTo>
                <a:cubicBezTo>
                  <a:pt x="130731" y="29691"/>
                  <a:pt x="155064" y="29691"/>
                  <a:pt x="175736" y="19333"/>
                </a:cubicBezTo>
                <a:lnTo>
                  <a:pt x="180023" y="17190"/>
                </a:lnTo>
                <a:cubicBezTo>
                  <a:pt x="189220" y="12546"/>
                  <a:pt x="200025" y="19243"/>
                  <a:pt x="200025" y="29513"/>
                </a:cubicBezTo>
                <a:lnTo>
                  <a:pt x="200025" y="154394"/>
                </a:lnTo>
                <a:cubicBezTo>
                  <a:pt x="200025" y="160333"/>
                  <a:pt x="196319" y="165690"/>
                  <a:pt x="190738" y="167789"/>
                </a:cubicBezTo>
                <a:lnTo>
                  <a:pt x="175245" y="173593"/>
                </a:lnTo>
                <a:cubicBezTo>
                  <a:pt x="154618" y="181317"/>
                  <a:pt x="131668" y="180112"/>
                  <a:pt x="111978" y="170289"/>
                </a:cubicBezTo>
                <a:cubicBezTo>
                  <a:pt x="95057" y="161806"/>
                  <a:pt x="75634" y="159707"/>
                  <a:pt x="57284" y="164306"/>
                </a:cubicBezTo>
                <a:lnTo>
                  <a:pt x="28575" y="171450"/>
                </a:lnTo>
                <a:lnTo>
                  <a:pt x="28575" y="214313"/>
                </a:lnTo>
                <a:cubicBezTo>
                  <a:pt x="28575" y="222215"/>
                  <a:pt x="22190" y="228600"/>
                  <a:pt x="14288" y="228600"/>
                </a:cubicBezTo>
                <a:cubicBezTo>
                  <a:pt x="6385" y="228600"/>
                  <a:pt x="0" y="222215"/>
                  <a:pt x="0" y="214313"/>
                </a:cubicBezTo>
                <a:lnTo>
                  <a:pt x="0" y="14288"/>
                </a:lnTo>
                <a:cubicBezTo>
                  <a:pt x="0" y="6385"/>
                  <a:pt x="6385" y="0"/>
                  <a:pt x="14288" y="0"/>
                </a:cubicBezTo>
                <a:close/>
                <a:moveTo>
                  <a:pt x="28575" y="83537"/>
                </a:moveTo>
                <a:lnTo>
                  <a:pt x="57150" y="77331"/>
                </a:lnTo>
                <a:lnTo>
                  <a:pt x="57150" y="106576"/>
                </a:lnTo>
                <a:lnTo>
                  <a:pt x="28575" y="112782"/>
                </a:lnTo>
                <a:lnTo>
                  <a:pt x="28575" y="142027"/>
                </a:lnTo>
                <a:lnTo>
                  <a:pt x="50363" y="136580"/>
                </a:lnTo>
                <a:cubicBezTo>
                  <a:pt x="52641" y="135999"/>
                  <a:pt x="54873" y="135508"/>
                  <a:pt x="57150" y="135106"/>
                </a:cubicBezTo>
                <a:lnTo>
                  <a:pt x="57150" y="106576"/>
                </a:lnTo>
                <a:lnTo>
                  <a:pt x="74518" y="102825"/>
                </a:lnTo>
                <a:cubicBezTo>
                  <a:pt x="78224" y="102022"/>
                  <a:pt x="81975" y="101709"/>
                  <a:pt x="85725" y="101888"/>
                </a:cubicBezTo>
                <a:lnTo>
                  <a:pt x="85725" y="73313"/>
                </a:lnTo>
                <a:cubicBezTo>
                  <a:pt x="91797" y="73491"/>
                  <a:pt x="97869" y="74474"/>
                  <a:pt x="103763" y="76170"/>
                </a:cubicBezTo>
                <a:lnTo>
                  <a:pt x="114300" y="79251"/>
                </a:lnTo>
                <a:lnTo>
                  <a:pt x="114300" y="109031"/>
                </a:lnTo>
                <a:lnTo>
                  <a:pt x="95682" y="103540"/>
                </a:lnTo>
                <a:cubicBezTo>
                  <a:pt x="92422" y="102602"/>
                  <a:pt x="89074" y="102022"/>
                  <a:pt x="85725" y="101843"/>
                </a:cubicBezTo>
                <a:lnTo>
                  <a:pt x="85725" y="133722"/>
                </a:lnTo>
                <a:cubicBezTo>
                  <a:pt x="95458" y="134570"/>
                  <a:pt x="105058" y="136714"/>
                  <a:pt x="114300" y="140151"/>
                </a:cubicBezTo>
                <a:lnTo>
                  <a:pt x="114300" y="108987"/>
                </a:lnTo>
                <a:lnTo>
                  <a:pt x="124435" y="111978"/>
                </a:lnTo>
                <a:cubicBezTo>
                  <a:pt x="130463" y="113764"/>
                  <a:pt x="136624" y="114836"/>
                  <a:pt x="142875" y="115282"/>
                </a:cubicBezTo>
                <a:lnTo>
                  <a:pt x="142875" y="86618"/>
                </a:lnTo>
                <a:cubicBezTo>
                  <a:pt x="139392" y="86261"/>
                  <a:pt x="135910" y="85591"/>
                  <a:pt x="132517" y="84609"/>
                </a:cubicBezTo>
                <a:lnTo>
                  <a:pt x="114300" y="79251"/>
                </a:lnTo>
                <a:lnTo>
                  <a:pt x="114300" y="51569"/>
                </a:lnTo>
                <a:cubicBezTo>
                  <a:pt x="108496" y="49872"/>
                  <a:pt x="102781" y="47640"/>
                  <a:pt x="97244" y="44872"/>
                </a:cubicBezTo>
                <a:cubicBezTo>
                  <a:pt x="93583" y="43041"/>
                  <a:pt x="89699" y="41746"/>
                  <a:pt x="85725" y="40943"/>
                </a:cubicBezTo>
                <a:lnTo>
                  <a:pt x="85725" y="73268"/>
                </a:lnTo>
                <a:cubicBezTo>
                  <a:pt x="79921" y="73089"/>
                  <a:pt x="74116" y="73625"/>
                  <a:pt x="68446" y="74875"/>
                </a:cubicBezTo>
                <a:lnTo>
                  <a:pt x="57150" y="77331"/>
                </a:lnTo>
                <a:lnTo>
                  <a:pt x="57150" y="43755"/>
                </a:lnTo>
                <a:lnTo>
                  <a:pt x="28575" y="50899"/>
                </a:lnTo>
                <a:lnTo>
                  <a:pt x="28575" y="83537"/>
                </a:lnTo>
                <a:close/>
                <a:moveTo>
                  <a:pt x="142875" y="149885"/>
                </a:moveTo>
                <a:cubicBezTo>
                  <a:pt x="150376" y="150555"/>
                  <a:pt x="158011" y="149572"/>
                  <a:pt x="165199" y="146849"/>
                </a:cubicBezTo>
                <a:lnTo>
                  <a:pt x="171450" y="144527"/>
                </a:lnTo>
                <a:lnTo>
                  <a:pt x="171450" y="112514"/>
                </a:lnTo>
                <a:lnTo>
                  <a:pt x="167923" y="113318"/>
                </a:lnTo>
                <a:cubicBezTo>
                  <a:pt x="159707" y="115238"/>
                  <a:pt x="151269" y="115863"/>
                  <a:pt x="142875" y="115327"/>
                </a:cubicBezTo>
                <a:lnTo>
                  <a:pt x="142875" y="149885"/>
                </a:lnTo>
                <a:close/>
                <a:moveTo>
                  <a:pt x="171450" y="83180"/>
                </a:moveTo>
                <a:lnTo>
                  <a:pt x="171450" y="51569"/>
                </a:lnTo>
                <a:cubicBezTo>
                  <a:pt x="162118" y="54292"/>
                  <a:pt x="152519" y="55632"/>
                  <a:pt x="142875" y="55632"/>
                </a:cubicBezTo>
                <a:lnTo>
                  <a:pt x="142875" y="86618"/>
                </a:lnTo>
                <a:cubicBezTo>
                  <a:pt x="149081" y="87243"/>
                  <a:pt x="155377" y="86841"/>
                  <a:pt x="161493" y="85457"/>
                </a:cubicBezTo>
                <a:lnTo>
                  <a:pt x="171450" y="83135"/>
                </a:lnTo>
                <a:close/>
              </a:path>
            </a:pathLst>
          </a:custGeom>
          <a:solidFill>
            <a:srgbClr val="10B981"/>
          </a:solidFill>
          <a:ln/>
        </p:spPr>
      </p:sp>
      <p:sp>
        <p:nvSpPr>
          <p:cNvPr id="27" name="Text 25"/>
          <p:cNvSpPr/>
          <p:nvPr/>
        </p:nvSpPr>
        <p:spPr>
          <a:xfrm>
            <a:off x="7010400" y="1714500"/>
            <a:ext cx="1181100" cy="304800"/>
          </a:xfrm>
          <a:prstGeom prst="rect">
            <a:avLst/>
          </a:prstGeom>
          <a:noFill/>
          <a:ln/>
        </p:spPr>
        <p:txBody>
          <a:bodyPr wrap="square" lIns="0" tIns="0" rIns="0" bIns="0" rtlCol="0" anchor="ctr"/>
          <a:lstStyle/>
          <a:p>
            <a:pPr>
              <a:lnSpc>
                <a:spcPct val="110000"/>
              </a:lnSpc>
            </a:pPr>
            <a:r>
              <a:rPr lang="en-US" sz="1800" b="1" dirty="0">
                <a:solidFill>
                  <a:srgbClr val="1E3A5F"/>
                </a:solidFill>
                <a:latin typeface="Liter" pitchFamily="34" charset="0"/>
                <a:ea typeface="Liter" pitchFamily="34" charset="-122"/>
                <a:cs typeface="Liter" pitchFamily="34" charset="-120"/>
              </a:rPr>
              <a:t>Objectives</a:t>
            </a:r>
            <a:endParaRPr lang="en-US" sz="1600" dirty="0"/>
          </a:p>
        </p:txBody>
      </p:sp>
      <p:sp>
        <p:nvSpPr>
          <p:cNvPr id="28" name="Shape 26"/>
          <p:cNvSpPr/>
          <p:nvPr/>
        </p:nvSpPr>
        <p:spPr>
          <a:xfrm>
            <a:off x="6442710" y="2289810"/>
            <a:ext cx="2503170" cy="1455420"/>
          </a:xfrm>
          <a:custGeom>
            <a:avLst/>
            <a:gdLst/>
            <a:ahLst/>
            <a:cxnLst/>
            <a:rect l="l" t="t" r="r" b="b"/>
            <a:pathLst>
              <a:path w="2503170" h="1455420">
                <a:moveTo>
                  <a:pt x="76206" y="0"/>
                </a:moveTo>
                <a:lnTo>
                  <a:pt x="2426964" y="0"/>
                </a:lnTo>
                <a:cubicBezTo>
                  <a:pt x="2469052" y="0"/>
                  <a:pt x="2503170" y="34118"/>
                  <a:pt x="2503170" y="76206"/>
                </a:cubicBezTo>
                <a:lnTo>
                  <a:pt x="2503170" y="1379214"/>
                </a:lnTo>
                <a:cubicBezTo>
                  <a:pt x="2503170" y="1421302"/>
                  <a:pt x="2469052" y="1455420"/>
                  <a:pt x="2426964" y="1455420"/>
                </a:cubicBezTo>
                <a:lnTo>
                  <a:pt x="76206" y="1455420"/>
                </a:lnTo>
                <a:cubicBezTo>
                  <a:pt x="34147" y="1455420"/>
                  <a:pt x="0" y="1421273"/>
                  <a:pt x="0" y="1379214"/>
                </a:cubicBezTo>
                <a:lnTo>
                  <a:pt x="0" y="76206"/>
                </a:lnTo>
                <a:cubicBezTo>
                  <a:pt x="0" y="34147"/>
                  <a:pt x="34147" y="0"/>
                  <a:pt x="76206" y="0"/>
                </a:cubicBezTo>
                <a:close/>
              </a:path>
            </a:pathLst>
          </a:custGeom>
          <a:solidFill>
            <a:srgbClr val="F8FAFC"/>
          </a:solidFill>
          <a:ln w="10160">
            <a:solidFill>
              <a:srgbClr val="3B82F6">
                <a:alpha val="20000"/>
              </a:srgbClr>
            </a:solidFill>
            <a:prstDash val="solid"/>
          </a:ln>
        </p:spPr>
      </p:sp>
      <p:sp>
        <p:nvSpPr>
          <p:cNvPr id="29" name="Shape 27"/>
          <p:cNvSpPr/>
          <p:nvPr/>
        </p:nvSpPr>
        <p:spPr>
          <a:xfrm>
            <a:off x="6598920" y="244602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3B82F6">
              <a:alpha val="10196"/>
            </a:srgbClr>
          </a:solidFill>
          <a:ln/>
        </p:spPr>
      </p:sp>
      <p:sp>
        <p:nvSpPr>
          <p:cNvPr id="30" name="Shape 28"/>
          <p:cNvSpPr/>
          <p:nvPr/>
        </p:nvSpPr>
        <p:spPr>
          <a:xfrm>
            <a:off x="6716792" y="2550795"/>
            <a:ext cx="150019" cy="171450"/>
          </a:xfrm>
          <a:custGeom>
            <a:avLst/>
            <a:gdLst/>
            <a:ahLst/>
            <a:cxnLst/>
            <a:rect l="l" t="t" r="r" b="b"/>
            <a:pathLst>
              <a:path w="150019" h="171450">
                <a:moveTo>
                  <a:pt x="42863" y="0"/>
                </a:moveTo>
                <a:cubicBezTo>
                  <a:pt x="48790" y="0"/>
                  <a:pt x="53578" y="4789"/>
                  <a:pt x="53578" y="10716"/>
                </a:cubicBezTo>
                <a:lnTo>
                  <a:pt x="53578" y="21431"/>
                </a:lnTo>
                <a:lnTo>
                  <a:pt x="96441" y="21431"/>
                </a:lnTo>
                <a:lnTo>
                  <a:pt x="96441" y="10716"/>
                </a:lnTo>
                <a:cubicBezTo>
                  <a:pt x="96441" y="4789"/>
                  <a:pt x="101229" y="0"/>
                  <a:pt x="107156" y="0"/>
                </a:cubicBezTo>
                <a:cubicBezTo>
                  <a:pt x="113083" y="0"/>
                  <a:pt x="117872" y="4789"/>
                  <a:pt x="117872" y="10716"/>
                </a:cubicBezTo>
                <a:lnTo>
                  <a:pt x="117872" y="21431"/>
                </a:lnTo>
                <a:lnTo>
                  <a:pt x="128588" y="21431"/>
                </a:lnTo>
                <a:cubicBezTo>
                  <a:pt x="140408" y="21431"/>
                  <a:pt x="150019" y="31042"/>
                  <a:pt x="150019" y="42863"/>
                </a:cubicBezTo>
                <a:lnTo>
                  <a:pt x="150019" y="139303"/>
                </a:lnTo>
                <a:cubicBezTo>
                  <a:pt x="150019" y="151124"/>
                  <a:pt x="140408" y="160734"/>
                  <a:pt x="128588" y="160734"/>
                </a:cubicBezTo>
                <a:lnTo>
                  <a:pt x="21431" y="160734"/>
                </a:lnTo>
                <a:cubicBezTo>
                  <a:pt x="9611" y="160734"/>
                  <a:pt x="0" y="151124"/>
                  <a:pt x="0" y="139303"/>
                </a:cubicBezTo>
                <a:lnTo>
                  <a:pt x="0" y="42863"/>
                </a:lnTo>
                <a:cubicBezTo>
                  <a:pt x="0" y="31042"/>
                  <a:pt x="9611" y="21431"/>
                  <a:pt x="21431" y="21431"/>
                </a:cubicBezTo>
                <a:lnTo>
                  <a:pt x="32147" y="21431"/>
                </a:lnTo>
                <a:lnTo>
                  <a:pt x="32147" y="10716"/>
                </a:lnTo>
                <a:cubicBezTo>
                  <a:pt x="32147" y="4789"/>
                  <a:pt x="36935" y="0"/>
                  <a:pt x="42863" y="0"/>
                </a:cubicBezTo>
                <a:close/>
                <a:moveTo>
                  <a:pt x="103272" y="76583"/>
                </a:moveTo>
                <a:cubicBezTo>
                  <a:pt x="105616" y="72833"/>
                  <a:pt x="104477" y="67877"/>
                  <a:pt x="100727" y="65499"/>
                </a:cubicBezTo>
                <a:cubicBezTo>
                  <a:pt x="96976" y="63122"/>
                  <a:pt x="92020" y="64294"/>
                  <a:pt x="89643" y="68044"/>
                </a:cubicBezTo>
                <a:lnTo>
                  <a:pt x="69082" y="100961"/>
                </a:lnTo>
                <a:lnTo>
                  <a:pt x="60041" y="88906"/>
                </a:lnTo>
                <a:cubicBezTo>
                  <a:pt x="57362" y="85357"/>
                  <a:pt x="52339" y="84620"/>
                  <a:pt x="48790" y="87299"/>
                </a:cubicBezTo>
                <a:cubicBezTo>
                  <a:pt x="45240" y="89978"/>
                  <a:pt x="44503" y="95001"/>
                  <a:pt x="47182" y="98550"/>
                </a:cubicBezTo>
                <a:lnTo>
                  <a:pt x="63256" y="119982"/>
                </a:lnTo>
                <a:cubicBezTo>
                  <a:pt x="64830" y="122091"/>
                  <a:pt x="67374" y="123297"/>
                  <a:pt x="70020" y="123196"/>
                </a:cubicBezTo>
                <a:cubicBezTo>
                  <a:pt x="72665" y="123096"/>
                  <a:pt x="75076" y="121689"/>
                  <a:pt x="76483" y="119412"/>
                </a:cubicBezTo>
                <a:lnTo>
                  <a:pt x="103272" y="76550"/>
                </a:lnTo>
                <a:close/>
              </a:path>
            </a:pathLst>
          </a:custGeom>
          <a:solidFill>
            <a:srgbClr val="3B82F6"/>
          </a:solidFill>
          <a:ln/>
        </p:spPr>
      </p:sp>
      <p:sp>
        <p:nvSpPr>
          <p:cNvPr id="31" name="Text 29"/>
          <p:cNvSpPr/>
          <p:nvPr/>
        </p:nvSpPr>
        <p:spPr>
          <a:xfrm>
            <a:off x="6598920" y="2941320"/>
            <a:ext cx="2257425" cy="190500"/>
          </a:xfrm>
          <a:prstGeom prst="rect">
            <a:avLst/>
          </a:prstGeom>
          <a:noFill/>
          <a:ln/>
        </p:spPr>
        <p:txBody>
          <a:bodyPr wrap="square" lIns="0" tIns="0" rIns="0" bIns="0" rtlCol="0" anchor="ctr"/>
          <a:lstStyle/>
          <a:p>
            <a:pPr>
              <a:lnSpc>
                <a:spcPct val="120000"/>
              </a:lnSpc>
            </a:pPr>
            <a:r>
              <a:rPr lang="en-US" sz="1050" b="1" dirty="0">
                <a:solidFill>
                  <a:srgbClr val="1E3A5F"/>
                </a:solidFill>
                <a:latin typeface="Liter" pitchFamily="34" charset="0"/>
                <a:ea typeface="Liter" pitchFamily="34" charset="-122"/>
                <a:cs typeface="Liter" pitchFamily="34" charset="-120"/>
              </a:rPr>
              <a:t>Online Booking</a:t>
            </a:r>
            <a:endParaRPr lang="en-US" sz="1600" dirty="0"/>
          </a:p>
        </p:txBody>
      </p:sp>
      <p:sp>
        <p:nvSpPr>
          <p:cNvPr id="32" name="Text 30"/>
          <p:cNvSpPr/>
          <p:nvPr/>
        </p:nvSpPr>
        <p:spPr>
          <a:xfrm>
            <a:off x="6598920" y="3169920"/>
            <a:ext cx="2247900" cy="304800"/>
          </a:xfrm>
          <a:prstGeom prst="rect">
            <a:avLst/>
          </a:prstGeom>
          <a:noFill/>
          <a:ln/>
        </p:spPr>
        <p:txBody>
          <a:bodyPr wrap="square" lIns="0" tIns="0" rIns="0" bIns="0" rtlCol="0" anchor="ctr"/>
          <a:lstStyle/>
          <a:p>
            <a:pPr>
              <a:lnSpc>
                <a:spcPct val="110000"/>
              </a:lnSpc>
            </a:pPr>
            <a:r>
              <a:rPr lang="en-US" sz="900" dirty="0">
                <a:solidFill>
                  <a:srgbClr val="1E293B">
                    <a:alpha val="70000"/>
                  </a:srgbClr>
                </a:solidFill>
                <a:latin typeface="Quattrocento Sans" pitchFamily="34" charset="0"/>
                <a:ea typeface="Quattrocento Sans" pitchFamily="34" charset="-122"/>
                <a:cs typeface="Quattrocento Sans" pitchFamily="34" charset="-120"/>
              </a:rPr>
              <a:t>Create an efficient online appointment booking system</a:t>
            </a:r>
            <a:endParaRPr lang="en-US" sz="1600" dirty="0"/>
          </a:p>
        </p:txBody>
      </p:sp>
      <p:sp>
        <p:nvSpPr>
          <p:cNvPr id="33" name="Shape 31"/>
          <p:cNvSpPr/>
          <p:nvPr/>
        </p:nvSpPr>
        <p:spPr>
          <a:xfrm>
            <a:off x="9071610" y="2289810"/>
            <a:ext cx="2503170" cy="1455420"/>
          </a:xfrm>
          <a:custGeom>
            <a:avLst/>
            <a:gdLst/>
            <a:ahLst/>
            <a:cxnLst/>
            <a:rect l="l" t="t" r="r" b="b"/>
            <a:pathLst>
              <a:path w="2503170" h="1455420">
                <a:moveTo>
                  <a:pt x="76206" y="0"/>
                </a:moveTo>
                <a:lnTo>
                  <a:pt x="2426964" y="0"/>
                </a:lnTo>
                <a:cubicBezTo>
                  <a:pt x="2469052" y="0"/>
                  <a:pt x="2503170" y="34118"/>
                  <a:pt x="2503170" y="76206"/>
                </a:cubicBezTo>
                <a:lnTo>
                  <a:pt x="2503170" y="1379214"/>
                </a:lnTo>
                <a:cubicBezTo>
                  <a:pt x="2503170" y="1421302"/>
                  <a:pt x="2469052" y="1455420"/>
                  <a:pt x="2426964" y="1455420"/>
                </a:cubicBezTo>
                <a:lnTo>
                  <a:pt x="76206" y="1455420"/>
                </a:lnTo>
                <a:cubicBezTo>
                  <a:pt x="34147" y="1455420"/>
                  <a:pt x="0" y="1421273"/>
                  <a:pt x="0" y="1379214"/>
                </a:cubicBezTo>
                <a:lnTo>
                  <a:pt x="0" y="76206"/>
                </a:lnTo>
                <a:cubicBezTo>
                  <a:pt x="0" y="34147"/>
                  <a:pt x="34147" y="0"/>
                  <a:pt x="76206" y="0"/>
                </a:cubicBezTo>
                <a:close/>
              </a:path>
            </a:pathLst>
          </a:custGeom>
          <a:solidFill>
            <a:srgbClr val="F8FAFC"/>
          </a:solidFill>
          <a:ln w="10160">
            <a:solidFill>
              <a:srgbClr val="10B981">
                <a:alpha val="20000"/>
              </a:srgbClr>
            </a:solidFill>
            <a:prstDash val="solid"/>
          </a:ln>
        </p:spPr>
      </p:sp>
      <p:sp>
        <p:nvSpPr>
          <p:cNvPr id="34" name="Shape 32"/>
          <p:cNvSpPr/>
          <p:nvPr/>
        </p:nvSpPr>
        <p:spPr>
          <a:xfrm>
            <a:off x="9227820" y="244602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10B981">
              <a:alpha val="10196"/>
            </a:srgbClr>
          </a:solidFill>
          <a:ln/>
        </p:spPr>
      </p:sp>
      <p:sp>
        <p:nvSpPr>
          <p:cNvPr id="35" name="Shape 33"/>
          <p:cNvSpPr/>
          <p:nvPr/>
        </p:nvSpPr>
        <p:spPr>
          <a:xfrm>
            <a:off x="9334976" y="2550795"/>
            <a:ext cx="171450" cy="171450"/>
          </a:xfrm>
          <a:custGeom>
            <a:avLst/>
            <a:gdLst/>
            <a:ahLst/>
            <a:cxnLst/>
            <a:rect l="l" t="t" r="r" b="b"/>
            <a:pathLst>
              <a:path w="171450" h="171450">
                <a:moveTo>
                  <a:pt x="85725" y="0"/>
                </a:moveTo>
                <a:cubicBezTo>
                  <a:pt x="133038" y="0"/>
                  <a:pt x="171450" y="38412"/>
                  <a:pt x="171450" y="85725"/>
                </a:cubicBezTo>
                <a:cubicBezTo>
                  <a:pt x="171450" y="133038"/>
                  <a:pt x="133038" y="171450"/>
                  <a:pt x="85725" y="171450"/>
                </a:cubicBezTo>
                <a:cubicBezTo>
                  <a:pt x="38412" y="171450"/>
                  <a:pt x="0" y="133038"/>
                  <a:pt x="0" y="85725"/>
                </a:cubicBezTo>
                <a:cubicBezTo>
                  <a:pt x="0" y="38412"/>
                  <a:pt x="38412" y="0"/>
                  <a:pt x="85725" y="0"/>
                </a:cubicBezTo>
                <a:close/>
                <a:moveTo>
                  <a:pt x="77688" y="40184"/>
                </a:moveTo>
                <a:lnTo>
                  <a:pt x="77688" y="85725"/>
                </a:lnTo>
                <a:cubicBezTo>
                  <a:pt x="77688" y="88404"/>
                  <a:pt x="79028" y="90915"/>
                  <a:pt x="81271" y="92422"/>
                </a:cubicBezTo>
                <a:lnTo>
                  <a:pt x="113418" y="113854"/>
                </a:lnTo>
                <a:cubicBezTo>
                  <a:pt x="117102" y="116332"/>
                  <a:pt x="122091" y="115327"/>
                  <a:pt x="124569" y="111610"/>
                </a:cubicBezTo>
                <a:cubicBezTo>
                  <a:pt x="127047" y="107893"/>
                  <a:pt x="126043" y="102937"/>
                  <a:pt x="122326" y="100459"/>
                </a:cubicBezTo>
                <a:lnTo>
                  <a:pt x="93762" y="81439"/>
                </a:lnTo>
                <a:lnTo>
                  <a:pt x="93762" y="40184"/>
                </a:lnTo>
                <a:cubicBezTo>
                  <a:pt x="93762" y="35730"/>
                  <a:pt x="90179" y="32147"/>
                  <a:pt x="85725" y="32147"/>
                </a:cubicBezTo>
                <a:cubicBezTo>
                  <a:pt x="81271" y="32147"/>
                  <a:pt x="77688" y="35730"/>
                  <a:pt x="77688" y="40184"/>
                </a:cubicBezTo>
                <a:close/>
              </a:path>
            </a:pathLst>
          </a:custGeom>
          <a:solidFill>
            <a:srgbClr val="10B981"/>
          </a:solidFill>
          <a:ln/>
        </p:spPr>
      </p:sp>
      <p:sp>
        <p:nvSpPr>
          <p:cNvPr id="36" name="Text 34"/>
          <p:cNvSpPr/>
          <p:nvPr/>
        </p:nvSpPr>
        <p:spPr>
          <a:xfrm>
            <a:off x="9227820" y="2941320"/>
            <a:ext cx="2257425" cy="190500"/>
          </a:xfrm>
          <a:prstGeom prst="rect">
            <a:avLst/>
          </a:prstGeom>
          <a:noFill/>
          <a:ln/>
        </p:spPr>
        <p:txBody>
          <a:bodyPr wrap="square" lIns="0" tIns="0" rIns="0" bIns="0" rtlCol="0" anchor="ctr"/>
          <a:lstStyle/>
          <a:p>
            <a:pPr>
              <a:lnSpc>
                <a:spcPct val="120000"/>
              </a:lnSpc>
            </a:pPr>
            <a:r>
              <a:rPr lang="en-US" sz="1050" b="1" dirty="0">
                <a:solidFill>
                  <a:srgbClr val="1E3A5F"/>
                </a:solidFill>
                <a:latin typeface="Liter" pitchFamily="34" charset="0"/>
                <a:ea typeface="Liter" pitchFamily="34" charset="-122"/>
                <a:cs typeface="Liter" pitchFamily="34" charset="-120"/>
              </a:rPr>
              <a:t>Schedule Management</a:t>
            </a:r>
            <a:endParaRPr lang="en-US" sz="1600" dirty="0"/>
          </a:p>
        </p:txBody>
      </p:sp>
      <p:sp>
        <p:nvSpPr>
          <p:cNvPr id="37" name="Text 35"/>
          <p:cNvSpPr/>
          <p:nvPr/>
        </p:nvSpPr>
        <p:spPr>
          <a:xfrm>
            <a:off x="9227820" y="3169920"/>
            <a:ext cx="2247900" cy="304800"/>
          </a:xfrm>
          <a:prstGeom prst="rect">
            <a:avLst/>
          </a:prstGeom>
          <a:noFill/>
          <a:ln/>
        </p:spPr>
        <p:txBody>
          <a:bodyPr wrap="square" lIns="0" tIns="0" rIns="0" bIns="0" rtlCol="0" anchor="ctr"/>
          <a:lstStyle/>
          <a:p>
            <a:pPr>
              <a:lnSpc>
                <a:spcPct val="110000"/>
              </a:lnSpc>
            </a:pPr>
            <a:r>
              <a:rPr lang="en-US" sz="900" dirty="0">
                <a:solidFill>
                  <a:srgbClr val="1E293B">
                    <a:alpha val="70000"/>
                  </a:srgbClr>
                </a:solidFill>
                <a:latin typeface="Quattrocento Sans" pitchFamily="34" charset="0"/>
                <a:ea typeface="Quattrocento Sans" pitchFamily="34" charset="-122"/>
                <a:cs typeface="Quattrocento Sans" pitchFamily="34" charset="-120"/>
              </a:rPr>
              <a:t>Maintain doctor schedules efficiently with real-time updates</a:t>
            </a:r>
            <a:endParaRPr lang="en-US" sz="1600" dirty="0"/>
          </a:p>
        </p:txBody>
      </p:sp>
      <p:sp>
        <p:nvSpPr>
          <p:cNvPr id="38" name="Shape 36"/>
          <p:cNvSpPr/>
          <p:nvPr/>
        </p:nvSpPr>
        <p:spPr>
          <a:xfrm>
            <a:off x="6442710" y="3864530"/>
            <a:ext cx="2503170" cy="1303020"/>
          </a:xfrm>
          <a:custGeom>
            <a:avLst/>
            <a:gdLst/>
            <a:ahLst/>
            <a:cxnLst/>
            <a:rect l="l" t="t" r="r" b="b"/>
            <a:pathLst>
              <a:path w="2503170" h="1303020">
                <a:moveTo>
                  <a:pt x="76201" y="0"/>
                </a:moveTo>
                <a:lnTo>
                  <a:pt x="2426969" y="0"/>
                </a:lnTo>
                <a:cubicBezTo>
                  <a:pt x="2469054" y="0"/>
                  <a:pt x="2503170" y="34116"/>
                  <a:pt x="2503170" y="76201"/>
                </a:cubicBezTo>
                <a:lnTo>
                  <a:pt x="2503170" y="1226819"/>
                </a:lnTo>
                <a:cubicBezTo>
                  <a:pt x="2503170" y="1268904"/>
                  <a:pt x="2469054" y="1303020"/>
                  <a:pt x="2426969" y="1303020"/>
                </a:cubicBezTo>
                <a:lnTo>
                  <a:pt x="76201" y="1303020"/>
                </a:lnTo>
                <a:cubicBezTo>
                  <a:pt x="34116" y="1303020"/>
                  <a:pt x="0" y="1268904"/>
                  <a:pt x="0" y="1226819"/>
                </a:cubicBezTo>
                <a:lnTo>
                  <a:pt x="0" y="76201"/>
                </a:lnTo>
                <a:cubicBezTo>
                  <a:pt x="0" y="34144"/>
                  <a:pt x="34144" y="0"/>
                  <a:pt x="76201" y="0"/>
                </a:cubicBezTo>
                <a:close/>
              </a:path>
            </a:pathLst>
          </a:custGeom>
          <a:solidFill>
            <a:srgbClr val="F8FAFC"/>
          </a:solidFill>
          <a:ln w="10160">
            <a:solidFill>
              <a:srgbClr val="1E3A5F">
                <a:alpha val="20000"/>
              </a:srgbClr>
            </a:solidFill>
            <a:prstDash val="solid"/>
          </a:ln>
        </p:spPr>
      </p:sp>
      <p:sp>
        <p:nvSpPr>
          <p:cNvPr id="39" name="Shape 37"/>
          <p:cNvSpPr/>
          <p:nvPr/>
        </p:nvSpPr>
        <p:spPr>
          <a:xfrm>
            <a:off x="6598920" y="4020741"/>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1E3A5F">
              <a:alpha val="10196"/>
            </a:srgbClr>
          </a:solidFill>
          <a:ln/>
        </p:spPr>
      </p:sp>
      <p:sp>
        <p:nvSpPr>
          <p:cNvPr id="40" name="Shape 38"/>
          <p:cNvSpPr/>
          <p:nvPr/>
        </p:nvSpPr>
        <p:spPr>
          <a:xfrm>
            <a:off x="6706076" y="4125516"/>
            <a:ext cx="171450" cy="171450"/>
          </a:xfrm>
          <a:custGeom>
            <a:avLst/>
            <a:gdLst/>
            <a:ahLst/>
            <a:cxnLst/>
            <a:rect l="l" t="t" r="r" b="b"/>
            <a:pathLst>
              <a:path w="171450" h="171450">
                <a:moveTo>
                  <a:pt x="0" y="42863"/>
                </a:moveTo>
                <a:lnTo>
                  <a:pt x="0" y="53578"/>
                </a:lnTo>
                <a:lnTo>
                  <a:pt x="171450" y="53578"/>
                </a:lnTo>
                <a:lnTo>
                  <a:pt x="171450" y="42863"/>
                </a:lnTo>
                <a:cubicBezTo>
                  <a:pt x="171450" y="31042"/>
                  <a:pt x="161839" y="21431"/>
                  <a:pt x="150019" y="21431"/>
                </a:cubicBezTo>
                <a:lnTo>
                  <a:pt x="21431" y="21431"/>
                </a:lnTo>
                <a:cubicBezTo>
                  <a:pt x="9611" y="21431"/>
                  <a:pt x="0" y="31042"/>
                  <a:pt x="0" y="42863"/>
                </a:cubicBezTo>
                <a:close/>
                <a:moveTo>
                  <a:pt x="0" y="69652"/>
                </a:moveTo>
                <a:lnTo>
                  <a:pt x="0" y="128588"/>
                </a:lnTo>
                <a:cubicBezTo>
                  <a:pt x="0" y="140408"/>
                  <a:pt x="9611" y="150019"/>
                  <a:pt x="21431" y="150019"/>
                </a:cubicBezTo>
                <a:lnTo>
                  <a:pt x="150019" y="150019"/>
                </a:lnTo>
                <a:cubicBezTo>
                  <a:pt x="161839" y="150019"/>
                  <a:pt x="171450" y="140408"/>
                  <a:pt x="171450" y="128588"/>
                </a:cubicBezTo>
                <a:lnTo>
                  <a:pt x="171450" y="69652"/>
                </a:lnTo>
                <a:lnTo>
                  <a:pt x="0" y="69652"/>
                </a:lnTo>
                <a:close/>
                <a:moveTo>
                  <a:pt x="21431" y="120551"/>
                </a:moveTo>
                <a:cubicBezTo>
                  <a:pt x="21431" y="116097"/>
                  <a:pt x="25014" y="112514"/>
                  <a:pt x="29468" y="112514"/>
                </a:cubicBezTo>
                <a:lnTo>
                  <a:pt x="45541" y="112514"/>
                </a:lnTo>
                <a:cubicBezTo>
                  <a:pt x="49995" y="112514"/>
                  <a:pt x="53578" y="116097"/>
                  <a:pt x="53578" y="120551"/>
                </a:cubicBezTo>
                <a:cubicBezTo>
                  <a:pt x="53578" y="125004"/>
                  <a:pt x="49995" y="128588"/>
                  <a:pt x="45541" y="128588"/>
                </a:cubicBezTo>
                <a:lnTo>
                  <a:pt x="29468" y="128588"/>
                </a:lnTo>
                <a:cubicBezTo>
                  <a:pt x="25014" y="128588"/>
                  <a:pt x="21431" y="125004"/>
                  <a:pt x="21431" y="120551"/>
                </a:cubicBezTo>
                <a:close/>
                <a:moveTo>
                  <a:pt x="69652" y="120551"/>
                </a:moveTo>
                <a:cubicBezTo>
                  <a:pt x="69652" y="116097"/>
                  <a:pt x="73235" y="112514"/>
                  <a:pt x="77688" y="112514"/>
                </a:cubicBezTo>
                <a:lnTo>
                  <a:pt x="99120" y="112514"/>
                </a:lnTo>
                <a:cubicBezTo>
                  <a:pt x="103573" y="112514"/>
                  <a:pt x="107156" y="116097"/>
                  <a:pt x="107156" y="120551"/>
                </a:cubicBezTo>
                <a:cubicBezTo>
                  <a:pt x="107156" y="125004"/>
                  <a:pt x="103573" y="128588"/>
                  <a:pt x="99120" y="128588"/>
                </a:cubicBezTo>
                <a:lnTo>
                  <a:pt x="77688" y="128588"/>
                </a:lnTo>
                <a:cubicBezTo>
                  <a:pt x="73235" y="128588"/>
                  <a:pt x="69652" y="125004"/>
                  <a:pt x="69652" y="120551"/>
                </a:cubicBezTo>
                <a:close/>
              </a:path>
            </a:pathLst>
          </a:custGeom>
          <a:solidFill>
            <a:srgbClr val="1E3A5F"/>
          </a:solidFill>
          <a:ln/>
        </p:spPr>
      </p:sp>
      <p:sp>
        <p:nvSpPr>
          <p:cNvPr id="41" name="Text 39"/>
          <p:cNvSpPr/>
          <p:nvPr/>
        </p:nvSpPr>
        <p:spPr>
          <a:xfrm>
            <a:off x="6598920" y="4516041"/>
            <a:ext cx="2257425" cy="190500"/>
          </a:xfrm>
          <a:prstGeom prst="rect">
            <a:avLst/>
          </a:prstGeom>
          <a:noFill/>
          <a:ln/>
        </p:spPr>
        <p:txBody>
          <a:bodyPr wrap="square" lIns="0" tIns="0" rIns="0" bIns="0" rtlCol="0" anchor="ctr"/>
          <a:lstStyle/>
          <a:p>
            <a:pPr>
              <a:lnSpc>
                <a:spcPct val="120000"/>
              </a:lnSpc>
            </a:pPr>
            <a:r>
              <a:rPr lang="en-US" sz="1050" b="1" dirty="0">
                <a:solidFill>
                  <a:srgbClr val="1E3A5F"/>
                </a:solidFill>
                <a:latin typeface="Liter" pitchFamily="34" charset="0"/>
                <a:ea typeface="Liter" pitchFamily="34" charset="-122"/>
                <a:cs typeface="Liter" pitchFamily="34" charset="-120"/>
              </a:rPr>
              <a:t>Payment Tracking</a:t>
            </a:r>
            <a:endParaRPr lang="en-US" sz="1600" dirty="0"/>
          </a:p>
        </p:txBody>
      </p:sp>
      <p:sp>
        <p:nvSpPr>
          <p:cNvPr id="42" name="Text 40"/>
          <p:cNvSpPr/>
          <p:nvPr/>
        </p:nvSpPr>
        <p:spPr>
          <a:xfrm>
            <a:off x="6598920" y="4744641"/>
            <a:ext cx="2247900" cy="152400"/>
          </a:xfrm>
          <a:prstGeom prst="rect">
            <a:avLst/>
          </a:prstGeom>
          <a:noFill/>
          <a:ln/>
        </p:spPr>
        <p:txBody>
          <a:bodyPr wrap="square" lIns="0" tIns="0" rIns="0" bIns="0" rtlCol="0" anchor="ctr"/>
          <a:lstStyle/>
          <a:p>
            <a:pPr>
              <a:lnSpc>
                <a:spcPct val="110000"/>
              </a:lnSpc>
            </a:pPr>
            <a:r>
              <a:rPr lang="en-US" sz="900" dirty="0">
                <a:solidFill>
                  <a:srgbClr val="1E293B">
                    <a:alpha val="70000"/>
                  </a:srgbClr>
                </a:solidFill>
                <a:latin typeface="Quattrocento Sans" pitchFamily="34" charset="0"/>
                <a:ea typeface="Quattrocento Sans" pitchFamily="34" charset="-122"/>
                <a:cs typeface="Quattrocento Sans" pitchFamily="34" charset="-120"/>
              </a:rPr>
              <a:t>Track payments with unique transaction IDs</a:t>
            </a:r>
            <a:endParaRPr lang="en-US" sz="1600" dirty="0"/>
          </a:p>
        </p:txBody>
      </p:sp>
      <p:sp>
        <p:nvSpPr>
          <p:cNvPr id="43" name="Shape 41"/>
          <p:cNvSpPr/>
          <p:nvPr/>
        </p:nvSpPr>
        <p:spPr>
          <a:xfrm>
            <a:off x="9071610" y="3864530"/>
            <a:ext cx="2503170" cy="1303020"/>
          </a:xfrm>
          <a:custGeom>
            <a:avLst/>
            <a:gdLst/>
            <a:ahLst/>
            <a:cxnLst/>
            <a:rect l="l" t="t" r="r" b="b"/>
            <a:pathLst>
              <a:path w="2503170" h="1303020">
                <a:moveTo>
                  <a:pt x="76201" y="0"/>
                </a:moveTo>
                <a:lnTo>
                  <a:pt x="2426969" y="0"/>
                </a:lnTo>
                <a:cubicBezTo>
                  <a:pt x="2469054" y="0"/>
                  <a:pt x="2503170" y="34116"/>
                  <a:pt x="2503170" y="76201"/>
                </a:cubicBezTo>
                <a:lnTo>
                  <a:pt x="2503170" y="1226819"/>
                </a:lnTo>
                <a:cubicBezTo>
                  <a:pt x="2503170" y="1268904"/>
                  <a:pt x="2469054" y="1303020"/>
                  <a:pt x="2426969" y="1303020"/>
                </a:cubicBezTo>
                <a:lnTo>
                  <a:pt x="76201" y="1303020"/>
                </a:lnTo>
                <a:cubicBezTo>
                  <a:pt x="34116" y="1303020"/>
                  <a:pt x="0" y="1268904"/>
                  <a:pt x="0" y="1226819"/>
                </a:cubicBezTo>
                <a:lnTo>
                  <a:pt x="0" y="76201"/>
                </a:lnTo>
                <a:cubicBezTo>
                  <a:pt x="0" y="34144"/>
                  <a:pt x="34144" y="0"/>
                  <a:pt x="76201" y="0"/>
                </a:cubicBezTo>
                <a:close/>
              </a:path>
            </a:pathLst>
          </a:custGeom>
          <a:solidFill>
            <a:srgbClr val="F8FAFC"/>
          </a:solidFill>
          <a:ln w="10160">
            <a:solidFill>
              <a:srgbClr val="3B82F6">
                <a:alpha val="20000"/>
              </a:srgbClr>
            </a:solidFill>
            <a:prstDash val="solid"/>
          </a:ln>
        </p:spPr>
      </p:sp>
      <p:sp>
        <p:nvSpPr>
          <p:cNvPr id="44" name="Shape 42"/>
          <p:cNvSpPr/>
          <p:nvPr/>
        </p:nvSpPr>
        <p:spPr>
          <a:xfrm>
            <a:off x="9227820" y="4020741"/>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3B82F6">
              <a:alpha val="10196"/>
            </a:srgbClr>
          </a:solidFill>
          <a:ln/>
        </p:spPr>
      </p:sp>
      <p:sp>
        <p:nvSpPr>
          <p:cNvPr id="45" name="Shape 43"/>
          <p:cNvSpPr/>
          <p:nvPr/>
        </p:nvSpPr>
        <p:spPr>
          <a:xfrm>
            <a:off x="9356407" y="4125516"/>
            <a:ext cx="128588" cy="171450"/>
          </a:xfrm>
          <a:custGeom>
            <a:avLst/>
            <a:gdLst/>
            <a:ahLst/>
            <a:cxnLst/>
            <a:rect l="l" t="t" r="r" b="b"/>
            <a:pathLst>
              <a:path w="128588" h="171450">
                <a:moveTo>
                  <a:pt x="0" y="21431"/>
                </a:moveTo>
                <a:cubicBezTo>
                  <a:pt x="0" y="9611"/>
                  <a:pt x="9611" y="0"/>
                  <a:pt x="21431" y="0"/>
                </a:cubicBezTo>
                <a:lnTo>
                  <a:pt x="71493" y="0"/>
                </a:lnTo>
                <a:cubicBezTo>
                  <a:pt x="77186" y="0"/>
                  <a:pt x="82644" y="2244"/>
                  <a:pt x="86663" y="6262"/>
                </a:cubicBezTo>
                <a:lnTo>
                  <a:pt x="122326" y="41958"/>
                </a:lnTo>
                <a:cubicBezTo>
                  <a:pt x="126344" y="45977"/>
                  <a:pt x="128588" y="51435"/>
                  <a:pt x="128588" y="57128"/>
                </a:cubicBezTo>
                <a:lnTo>
                  <a:pt x="128588" y="150019"/>
                </a:lnTo>
                <a:cubicBezTo>
                  <a:pt x="128588" y="161839"/>
                  <a:pt x="118977" y="171450"/>
                  <a:pt x="107156" y="171450"/>
                </a:cubicBezTo>
                <a:lnTo>
                  <a:pt x="21431" y="171450"/>
                </a:lnTo>
                <a:cubicBezTo>
                  <a:pt x="9611" y="171450"/>
                  <a:pt x="0" y="161839"/>
                  <a:pt x="0" y="150019"/>
                </a:cubicBezTo>
                <a:lnTo>
                  <a:pt x="0" y="21431"/>
                </a:lnTo>
                <a:close/>
                <a:moveTo>
                  <a:pt x="69652" y="19590"/>
                </a:moveTo>
                <a:lnTo>
                  <a:pt x="69652" y="50899"/>
                </a:lnTo>
                <a:cubicBezTo>
                  <a:pt x="69652" y="55353"/>
                  <a:pt x="73235" y="58936"/>
                  <a:pt x="77688" y="58936"/>
                </a:cubicBezTo>
                <a:lnTo>
                  <a:pt x="108998" y="58936"/>
                </a:lnTo>
                <a:lnTo>
                  <a:pt x="69652" y="19590"/>
                </a:lnTo>
                <a:close/>
                <a:moveTo>
                  <a:pt x="29468" y="64294"/>
                </a:moveTo>
                <a:cubicBezTo>
                  <a:pt x="25014" y="64294"/>
                  <a:pt x="21431" y="67877"/>
                  <a:pt x="21431" y="72330"/>
                </a:cubicBezTo>
                <a:lnTo>
                  <a:pt x="21431" y="120551"/>
                </a:lnTo>
                <a:cubicBezTo>
                  <a:pt x="21431" y="125004"/>
                  <a:pt x="25014" y="128588"/>
                  <a:pt x="29468" y="128588"/>
                </a:cubicBezTo>
                <a:cubicBezTo>
                  <a:pt x="33922" y="128588"/>
                  <a:pt x="37505" y="125004"/>
                  <a:pt x="37505" y="120551"/>
                </a:cubicBezTo>
                <a:lnTo>
                  <a:pt x="37505" y="107156"/>
                </a:lnTo>
                <a:lnTo>
                  <a:pt x="45039" y="107156"/>
                </a:lnTo>
                <a:lnTo>
                  <a:pt x="64595" y="125574"/>
                </a:lnTo>
                <a:lnTo>
                  <a:pt x="53411" y="136155"/>
                </a:lnTo>
                <a:cubicBezTo>
                  <a:pt x="50196" y="139203"/>
                  <a:pt x="50029" y="144293"/>
                  <a:pt x="53109" y="147507"/>
                </a:cubicBezTo>
                <a:cubicBezTo>
                  <a:pt x="56190" y="150722"/>
                  <a:pt x="61246" y="150889"/>
                  <a:pt x="64461" y="147809"/>
                </a:cubicBezTo>
                <a:lnTo>
                  <a:pt x="76315" y="136591"/>
                </a:lnTo>
                <a:lnTo>
                  <a:pt x="88236" y="147809"/>
                </a:lnTo>
                <a:cubicBezTo>
                  <a:pt x="91485" y="150856"/>
                  <a:pt x="96541" y="150688"/>
                  <a:pt x="99588" y="147474"/>
                </a:cubicBezTo>
                <a:cubicBezTo>
                  <a:pt x="102636" y="144259"/>
                  <a:pt x="102468" y="139169"/>
                  <a:pt x="99253" y="136122"/>
                </a:cubicBezTo>
                <a:lnTo>
                  <a:pt x="88002" y="125540"/>
                </a:lnTo>
                <a:lnTo>
                  <a:pt x="99253" y="114892"/>
                </a:lnTo>
                <a:cubicBezTo>
                  <a:pt x="102468" y="111844"/>
                  <a:pt x="102636" y="106754"/>
                  <a:pt x="99555" y="103540"/>
                </a:cubicBezTo>
                <a:cubicBezTo>
                  <a:pt x="96474" y="100325"/>
                  <a:pt x="91418" y="100158"/>
                  <a:pt x="88203" y="103238"/>
                </a:cubicBezTo>
                <a:lnTo>
                  <a:pt x="76248" y="114523"/>
                </a:lnTo>
                <a:lnTo>
                  <a:pt x="62552" y="101631"/>
                </a:lnTo>
                <a:cubicBezTo>
                  <a:pt x="66872" y="97713"/>
                  <a:pt x="69618" y="92054"/>
                  <a:pt x="69618" y="85725"/>
                </a:cubicBezTo>
                <a:cubicBezTo>
                  <a:pt x="69618" y="73904"/>
                  <a:pt x="60008" y="64294"/>
                  <a:pt x="48187" y="64294"/>
                </a:cubicBezTo>
                <a:lnTo>
                  <a:pt x="29434" y="64294"/>
                </a:lnTo>
                <a:close/>
                <a:moveTo>
                  <a:pt x="40184" y="91083"/>
                </a:moveTo>
                <a:lnTo>
                  <a:pt x="37505" y="91083"/>
                </a:lnTo>
                <a:lnTo>
                  <a:pt x="37505" y="80367"/>
                </a:lnTo>
                <a:lnTo>
                  <a:pt x="48220" y="80367"/>
                </a:lnTo>
                <a:cubicBezTo>
                  <a:pt x="51167" y="80367"/>
                  <a:pt x="53578" y="82778"/>
                  <a:pt x="53578" y="85725"/>
                </a:cubicBezTo>
                <a:cubicBezTo>
                  <a:pt x="53578" y="88672"/>
                  <a:pt x="51167" y="91083"/>
                  <a:pt x="48220" y="91083"/>
                </a:cubicBezTo>
                <a:lnTo>
                  <a:pt x="40184" y="91083"/>
                </a:lnTo>
                <a:close/>
              </a:path>
            </a:pathLst>
          </a:custGeom>
          <a:solidFill>
            <a:srgbClr val="3B82F6"/>
          </a:solidFill>
          <a:ln/>
        </p:spPr>
      </p:sp>
      <p:sp>
        <p:nvSpPr>
          <p:cNvPr id="46" name="Text 44"/>
          <p:cNvSpPr/>
          <p:nvPr/>
        </p:nvSpPr>
        <p:spPr>
          <a:xfrm>
            <a:off x="9227820" y="4516041"/>
            <a:ext cx="2257425" cy="190500"/>
          </a:xfrm>
          <a:prstGeom prst="rect">
            <a:avLst/>
          </a:prstGeom>
          <a:noFill/>
          <a:ln/>
        </p:spPr>
        <p:txBody>
          <a:bodyPr wrap="square" lIns="0" tIns="0" rIns="0" bIns="0" rtlCol="0" anchor="ctr"/>
          <a:lstStyle/>
          <a:p>
            <a:pPr>
              <a:lnSpc>
                <a:spcPct val="120000"/>
              </a:lnSpc>
            </a:pPr>
            <a:r>
              <a:rPr lang="en-US" sz="1050" b="1" dirty="0">
                <a:solidFill>
                  <a:srgbClr val="1E3A5F"/>
                </a:solidFill>
                <a:latin typeface="Liter" pitchFamily="34" charset="0"/>
                <a:ea typeface="Liter" pitchFamily="34" charset="-122"/>
                <a:cs typeface="Liter" pitchFamily="34" charset="-120"/>
              </a:rPr>
              <a:t>Digital Prescriptions</a:t>
            </a:r>
            <a:endParaRPr lang="en-US" sz="1600" dirty="0"/>
          </a:p>
        </p:txBody>
      </p:sp>
      <p:sp>
        <p:nvSpPr>
          <p:cNvPr id="47" name="Text 45"/>
          <p:cNvSpPr/>
          <p:nvPr/>
        </p:nvSpPr>
        <p:spPr>
          <a:xfrm>
            <a:off x="9227820" y="4744641"/>
            <a:ext cx="2247900" cy="152400"/>
          </a:xfrm>
          <a:prstGeom prst="rect">
            <a:avLst/>
          </a:prstGeom>
          <a:noFill/>
          <a:ln/>
        </p:spPr>
        <p:txBody>
          <a:bodyPr wrap="square" lIns="0" tIns="0" rIns="0" bIns="0" rtlCol="0" anchor="ctr"/>
          <a:lstStyle/>
          <a:p>
            <a:pPr>
              <a:lnSpc>
                <a:spcPct val="110000"/>
              </a:lnSpc>
            </a:pPr>
            <a:r>
              <a:rPr lang="en-US" sz="900" dirty="0">
                <a:solidFill>
                  <a:srgbClr val="1E293B">
                    <a:alpha val="70000"/>
                  </a:srgbClr>
                </a:solidFill>
                <a:latin typeface="Quattrocento Sans" pitchFamily="34" charset="0"/>
                <a:ea typeface="Quattrocento Sans" pitchFamily="34" charset="-122"/>
                <a:cs typeface="Quattrocento Sans" pitchFamily="34" charset="-120"/>
              </a:rPr>
              <a:t>Store prescriptions digitally for easy access</a:t>
            </a:r>
            <a:endParaRPr lang="en-US" sz="1600" dirty="0"/>
          </a:p>
        </p:txBody>
      </p:sp>
      <p:sp>
        <p:nvSpPr>
          <p:cNvPr id="48" name="Shape 46"/>
          <p:cNvSpPr/>
          <p:nvPr/>
        </p:nvSpPr>
        <p:spPr>
          <a:xfrm>
            <a:off x="6442710" y="5286971"/>
            <a:ext cx="5132070" cy="960120"/>
          </a:xfrm>
          <a:custGeom>
            <a:avLst/>
            <a:gdLst/>
            <a:ahLst/>
            <a:cxnLst/>
            <a:rect l="l" t="t" r="r" b="b"/>
            <a:pathLst>
              <a:path w="5132070" h="960120">
                <a:moveTo>
                  <a:pt x="76205" y="0"/>
                </a:moveTo>
                <a:lnTo>
                  <a:pt x="5055865" y="0"/>
                </a:lnTo>
                <a:cubicBezTo>
                  <a:pt x="5097952" y="0"/>
                  <a:pt x="5132070" y="34118"/>
                  <a:pt x="5132070" y="76205"/>
                </a:cubicBezTo>
                <a:lnTo>
                  <a:pt x="5132070" y="883915"/>
                </a:lnTo>
                <a:cubicBezTo>
                  <a:pt x="5132070" y="926002"/>
                  <a:pt x="5097952" y="960120"/>
                  <a:pt x="5055865" y="960120"/>
                </a:cubicBezTo>
                <a:lnTo>
                  <a:pt x="76205" y="960120"/>
                </a:lnTo>
                <a:cubicBezTo>
                  <a:pt x="34118" y="960120"/>
                  <a:pt x="0" y="926002"/>
                  <a:pt x="0" y="883915"/>
                </a:cubicBezTo>
                <a:lnTo>
                  <a:pt x="0" y="76205"/>
                </a:lnTo>
                <a:cubicBezTo>
                  <a:pt x="0" y="34118"/>
                  <a:pt x="34118" y="0"/>
                  <a:pt x="76205" y="0"/>
                </a:cubicBezTo>
                <a:close/>
              </a:path>
            </a:pathLst>
          </a:custGeom>
          <a:solidFill>
            <a:srgbClr val="F8FAFC"/>
          </a:solidFill>
          <a:ln w="10160">
            <a:solidFill>
              <a:srgbClr val="10B981">
                <a:alpha val="20000"/>
              </a:srgbClr>
            </a:solidFill>
            <a:prstDash val="solid"/>
          </a:ln>
        </p:spPr>
      </p:sp>
      <p:sp>
        <p:nvSpPr>
          <p:cNvPr id="49" name="Shape 47"/>
          <p:cNvSpPr/>
          <p:nvPr/>
        </p:nvSpPr>
        <p:spPr>
          <a:xfrm>
            <a:off x="6598920" y="5443182"/>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10B981">
              <a:alpha val="10196"/>
            </a:srgbClr>
          </a:solidFill>
          <a:ln/>
        </p:spPr>
      </p:sp>
      <p:sp>
        <p:nvSpPr>
          <p:cNvPr id="50" name="Shape 48"/>
          <p:cNvSpPr/>
          <p:nvPr/>
        </p:nvSpPr>
        <p:spPr>
          <a:xfrm>
            <a:off x="6716792" y="5547957"/>
            <a:ext cx="150019" cy="171450"/>
          </a:xfrm>
          <a:custGeom>
            <a:avLst/>
            <a:gdLst/>
            <a:ahLst/>
            <a:cxnLst/>
            <a:rect l="l" t="t" r="r" b="b"/>
            <a:pathLst>
              <a:path w="150019" h="171450">
                <a:moveTo>
                  <a:pt x="150019" y="68915"/>
                </a:moveTo>
                <a:cubicBezTo>
                  <a:pt x="145063" y="72197"/>
                  <a:pt x="139370" y="74842"/>
                  <a:pt x="133443" y="76952"/>
                </a:cubicBezTo>
                <a:cubicBezTo>
                  <a:pt x="117704" y="82577"/>
                  <a:pt x="97043" y="85725"/>
                  <a:pt x="75009" y="85725"/>
                </a:cubicBezTo>
                <a:cubicBezTo>
                  <a:pt x="52975" y="85725"/>
                  <a:pt x="32281" y="82544"/>
                  <a:pt x="16576" y="76952"/>
                </a:cubicBezTo>
                <a:cubicBezTo>
                  <a:pt x="10682" y="74842"/>
                  <a:pt x="4956" y="72197"/>
                  <a:pt x="0" y="68915"/>
                </a:cubicBezTo>
                <a:lnTo>
                  <a:pt x="0" y="96441"/>
                </a:lnTo>
                <a:cubicBezTo>
                  <a:pt x="0" y="111242"/>
                  <a:pt x="33587" y="123230"/>
                  <a:pt x="75009" y="123230"/>
                </a:cubicBezTo>
                <a:cubicBezTo>
                  <a:pt x="116432" y="123230"/>
                  <a:pt x="150019" y="111242"/>
                  <a:pt x="150019" y="96441"/>
                </a:cubicBezTo>
                <a:lnTo>
                  <a:pt x="150019" y="68915"/>
                </a:lnTo>
                <a:close/>
                <a:moveTo>
                  <a:pt x="150019" y="42863"/>
                </a:moveTo>
                <a:lnTo>
                  <a:pt x="150019" y="26789"/>
                </a:lnTo>
                <a:cubicBezTo>
                  <a:pt x="150019" y="11988"/>
                  <a:pt x="116432" y="0"/>
                  <a:pt x="75009" y="0"/>
                </a:cubicBezTo>
                <a:cubicBezTo>
                  <a:pt x="33587" y="0"/>
                  <a:pt x="0" y="11988"/>
                  <a:pt x="0" y="26789"/>
                </a:cubicBezTo>
                <a:lnTo>
                  <a:pt x="0" y="42863"/>
                </a:lnTo>
                <a:cubicBezTo>
                  <a:pt x="0" y="57663"/>
                  <a:pt x="33587" y="69652"/>
                  <a:pt x="75009" y="69652"/>
                </a:cubicBezTo>
                <a:cubicBezTo>
                  <a:pt x="116432" y="69652"/>
                  <a:pt x="150019" y="57663"/>
                  <a:pt x="150019" y="42863"/>
                </a:cubicBezTo>
                <a:close/>
                <a:moveTo>
                  <a:pt x="133443" y="130530"/>
                </a:moveTo>
                <a:cubicBezTo>
                  <a:pt x="117738" y="136122"/>
                  <a:pt x="97077" y="139303"/>
                  <a:pt x="75009" y="139303"/>
                </a:cubicBezTo>
                <a:cubicBezTo>
                  <a:pt x="52942" y="139303"/>
                  <a:pt x="32281" y="136122"/>
                  <a:pt x="16576" y="130530"/>
                </a:cubicBezTo>
                <a:cubicBezTo>
                  <a:pt x="10682" y="128420"/>
                  <a:pt x="4956" y="125775"/>
                  <a:pt x="0" y="122493"/>
                </a:cubicBezTo>
                <a:lnTo>
                  <a:pt x="0" y="144661"/>
                </a:lnTo>
                <a:cubicBezTo>
                  <a:pt x="0" y="159462"/>
                  <a:pt x="33587" y="171450"/>
                  <a:pt x="75009" y="171450"/>
                </a:cubicBezTo>
                <a:cubicBezTo>
                  <a:pt x="116432" y="171450"/>
                  <a:pt x="150019" y="159462"/>
                  <a:pt x="150019" y="144661"/>
                </a:cubicBezTo>
                <a:lnTo>
                  <a:pt x="150019" y="122493"/>
                </a:lnTo>
                <a:cubicBezTo>
                  <a:pt x="145063" y="125775"/>
                  <a:pt x="139370" y="128420"/>
                  <a:pt x="133443" y="130530"/>
                </a:cubicBezTo>
                <a:close/>
              </a:path>
            </a:pathLst>
          </a:custGeom>
          <a:solidFill>
            <a:srgbClr val="10B981"/>
          </a:solidFill>
          <a:ln/>
        </p:spPr>
      </p:sp>
      <p:sp>
        <p:nvSpPr>
          <p:cNvPr id="51" name="Text 49"/>
          <p:cNvSpPr/>
          <p:nvPr/>
        </p:nvSpPr>
        <p:spPr>
          <a:xfrm>
            <a:off x="7094220" y="5443182"/>
            <a:ext cx="4391025" cy="190500"/>
          </a:xfrm>
          <a:prstGeom prst="rect">
            <a:avLst/>
          </a:prstGeom>
          <a:noFill/>
          <a:ln/>
        </p:spPr>
        <p:txBody>
          <a:bodyPr wrap="square" lIns="0" tIns="0" rIns="0" bIns="0" rtlCol="0" anchor="ctr"/>
          <a:lstStyle/>
          <a:p>
            <a:pPr>
              <a:lnSpc>
                <a:spcPct val="120000"/>
              </a:lnSpc>
            </a:pPr>
            <a:r>
              <a:rPr lang="en-US" sz="1050" b="1" dirty="0">
                <a:solidFill>
                  <a:srgbClr val="1E3A5F"/>
                </a:solidFill>
                <a:latin typeface="Liter" pitchFamily="34" charset="0"/>
                <a:ea typeface="Liter" pitchFamily="34" charset="-122"/>
                <a:cs typeface="Liter" pitchFamily="34" charset="-120"/>
              </a:rPr>
              <a:t>Secure Medical Records</a:t>
            </a:r>
            <a:endParaRPr lang="en-US" sz="1600" dirty="0"/>
          </a:p>
        </p:txBody>
      </p:sp>
      <p:sp>
        <p:nvSpPr>
          <p:cNvPr id="52" name="Text 50"/>
          <p:cNvSpPr/>
          <p:nvPr/>
        </p:nvSpPr>
        <p:spPr>
          <a:xfrm>
            <a:off x="7094220" y="5671782"/>
            <a:ext cx="4381500" cy="304800"/>
          </a:xfrm>
          <a:prstGeom prst="rect">
            <a:avLst/>
          </a:prstGeom>
          <a:noFill/>
          <a:ln/>
        </p:spPr>
        <p:txBody>
          <a:bodyPr wrap="square" lIns="0" tIns="0" rIns="0" bIns="0" rtlCol="0" anchor="ctr"/>
          <a:lstStyle/>
          <a:p>
            <a:pPr>
              <a:lnSpc>
                <a:spcPct val="110000"/>
              </a:lnSpc>
            </a:pPr>
            <a:r>
              <a:rPr lang="en-US" sz="900" dirty="0">
                <a:solidFill>
                  <a:srgbClr val="1E293B">
                    <a:alpha val="70000"/>
                  </a:srgbClr>
                </a:solidFill>
                <a:latin typeface="Quattrocento Sans" pitchFamily="34" charset="0"/>
                <a:ea typeface="Quattrocento Sans" pitchFamily="34" charset="-122"/>
                <a:cs typeface="Quattrocento Sans" pitchFamily="34" charset="-120"/>
              </a:rPr>
              <a:t>Maintain patient medical records securely with proper data integrity and access controls</a:t>
            </a:r>
            <a:endParaRPr lang="en-US" sz="1600" dirty="0"/>
          </a:p>
        </p:txBody>
      </p:sp>
      <p:pic>
        <p:nvPicPr>
          <p:cNvPr id="53" name="Picture 52">
            <a:extLst>
              <a:ext uri="{FF2B5EF4-FFF2-40B4-BE49-F238E27FC236}">
                <a16:creationId xmlns:a16="http://schemas.microsoft.com/office/drawing/2014/main" id="{E08D02CB-A622-4D00-9E17-3A4BA082A220}"/>
              </a:ext>
            </a:extLst>
          </p:cNvPr>
          <p:cNvPicPr>
            <a:picLocks noChangeAspect="1"/>
          </p:cNvPicPr>
          <p:nvPr/>
        </p:nvPicPr>
        <p:blipFill>
          <a:blip r:embed="rId3"/>
          <a:stretch>
            <a:fillRect/>
          </a:stretch>
        </p:blipFill>
        <p:spPr>
          <a:xfrm>
            <a:off x="11084957" y="268728"/>
            <a:ext cx="726043" cy="973387"/>
          </a:xfrm>
          <a:prstGeom prst="rect">
            <a:avLst/>
          </a:prstGeom>
        </p:spPr>
      </p:pic>
      <p:sp>
        <p:nvSpPr>
          <p:cNvPr id="54" name="TextBox 53">
            <a:extLst>
              <a:ext uri="{FF2B5EF4-FFF2-40B4-BE49-F238E27FC236}">
                <a16:creationId xmlns:a16="http://schemas.microsoft.com/office/drawing/2014/main" id="{BA796605-3FCD-492A-AFAA-E0E13B8A2A00}"/>
              </a:ext>
            </a:extLst>
          </p:cNvPr>
          <p:cNvSpPr txBox="1"/>
          <p:nvPr/>
        </p:nvSpPr>
        <p:spPr>
          <a:xfrm>
            <a:off x="11671221" y="6473785"/>
            <a:ext cx="457200"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05</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kern="0" spc="53" dirty="0">
                <a:solidFill>
                  <a:srgbClr val="3B82F6"/>
                </a:solidFill>
                <a:latin typeface="Quattrocento Sans" pitchFamily="34" charset="0"/>
                <a:ea typeface="Quattrocento Sans" pitchFamily="34" charset="-122"/>
                <a:cs typeface="Quattrocento Sans" pitchFamily="34" charset="-120"/>
              </a:rPr>
              <a:t>SYSTEM CAPABILITIES</a:t>
            </a:r>
            <a:endParaRPr lang="en-US" sz="1600" dirty="0"/>
          </a:p>
        </p:txBody>
      </p:sp>
      <p:sp>
        <p:nvSpPr>
          <p:cNvPr id="3" name="Text 1"/>
          <p:cNvSpPr/>
          <p:nvPr/>
        </p:nvSpPr>
        <p:spPr>
          <a:xfrm>
            <a:off x="381000" y="647700"/>
            <a:ext cx="11601450" cy="381000"/>
          </a:xfrm>
          <a:prstGeom prst="rect">
            <a:avLst/>
          </a:prstGeom>
          <a:noFill/>
          <a:ln/>
        </p:spPr>
        <p:txBody>
          <a:bodyPr wrap="square" lIns="0" tIns="0" rIns="0" bIns="0" rtlCol="0" anchor="ctr"/>
          <a:lstStyle/>
          <a:p>
            <a:pPr>
              <a:lnSpc>
                <a:spcPct val="90000"/>
              </a:lnSpc>
            </a:pPr>
            <a:r>
              <a:rPr lang="en-US" sz="2700" b="1" dirty="0">
                <a:solidFill>
                  <a:srgbClr val="1E3A5F"/>
                </a:solidFill>
                <a:latin typeface="Liter" pitchFamily="34" charset="0"/>
                <a:ea typeface="Liter" pitchFamily="34" charset="-122"/>
                <a:cs typeface="Liter" pitchFamily="34" charset="-120"/>
              </a:rPr>
              <a:t>Feature Listing</a:t>
            </a:r>
            <a:endParaRPr lang="en-US" sz="1600" dirty="0"/>
          </a:p>
        </p:txBody>
      </p:sp>
      <p:sp>
        <p:nvSpPr>
          <p:cNvPr id="4" name="Shape 2"/>
          <p:cNvSpPr/>
          <p:nvPr/>
        </p:nvSpPr>
        <p:spPr>
          <a:xfrm>
            <a:off x="381000" y="1143000"/>
            <a:ext cx="762000" cy="38100"/>
          </a:xfrm>
          <a:custGeom>
            <a:avLst/>
            <a:gdLst/>
            <a:ahLst/>
            <a:cxnLst/>
            <a:rect l="l" t="t" r="r" b="b"/>
            <a:pathLst>
              <a:path w="762000" h="38100">
                <a:moveTo>
                  <a:pt x="19050" y="0"/>
                </a:moveTo>
                <a:lnTo>
                  <a:pt x="742950" y="0"/>
                </a:lnTo>
                <a:cubicBezTo>
                  <a:pt x="753464" y="0"/>
                  <a:pt x="762000" y="8536"/>
                  <a:pt x="762000" y="19050"/>
                </a:cubicBezTo>
                <a:lnTo>
                  <a:pt x="762000" y="19050"/>
                </a:lnTo>
                <a:cubicBezTo>
                  <a:pt x="762000" y="29564"/>
                  <a:pt x="753464" y="38100"/>
                  <a:pt x="742950" y="38100"/>
                </a:cubicBezTo>
                <a:lnTo>
                  <a:pt x="19050" y="38100"/>
                </a:lnTo>
                <a:cubicBezTo>
                  <a:pt x="8536" y="38100"/>
                  <a:pt x="0" y="29564"/>
                  <a:pt x="0" y="19050"/>
                </a:cubicBezTo>
                <a:lnTo>
                  <a:pt x="0" y="19050"/>
                </a:lnTo>
                <a:cubicBezTo>
                  <a:pt x="0" y="8536"/>
                  <a:pt x="8536" y="0"/>
                  <a:pt x="19050" y="0"/>
                </a:cubicBezTo>
                <a:close/>
              </a:path>
            </a:pathLst>
          </a:custGeom>
          <a:solidFill>
            <a:srgbClr val="10B981"/>
          </a:solidFill>
          <a:ln/>
        </p:spPr>
      </p:sp>
      <p:sp>
        <p:nvSpPr>
          <p:cNvPr id="5" name="Shape 3"/>
          <p:cNvSpPr/>
          <p:nvPr/>
        </p:nvSpPr>
        <p:spPr>
          <a:xfrm>
            <a:off x="381000" y="1390650"/>
            <a:ext cx="3705225" cy="2457450"/>
          </a:xfrm>
          <a:custGeom>
            <a:avLst/>
            <a:gdLst/>
            <a:ahLst/>
            <a:cxnLst/>
            <a:rect l="l" t="t" r="r" b="b"/>
            <a:pathLst>
              <a:path w="3705225" h="2457450">
                <a:moveTo>
                  <a:pt x="38100" y="0"/>
                </a:moveTo>
                <a:lnTo>
                  <a:pt x="3667125" y="0"/>
                </a:lnTo>
                <a:cubicBezTo>
                  <a:pt x="3688153" y="0"/>
                  <a:pt x="3705225" y="17072"/>
                  <a:pt x="3705225" y="38100"/>
                </a:cubicBezTo>
                <a:lnTo>
                  <a:pt x="3705225" y="2343154"/>
                </a:lnTo>
                <a:cubicBezTo>
                  <a:pt x="3705225" y="2406278"/>
                  <a:pt x="3654053" y="2457450"/>
                  <a:pt x="3590929" y="2457450"/>
                </a:cubicBezTo>
                <a:lnTo>
                  <a:pt x="114296" y="2457450"/>
                </a:lnTo>
                <a:cubicBezTo>
                  <a:pt x="51172" y="2457450"/>
                  <a:pt x="0" y="2406278"/>
                  <a:pt x="0" y="2343154"/>
                </a:cubicBezTo>
                <a:lnTo>
                  <a:pt x="0" y="38100"/>
                </a:lnTo>
                <a:cubicBezTo>
                  <a:pt x="0" y="17072"/>
                  <a:pt x="17072" y="0"/>
                  <a:pt x="38100" y="0"/>
                </a:cubicBezTo>
                <a:close/>
              </a:path>
            </a:pathLst>
          </a:custGeom>
          <a:solidFill>
            <a:srgbClr val="FFFFFF"/>
          </a:solidFill>
          <a:ln/>
          <a:effectLst>
            <a:outerShdw blurRad="57150" dist="38100" dir="5400000" algn="bl" rotWithShape="0">
              <a:srgbClr val="000000">
                <a:alpha val="10196"/>
              </a:srgbClr>
            </a:outerShdw>
          </a:effectLst>
        </p:spPr>
      </p:sp>
      <p:sp>
        <p:nvSpPr>
          <p:cNvPr id="6" name="Shape 4"/>
          <p:cNvSpPr/>
          <p:nvPr/>
        </p:nvSpPr>
        <p:spPr>
          <a:xfrm>
            <a:off x="381000" y="1390650"/>
            <a:ext cx="3705225" cy="38100"/>
          </a:xfrm>
          <a:custGeom>
            <a:avLst/>
            <a:gdLst/>
            <a:ahLst/>
            <a:cxnLst/>
            <a:rect l="l" t="t" r="r" b="b"/>
            <a:pathLst>
              <a:path w="3705225" h="38100">
                <a:moveTo>
                  <a:pt x="38100" y="0"/>
                </a:moveTo>
                <a:lnTo>
                  <a:pt x="3667125" y="0"/>
                </a:lnTo>
                <a:cubicBezTo>
                  <a:pt x="3688153" y="0"/>
                  <a:pt x="3705225" y="17072"/>
                  <a:pt x="3705225" y="38100"/>
                </a:cubicBezTo>
                <a:lnTo>
                  <a:pt x="3705225" y="38100"/>
                </a:lnTo>
                <a:lnTo>
                  <a:pt x="0" y="38100"/>
                </a:lnTo>
                <a:lnTo>
                  <a:pt x="0" y="38100"/>
                </a:lnTo>
                <a:cubicBezTo>
                  <a:pt x="0" y="17072"/>
                  <a:pt x="17072" y="0"/>
                  <a:pt x="38100" y="0"/>
                </a:cubicBezTo>
                <a:close/>
              </a:path>
            </a:pathLst>
          </a:custGeom>
          <a:solidFill>
            <a:srgbClr val="3B82F6"/>
          </a:solidFill>
          <a:ln/>
        </p:spPr>
      </p:sp>
      <p:sp>
        <p:nvSpPr>
          <p:cNvPr id="7" name="Shape 5"/>
          <p:cNvSpPr/>
          <p:nvPr/>
        </p:nvSpPr>
        <p:spPr>
          <a:xfrm>
            <a:off x="571500" y="16002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3B82F6">
              <a:alpha val="10196"/>
            </a:srgbClr>
          </a:solidFill>
          <a:ln/>
        </p:spPr>
      </p:sp>
      <p:sp>
        <p:nvSpPr>
          <p:cNvPr id="8" name="Shape 6"/>
          <p:cNvSpPr/>
          <p:nvPr/>
        </p:nvSpPr>
        <p:spPr>
          <a:xfrm>
            <a:off x="657225" y="1704975"/>
            <a:ext cx="214313" cy="171450"/>
          </a:xfrm>
          <a:custGeom>
            <a:avLst/>
            <a:gdLst/>
            <a:ahLst/>
            <a:cxnLst/>
            <a:rect l="l" t="t" r="r" b="b"/>
            <a:pathLst>
              <a:path w="214313" h="171450">
                <a:moveTo>
                  <a:pt x="107156" y="5358"/>
                </a:moveTo>
                <a:cubicBezTo>
                  <a:pt x="126377" y="5358"/>
                  <a:pt x="141982" y="20963"/>
                  <a:pt x="141982" y="40184"/>
                </a:cubicBezTo>
                <a:cubicBezTo>
                  <a:pt x="141982" y="59404"/>
                  <a:pt x="126377" y="75009"/>
                  <a:pt x="107156" y="75009"/>
                </a:cubicBezTo>
                <a:cubicBezTo>
                  <a:pt x="87935" y="75009"/>
                  <a:pt x="72330" y="59404"/>
                  <a:pt x="72330" y="40184"/>
                </a:cubicBezTo>
                <a:cubicBezTo>
                  <a:pt x="72330" y="20963"/>
                  <a:pt x="87935" y="5358"/>
                  <a:pt x="107156" y="5358"/>
                </a:cubicBezTo>
                <a:close/>
                <a:moveTo>
                  <a:pt x="32147" y="29468"/>
                </a:moveTo>
                <a:cubicBezTo>
                  <a:pt x="45454" y="29468"/>
                  <a:pt x="56257" y="40271"/>
                  <a:pt x="56257" y="53578"/>
                </a:cubicBezTo>
                <a:cubicBezTo>
                  <a:pt x="56257" y="66885"/>
                  <a:pt x="45454" y="77688"/>
                  <a:pt x="32147" y="77688"/>
                </a:cubicBezTo>
                <a:cubicBezTo>
                  <a:pt x="18840" y="77688"/>
                  <a:pt x="8037" y="66885"/>
                  <a:pt x="8037" y="53578"/>
                </a:cubicBezTo>
                <a:cubicBezTo>
                  <a:pt x="8037" y="40271"/>
                  <a:pt x="18840" y="29468"/>
                  <a:pt x="32147" y="29468"/>
                </a:cubicBezTo>
                <a:close/>
                <a:moveTo>
                  <a:pt x="0" y="139303"/>
                </a:moveTo>
                <a:cubicBezTo>
                  <a:pt x="0" y="115628"/>
                  <a:pt x="19188" y="96441"/>
                  <a:pt x="42863" y="96441"/>
                </a:cubicBezTo>
                <a:cubicBezTo>
                  <a:pt x="47149" y="96441"/>
                  <a:pt x="51301" y="97077"/>
                  <a:pt x="55219" y="98249"/>
                </a:cubicBezTo>
                <a:cubicBezTo>
                  <a:pt x="44202" y="110572"/>
                  <a:pt x="37505" y="126846"/>
                  <a:pt x="37505" y="144661"/>
                </a:cubicBezTo>
                <a:lnTo>
                  <a:pt x="37505" y="150019"/>
                </a:lnTo>
                <a:cubicBezTo>
                  <a:pt x="37505" y="153836"/>
                  <a:pt x="38308" y="157453"/>
                  <a:pt x="39748" y="160734"/>
                </a:cubicBezTo>
                <a:lnTo>
                  <a:pt x="10716" y="160734"/>
                </a:lnTo>
                <a:cubicBezTo>
                  <a:pt x="4789" y="160734"/>
                  <a:pt x="0" y="155946"/>
                  <a:pt x="0" y="150019"/>
                </a:cubicBezTo>
                <a:lnTo>
                  <a:pt x="0" y="139303"/>
                </a:lnTo>
                <a:close/>
                <a:moveTo>
                  <a:pt x="174564" y="160734"/>
                </a:moveTo>
                <a:cubicBezTo>
                  <a:pt x="176004" y="157453"/>
                  <a:pt x="176808" y="153836"/>
                  <a:pt x="176808" y="150019"/>
                </a:cubicBezTo>
                <a:lnTo>
                  <a:pt x="176808" y="144661"/>
                </a:lnTo>
                <a:cubicBezTo>
                  <a:pt x="176808" y="126846"/>
                  <a:pt x="170111" y="110572"/>
                  <a:pt x="159094" y="98249"/>
                </a:cubicBezTo>
                <a:cubicBezTo>
                  <a:pt x="163011" y="97077"/>
                  <a:pt x="167164" y="96441"/>
                  <a:pt x="171450" y="96441"/>
                </a:cubicBezTo>
                <a:cubicBezTo>
                  <a:pt x="195125" y="96441"/>
                  <a:pt x="214313" y="115628"/>
                  <a:pt x="214313" y="139303"/>
                </a:cubicBezTo>
                <a:lnTo>
                  <a:pt x="214313" y="150019"/>
                </a:lnTo>
                <a:cubicBezTo>
                  <a:pt x="214313" y="155946"/>
                  <a:pt x="209524" y="160734"/>
                  <a:pt x="203597" y="160734"/>
                </a:cubicBezTo>
                <a:lnTo>
                  <a:pt x="174564" y="160734"/>
                </a:lnTo>
                <a:close/>
                <a:moveTo>
                  <a:pt x="158055" y="53578"/>
                </a:moveTo>
                <a:cubicBezTo>
                  <a:pt x="158055" y="40271"/>
                  <a:pt x="168859" y="29468"/>
                  <a:pt x="182166" y="29468"/>
                </a:cubicBezTo>
                <a:cubicBezTo>
                  <a:pt x="195472" y="29468"/>
                  <a:pt x="206276" y="40271"/>
                  <a:pt x="206276" y="53578"/>
                </a:cubicBezTo>
                <a:cubicBezTo>
                  <a:pt x="206276" y="66885"/>
                  <a:pt x="195472" y="77688"/>
                  <a:pt x="182166" y="77688"/>
                </a:cubicBezTo>
                <a:cubicBezTo>
                  <a:pt x="168859" y="77688"/>
                  <a:pt x="158055" y="66885"/>
                  <a:pt x="158055" y="53578"/>
                </a:cubicBezTo>
                <a:close/>
                <a:moveTo>
                  <a:pt x="53578" y="144661"/>
                </a:moveTo>
                <a:cubicBezTo>
                  <a:pt x="53578" y="115059"/>
                  <a:pt x="77554" y="91083"/>
                  <a:pt x="107156" y="91083"/>
                </a:cubicBezTo>
                <a:cubicBezTo>
                  <a:pt x="136758" y="91083"/>
                  <a:pt x="160734" y="115059"/>
                  <a:pt x="160734" y="144661"/>
                </a:cubicBezTo>
                <a:lnTo>
                  <a:pt x="160734" y="150019"/>
                </a:lnTo>
                <a:cubicBezTo>
                  <a:pt x="160734" y="155946"/>
                  <a:pt x="155946" y="160734"/>
                  <a:pt x="150019" y="160734"/>
                </a:cubicBezTo>
                <a:lnTo>
                  <a:pt x="64294" y="160734"/>
                </a:lnTo>
                <a:cubicBezTo>
                  <a:pt x="58367" y="160734"/>
                  <a:pt x="53578" y="155946"/>
                  <a:pt x="53578" y="150019"/>
                </a:cubicBezTo>
                <a:lnTo>
                  <a:pt x="53578" y="144661"/>
                </a:lnTo>
                <a:close/>
              </a:path>
            </a:pathLst>
          </a:custGeom>
          <a:solidFill>
            <a:srgbClr val="3B82F6"/>
          </a:solidFill>
          <a:ln/>
        </p:spPr>
      </p:sp>
      <p:sp>
        <p:nvSpPr>
          <p:cNvPr id="9" name="Text 7"/>
          <p:cNvSpPr/>
          <p:nvPr/>
        </p:nvSpPr>
        <p:spPr>
          <a:xfrm>
            <a:off x="1066800" y="1657350"/>
            <a:ext cx="1476375" cy="266700"/>
          </a:xfrm>
          <a:prstGeom prst="rect">
            <a:avLst/>
          </a:prstGeom>
          <a:noFill/>
          <a:ln/>
        </p:spPr>
        <p:txBody>
          <a:bodyPr wrap="square" lIns="0" tIns="0" rIns="0" bIns="0" rtlCol="0" anchor="ctr"/>
          <a:lstStyle/>
          <a:p>
            <a:pPr>
              <a:lnSpc>
                <a:spcPct val="130000"/>
              </a:lnSpc>
            </a:pPr>
            <a:r>
              <a:rPr lang="en-US" sz="1350" b="1" dirty="0">
                <a:solidFill>
                  <a:srgbClr val="1E3A5F"/>
                </a:solidFill>
                <a:latin typeface="Liter" pitchFamily="34" charset="0"/>
                <a:ea typeface="Liter" pitchFamily="34" charset="-122"/>
                <a:cs typeface="Liter" pitchFamily="34" charset="-120"/>
              </a:rPr>
              <a:t>User Management</a:t>
            </a:r>
            <a:endParaRPr lang="en-US" sz="1600" dirty="0"/>
          </a:p>
        </p:txBody>
      </p:sp>
      <p:sp>
        <p:nvSpPr>
          <p:cNvPr id="10" name="Shape 8"/>
          <p:cNvSpPr/>
          <p:nvPr/>
        </p:nvSpPr>
        <p:spPr>
          <a:xfrm>
            <a:off x="571500" y="2133600"/>
            <a:ext cx="3324225" cy="342900"/>
          </a:xfrm>
          <a:custGeom>
            <a:avLst/>
            <a:gdLst/>
            <a:ahLst/>
            <a:cxnLst/>
            <a:rect l="l" t="t" r="r" b="b"/>
            <a:pathLst>
              <a:path w="3324225" h="342900">
                <a:moveTo>
                  <a:pt x="76199" y="0"/>
                </a:moveTo>
                <a:lnTo>
                  <a:pt x="3248026" y="0"/>
                </a:lnTo>
                <a:cubicBezTo>
                  <a:pt x="3290109" y="0"/>
                  <a:pt x="3324225" y="34116"/>
                  <a:pt x="3324225" y="76199"/>
                </a:cubicBezTo>
                <a:lnTo>
                  <a:pt x="3324225" y="266701"/>
                </a:lnTo>
                <a:cubicBezTo>
                  <a:pt x="3324225" y="308784"/>
                  <a:pt x="3290109" y="342900"/>
                  <a:pt x="3248026" y="342900"/>
                </a:cubicBezTo>
                <a:lnTo>
                  <a:pt x="76199" y="342900"/>
                </a:lnTo>
                <a:cubicBezTo>
                  <a:pt x="34144" y="342900"/>
                  <a:pt x="0" y="308756"/>
                  <a:pt x="0" y="266701"/>
                </a:cubicBezTo>
                <a:lnTo>
                  <a:pt x="0" y="76199"/>
                </a:lnTo>
                <a:cubicBezTo>
                  <a:pt x="0" y="34144"/>
                  <a:pt x="34144" y="0"/>
                  <a:pt x="76199" y="0"/>
                </a:cubicBezTo>
                <a:close/>
              </a:path>
            </a:pathLst>
          </a:custGeom>
          <a:solidFill>
            <a:srgbClr val="F8FAFC"/>
          </a:solidFill>
          <a:ln/>
        </p:spPr>
      </p:sp>
      <p:sp>
        <p:nvSpPr>
          <p:cNvPr id="11" name="Shape 9"/>
          <p:cNvSpPr/>
          <p:nvPr/>
        </p:nvSpPr>
        <p:spPr>
          <a:xfrm>
            <a:off x="650081" y="2238375"/>
            <a:ext cx="166688" cy="133350"/>
          </a:xfrm>
          <a:custGeom>
            <a:avLst/>
            <a:gdLst/>
            <a:ahLst/>
            <a:cxnLst/>
            <a:rect l="l" t="t" r="r" b="b"/>
            <a:pathLst>
              <a:path w="166688" h="133350">
                <a:moveTo>
                  <a:pt x="35421" y="33337"/>
                </a:moveTo>
                <a:cubicBezTo>
                  <a:pt x="35421" y="16088"/>
                  <a:pt x="49425" y="2084"/>
                  <a:pt x="66675" y="2084"/>
                </a:cubicBezTo>
                <a:cubicBezTo>
                  <a:pt x="83925" y="2084"/>
                  <a:pt x="97929" y="16088"/>
                  <a:pt x="97929" y="33337"/>
                </a:cubicBezTo>
                <a:cubicBezTo>
                  <a:pt x="97929" y="50587"/>
                  <a:pt x="83925" y="64591"/>
                  <a:pt x="66675" y="64591"/>
                </a:cubicBezTo>
                <a:cubicBezTo>
                  <a:pt x="49425" y="64591"/>
                  <a:pt x="35421" y="50587"/>
                  <a:pt x="35421" y="33337"/>
                </a:cubicBezTo>
                <a:close/>
                <a:moveTo>
                  <a:pt x="12502" y="125615"/>
                </a:moveTo>
                <a:cubicBezTo>
                  <a:pt x="12502" y="99960"/>
                  <a:pt x="33285" y="79177"/>
                  <a:pt x="58940" y="79177"/>
                </a:cubicBezTo>
                <a:lnTo>
                  <a:pt x="74410" y="79177"/>
                </a:lnTo>
                <a:cubicBezTo>
                  <a:pt x="100065" y="79177"/>
                  <a:pt x="120848" y="99960"/>
                  <a:pt x="120848" y="125615"/>
                </a:cubicBezTo>
                <a:cubicBezTo>
                  <a:pt x="120848" y="129886"/>
                  <a:pt x="117384" y="133350"/>
                  <a:pt x="113113" y="133350"/>
                </a:cubicBezTo>
                <a:lnTo>
                  <a:pt x="20237" y="133350"/>
                </a:lnTo>
                <a:cubicBezTo>
                  <a:pt x="15966" y="133350"/>
                  <a:pt x="12502" y="129886"/>
                  <a:pt x="12502" y="125615"/>
                </a:cubicBezTo>
                <a:close/>
                <a:moveTo>
                  <a:pt x="141684" y="25003"/>
                </a:moveTo>
                <a:cubicBezTo>
                  <a:pt x="145148" y="25003"/>
                  <a:pt x="147935" y="27790"/>
                  <a:pt x="147935" y="31254"/>
                </a:cubicBezTo>
                <a:lnTo>
                  <a:pt x="147935" y="43755"/>
                </a:lnTo>
                <a:lnTo>
                  <a:pt x="160437" y="43755"/>
                </a:lnTo>
                <a:cubicBezTo>
                  <a:pt x="163901" y="43755"/>
                  <a:pt x="166688" y="46542"/>
                  <a:pt x="166688" y="50006"/>
                </a:cubicBezTo>
                <a:cubicBezTo>
                  <a:pt x="166688" y="53470"/>
                  <a:pt x="163901" y="56257"/>
                  <a:pt x="160437" y="56257"/>
                </a:cubicBezTo>
                <a:lnTo>
                  <a:pt x="147935" y="56257"/>
                </a:lnTo>
                <a:lnTo>
                  <a:pt x="147935" y="68759"/>
                </a:lnTo>
                <a:cubicBezTo>
                  <a:pt x="147935" y="72223"/>
                  <a:pt x="145148" y="75009"/>
                  <a:pt x="141684" y="75009"/>
                </a:cubicBezTo>
                <a:cubicBezTo>
                  <a:pt x="138220" y="75009"/>
                  <a:pt x="135434" y="72223"/>
                  <a:pt x="135434" y="68759"/>
                </a:cubicBezTo>
                <a:lnTo>
                  <a:pt x="135434" y="56257"/>
                </a:lnTo>
                <a:lnTo>
                  <a:pt x="122932" y="56257"/>
                </a:lnTo>
                <a:cubicBezTo>
                  <a:pt x="119468" y="56257"/>
                  <a:pt x="116681" y="53470"/>
                  <a:pt x="116681" y="50006"/>
                </a:cubicBezTo>
                <a:cubicBezTo>
                  <a:pt x="116681" y="46542"/>
                  <a:pt x="119468" y="43755"/>
                  <a:pt x="122932" y="43755"/>
                </a:cubicBezTo>
                <a:lnTo>
                  <a:pt x="135434" y="43755"/>
                </a:lnTo>
                <a:lnTo>
                  <a:pt x="135434" y="31254"/>
                </a:lnTo>
                <a:cubicBezTo>
                  <a:pt x="135434" y="27790"/>
                  <a:pt x="138220" y="25003"/>
                  <a:pt x="141684" y="25003"/>
                </a:cubicBezTo>
                <a:close/>
              </a:path>
            </a:pathLst>
          </a:custGeom>
          <a:solidFill>
            <a:srgbClr val="3B82F6"/>
          </a:solidFill>
          <a:ln/>
        </p:spPr>
      </p:sp>
      <p:sp>
        <p:nvSpPr>
          <p:cNvPr id="12" name="Text 10"/>
          <p:cNvSpPr/>
          <p:nvPr/>
        </p:nvSpPr>
        <p:spPr>
          <a:xfrm>
            <a:off x="890588" y="2209800"/>
            <a:ext cx="1571625" cy="190500"/>
          </a:xfrm>
          <a:prstGeom prst="rect">
            <a:avLst/>
          </a:prstGeom>
          <a:noFill/>
          <a:ln/>
        </p:spPr>
        <p:txBody>
          <a:bodyPr wrap="square" lIns="0" tIns="0" rIns="0" bIns="0" rtlCol="0" anchor="ctr"/>
          <a:lstStyle/>
          <a:p>
            <a:pPr>
              <a:lnSpc>
                <a:spcPct val="120000"/>
              </a:lnSpc>
            </a:pPr>
            <a:r>
              <a:rPr lang="en-US" sz="1050" dirty="0">
                <a:solidFill>
                  <a:srgbClr val="1E293B"/>
                </a:solidFill>
                <a:latin typeface="Quattrocento Sans" pitchFamily="34" charset="0"/>
                <a:ea typeface="Quattrocento Sans" pitchFamily="34" charset="-122"/>
                <a:cs typeface="Quattrocento Sans" pitchFamily="34" charset="-120"/>
              </a:rPr>
              <a:t>User registration and login</a:t>
            </a:r>
            <a:endParaRPr lang="en-US" sz="1600" dirty="0"/>
          </a:p>
        </p:txBody>
      </p:sp>
      <p:sp>
        <p:nvSpPr>
          <p:cNvPr id="13" name="Shape 11"/>
          <p:cNvSpPr/>
          <p:nvPr/>
        </p:nvSpPr>
        <p:spPr>
          <a:xfrm>
            <a:off x="571500" y="2552700"/>
            <a:ext cx="3324225" cy="342900"/>
          </a:xfrm>
          <a:custGeom>
            <a:avLst/>
            <a:gdLst/>
            <a:ahLst/>
            <a:cxnLst/>
            <a:rect l="l" t="t" r="r" b="b"/>
            <a:pathLst>
              <a:path w="3324225" h="342900">
                <a:moveTo>
                  <a:pt x="76199" y="0"/>
                </a:moveTo>
                <a:lnTo>
                  <a:pt x="3248026" y="0"/>
                </a:lnTo>
                <a:cubicBezTo>
                  <a:pt x="3290109" y="0"/>
                  <a:pt x="3324225" y="34116"/>
                  <a:pt x="3324225" y="76199"/>
                </a:cubicBezTo>
                <a:lnTo>
                  <a:pt x="3324225" y="266701"/>
                </a:lnTo>
                <a:cubicBezTo>
                  <a:pt x="3324225" y="308784"/>
                  <a:pt x="3290109" y="342900"/>
                  <a:pt x="3248026" y="342900"/>
                </a:cubicBezTo>
                <a:lnTo>
                  <a:pt x="76199" y="342900"/>
                </a:lnTo>
                <a:cubicBezTo>
                  <a:pt x="34144" y="342900"/>
                  <a:pt x="0" y="308756"/>
                  <a:pt x="0" y="266701"/>
                </a:cubicBezTo>
                <a:lnTo>
                  <a:pt x="0" y="76199"/>
                </a:lnTo>
                <a:cubicBezTo>
                  <a:pt x="0" y="34144"/>
                  <a:pt x="34144" y="0"/>
                  <a:pt x="76199" y="0"/>
                </a:cubicBezTo>
                <a:close/>
              </a:path>
            </a:pathLst>
          </a:custGeom>
          <a:solidFill>
            <a:srgbClr val="F8FAFC"/>
          </a:solidFill>
          <a:ln/>
        </p:spPr>
      </p:sp>
      <p:sp>
        <p:nvSpPr>
          <p:cNvPr id="14" name="Shape 12"/>
          <p:cNvSpPr/>
          <p:nvPr/>
        </p:nvSpPr>
        <p:spPr>
          <a:xfrm>
            <a:off x="683419" y="2657475"/>
            <a:ext cx="100013" cy="133350"/>
          </a:xfrm>
          <a:custGeom>
            <a:avLst/>
            <a:gdLst/>
            <a:ahLst/>
            <a:cxnLst/>
            <a:rect l="l" t="t" r="r" b="b"/>
            <a:pathLst>
              <a:path w="100013" h="133350">
                <a:moveTo>
                  <a:pt x="4167" y="16669"/>
                </a:moveTo>
                <a:cubicBezTo>
                  <a:pt x="4167" y="7475"/>
                  <a:pt x="11642" y="0"/>
                  <a:pt x="20836" y="0"/>
                </a:cubicBezTo>
                <a:lnTo>
                  <a:pt x="79177" y="0"/>
                </a:lnTo>
                <a:cubicBezTo>
                  <a:pt x="88370" y="0"/>
                  <a:pt x="95845" y="7475"/>
                  <a:pt x="95845" y="16669"/>
                </a:cubicBezTo>
                <a:lnTo>
                  <a:pt x="95845" y="116681"/>
                </a:lnTo>
                <a:cubicBezTo>
                  <a:pt x="95845" y="125875"/>
                  <a:pt x="88370" y="133350"/>
                  <a:pt x="79177" y="133350"/>
                </a:cubicBezTo>
                <a:lnTo>
                  <a:pt x="20836" y="133350"/>
                </a:lnTo>
                <a:cubicBezTo>
                  <a:pt x="11642" y="133350"/>
                  <a:pt x="4167" y="125875"/>
                  <a:pt x="4167" y="116681"/>
                </a:cubicBezTo>
                <a:lnTo>
                  <a:pt x="4167" y="16669"/>
                </a:lnTo>
                <a:close/>
                <a:moveTo>
                  <a:pt x="20836" y="16669"/>
                </a:moveTo>
                <a:lnTo>
                  <a:pt x="20836" y="95845"/>
                </a:lnTo>
                <a:lnTo>
                  <a:pt x="79177" y="95845"/>
                </a:lnTo>
                <a:lnTo>
                  <a:pt x="79177" y="16669"/>
                </a:lnTo>
                <a:lnTo>
                  <a:pt x="20836" y="16669"/>
                </a:lnTo>
                <a:close/>
                <a:moveTo>
                  <a:pt x="50006" y="122932"/>
                </a:moveTo>
                <a:cubicBezTo>
                  <a:pt x="54616" y="122932"/>
                  <a:pt x="58341" y="119208"/>
                  <a:pt x="58341" y="114598"/>
                </a:cubicBezTo>
                <a:cubicBezTo>
                  <a:pt x="58341" y="109988"/>
                  <a:pt x="54616" y="106263"/>
                  <a:pt x="50006" y="106263"/>
                </a:cubicBezTo>
                <a:cubicBezTo>
                  <a:pt x="45396" y="106263"/>
                  <a:pt x="41672" y="109988"/>
                  <a:pt x="41672" y="114598"/>
                </a:cubicBezTo>
                <a:cubicBezTo>
                  <a:pt x="41672" y="119208"/>
                  <a:pt x="45396" y="122932"/>
                  <a:pt x="50006" y="122932"/>
                </a:cubicBezTo>
                <a:close/>
              </a:path>
            </a:pathLst>
          </a:custGeom>
          <a:solidFill>
            <a:srgbClr val="3B82F6"/>
          </a:solidFill>
          <a:ln/>
        </p:spPr>
      </p:sp>
      <p:sp>
        <p:nvSpPr>
          <p:cNvPr id="15" name="Text 13"/>
          <p:cNvSpPr/>
          <p:nvPr/>
        </p:nvSpPr>
        <p:spPr>
          <a:xfrm>
            <a:off x="890588" y="2628900"/>
            <a:ext cx="1428750" cy="190500"/>
          </a:xfrm>
          <a:prstGeom prst="rect">
            <a:avLst/>
          </a:prstGeom>
          <a:noFill/>
          <a:ln/>
        </p:spPr>
        <p:txBody>
          <a:bodyPr wrap="square" lIns="0" tIns="0" rIns="0" bIns="0" rtlCol="0" anchor="ctr"/>
          <a:lstStyle/>
          <a:p>
            <a:pPr>
              <a:lnSpc>
                <a:spcPct val="120000"/>
              </a:lnSpc>
            </a:pPr>
            <a:r>
              <a:rPr lang="en-US" sz="1050" dirty="0">
                <a:solidFill>
                  <a:srgbClr val="1E293B"/>
                </a:solidFill>
                <a:latin typeface="Quattrocento Sans" pitchFamily="34" charset="0"/>
                <a:ea typeface="Quattrocento Sans" pitchFamily="34" charset="-122"/>
                <a:cs typeface="Quattrocento Sans" pitchFamily="34" charset="-120"/>
              </a:rPr>
              <a:t>OTP verification system</a:t>
            </a:r>
            <a:endParaRPr lang="en-US" sz="1600" dirty="0"/>
          </a:p>
        </p:txBody>
      </p:sp>
      <p:sp>
        <p:nvSpPr>
          <p:cNvPr id="16" name="Shape 14"/>
          <p:cNvSpPr/>
          <p:nvPr/>
        </p:nvSpPr>
        <p:spPr>
          <a:xfrm>
            <a:off x="571500" y="2971800"/>
            <a:ext cx="3324225" cy="342900"/>
          </a:xfrm>
          <a:custGeom>
            <a:avLst/>
            <a:gdLst/>
            <a:ahLst/>
            <a:cxnLst/>
            <a:rect l="l" t="t" r="r" b="b"/>
            <a:pathLst>
              <a:path w="3324225" h="342900">
                <a:moveTo>
                  <a:pt x="76199" y="0"/>
                </a:moveTo>
                <a:lnTo>
                  <a:pt x="3248026" y="0"/>
                </a:lnTo>
                <a:cubicBezTo>
                  <a:pt x="3290109" y="0"/>
                  <a:pt x="3324225" y="34116"/>
                  <a:pt x="3324225" y="76199"/>
                </a:cubicBezTo>
                <a:lnTo>
                  <a:pt x="3324225" y="266701"/>
                </a:lnTo>
                <a:cubicBezTo>
                  <a:pt x="3324225" y="308784"/>
                  <a:pt x="3290109" y="342900"/>
                  <a:pt x="3248026" y="342900"/>
                </a:cubicBezTo>
                <a:lnTo>
                  <a:pt x="76199" y="342900"/>
                </a:lnTo>
                <a:cubicBezTo>
                  <a:pt x="34144" y="342900"/>
                  <a:pt x="0" y="308756"/>
                  <a:pt x="0" y="266701"/>
                </a:cubicBezTo>
                <a:lnTo>
                  <a:pt x="0" y="76199"/>
                </a:lnTo>
                <a:cubicBezTo>
                  <a:pt x="0" y="34144"/>
                  <a:pt x="34144" y="0"/>
                  <a:pt x="76199" y="0"/>
                </a:cubicBezTo>
                <a:close/>
              </a:path>
            </a:pathLst>
          </a:custGeom>
          <a:solidFill>
            <a:srgbClr val="F8FAFC"/>
          </a:solidFill>
          <a:ln/>
        </p:spPr>
      </p:sp>
      <p:sp>
        <p:nvSpPr>
          <p:cNvPr id="17" name="Shape 15"/>
          <p:cNvSpPr/>
          <p:nvPr/>
        </p:nvSpPr>
        <p:spPr>
          <a:xfrm>
            <a:off x="658416" y="3076575"/>
            <a:ext cx="150019" cy="133350"/>
          </a:xfrm>
          <a:custGeom>
            <a:avLst/>
            <a:gdLst/>
            <a:ahLst/>
            <a:cxnLst/>
            <a:rect l="l" t="t" r="r" b="b"/>
            <a:pathLst>
              <a:path w="150019" h="133350">
                <a:moveTo>
                  <a:pt x="58341" y="64591"/>
                </a:moveTo>
                <a:cubicBezTo>
                  <a:pt x="75590" y="64591"/>
                  <a:pt x="89595" y="50587"/>
                  <a:pt x="89595" y="33337"/>
                </a:cubicBezTo>
                <a:cubicBezTo>
                  <a:pt x="89595" y="16088"/>
                  <a:pt x="75590" y="2084"/>
                  <a:pt x="58341" y="2084"/>
                </a:cubicBezTo>
                <a:cubicBezTo>
                  <a:pt x="41091" y="2084"/>
                  <a:pt x="27087" y="16088"/>
                  <a:pt x="27087" y="33337"/>
                </a:cubicBezTo>
                <a:cubicBezTo>
                  <a:pt x="27087" y="50587"/>
                  <a:pt x="41091" y="64591"/>
                  <a:pt x="58341" y="64591"/>
                </a:cubicBezTo>
                <a:close/>
                <a:moveTo>
                  <a:pt x="50605" y="79177"/>
                </a:moveTo>
                <a:cubicBezTo>
                  <a:pt x="24951" y="79177"/>
                  <a:pt x="4167" y="99960"/>
                  <a:pt x="4167" y="125615"/>
                </a:cubicBezTo>
                <a:cubicBezTo>
                  <a:pt x="4167" y="129886"/>
                  <a:pt x="7631" y="133350"/>
                  <a:pt x="11903" y="133350"/>
                </a:cubicBezTo>
                <a:lnTo>
                  <a:pt x="77406" y="133350"/>
                </a:lnTo>
                <a:cubicBezTo>
                  <a:pt x="67977" y="122255"/>
                  <a:pt x="62508" y="107956"/>
                  <a:pt x="62508" y="92824"/>
                </a:cubicBezTo>
                <a:lnTo>
                  <a:pt x="62508" y="84724"/>
                </a:lnTo>
                <a:cubicBezTo>
                  <a:pt x="62508" y="82823"/>
                  <a:pt x="62768" y="80948"/>
                  <a:pt x="63263" y="79177"/>
                </a:cubicBezTo>
                <a:lnTo>
                  <a:pt x="50605" y="79177"/>
                </a:lnTo>
                <a:close/>
                <a:moveTo>
                  <a:pt x="115978" y="127229"/>
                </a:moveTo>
                <a:lnTo>
                  <a:pt x="112514" y="128870"/>
                </a:lnTo>
                <a:lnTo>
                  <a:pt x="112514" y="79880"/>
                </a:lnTo>
                <a:lnTo>
                  <a:pt x="137517" y="88214"/>
                </a:lnTo>
                <a:lnTo>
                  <a:pt x="137517" y="93319"/>
                </a:lnTo>
                <a:cubicBezTo>
                  <a:pt x="137517" y="107852"/>
                  <a:pt x="129131" y="121057"/>
                  <a:pt x="115978" y="127255"/>
                </a:cubicBezTo>
                <a:close/>
                <a:moveTo>
                  <a:pt x="109884" y="67587"/>
                </a:moveTo>
                <a:lnTo>
                  <a:pt x="80713" y="77301"/>
                </a:lnTo>
                <a:cubicBezTo>
                  <a:pt x="77301" y="78447"/>
                  <a:pt x="75009" y="81625"/>
                  <a:pt x="75009" y="85219"/>
                </a:cubicBezTo>
                <a:lnTo>
                  <a:pt x="75009" y="93319"/>
                </a:lnTo>
                <a:cubicBezTo>
                  <a:pt x="75009" y="112696"/>
                  <a:pt x="86209" y="130329"/>
                  <a:pt x="103711" y="138559"/>
                </a:cubicBezTo>
                <a:lnTo>
                  <a:pt x="108529" y="140825"/>
                </a:lnTo>
                <a:cubicBezTo>
                  <a:pt x="109779" y="141398"/>
                  <a:pt x="111134" y="141710"/>
                  <a:pt x="112488" y="141710"/>
                </a:cubicBezTo>
                <a:cubicBezTo>
                  <a:pt x="113842" y="141710"/>
                  <a:pt x="115223" y="141398"/>
                  <a:pt x="116447" y="140825"/>
                </a:cubicBezTo>
                <a:lnTo>
                  <a:pt x="121265" y="138559"/>
                </a:lnTo>
                <a:cubicBezTo>
                  <a:pt x="138819" y="130303"/>
                  <a:pt x="150019" y="112670"/>
                  <a:pt x="150019" y="93293"/>
                </a:cubicBezTo>
                <a:lnTo>
                  <a:pt x="150019" y="85193"/>
                </a:lnTo>
                <a:cubicBezTo>
                  <a:pt x="150019" y="81599"/>
                  <a:pt x="147727" y="78421"/>
                  <a:pt x="144315" y="77275"/>
                </a:cubicBezTo>
                <a:lnTo>
                  <a:pt x="115145" y="67561"/>
                </a:lnTo>
                <a:cubicBezTo>
                  <a:pt x="113426" y="66988"/>
                  <a:pt x="111576" y="66988"/>
                  <a:pt x="109884" y="67561"/>
                </a:cubicBezTo>
                <a:close/>
              </a:path>
            </a:pathLst>
          </a:custGeom>
          <a:solidFill>
            <a:srgbClr val="3B82F6"/>
          </a:solidFill>
          <a:ln/>
        </p:spPr>
      </p:sp>
      <p:sp>
        <p:nvSpPr>
          <p:cNvPr id="18" name="Text 16"/>
          <p:cNvSpPr/>
          <p:nvPr/>
        </p:nvSpPr>
        <p:spPr>
          <a:xfrm>
            <a:off x="890588" y="3048000"/>
            <a:ext cx="1600200" cy="190500"/>
          </a:xfrm>
          <a:prstGeom prst="rect">
            <a:avLst/>
          </a:prstGeom>
          <a:noFill/>
          <a:ln/>
        </p:spPr>
        <p:txBody>
          <a:bodyPr wrap="square" lIns="0" tIns="0" rIns="0" bIns="0" rtlCol="0" anchor="ctr"/>
          <a:lstStyle/>
          <a:p>
            <a:pPr>
              <a:lnSpc>
                <a:spcPct val="120000"/>
              </a:lnSpc>
            </a:pPr>
            <a:r>
              <a:rPr lang="en-US" sz="1050" dirty="0">
                <a:solidFill>
                  <a:srgbClr val="1E293B"/>
                </a:solidFill>
                <a:latin typeface="Quattrocento Sans" pitchFamily="34" charset="0"/>
                <a:ea typeface="Quattrocento Sans" pitchFamily="34" charset="-122"/>
                <a:cs typeface="Quattrocento Sans" pitchFamily="34" charset="-120"/>
              </a:rPr>
              <a:t>Role-based access control</a:t>
            </a:r>
            <a:endParaRPr lang="en-US" sz="1600" dirty="0"/>
          </a:p>
        </p:txBody>
      </p:sp>
      <p:sp>
        <p:nvSpPr>
          <p:cNvPr id="19" name="Shape 17"/>
          <p:cNvSpPr/>
          <p:nvPr/>
        </p:nvSpPr>
        <p:spPr>
          <a:xfrm>
            <a:off x="4241721" y="1390650"/>
            <a:ext cx="3705225" cy="2457450"/>
          </a:xfrm>
          <a:custGeom>
            <a:avLst/>
            <a:gdLst/>
            <a:ahLst/>
            <a:cxnLst/>
            <a:rect l="l" t="t" r="r" b="b"/>
            <a:pathLst>
              <a:path w="3705225" h="2457450">
                <a:moveTo>
                  <a:pt x="38100" y="0"/>
                </a:moveTo>
                <a:lnTo>
                  <a:pt x="3667125" y="0"/>
                </a:lnTo>
                <a:cubicBezTo>
                  <a:pt x="3688153" y="0"/>
                  <a:pt x="3705225" y="17072"/>
                  <a:pt x="3705225" y="38100"/>
                </a:cubicBezTo>
                <a:lnTo>
                  <a:pt x="3705225" y="2343154"/>
                </a:lnTo>
                <a:cubicBezTo>
                  <a:pt x="3705225" y="2406278"/>
                  <a:pt x="3654053" y="2457450"/>
                  <a:pt x="3590929" y="2457450"/>
                </a:cubicBezTo>
                <a:lnTo>
                  <a:pt x="114296" y="2457450"/>
                </a:lnTo>
                <a:cubicBezTo>
                  <a:pt x="51172" y="2457450"/>
                  <a:pt x="0" y="2406278"/>
                  <a:pt x="0" y="2343154"/>
                </a:cubicBezTo>
                <a:lnTo>
                  <a:pt x="0" y="38100"/>
                </a:lnTo>
                <a:cubicBezTo>
                  <a:pt x="0" y="17072"/>
                  <a:pt x="17072" y="0"/>
                  <a:pt x="38100" y="0"/>
                </a:cubicBezTo>
                <a:close/>
              </a:path>
            </a:pathLst>
          </a:custGeom>
          <a:solidFill>
            <a:srgbClr val="FFFFFF"/>
          </a:solidFill>
          <a:ln/>
          <a:effectLst>
            <a:outerShdw blurRad="57150" dist="38100" dir="5400000" algn="bl" rotWithShape="0">
              <a:srgbClr val="000000">
                <a:alpha val="10196"/>
              </a:srgbClr>
            </a:outerShdw>
          </a:effectLst>
        </p:spPr>
      </p:sp>
      <p:sp>
        <p:nvSpPr>
          <p:cNvPr id="20" name="Shape 18"/>
          <p:cNvSpPr/>
          <p:nvPr/>
        </p:nvSpPr>
        <p:spPr>
          <a:xfrm>
            <a:off x="4241721" y="1390650"/>
            <a:ext cx="3705225" cy="38100"/>
          </a:xfrm>
          <a:custGeom>
            <a:avLst/>
            <a:gdLst/>
            <a:ahLst/>
            <a:cxnLst/>
            <a:rect l="l" t="t" r="r" b="b"/>
            <a:pathLst>
              <a:path w="3705225" h="38100">
                <a:moveTo>
                  <a:pt x="38100" y="0"/>
                </a:moveTo>
                <a:lnTo>
                  <a:pt x="3667125" y="0"/>
                </a:lnTo>
                <a:cubicBezTo>
                  <a:pt x="3688153" y="0"/>
                  <a:pt x="3705225" y="17072"/>
                  <a:pt x="3705225" y="38100"/>
                </a:cubicBezTo>
                <a:lnTo>
                  <a:pt x="3705225" y="38100"/>
                </a:lnTo>
                <a:lnTo>
                  <a:pt x="0" y="38100"/>
                </a:lnTo>
                <a:lnTo>
                  <a:pt x="0" y="38100"/>
                </a:lnTo>
                <a:cubicBezTo>
                  <a:pt x="0" y="17072"/>
                  <a:pt x="17072" y="0"/>
                  <a:pt x="38100" y="0"/>
                </a:cubicBezTo>
                <a:close/>
              </a:path>
            </a:pathLst>
          </a:custGeom>
          <a:solidFill>
            <a:srgbClr val="10B981"/>
          </a:solidFill>
          <a:ln/>
        </p:spPr>
      </p:sp>
      <p:sp>
        <p:nvSpPr>
          <p:cNvPr id="21" name="Shape 19"/>
          <p:cNvSpPr/>
          <p:nvPr/>
        </p:nvSpPr>
        <p:spPr>
          <a:xfrm>
            <a:off x="4432221" y="16002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10B981">
              <a:alpha val="10196"/>
            </a:srgbClr>
          </a:solidFill>
          <a:ln/>
        </p:spPr>
      </p:sp>
      <p:sp>
        <p:nvSpPr>
          <p:cNvPr id="22" name="Shape 20"/>
          <p:cNvSpPr/>
          <p:nvPr/>
        </p:nvSpPr>
        <p:spPr>
          <a:xfrm>
            <a:off x="4550093" y="1704975"/>
            <a:ext cx="150019" cy="171450"/>
          </a:xfrm>
          <a:custGeom>
            <a:avLst/>
            <a:gdLst/>
            <a:ahLst/>
            <a:cxnLst/>
            <a:rect l="l" t="t" r="r" b="b"/>
            <a:pathLst>
              <a:path w="150019" h="171450">
                <a:moveTo>
                  <a:pt x="75009" y="2679"/>
                </a:moveTo>
                <a:cubicBezTo>
                  <a:pt x="52831" y="2679"/>
                  <a:pt x="34826" y="20685"/>
                  <a:pt x="34826" y="42863"/>
                </a:cubicBezTo>
                <a:cubicBezTo>
                  <a:pt x="34826" y="65040"/>
                  <a:pt x="52831" y="83046"/>
                  <a:pt x="75009" y="83046"/>
                </a:cubicBezTo>
                <a:cubicBezTo>
                  <a:pt x="97187" y="83046"/>
                  <a:pt x="115193" y="65040"/>
                  <a:pt x="115193" y="42863"/>
                </a:cubicBezTo>
                <a:cubicBezTo>
                  <a:pt x="115193" y="20685"/>
                  <a:pt x="97187" y="2679"/>
                  <a:pt x="75009" y="2679"/>
                </a:cubicBezTo>
                <a:close/>
                <a:moveTo>
                  <a:pt x="95101" y="107424"/>
                </a:moveTo>
                <a:cubicBezTo>
                  <a:pt x="93293" y="107257"/>
                  <a:pt x="91418" y="107156"/>
                  <a:pt x="89542" y="107156"/>
                </a:cubicBezTo>
                <a:lnTo>
                  <a:pt x="60443" y="107156"/>
                </a:lnTo>
                <a:cubicBezTo>
                  <a:pt x="58568" y="107156"/>
                  <a:pt x="56726" y="107257"/>
                  <a:pt x="54884" y="107424"/>
                </a:cubicBezTo>
                <a:lnTo>
                  <a:pt x="54884" y="130027"/>
                </a:lnTo>
                <a:cubicBezTo>
                  <a:pt x="60409" y="132572"/>
                  <a:pt x="64260" y="138165"/>
                  <a:pt x="64260" y="144627"/>
                </a:cubicBezTo>
                <a:cubicBezTo>
                  <a:pt x="64260" y="153501"/>
                  <a:pt x="57061" y="160701"/>
                  <a:pt x="48187" y="160701"/>
                </a:cubicBezTo>
                <a:cubicBezTo>
                  <a:pt x="39313" y="160701"/>
                  <a:pt x="32113" y="153501"/>
                  <a:pt x="32113" y="144627"/>
                </a:cubicBezTo>
                <a:cubicBezTo>
                  <a:pt x="32113" y="138131"/>
                  <a:pt x="35964" y="132539"/>
                  <a:pt x="41490" y="130027"/>
                </a:cubicBezTo>
                <a:lnTo>
                  <a:pt x="41490" y="110471"/>
                </a:lnTo>
                <a:cubicBezTo>
                  <a:pt x="20427" y="118207"/>
                  <a:pt x="5358" y="138499"/>
                  <a:pt x="5358" y="162275"/>
                </a:cubicBezTo>
                <a:cubicBezTo>
                  <a:pt x="5358" y="167331"/>
                  <a:pt x="9477" y="171450"/>
                  <a:pt x="14533" y="171450"/>
                </a:cubicBezTo>
                <a:lnTo>
                  <a:pt x="135452" y="171450"/>
                </a:lnTo>
                <a:cubicBezTo>
                  <a:pt x="140509" y="171450"/>
                  <a:pt x="144627" y="167331"/>
                  <a:pt x="144627" y="162275"/>
                </a:cubicBezTo>
                <a:cubicBezTo>
                  <a:pt x="144627" y="138499"/>
                  <a:pt x="129559" y="118240"/>
                  <a:pt x="108462" y="110505"/>
                </a:cubicBezTo>
                <a:lnTo>
                  <a:pt x="108462" y="123029"/>
                </a:lnTo>
                <a:cubicBezTo>
                  <a:pt x="116265" y="125775"/>
                  <a:pt x="121857" y="133242"/>
                  <a:pt x="121857" y="141982"/>
                </a:cubicBezTo>
                <a:lnTo>
                  <a:pt x="121857" y="152698"/>
                </a:lnTo>
                <a:cubicBezTo>
                  <a:pt x="121857" y="156381"/>
                  <a:pt x="118843" y="159395"/>
                  <a:pt x="115159" y="159395"/>
                </a:cubicBezTo>
                <a:cubicBezTo>
                  <a:pt x="111476" y="159395"/>
                  <a:pt x="108462" y="156381"/>
                  <a:pt x="108462" y="152698"/>
                </a:cubicBezTo>
                <a:lnTo>
                  <a:pt x="108462" y="141982"/>
                </a:lnTo>
                <a:cubicBezTo>
                  <a:pt x="108462" y="138299"/>
                  <a:pt x="105448" y="135285"/>
                  <a:pt x="101765" y="135285"/>
                </a:cubicBezTo>
                <a:cubicBezTo>
                  <a:pt x="98081" y="135285"/>
                  <a:pt x="95068" y="138299"/>
                  <a:pt x="95068" y="141982"/>
                </a:cubicBezTo>
                <a:lnTo>
                  <a:pt x="95068" y="152698"/>
                </a:lnTo>
                <a:cubicBezTo>
                  <a:pt x="95068" y="156381"/>
                  <a:pt x="92054" y="159395"/>
                  <a:pt x="88370" y="159395"/>
                </a:cubicBezTo>
                <a:cubicBezTo>
                  <a:pt x="84687" y="159395"/>
                  <a:pt x="81673" y="156381"/>
                  <a:pt x="81673" y="152698"/>
                </a:cubicBezTo>
                <a:lnTo>
                  <a:pt x="81673" y="141982"/>
                </a:lnTo>
                <a:cubicBezTo>
                  <a:pt x="81673" y="133242"/>
                  <a:pt x="87265" y="125808"/>
                  <a:pt x="95068" y="123029"/>
                </a:cubicBezTo>
                <a:lnTo>
                  <a:pt x="95068" y="107424"/>
                </a:lnTo>
                <a:close/>
              </a:path>
            </a:pathLst>
          </a:custGeom>
          <a:solidFill>
            <a:srgbClr val="10B981"/>
          </a:solidFill>
          <a:ln/>
        </p:spPr>
      </p:sp>
      <p:sp>
        <p:nvSpPr>
          <p:cNvPr id="23" name="Text 21"/>
          <p:cNvSpPr/>
          <p:nvPr/>
        </p:nvSpPr>
        <p:spPr>
          <a:xfrm>
            <a:off x="4927521" y="1657350"/>
            <a:ext cx="1638300" cy="266700"/>
          </a:xfrm>
          <a:prstGeom prst="rect">
            <a:avLst/>
          </a:prstGeom>
          <a:noFill/>
          <a:ln/>
        </p:spPr>
        <p:txBody>
          <a:bodyPr wrap="square" lIns="0" tIns="0" rIns="0" bIns="0" rtlCol="0" anchor="ctr"/>
          <a:lstStyle/>
          <a:p>
            <a:pPr>
              <a:lnSpc>
                <a:spcPct val="130000"/>
              </a:lnSpc>
            </a:pPr>
            <a:r>
              <a:rPr lang="en-US" sz="1350" b="1" dirty="0">
                <a:solidFill>
                  <a:srgbClr val="1E3A5F"/>
                </a:solidFill>
                <a:latin typeface="Liter" pitchFamily="34" charset="0"/>
                <a:ea typeface="Liter" pitchFamily="34" charset="-122"/>
                <a:cs typeface="Liter" pitchFamily="34" charset="-120"/>
              </a:rPr>
              <a:t>Doctor Management</a:t>
            </a:r>
            <a:endParaRPr lang="en-US" sz="1600" dirty="0"/>
          </a:p>
        </p:txBody>
      </p:sp>
      <p:sp>
        <p:nvSpPr>
          <p:cNvPr id="24" name="Shape 22"/>
          <p:cNvSpPr/>
          <p:nvPr/>
        </p:nvSpPr>
        <p:spPr>
          <a:xfrm>
            <a:off x="4432221" y="2133600"/>
            <a:ext cx="3324225" cy="342900"/>
          </a:xfrm>
          <a:custGeom>
            <a:avLst/>
            <a:gdLst/>
            <a:ahLst/>
            <a:cxnLst/>
            <a:rect l="l" t="t" r="r" b="b"/>
            <a:pathLst>
              <a:path w="3324225" h="342900">
                <a:moveTo>
                  <a:pt x="76199" y="0"/>
                </a:moveTo>
                <a:lnTo>
                  <a:pt x="3248026" y="0"/>
                </a:lnTo>
                <a:cubicBezTo>
                  <a:pt x="3290109" y="0"/>
                  <a:pt x="3324225" y="34116"/>
                  <a:pt x="3324225" y="76199"/>
                </a:cubicBezTo>
                <a:lnTo>
                  <a:pt x="3324225" y="266701"/>
                </a:lnTo>
                <a:cubicBezTo>
                  <a:pt x="3324225" y="308784"/>
                  <a:pt x="3290109" y="342900"/>
                  <a:pt x="3248026" y="342900"/>
                </a:cubicBezTo>
                <a:lnTo>
                  <a:pt x="76199" y="342900"/>
                </a:lnTo>
                <a:cubicBezTo>
                  <a:pt x="34144" y="342900"/>
                  <a:pt x="0" y="308756"/>
                  <a:pt x="0" y="266701"/>
                </a:cubicBezTo>
                <a:lnTo>
                  <a:pt x="0" y="76199"/>
                </a:lnTo>
                <a:cubicBezTo>
                  <a:pt x="0" y="34144"/>
                  <a:pt x="34144" y="0"/>
                  <a:pt x="76199" y="0"/>
                </a:cubicBezTo>
                <a:close/>
              </a:path>
            </a:pathLst>
          </a:custGeom>
          <a:solidFill>
            <a:srgbClr val="F8FAFC"/>
          </a:solidFill>
          <a:ln/>
        </p:spPr>
      </p:sp>
      <p:sp>
        <p:nvSpPr>
          <p:cNvPr id="25" name="Shape 23"/>
          <p:cNvSpPr/>
          <p:nvPr/>
        </p:nvSpPr>
        <p:spPr>
          <a:xfrm>
            <a:off x="4519136" y="2238375"/>
            <a:ext cx="150019" cy="133350"/>
          </a:xfrm>
          <a:custGeom>
            <a:avLst/>
            <a:gdLst/>
            <a:ahLst/>
            <a:cxnLst/>
            <a:rect l="l" t="t" r="r" b="b"/>
            <a:pathLst>
              <a:path w="150019" h="133350">
                <a:moveTo>
                  <a:pt x="0" y="25003"/>
                </a:moveTo>
                <a:cubicBezTo>
                  <a:pt x="0" y="15809"/>
                  <a:pt x="7475" y="8334"/>
                  <a:pt x="16669" y="8334"/>
                </a:cubicBezTo>
                <a:lnTo>
                  <a:pt x="133350" y="8334"/>
                </a:lnTo>
                <a:cubicBezTo>
                  <a:pt x="142544" y="8334"/>
                  <a:pt x="150019" y="15809"/>
                  <a:pt x="150019" y="25003"/>
                </a:cubicBezTo>
                <a:lnTo>
                  <a:pt x="0" y="25003"/>
                </a:lnTo>
                <a:close/>
                <a:moveTo>
                  <a:pt x="0" y="37505"/>
                </a:moveTo>
                <a:lnTo>
                  <a:pt x="150019" y="37505"/>
                </a:lnTo>
                <a:lnTo>
                  <a:pt x="150019" y="108347"/>
                </a:lnTo>
                <a:cubicBezTo>
                  <a:pt x="150019" y="117541"/>
                  <a:pt x="142544" y="125016"/>
                  <a:pt x="133350" y="125016"/>
                </a:cubicBezTo>
                <a:lnTo>
                  <a:pt x="16669" y="125016"/>
                </a:lnTo>
                <a:cubicBezTo>
                  <a:pt x="7475" y="125016"/>
                  <a:pt x="0" y="117541"/>
                  <a:pt x="0" y="108347"/>
                </a:cubicBezTo>
                <a:lnTo>
                  <a:pt x="0" y="37505"/>
                </a:lnTo>
                <a:close/>
                <a:moveTo>
                  <a:pt x="64409" y="108347"/>
                </a:moveTo>
                <a:cubicBezTo>
                  <a:pt x="69670" y="108347"/>
                  <a:pt x="73603" y="103294"/>
                  <a:pt x="70243" y="99231"/>
                </a:cubicBezTo>
                <a:cubicBezTo>
                  <a:pt x="66415" y="94621"/>
                  <a:pt x="60633" y="91678"/>
                  <a:pt x="54173" y="91678"/>
                </a:cubicBezTo>
                <a:lnTo>
                  <a:pt x="37505" y="91678"/>
                </a:lnTo>
                <a:cubicBezTo>
                  <a:pt x="31046" y="91678"/>
                  <a:pt x="25264" y="94621"/>
                  <a:pt x="21435" y="99231"/>
                </a:cubicBezTo>
                <a:cubicBezTo>
                  <a:pt x="18075" y="103294"/>
                  <a:pt x="22008" y="108347"/>
                  <a:pt x="27269" y="108347"/>
                </a:cubicBezTo>
                <a:lnTo>
                  <a:pt x="64383" y="108347"/>
                </a:lnTo>
                <a:close/>
                <a:moveTo>
                  <a:pt x="45839" y="81260"/>
                </a:moveTo>
                <a:cubicBezTo>
                  <a:pt x="53889" y="81260"/>
                  <a:pt x="60424" y="74725"/>
                  <a:pt x="60424" y="66675"/>
                </a:cubicBezTo>
                <a:cubicBezTo>
                  <a:pt x="60424" y="58625"/>
                  <a:pt x="53889" y="52090"/>
                  <a:pt x="45839" y="52090"/>
                </a:cubicBezTo>
                <a:cubicBezTo>
                  <a:pt x="37789" y="52090"/>
                  <a:pt x="31254" y="58625"/>
                  <a:pt x="31254" y="66675"/>
                </a:cubicBezTo>
                <a:cubicBezTo>
                  <a:pt x="31254" y="74725"/>
                  <a:pt x="37789" y="81260"/>
                  <a:pt x="45839" y="81260"/>
                </a:cubicBezTo>
                <a:close/>
                <a:moveTo>
                  <a:pt x="93762" y="54173"/>
                </a:moveTo>
                <a:cubicBezTo>
                  <a:pt x="90298" y="54173"/>
                  <a:pt x="87511" y="56960"/>
                  <a:pt x="87511" y="60424"/>
                </a:cubicBezTo>
                <a:cubicBezTo>
                  <a:pt x="87511" y="63888"/>
                  <a:pt x="90298" y="66675"/>
                  <a:pt x="93762" y="66675"/>
                </a:cubicBezTo>
                <a:lnTo>
                  <a:pt x="122932" y="66675"/>
                </a:lnTo>
                <a:cubicBezTo>
                  <a:pt x="126396" y="66675"/>
                  <a:pt x="129183" y="63888"/>
                  <a:pt x="129183" y="60424"/>
                </a:cubicBezTo>
                <a:cubicBezTo>
                  <a:pt x="129183" y="56960"/>
                  <a:pt x="126396" y="54173"/>
                  <a:pt x="122932" y="54173"/>
                </a:cubicBezTo>
                <a:lnTo>
                  <a:pt x="93762" y="54173"/>
                </a:lnTo>
                <a:close/>
                <a:moveTo>
                  <a:pt x="93762" y="79177"/>
                </a:moveTo>
                <a:cubicBezTo>
                  <a:pt x="90298" y="79177"/>
                  <a:pt x="87511" y="81963"/>
                  <a:pt x="87511" y="85427"/>
                </a:cubicBezTo>
                <a:cubicBezTo>
                  <a:pt x="87511" y="88891"/>
                  <a:pt x="90298" y="91678"/>
                  <a:pt x="93762" y="91678"/>
                </a:cubicBezTo>
                <a:lnTo>
                  <a:pt x="122932" y="91678"/>
                </a:lnTo>
                <a:cubicBezTo>
                  <a:pt x="126396" y="91678"/>
                  <a:pt x="129183" y="88891"/>
                  <a:pt x="129183" y="85427"/>
                </a:cubicBezTo>
                <a:cubicBezTo>
                  <a:pt x="129183" y="81963"/>
                  <a:pt x="126396" y="79177"/>
                  <a:pt x="122932" y="79177"/>
                </a:cubicBezTo>
                <a:lnTo>
                  <a:pt x="93762" y="79177"/>
                </a:lnTo>
                <a:close/>
              </a:path>
            </a:pathLst>
          </a:custGeom>
          <a:solidFill>
            <a:srgbClr val="10B981"/>
          </a:solidFill>
          <a:ln/>
        </p:spPr>
      </p:sp>
      <p:sp>
        <p:nvSpPr>
          <p:cNvPr id="26" name="Text 24"/>
          <p:cNvSpPr/>
          <p:nvPr/>
        </p:nvSpPr>
        <p:spPr>
          <a:xfrm>
            <a:off x="4751308" y="2209800"/>
            <a:ext cx="1657350" cy="190500"/>
          </a:xfrm>
          <a:prstGeom prst="rect">
            <a:avLst/>
          </a:prstGeom>
          <a:noFill/>
          <a:ln/>
        </p:spPr>
        <p:txBody>
          <a:bodyPr wrap="square" lIns="0" tIns="0" rIns="0" bIns="0" rtlCol="0" anchor="ctr"/>
          <a:lstStyle/>
          <a:p>
            <a:pPr>
              <a:lnSpc>
                <a:spcPct val="120000"/>
              </a:lnSpc>
            </a:pPr>
            <a:r>
              <a:rPr lang="en-US" sz="1050" dirty="0">
                <a:solidFill>
                  <a:srgbClr val="1E293B"/>
                </a:solidFill>
                <a:latin typeface="Quattrocento Sans" pitchFamily="34" charset="0"/>
                <a:ea typeface="Quattrocento Sans" pitchFamily="34" charset="-122"/>
                <a:cs typeface="Quattrocento Sans" pitchFamily="34" charset="-120"/>
              </a:rPr>
              <a:t>Doctor profile management</a:t>
            </a:r>
            <a:endParaRPr lang="en-US" sz="1600" dirty="0"/>
          </a:p>
        </p:txBody>
      </p:sp>
      <p:sp>
        <p:nvSpPr>
          <p:cNvPr id="27" name="Shape 25"/>
          <p:cNvSpPr/>
          <p:nvPr/>
        </p:nvSpPr>
        <p:spPr>
          <a:xfrm>
            <a:off x="4432221" y="2552700"/>
            <a:ext cx="3324225" cy="342900"/>
          </a:xfrm>
          <a:custGeom>
            <a:avLst/>
            <a:gdLst/>
            <a:ahLst/>
            <a:cxnLst/>
            <a:rect l="l" t="t" r="r" b="b"/>
            <a:pathLst>
              <a:path w="3324225" h="342900">
                <a:moveTo>
                  <a:pt x="76199" y="0"/>
                </a:moveTo>
                <a:lnTo>
                  <a:pt x="3248026" y="0"/>
                </a:lnTo>
                <a:cubicBezTo>
                  <a:pt x="3290109" y="0"/>
                  <a:pt x="3324225" y="34116"/>
                  <a:pt x="3324225" y="76199"/>
                </a:cubicBezTo>
                <a:lnTo>
                  <a:pt x="3324225" y="266701"/>
                </a:lnTo>
                <a:cubicBezTo>
                  <a:pt x="3324225" y="308784"/>
                  <a:pt x="3290109" y="342900"/>
                  <a:pt x="3248026" y="342900"/>
                </a:cubicBezTo>
                <a:lnTo>
                  <a:pt x="76199" y="342900"/>
                </a:lnTo>
                <a:cubicBezTo>
                  <a:pt x="34144" y="342900"/>
                  <a:pt x="0" y="308756"/>
                  <a:pt x="0" y="266701"/>
                </a:cubicBezTo>
                <a:lnTo>
                  <a:pt x="0" y="76199"/>
                </a:lnTo>
                <a:cubicBezTo>
                  <a:pt x="0" y="34144"/>
                  <a:pt x="34144" y="0"/>
                  <a:pt x="76199" y="0"/>
                </a:cubicBezTo>
                <a:close/>
              </a:path>
            </a:pathLst>
          </a:custGeom>
          <a:solidFill>
            <a:srgbClr val="F8FAFC"/>
          </a:solidFill>
          <a:ln/>
        </p:spPr>
      </p:sp>
      <p:sp>
        <p:nvSpPr>
          <p:cNvPr id="28" name="Shape 26"/>
          <p:cNvSpPr/>
          <p:nvPr/>
        </p:nvSpPr>
        <p:spPr>
          <a:xfrm>
            <a:off x="4519136" y="2657475"/>
            <a:ext cx="150019" cy="133350"/>
          </a:xfrm>
          <a:custGeom>
            <a:avLst/>
            <a:gdLst/>
            <a:ahLst/>
            <a:cxnLst/>
            <a:rect l="l" t="t" r="r" b="b"/>
            <a:pathLst>
              <a:path w="150019" h="133350">
                <a:moveTo>
                  <a:pt x="8334" y="12502"/>
                </a:moveTo>
                <a:cubicBezTo>
                  <a:pt x="8334" y="5600"/>
                  <a:pt x="13934" y="0"/>
                  <a:pt x="20836" y="0"/>
                </a:cubicBezTo>
                <a:lnTo>
                  <a:pt x="33337" y="0"/>
                </a:lnTo>
                <a:cubicBezTo>
                  <a:pt x="37947" y="0"/>
                  <a:pt x="41672" y="3724"/>
                  <a:pt x="41672" y="8334"/>
                </a:cubicBezTo>
                <a:cubicBezTo>
                  <a:pt x="41672" y="12944"/>
                  <a:pt x="37947" y="16669"/>
                  <a:pt x="33337" y="16669"/>
                </a:cubicBezTo>
                <a:lnTo>
                  <a:pt x="25003" y="16669"/>
                </a:lnTo>
                <a:lnTo>
                  <a:pt x="25003" y="50006"/>
                </a:lnTo>
                <a:cubicBezTo>
                  <a:pt x="25003" y="63810"/>
                  <a:pt x="36202" y="75009"/>
                  <a:pt x="50006" y="75009"/>
                </a:cubicBezTo>
                <a:cubicBezTo>
                  <a:pt x="63810" y="75009"/>
                  <a:pt x="75009" y="63810"/>
                  <a:pt x="75009" y="50006"/>
                </a:cubicBezTo>
                <a:lnTo>
                  <a:pt x="75009" y="16669"/>
                </a:lnTo>
                <a:lnTo>
                  <a:pt x="66675" y="16669"/>
                </a:lnTo>
                <a:cubicBezTo>
                  <a:pt x="62065" y="16669"/>
                  <a:pt x="58341" y="12944"/>
                  <a:pt x="58341" y="8334"/>
                </a:cubicBezTo>
                <a:cubicBezTo>
                  <a:pt x="58341" y="3724"/>
                  <a:pt x="62065" y="0"/>
                  <a:pt x="66675" y="0"/>
                </a:cubicBezTo>
                <a:lnTo>
                  <a:pt x="79177" y="0"/>
                </a:lnTo>
                <a:cubicBezTo>
                  <a:pt x="86078" y="0"/>
                  <a:pt x="91678" y="5600"/>
                  <a:pt x="91678" y="12502"/>
                </a:cubicBezTo>
                <a:lnTo>
                  <a:pt x="91678" y="50006"/>
                </a:lnTo>
                <a:cubicBezTo>
                  <a:pt x="91678" y="70165"/>
                  <a:pt x="77353" y="86990"/>
                  <a:pt x="58341" y="90845"/>
                </a:cubicBezTo>
                <a:lnTo>
                  <a:pt x="58341" y="95845"/>
                </a:lnTo>
                <a:cubicBezTo>
                  <a:pt x="58341" y="111967"/>
                  <a:pt x="71389" y="125016"/>
                  <a:pt x="87511" y="125016"/>
                </a:cubicBezTo>
                <a:cubicBezTo>
                  <a:pt x="103633" y="125016"/>
                  <a:pt x="116681" y="111967"/>
                  <a:pt x="116681" y="95845"/>
                </a:cubicBezTo>
                <a:lnTo>
                  <a:pt x="116681" y="73577"/>
                </a:lnTo>
                <a:cubicBezTo>
                  <a:pt x="106966" y="70139"/>
                  <a:pt x="100013" y="60893"/>
                  <a:pt x="100013" y="50006"/>
                </a:cubicBezTo>
                <a:cubicBezTo>
                  <a:pt x="100013" y="36202"/>
                  <a:pt x="111212" y="25003"/>
                  <a:pt x="125016" y="25003"/>
                </a:cubicBezTo>
                <a:cubicBezTo>
                  <a:pt x="138819" y="25003"/>
                  <a:pt x="150019" y="36202"/>
                  <a:pt x="150019" y="50006"/>
                </a:cubicBezTo>
                <a:cubicBezTo>
                  <a:pt x="150019" y="60893"/>
                  <a:pt x="143065" y="70165"/>
                  <a:pt x="133350" y="73577"/>
                </a:cubicBezTo>
                <a:lnTo>
                  <a:pt x="133350" y="95845"/>
                </a:lnTo>
                <a:cubicBezTo>
                  <a:pt x="133350" y="121161"/>
                  <a:pt x="112827" y="141684"/>
                  <a:pt x="87511" y="141684"/>
                </a:cubicBezTo>
                <a:cubicBezTo>
                  <a:pt x="62195" y="141684"/>
                  <a:pt x="41672" y="121161"/>
                  <a:pt x="41672" y="95845"/>
                </a:cubicBezTo>
                <a:lnTo>
                  <a:pt x="41672" y="90845"/>
                </a:lnTo>
                <a:cubicBezTo>
                  <a:pt x="22659" y="86990"/>
                  <a:pt x="8334" y="70165"/>
                  <a:pt x="8334" y="50006"/>
                </a:cubicBezTo>
                <a:lnTo>
                  <a:pt x="8334" y="12502"/>
                </a:lnTo>
                <a:close/>
                <a:moveTo>
                  <a:pt x="125016" y="58341"/>
                </a:moveTo>
                <a:cubicBezTo>
                  <a:pt x="129615" y="58341"/>
                  <a:pt x="133350" y="54606"/>
                  <a:pt x="133350" y="50006"/>
                </a:cubicBezTo>
                <a:cubicBezTo>
                  <a:pt x="133350" y="45406"/>
                  <a:pt x="129615" y="41672"/>
                  <a:pt x="125016" y="41672"/>
                </a:cubicBezTo>
                <a:cubicBezTo>
                  <a:pt x="120416" y="41672"/>
                  <a:pt x="116681" y="45406"/>
                  <a:pt x="116681" y="50006"/>
                </a:cubicBezTo>
                <a:cubicBezTo>
                  <a:pt x="116681" y="54606"/>
                  <a:pt x="120416" y="58341"/>
                  <a:pt x="125016" y="58341"/>
                </a:cubicBezTo>
                <a:close/>
              </a:path>
            </a:pathLst>
          </a:custGeom>
          <a:solidFill>
            <a:srgbClr val="10B981"/>
          </a:solidFill>
          <a:ln/>
        </p:spPr>
      </p:sp>
      <p:sp>
        <p:nvSpPr>
          <p:cNvPr id="29" name="Text 27"/>
          <p:cNvSpPr/>
          <p:nvPr/>
        </p:nvSpPr>
        <p:spPr>
          <a:xfrm>
            <a:off x="4751308" y="2628900"/>
            <a:ext cx="1924050" cy="190500"/>
          </a:xfrm>
          <a:prstGeom prst="rect">
            <a:avLst/>
          </a:prstGeom>
          <a:noFill/>
          <a:ln/>
        </p:spPr>
        <p:txBody>
          <a:bodyPr wrap="square" lIns="0" tIns="0" rIns="0" bIns="0" rtlCol="0" anchor="ctr"/>
          <a:lstStyle/>
          <a:p>
            <a:pPr>
              <a:lnSpc>
                <a:spcPct val="120000"/>
              </a:lnSpc>
            </a:pPr>
            <a:r>
              <a:rPr lang="en-US" sz="1050" dirty="0">
                <a:solidFill>
                  <a:srgbClr val="1E293B"/>
                </a:solidFill>
                <a:latin typeface="Quattrocento Sans" pitchFamily="34" charset="0"/>
                <a:ea typeface="Quattrocento Sans" pitchFamily="34" charset="-122"/>
                <a:cs typeface="Quattrocento Sans" pitchFamily="34" charset="-120"/>
              </a:rPr>
              <a:t>Specialization &amp; consultation fee</a:t>
            </a:r>
            <a:endParaRPr lang="en-US" sz="1600" dirty="0"/>
          </a:p>
        </p:txBody>
      </p:sp>
      <p:sp>
        <p:nvSpPr>
          <p:cNvPr id="30" name="Shape 28"/>
          <p:cNvSpPr/>
          <p:nvPr/>
        </p:nvSpPr>
        <p:spPr>
          <a:xfrm>
            <a:off x="4432221" y="2971800"/>
            <a:ext cx="3324225" cy="342900"/>
          </a:xfrm>
          <a:custGeom>
            <a:avLst/>
            <a:gdLst/>
            <a:ahLst/>
            <a:cxnLst/>
            <a:rect l="l" t="t" r="r" b="b"/>
            <a:pathLst>
              <a:path w="3324225" h="342900">
                <a:moveTo>
                  <a:pt x="76199" y="0"/>
                </a:moveTo>
                <a:lnTo>
                  <a:pt x="3248026" y="0"/>
                </a:lnTo>
                <a:cubicBezTo>
                  <a:pt x="3290109" y="0"/>
                  <a:pt x="3324225" y="34116"/>
                  <a:pt x="3324225" y="76199"/>
                </a:cubicBezTo>
                <a:lnTo>
                  <a:pt x="3324225" y="266701"/>
                </a:lnTo>
                <a:cubicBezTo>
                  <a:pt x="3324225" y="308784"/>
                  <a:pt x="3290109" y="342900"/>
                  <a:pt x="3248026" y="342900"/>
                </a:cubicBezTo>
                <a:lnTo>
                  <a:pt x="76199" y="342900"/>
                </a:lnTo>
                <a:cubicBezTo>
                  <a:pt x="34144" y="342900"/>
                  <a:pt x="0" y="308756"/>
                  <a:pt x="0" y="266701"/>
                </a:cubicBezTo>
                <a:lnTo>
                  <a:pt x="0" y="76199"/>
                </a:lnTo>
                <a:cubicBezTo>
                  <a:pt x="0" y="34144"/>
                  <a:pt x="34144" y="0"/>
                  <a:pt x="76199" y="0"/>
                </a:cubicBezTo>
                <a:close/>
              </a:path>
            </a:pathLst>
          </a:custGeom>
          <a:solidFill>
            <a:srgbClr val="F8FAFC"/>
          </a:solidFill>
          <a:ln/>
        </p:spPr>
      </p:sp>
      <p:sp>
        <p:nvSpPr>
          <p:cNvPr id="31" name="Shape 29"/>
          <p:cNvSpPr/>
          <p:nvPr/>
        </p:nvSpPr>
        <p:spPr>
          <a:xfrm>
            <a:off x="4535805" y="3076575"/>
            <a:ext cx="116681" cy="133350"/>
          </a:xfrm>
          <a:custGeom>
            <a:avLst/>
            <a:gdLst/>
            <a:ahLst/>
            <a:cxnLst/>
            <a:rect l="l" t="t" r="r" b="b"/>
            <a:pathLst>
              <a:path w="116681" h="133350">
                <a:moveTo>
                  <a:pt x="33337" y="0"/>
                </a:moveTo>
                <a:cubicBezTo>
                  <a:pt x="37947" y="0"/>
                  <a:pt x="41672" y="3724"/>
                  <a:pt x="41672" y="8334"/>
                </a:cubicBezTo>
                <a:lnTo>
                  <a:pt x="41672" y="16669"/>
                </a:lnTo>
                <a:lnTo>
                  <a:pt x="75009" y="16669"/>
                </a:lnTo>
                <a:lnTo>
                  <a:pt x="75009" y="8334"/>
                </a:lnTo>
                <a:cubicBezTo>
                  <a:pt x="75009" y="3724"/>
                  <a:pt x="78734" y="0"/>
                  <a:pt x="83344" y="0"/>
                </a:cubicBezTo>
                <a:cubicBezTo>
                  <a:pt x="87954" y="0"/>
                  <a:pt x="91678" y="3724"/>
                  <a:pt x="91678" y="8334"/>
                </a:cubicBezTo>
                <a:lnTo>
                  <a:pt x="91678" y="16669"/>
                </a:lnTo>
                <a:lnTo>
                  <a:pt x="100013" y="16669"/>
                </a:lnTo>
                <a:cubicBezTo>
                  <a:pt x="109206" y="16669"/>
                  <a:pt x="116681" y="24144"/>
                  <a:pt x="116681" y="33337"/>
                </a:cubicBezTo>
                <a:lnTo>
                  <a:pt x="116681" y="108347"/>
                </a:lnTo>
                <a:cubicBezTo>
                  <a:pt x="116681" y="117541"/>
                  <a:pt x="109206" y="125016"/>
                  <a:pt x="100013" y="125016"/>
                </a:cubicBezTo>
                <a:lnTo>
                  <a:pt x="16669" y="125016"/>
                </a:lnTo>
                <a:cubicBezTo>
                  <a:pt x="7475" y="125016"/>
                  <a:pt x="0" y="117541"/>
                  <a:pt x="0" y="108347"/>
                </a:cubicBezTo>
                <a:lnTo>
                  <a:pt x="0" y="33337"/>
                </a:lnTo>
                <a:cubicBezTo>
                  <a:pt x="0" y="24144"/>
                  <a:pt x="7475" y="16669"/>
                  <a:pt x="16669" y="16669"/>
                </a:cubicBezTo>
                <a:lnTo>
                  <a:pt x="25003" y="16669"/>
                </a:lnTo>
                <a:lnTo>
                  <a:pt x="25003" y="8334"/>
                </a:lnTo>
                <a:cubicBezTo>
                  <a:pt x="25003" y="3724"/>
                  <a:pt x="28728" y="0"/>
                  <a:pt x="33337" y="0"/>
                </a:cubicBezTo>
                <a:close/>
                <a:moveTo>
                  <a:pt x="33337" y="66675"/>
                </a:moveTo>
                <a:cubicBezTo>
                  <a:pt x="28728" y="66675"/>
                  <a:pt x="25003" y="70399"/>
                  <a:pt x="25003" y="75009"/>
                </a:cubicBezTo>
                <a:lnTo>
                  <a:pt x="25003" y="91678"/>
                </a:lnTo>
                <a:cubicBezTo>
                  <a:pt x="25003" y="96288"/>
                  <a:pt x="28728" y="100013"/>
                  <a:pt x="33337" y="100013"/>
                </a:cubicBezTo>
                <a:lnTo>
                  <a:pt x="83344" y="100013"/>
                </a:lnTo>
                <a:cubicBezTo>
                  <a:pt x="87954" y="100013"/>
                  <a:pt x="91678" y="96288"/>
                  <a:pt x="91678" y="91678"/>
                </a:cubicBezTo>
                <a:lnTo>
                  <a:pt x="91678" y="75009"/>
                </a:lnTo>
                <a:cubicBezTo>
                  <a:pt x="91678" y="70399"/>
                  <a:pt x="87954" y="66675"/>
                  <a:pt x="83344" y="66675"/>
                </a:cubicBezTo>
                <a:lnTo>
                  <a:pt x="33337" y="66675"/>
                </a:lnTo>
                <a:close/>
              </a:path>
            </a:pathLst>
          </a:custGeom>
          <a:solidFill>
            <a:srgbClr val="10B981"/>
          </a:solidFill>
          <a:ln/>
        </p:spPr>
      </p:sp>
      <p:sp>
        <p:nvSpPr>
          <p:cNvPr id="32" name="Text 30"/>
          <p:cNvSpPr/>
          <p:nvPr/>
        </p:nvSpPr>
        <p:spPr>
          <a:xfrm>
            <a:off x="4751308" y="3048000"/>
            <a:ext cx="1847850" cy="190500"/>
          </a:xfrm>
          <a:prstGeom prst="rect">
            <a:avLst/>
          </a:prstGeom>
          <a:noFill/>
          <a:ln/>
        </p:spPr>
        <p:txBody>
          <a:bodyPr wrap="square" lIns="0" tIns="0" rIns="0" bIns="0" rtlCol="0" anchor="ctr"/>
          <a:lstStyle/>
          <a:p>
            <a:pPr>
              <a:lnSpc>
                <a:spcPct val="120000"/>
              </a:lnSpc>
            </a:pPr>
            <a:r>
              <a:rPr lang="en-US" sz="1050" dirty="0">
                <a:solidFill>
                  <a:srgbClr val="1E293B"/>
                </a:solidFill>
                <a:latin typeface="Quattrocento Sans" pitchFamily="34" charset="0"/>
                <a:ea typeface="Quattrocento Sans" pitchFamily="34" charset="-122"/>
                <a:cs typeface="Quattrocento Sans" pitchFamily="34" charset="-120"/>
              </a:rPr>
              <a:t>Weekly schedule management</a:t>
            </a:r>
            <a:endParaRPr lang="en-US" sz="1600" dirty="0"/>
          </a:p>
        </p:txBody>
      </p:sp>
      <p:sp>
        <p:nvSpPr>
          <p:cNvPr id="33" name="Shape 31"/>
          <p:cNvSpPr/>
          <p:nvPr/>
        </p:nvSpPr>
        <p:spPr>
          <a:xfrm>
            <a:off x="8102561" y="1390650"/>
            <a:ext cx="3705225" cy="2457450"/>
          </a:xfrm>
          <a:custGeom>
            <a:avLst/>
            <a:gdLst/>
            <a:ahLst/>
            <a:cxnLst/>
            <a:rect l="l" t="t" r="r" b="b"/>
            <a:pathLst>
              <a:path w="3705225" h="2457450">
                <a:moveTo>
                  <a:pt x="38100" y="0"/>
                </a:moveTo>
                <a:lnTo>
                  <a:pt x="3667125" y="0"/>
                </a:lnTo>
                <a:cubicBezTo>
                  <a:pt x="3688153" y="0"/>
                  <a:pt x="3705225" y="17072"/>
                  <a:pt x="3705225" y="38100"/>
                </a:cubicBezTo>
                <a:lnTo>
                  <a:pt x="3705225" y="2343154"/>
                </a:lnTo>
                <a:cubicBezTo>
                  <a:pt x="3705225" y="2406278"/>
                  <a:pt x="3654053" y="2457450"/>
                  <a:pt x="3590929" y="2457450"/>
                </a:cubicBezTo>
                <a:lnTo>
                  <a:pt x="114296" y="2457450"/>
                </a:lnTo>
                <a:cubicBezTo>
                  <a:pt x="51172" y="2457450"/>
                  <a:pt x="0" y="2406278"/>
                  <a:pt x="0" y="2343154"/>
                </a:cubicBezTo>
                <a:lnTo>
                  <a:pt x="0" y="38100"/>
                </a:lnTo>
                <a:cubicBezTo>
                  <a:pt x="0" y="17072"/>
                  <a:pt x="17072" y="0"/>
                  <a:pt x="38100" y="0"/>
                </a:cubicBezTo>
                <a:close/>
              </a:path>
            </a:pathLst>
          </a:custGeom>
          <a:solidFill>
            <a:srgbClr val="FFFFFF"/>
          </a:solidFill>
          <a:ln/>
          <a:effectLst>
            <a:outerShdw blurRad="57150" dist="38100" dir="5400000" algn="bl" rotWithShape="0">
              <a:srgbClr val="000000">
                <a:alpha val="10196"/>
              </a:srgbClr>
            </a:outerShdw>
          </a:effectLst>
        </p:spPr>
      </p:sp>
      <p:sp>
        <p:nvSpPr>
          <p:cNvPr id="34" name="Shape 32"/>
          <p:cNvSpPr/>
          <p:nvPr/>
        </p:nvSpPr>
        <p:spPr>
          <a:xfrm>
            <a:off x="8102561" y="1390650"/>
            <a:ext cx="3705225" cy="38100"/>
          </a:xfrm>
          <a:custGeom>
            <a:avLst/>
            <a:gdLst/>
            <a:ahLst/>
            <a:cxnLst/>
            <a:rect l="l" t="t" r="r" b="b"/>
            <a:pathLst>
              <a:path w="3705225" h="38100">
                <a:moveTo>
                  <a:pt x="38100" y="0"/>
                </a:moveTo>
                <a:lnTo>
                  <a:pt x="3667125" y="0"/>
                </a:lnTo>
                <a:cubicBezTo>
                  <a:pt x="3688153" y="0"/>
                  <a:pt x="3705225" y="17072"/>
                  <a:pt x="3705225" y="38100"/>
                </a:cubicBezTo>
                <a:lnTo>
                  <a:pt x="3705225" y="38100"/>
                </a:lnTo>
                <a:lnTo>
                  <a:pt x="0" y="38100"/>
                </a:lnTo>
                <a:lnTo>
                  <a:pt x="0" y="38100"/>
                </a:lnTo>
                <a:cubicBezTo>
                  <a:pt x="0" y="17072"/>
                  <a:pt x="17072" y="0"/>
                  <a:pt x="38100" y="0"/>
                </a:cubicBezTo>
                <a:close/>
              </a:path>
            </a:pathLst>
          </a:custGeom>
          <a:solidFill>
            <a:srgbClr val="1E3A5F"/>
          </a:solidFill>
          <a:ln/>
        </p:spPr>
      </p:sp>
      <p:sp>
        <p:nvSpPr>
          <p:cNvPr id="35" name="Shape 33"/>
          <p:cNvSpPr/>
          <p:nvPr/>
        </p:nvSpPr>
        <p:spPr>
          <a:xfrm>
            <a:off x="8293061" y="16002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1E3A5F">
              <a:alpha val="10196"/>
            </a:srgbClr>
          </a:solidFill>
          <a:ln/>
        </p:spPr>
      </p:sp>
      <p:sp>
        <p:nvSpPr>
          <p:cNvPr id="36" name="Shape 34"/>
          <p:cNvSpPr/>
          <p:nvPr/>
        </p:nvSpPr>
        <p:spPr>
          <a:xfrm>
            <a:off x="8410933" y="1704975"/>
            <a:ext cx="150019" cy="171450"/>
          </a:xfrm>
          <a:custGeom>
            <a:avLst/>
            <a:gdLst/>
            <a:ahLst/>
            <a:cxnLst/>
            <a:rect l="l" t="t" r="r" b="b"/>
            <a:pathLst>
              <a:path w="150019" h="171450">
                <a:moveTo>
                  <a:pt x="81271" y="26789"/>
                </a:moveTo>
                <a:lnTo>
                  <a:pt x="111844" y="26789"/>
                </a:lnTo>
                <a:cubicBezTo>
                  <a:pt x="108261" y="18551"/>
                  <a:pt x="101966" y="11754"/>
                  <a:pt x="94130" y="7501"/>
                </a:cubicBezTo>
                <a:lnTo>
                  <a:pt x="81271" y="26789"/>
                </a:lnTo>
                <a:close/>
                <a:moveTo>
                  <a:pt x="80970" y="3114"/>
                </a:moveTo>
                <a:cubicBezTo>
                  <a:pt x="79028" y="2813"/>
                  <a:pt x="77019" y="2679"/>
                  <a:pt x="75009" y="2679"/>
                </a:cubicBezTo>
                <a:cubicBezTo>
                  <a:pt x="58534" y="2679"/>
                  <a:pt x="44369" y="12591"/>
                  <a:pt x="38174" y="26789"/>
                </a:cubicBezTo>
                <a:lnTo>
                  <a:pt x="65164" y="26789"/>
                </a:lnTo>
                <a:lnTo>
                  <a:pt x="80936" y="3114"/>
                </a:lnTo>
                <a:close/>
                <a:moveTo>
                  <a:pt x="75009" y="83046"/>
                </a:moveTo>
                <a:cubicBezTo>
                  <a:pt x="97211" y="83046"/>
                  <a:pt x="115193" y="65064"/>
                  <a:pt x="115193" y="42863"/>
                </a:cubicBezTo>
                <a:lnTo>
                  <a:pt x="34826" y="42863"/>
                </a:lnTo>
                <a:cubicBezTo>
                  <a:pt x="34826" y="65064"/>
                  <a:pt x="52808" y="83046"/>
                  <a:pt x="75009" y="83046"/>
                </a:cubicBezTo>
                <a:close/>
                <a:moveTo>
                  <a:pt x="33051" y="114456"/>
                </a:moveTo>
                <a:cubicBezTo>
                  <a:pt x="16509" y="123966"/>
                  <a:pt x="5358" y="141815"/>
                  <a:pt x="5358" y="162275"/>
                </a:cubicBezTo>
                <a:cubicBezTo>
                  <a:pt x="5358" y="167331"/>
                  <a:pt x="9477" y="171450"/>
                  <a:pt x="14533" y="171450"/>
                </a:cubicBezTo>
                <a:lnTo>
                  <a:pt x="65097" y="171450"/>
                </a:lnTo>
                <a:lnTo>
                  <a:pt x="33018" y="114456"/>
                </a:lnTo>
                <a:close/>
                <a:moveTo>
                  <a:pt x="48153" y="108529"/>
                </a:moveTo>
                <a:lnTo>
                  <a:pt x="62452" y="133945"/>
                </a:lnTo>
                <a:lnTo>
                  <a:pt x="91083" y="133945"/>
                </a:lnTo>
                <a:cubicBezTo>
                  <a:pt x="105884" y="133945"/>
                  <a:pt x="117872" y="145933"/>
                  <a:pt x="117872" y="160734"/>
                </a:cubicBezTo>
                <a:cubicBezTo>
                  <a:pt x="117872" y="164552"/>
                  <a:pt x="117068" y="168168"/>
                  <a:pt x="115628" y="171450"/>
                </a:cubicBezTo>
                <a:lnTo>
                  <a:pt x="135452" y="171450"/>
                </a:lnTo>
                <a:cubicBezTo>
                  <a:pt x="140509" y="171450"/>
                  <a:pt x="144627" y="167331"/>
                  <a:pt x="144627" y="162275"/>
                </a:cubicBezTo>
                <a:cubicBezTo>
                  <a:pt x="144627" y="131836"/>
                  <a:pt x="119948" y="107156"/>
                  <a:pt x="89509" y="107156"/>
                </a:cubicBezTo>
                <a:lnTo>
                  <a:pt x="60409" y="107156"/>
                </a:lnTo>
                <a:cubicBezTo>
                  <a:pt x="56190" y="107156"/>
                  <a:pt x="52071" y="107625"/>
                  <a:pt x="48120" y="108529"/>
                </a:cubicBezTo>
                <a:close/>
                <a:moveTo>
                  <a:pt x="71493" y="150019"/>
                </a:moveTo>
                <a:lnTo>
                  <a:pt x="83548" y="171450"/>
                </a:lnTo>
                <a:lnTo>
                  <a:pt x="91083" y="171450"/>
                </a:lnTo>
                <a:cubicBezTo>
                  <a:pt x="97010" y="171450"/>
                  <a:pt x="101798" y="166661"/>
                  <a:pt x="101798" y="160734"/>
                </a:cubicBezTo>
                <a:cubicBezTo>
                  <a:pt x="101798" y="154807"/>
                  <a:pt x="97010" y="150019"/>
                  <a:pt x="91083" y="150019"/>
                </a:cubicBezTo>
                <a:lnTo>
                  <a:pt x="71493" y="150019"/>
                </a:lnTo>
                <a:close/>
              </a:path>
            </a:pathLst>
          </a:custGeom>
          <a:solidFill>
            <a:srgbClr val="1E3A5F"/>
          </a:solidFill>
          <a:ln/>
        </p:spPr>
      </p:sp>
      <p:sp>
        <p:nvSpPr>
          <p:cNvPr id="37" name="Text 35"/>
          <p:cNvSpPr/>
          <p:nvPr/>
        </p:nvSpPr>
        <p:spPr>
          <a:xfrm>
            <a:off x="8788361" y="1657350"/>
            <a:ext cx="1657350" cy="266700"/>
          </a:xfrm>
          <a:prstGeom prst="rect">
            <a:avLst/>
          </a:prstGeom>
          <a:noFill/>
          <a:ln/>
        </p:spPr>
        <p:txBody>
          <a:bodyPr wrap="square" lIns="0" tIns="0" rIns="0" bIns="0" rtlCol="0" anchor="ctr"/>
          <a:lstStyle/>
          <a:p>
            <a:pPr>
              <a:lnSpc>
                <a:spcPct val="130000"/>
              </a:lnSpc>
            </a:pPr>
            <a:r>
              <a:rPr lang="en-US" sz="1350" b="1" dirty="0">
                <a:solidFill>
                  <a:srgbClr val="1E3A5F"/>
                </a:solidFill>
                <a:latin typeface="Liter" pitchFamily="34" charset="0"/>
                <a:ea typeface="Liter" pitchFamily="34" charset="-122"/>
                <a:cs typeface="Liter" pitchFamily="34" charset="-120"/>
              </a:rPr>
              <a:t>Patient Management</a:t>
            </a:r>
            <a:endParaRPr lang="en-US" sz="1600" dirty="0"/>
          </a:p>
        </p:txBody>
      </p:sp>
      <p:sp>
        <p:nvSpPr>
          <p:cNvPr id="38" name="Shape 36"/>
          <p:cNvSpPr/>
          <p:nvPr/>
        </p:nvSpPr>
        <p:spPr>
          <a:xfrm>
            <a:off x="8293061" y="2133600"/>
            <a:ext cx="3324225" cy="342900"/>
          </a:xfrm>
          <a:custGeom>
            <a:avLst/>
            <a:gdLst/>
            <a:ahLst/>
            <a:cxnLst/>
            <a:rect l="l" t="t" r="r" b="b"/>
            <a:pathLst>
              <a:path w="3324225" h="342900">
                <a:moveTo>
                  <a:pt x="76199" y="0"/>
                </a:moveTo>
                <a:lnTo>
                  <a:pt x="3248026" y="0"/>
                </a:lnTo>
                <a:cubicBezTo>
                  <a:pt x="3290109" y="0"/>
                  <a:pt x="3324225" y="34116"/>
                  <a:pt x="3324225" y="76199"/>
                </a:cubicBezTo>
                <a:lnTo>
                  <a:pt x="3324225" y="266701"/>
                </a:lnTo>
                <a:cubicBezTo>
                  <a:pt x="3324225" y="308784"/>
                  <a:pt x="3290109" y="342900"/>
                  <a:pt x="3248026" y="342900"/>
                </a:cubicBezTo>
                <a:lnTo>
                  <a:pt x="76199" y="342900"/>
                </a:lnTo>
                <a:cubicBezTo>
                  <a:pt x="34144" y="342900"/>
                  <a:pt x="0" y="308756"/>
                  <a:pt x="0" y="266701"/>
                </a:cubicBezTo>
                <a:lnTo>
                  <a:pt x="0" y="76199"/>
                </a:lnTo>
                <a:cubicBezTo>
                  <a:pt x="0" y="34144"/>
                  <a:pt x="34144" y="0"/>
                  <a:pt x="76199" y="0"/>
                </a:cubicBezTo>
                <a:close/>
              </a:path>
            </a:pathLst>
          </a:custGeom>
          <a:solidFill>
            <a:srgbClr val="F8FAFC"/>
          </a:solidFill>
          <a:ln/>
        </p:spPr>
      </p:sp>
      <p:sp>
        <p:nvSpPr>
          <p:cNvPr id="39" name="Shape 37"/>
          <p:cNvSpPr/>
          <p:nvPr/>
        </p:nvSpPr>
        <p:spPr>
          <a:xfrm>
            <a:off x="8379976" y="2238375"/>
            <a:ext cx="150019" cy="133350"/>
          </a:xfrm>
          <a:custGeom>
            <a:avLst/>
            <a:gdLst/>
            <a:ahLst/>
            <a:cxnLst/>
            <a:rect l="l" t="t" r="r" b="b"/>
            <a:pathLst>
              <a:path w="150019" h="133350">
                <a:moveTo>
                  <a:pt x="16669" y="8334"/>
                </a:moveTo>
                <a:cubicBezTo>
                  <a:pt x="7475" y="8334"/>
                  <a:pt x="0" y="15809"/>
                  <a:pt x="0" y="25003"/>
                </a:cubicBezTo>
                <a:lnTo>
                  <a:pt x="0" y="108347"/>
                </a:lnTo>
                <a:cubicBezTo>
                  <a:pt x="0" y="117541"/>
                  <a:pt x="7475" y="125016"/>
                  <a:pt x="16669" y="125016"/>
                </a:cubicBezTo>
                <a:lnTo>
                  <a:pt x="133350" y="125016"/>
                </a:lnTo>
                <a:cubicBezTo>
                  <a:pt x="142544" y="125016"/>
                  <a:pt x="150019" y="117541"/>
                  <a:pt x="150019" y="108347"/>
                </a:cubicBezTo>
                <a:lnTo>
                  <a:pt x="150019" y="25003"/>
                </a:lnTo>
                <a:cubicBezTo>
                  <a:pt x="150019" y="15809"/>
                  <a:pt x="142544" y="8334"/>
                  <a:pt x="133350" y="8334"/>
                </a:cubicBezTo>
                <a:lnTo>
                  <a:pt x="16669" y="8334"/>
                </a:lnTo>
                <a:close/>
                <a:moveTo>
                  <a:pt x="37505" y="75009"/>
                </a:moveTo>
                <a:lnTo>
                  <a:pt x="54173" y="75009"/>
                </a:lnTo>
                <a:cubicBezTo>
                  <a:pt x="65685" y="75009"/>
                  <a:pt x="75009" y="84333"/>
                  <a:pt x="75009" y="95845"/>
                </a:cubicBezTo>
                <a:cubicBezTo>
                  <a:pt x="75009" y="98137"/>
                  <a:pt x="73134" y="100013"/>
                  <a:pt x="70842" y="100013"/>
                </a:cubicBezTo>
                <a:lnTo>
                  <a:pt x="20836" y="100013"/>
                </a:lnTo>
                <a:cubicBezTo>
                  <a:pt x="18544" y="100013"/>
                  <a:pt x="16669" y="98137"/>
                  <a:pt x="16669" y="95845"/>
                </a:cubicBezTo>
                <a:cubicBezTo>
                  <a:pt x="16669" y="84333"/>
                  <a:pt x="25993" y="75009"/>
                  <a:pt x="37505" y="75009"/>
                </a:cubicBezTo>
                <a:close/>
                <a:moveTo>
                  <a:pt x="31254" y="50006"/>
                </a:moveTo>
                <a:cubicBezTo>
                  <a:pt x="31254" y="41956"/>
                  <a:pt x="37789" y="35421"/>
                  <a:pt x="45839" y="35421"/>
                </a:cubicBezTo>
                <a:cubicBezTo>
                  <a:pt x="53889" y="35421"/>
                  <a:pt x="60424" y="41956"/>
                  <a:pt x="60424" y="50006"/>
                </a:cubicBezTo>
                <a:cubicBezTo>
                  <a:pt x="60424" y="58056"/>
                  <a:pt x="53889" y="64591"/>
                  <a:pt x="45839" y="64591"/>
                </a:cubicBezTo>
                <a:cubicBezTo>
                  <a:pt x="37789" y="64591"/>
                  <a:pt x="31254" y="58056"/>
                  <a:pt x="31254" y="50006"/>
                </a:cubicBezTo>
                <a:close/>
                <a:moveTo>
                  <a:pt x="93762" y="37505"/>
                </a:moveTo>
                <a:lnTo>
                  <a:pt x="122932" y="37505"/>
                </a:lnTo>
                <a:cubicBezTo>
                  <a:pt x="126396" y="37505"/>
                  <a:pt x="129183" y="40291"/>
                  <a:pt x="129183" y="43755"/>
                </a:cubicBezTo>
                <a:cubicBezTo>
                  <a:pt x="129183" y="47219"/>
                  <a:pt x="126396" y="50006"/>
                  <a:pt x="122932" y="50006"/>
                </a:cubicBezTo>
                <a:lnTo>
                  <a:pt x="93762" y="50006"/>
                </a:lnTo>
                <a:cubicBezTo>
                  <a:pt x="90298" y="50006"/>
                  <a:pt x="87511" y="47219"/>
                  <a:pt x="87511" y="43755"/>
                </a:cubicBezTo>
                <a:cubicBezTo>
                  <a:pt x="87511" y="40291"/>
                  <a:pt x="90298" y="37505"/>
                  <a:pt x="93762" y="37505"/>
                </a:cubicBezTo>
                <a:close/>
                <a:moveTo>
                  <a:pt x="93762" y="62508"/>
                </a:moveTo>
                <a:lnTo>
                  <a:pt x="122932" y="62508"/>
                </a:lnTo>
                <a:cubicBezTo>
                  <a:pt x="126396" y="62508"/>
                  <a:pt x="129183" y="65295"/>
                  <a:pt x="129183" y="68759"/>
                </a:cubicBezTo>
                <a:cubicBezTo>
                  <a:pt x="129183" y="72223"/>
                  <a:pt x="126396" y="75009"/>
                  <a:pt x="122932" y="75009"/>
                </a:cubicBezTo>
                <a:lnTo>
                  <a:pt x="93762" y="75009"/>
                </a:lnTo>
                <a:cubicBezTo>
                  <a:pt x="90298" y="75009"/>
                  <a:pt x="87511" y="72223"/>
                  <a:pt x="87511" y="68759"/>
                </a:cubicBezTo>
                <a:cubicBezTo>
                  <a:pt x="87511" y="65295"/>
                  <a:pt x="90298" y="62508"/>
                  <a:pt x="93762" y="62508"/>
                </a:cubicBezTo>
                <a:close/>
              </a:path>
            </a:pathLst>
          </a:custGeom>
          <a:solidFill>
            <a:srgbClr val="1E3A5F"/>
          </a:solidFill>
          <a:ln/>
        </p:spPr>
      </p:sp>
      <p:sp>
        <p:nvSpPr>
          <p:cNvPr id="40" name="Text 38"/>
          <p:cNvSpPr/>
          <p:nvPr/>
        </p:nvSpPr>
        <p:spPr>
          <a:xfrm>
            <a:off x="8612148" y="2209800"/>
            <a:ext cx="1752600" cy="190500"/>
          </a:xfrm>
          <a:prstGeom prst="rect">
            <a:avLst/>
          </a:prstGeom>
          <a:noFill/>
          <a:ln/>
        </p:spPr>
        <p:txBody>
          <a:bodyPr wrap="square" lIns="0" tIns="0" rIns="0" bIns="0" rtlCol="0" anchor="ctr"/>
          <a:lstStyle/>
          <a:p>
            <a:pPr>
              <a:lnSpc>
                <a:spcPct val="120000"/>
              </a:lnSpc>
            </a:pPr>
            <a:r>
              <a:rPr lang="en-US" sz="1050" dirty="0">
                <a:solidFill>
                  <a:srgbClr val="1E293B"/>
                </a:solidFill>
                <a:latin typeface="Quattrocento Sans" pitchFamily="34" charset="0"/>
                <a:ea typeface="Quattrocento Sans" pitchFamily="34" charset="-122"/>
                <a:cs typeface="Quattrocento Sans" pitchFamily="34" charset="-120"/>
              </a:rPr>
              <a:t>Personal details management</a:t>
            </a:r>
            <a:endParaRPr lang="en-US" sz="1600" dirty="0"/>
          </a:p>
        </p:txBody>
      </p:sp>
      <p:sp>
        <p:nvSpPr>
          <p:cNvPr id="41" name="Shape 39"/>
          <p:cNvSpPr/>
          <p:nvPr/>
        </p:nvSpPr>
        <p:spPr>
          <a:xfrm>
            <a:off x="8293061" y="2552700"/>
            <a:ext cx="3324225" cy="342900"/>
          </a:xfrm>
          <a:custGeom>
            <a:avLst/>
            <a:gdLst/>
            <a:ahLst/>
            <a:cxnLst/>
            <a:rect l="l" t="t" r="r" b="b"/>
            <a:pathLst>
              <a:path w="3324225" h="342900">
                <a:moveTo>
                  <a:pt x="76199" y="0"/>
                </a:moveTo>
                <a:lnTo>
                  <a:pt x="3248026" y="0"/>
                </a:lnTo>
                <a:cubicBezTo>
                  <a:pt x="3290109" y="0"/>
                  <a:pt x="3324225" y="34116"/>
                  <a:pt x="3324225" y="76199"/>
                </a:cubicBezTo>
                <a:lnTo>
                  <a:pt x="3324225" y="266701"/>
                </a:lnTo>
                <a:cubicBezTo>
                  <a:pt x="3324225" y="308784"/>
                  <a:pt x="3290109" y="342900"/>
                  <a:pt x="3248026" y="342900"/>
                </a:cubicBezTo>
                <a:lnTo>
                  <a:pt x="76199" y="342900"/>
                </a:lnTo>
                <a:cubicBezTo>
                  <a:pt x="34144" y="342900"/>
                  <a:pt x="0" y="308756"/>
                  <a:pt x="0" y="266701"/>
                </a:cubicBezTo>
                <a:lnTo>
                  <a:pt x="0" y="76199"/>
                </a:lnTo>
                <a:cubicBezTo>
                  <a:pt x="0" y="34144"/>
                  <a:pt x="34144" y="0"/>
                  <a:pt x="76199" y="0"/>
                </a:cubicBezTo>
                <a:close/>
              </a:path>
            </a:pathLst>
          </a:custGeom>
          <a:solidFill>
            <a:srgbClr val="F8FAFC"/>
          </a:solidFill>
          <a:ln/>
        </p:spPr>
      </p:sp>
      <p:sp>
        <p:nvSpPr>
          <p:cNvPr id="42" name="Shape 40"/>
          <p:cNvSpPr/>
          <p:nvPr/>
        </p:nvSpPr>
        <p:spPr>
          <a:xfrm>
            <a:off x="8388311" y="2657475"/>
            <a:ext cx="133350" cy="133350"/>
          </a:xfrm>
          <a:custGeom>
            <a:avLst/>
            <a:gdLst/>
            <a:ahLst/>
            <a:cxnLst/>
            <a:rect l="l" t="t" r="r" b="b"/>
            <a:pathLst>
              <a:path w="133350" h="133350">
                <a:moveTo>
                  <a:pt x="66675" y="28102"/>
                </a:moveTo>
                <a:lnTo>
                  <a:pt x="62768" y="22685"/>
                </a:lnTo>
                <a:cubicBezTo>
                  <a:pt x="56257" y="13674"/>
                  <a:pt x="45813" y="8334"/>
                  <a:pt x="34666" y="8334"/>
                </a:cubicBezTo>
                <a:cubicBezTo>
                  <a:pt x="15523" y="8334"/>
                  <a:pt x="0" y="23857"/>
                  <a:pt x="0" y="43000"/>
                </a:cubicBezTo>
                <a:lnTo>
                  <a:pt x="0" y="43677"/>
                </a:lnTo>
                <a:cubicBezTo>
                  <a:pt x="0" y="49824"/>
                  <a:pt x="1615" y="56179"/>
                  <a:pt x="4323" y="62508"/>
                </a:cubicBezTo>
                <a:lnTo>
                  <a:pt x="31931" y="62508"/>
                </a:lnTo>
                <a:cubicBezTo>
                  <a:pt x="32765" y="62508"/>
                  <a:pt x="33520" y="62013"/>
                  <a:pt x="33858" y="61232"/>
                </a:cubicBezTo>
                <a:lnTo>
                  <a:pt x="42141" y="41359"/>
                </a:lnTo>
                <a:cubicBezTo>
                  <a:pt x="43104" y="39067"/>
                  <a:pt x="45344" y="37557"/>
                  <a:pt x="47818" y="37505"/>
                </a:cubicBezTo>
                <a:cubicBezTo>
                  <a:pt x="50293" y="37453"/>
                  <a:pt x="52585" y="38911"/>
                  <a:pt x="53600" y="41177"/>
                </a:cubicBezTo>
                <a:lnTo>
                  <a:pt x="66961" y="70842"/>
                </a:lnTo>
                <a:lnTo>
                  <a:pt x="77744" y="49277"/>
                </a:lnTo>
                <a:cubicBezTo>
                  <a:pt x="78812" y="47167"/>
                  <a:pt x="80974" y="45813"/>
                  <a:pt x="83344" y="45813"/>
                </a:cubicBezTo>
                <a:cubicBezTo>
                  <a:pt x="85714" y="45813"/>
                  <a:pt x="87876" y="47141"/>
                  <a:pt x="88943" y="49277"/>
                </a:cubicBezTo>
                <a:lnTo>
                  <a:pt x="94986" y="61336"/>
                </a:lnTo>
                <a:cubicBezTo>
                  <a:pt x="95350" y="62039"/>
                  <a:pt x="96054" y="62482"/>
                  <a:pt x="96861" y="62482"/>
                </a:cubicBezTo>
                <a:lnTo>
                  <a:pt x="129053" y="62482"/>
                </a:lnTo>
                <a:cubicBezTo>
                  <a:pt x="131787" y="56153"/>
                  <a:pt x="133376" y="49798"/>
                  <a:pt x="133376" y="43651"/>
                </a:cubicBezTo>
                <a:lnTo>
                  <a:pt x="133376" y="42974"/>
                </a:lnTo>
                <a:cubicBezTo>
                  <a:pt x="133350" y="23857"/>
                  <a:pt x="117827" y="8334"/>
                  <a:pt x="98684" y="8334"/>
                </a:cubicBezTo>
                <a:cubicBezTo>
                  <a:pt x="87563" y="8334"/>
                  <a:pt x="77093" y="13674"/>
                  <a:pt x="70582" y="22685"/>
                </a:cubicBezTo>
                <a:lnTo>
                  <a:pt x="66675" y="28076"/>
                </a:lnTo>
                <a:close/>
                <a:moveTo>
                  <a:pt x="122307" y="75009"/>
                </a:moveTo>
                <a:lnTo>
                  <a:pt x="96835" y="75009"/>
                </a:lnTo>
                <a:cubicBezTo>
                  <a:pt x="91313" y="75009"/>
                  <a:pt x="86261" y="71884"/>
                  <a:pt x="83787" y="66935"/>
                </a:cubicBezTo>
                <a:lnTo>
                  <a:pt x="83344" y="66050"/>
                </a:lnTo>
                <a:lnTo>
                  <a:pt x="72275" y="88214"/>
                </a:lnTo>
                <a:cubicBezTo>
                  <a:pt x="71207" y="90376"/>
                  <a:pt x="68967" y="91730"/>
                  <a:pt x="66545" y="91678"/>
                </a:cubicBezTo>
                <a:cubicBezTo>
                  <a:pt x="64123" y="91626"/>
                  <a:pt x="61961" y="90194"/>
                  <a:pt x="60971" y="88006"/>
                </a:cubicBezTo>
                <a:lnTo>
                  <a:pt x="48131" y="59487"/>
                </a:lnTo>
                <a:lnTo>
                  <a:pt x="45396" y="66050"/>
                </a:lnTo>
                <a:cubicBezTo>
                  <a:pt x="43130" y="71493"/>
                  <a:pt x="37817" y="75035"/>
                  <a:pt x="31931" y="75035"/>
                </a:cubicBezTo>
                <a:lnTo>
                  <a:pt x="11043" y="75035"/>
                </a:lnTo>
                <a:cubicBezTo>
                  <a:pt x="23336" y="94257"/>
                  <a:pt x="43078" y="111941"/>
                  <a:pt x="55424" y="121369"/>
                </a:cubicBezTo>
                <a:cubicBezTo>
                  <a:pt x="58653" y="123818"/>
                  <a:pt x="62612" y="125042"/>
                  <a:pt x="66649" y="125042"/>
                </a:cubicBezTo>
                <a:cubicBezTo>
                  <a:pt x="70686" y="125042"/>
                  <a:pt x="74671" y="123844"/>
                  <a:pt x="77874" y="121369"/>
                </a:cubicBezTo>
                <a:cubicBezTo>
                  <a:pt x="90272" y="111915"/>
                  <a:pt x="110014" y="94231"/>
                  <a:pt x="122307" y="75009"/>
                </a:cubicBezTo>
                <a:close/>
              </a:path>
            </a:pathLst>
          </a:custGeom>
          <a:solidFill>
            <a:srgbClr val="1E3A5F"/>
          </a:solidFill>
          <a:ln/>
        </p:spPr>
      </p:sp>
      <p:sp>
        <p:nvSpPr>
          <p:cNvPr id="43" name="Text 41"/>
          <p:cNvSpPr/>
          <p:nvPr/>
        </p:nvSpPr>
        <p:spPr>
          <a:xfrm>
            <a:off x="8612148" y="2628900"/>
            <a:ext cx="1600200" cy="190500"/>
          </a:xfrm>
          <a:prstGeom prst="rect">
            <a:avLst/>
          </a:prstGeom>
          <a:noFill/>
          <a:ln/>
        </p:spPr>
        <p:txBody>
          <a:bodyPr wrap="square" lIns="0" tIns="0" rIns="0" bIns="0" rtlCol="0" anchor="ctr"/>
          <a:lstStyle/>
          <a:p>
            <a:pPr>
              <a:lnSpc>
                <a:spcPct val="120000"/>
              </a:lnSpc>
            </a:pPr>
            <a:r>
              <a:rPr lang="en-US" sz="1050" dirty="0">
                <a:solidFill>
                  <a:srgbClr val="1E293B"/>
                </a:solidFill>
                <a:latin typeface="Quattrocento Sans" pitchFamily="34" charset="0"/>
                <a:ea typeface="Quattrocento Sans" pitchFamily="34" charset="-122"/>
                <a:cs typeface="Quattrocento Sans" pitchFamily="34" charset="-120"/>
              </a:rPr>
              <a:t>Health information storage</a:t>
            </a:r>
            <a:endParaRPr lang="en-US" sz="1600" dirty="0"/>
          </a:p>
        </p:txBody>
      </p:sp>
      <p:sp>
        <p:nvSpPr>
          <p:cNvPr id="44" name="Shape 42"/>
          <p:cNvSpPr/>
          <p:nvPr/>
        </p:nvSpPr>
        <p:spPr>
          <a:xfrm>
            <a:off x="8293061" y="2971800"/>
            <a:ext cx="3324225" cy="342900"/>
          </a:xfrm>
          <a:custGeom>
            <a:avLst/>
            <a:gdLst/>
            <a:ahLst/>
            <a:cxnLst/>
            <a:rect l="l" t="t" r="r" b="b"/>
            <a:pathLst>
              <a:path w="3324225" h="342900">
                <a:moveTo>
                  <a:pt x="76199" y="0"/>
                </a:moveTo>
                <a:lnTo>
                  <a:pt x="3248026" y="0"/>
                </a:lnTo>
                <a:cubicBezTo>
                  <a:pt x="3290109" y="0"/>
                  <a:pt x="3324225" y="34116"/>
                  <a:pt x="3324225" y="76199"/>
                </a:cubicBezTo>
                <a:lnTo>
                  <a:pt x="3324225" y="266701"/>
                </a:lnTo>
                <a:cubicBezTo>
                  <a:pt x="3324225" y="308784"/>
                  <a:pt x="3290109" y="342900"/>
                  <a:pt x="3248026" y="342900"/>
                </a:cubicBezTo>
                <a:lnTo>
                  <a:pt x="76199" y="342900"/>
                </a:lnTo>
                <a:cubicBezTo>
                  <a:pt x="34144" y="342900"/>
                  <a:pt x="0" y="308756"/>
                  <a:pt x="0" y="266701"/>
                </a:cubicBezTo>
                <a:lnTo>
                  <a:pt x="0" y="76199"/>
                </a:lnTo>
                <a:cubicBezTo>
                  <a:pt x="0" y="34144"/>
                  <a:pt x="34144" y="0"/>
                  <a:pt x="76199" y="0"/>
                </a:cubicBezTo>
                <a:close/>
              </a:path>
            </a:pathLst>
          </a:custGeom>
          <a:solidFill>
            <a:srgbClr val="F8FAFC"/>
          </a:solidFill>
          <a:ln/>
        </p:spPr>
      </p:sp>
      <p:sp>
        <p:nvSpPr>
          <p:cNvPr id="45" name="Shape 43"/>
          <p:cNvSpPr/>
          <p:nvPr/>
        </p:nvSpPr>
        <p:spPr>
          <a:xfrm>
            <a:off x="8388311" y="3076575"/>
            <a:ext cx="133350" cy="133350"/>
          </a:xfrm>
          <a:custGeom>
            <a:avLst/>
            <a:gdLst/>
            <a:ahLst/>
            <a:cxnLst/>
            <a:rect l="l" t="t" r="r" b="b"/>
            <a:pathLst>
              <a:path w="133350" h="133350">
                <a:moveTo>
                  <a:pt x="91626" y="6511"/>
                </a:moveTo>
                <a:cubicBezTo>
                  <a:pt x="93658" y="1615"/>
                  <a:pt x="99023" y="-1016"/>
                  <a:pt x="104154" y="391"/>
                </a:cubicBezTo>
                <a:lnTo>
                  <a:pt x="105586" y="781"/>
                </a:lnTo>
                <a:cubicBezTo>
                  <a:pt x="122411" y="5365"/>
                  <a:pt x="136788" y="21669"/>
                  <a:pt x="132595" y="41516"/>
                </a:cubicBezTo>
                <a:cubicBezTo>
                  <a:pt x="122932" y="87094"/>
                  <a:pt x="87068" y="122958"/>
                  <a:pt x="41490" y="132621"/>
                </a:cubicBezTo>
                <a:cubicBezTo>
                  <a:pt x="21617" y="136840"/>
                  <a:pt x="5339" y="122437"/>
                  <a:pt x="755" y="105612"/>
                </a:cubicBezTo>
                <a:lnTo>
                  <a:pt x="365" y="104180"/>
                </a:lnTo>
                <a:cubicBezTo>
                  <a:pt x="-1042" y="99049"/>
                  <a:pt x="1589" y="93684"/>
                  <a:pt x="6485" y="91652"/>
                </a:cubicBezTo>
                <a:lnTo>
                  <a:pt x="31827" y="81104"/>
                </a:lnTo>
                <a:cubicBezTo>
                  <a:pt x="36124" y="79307"/>
                  <a:pt x="41099" y="80557"/>
                  <a:pt x="44068" y="84177"/>
                </a:cubicBezTo>
                <a:lnTo>
                  <a:pt x="54121" y="96470"/>
                </a:lnTo>
                <a:cubicBezTo>
                  <a:pt x="72431" y="87381"/>
                  <a:pt x="87146" y="72170"/>
                  <a:pt x="95611" y="53522"/>
                </a:cubicBezTo>
                <a:lnTo>
                  <a:pt x="84125" y="44120"/>
                </a:lnTo>
                <a:cubicBezTo>
                  <a:pt x="80505" y="41177"/>
                  <a:pt x="79281" y="36202"/>
                  <a:pt x="81052" y="31879"/>
                </a:cubicBezTo>
                <a:lnTo>
                  <a:pt x="91626" y="6511"/>
                </a:lnTo>
                <a:close/>
              </a:path>
            </a:pathLst>
          </a:custGeom>
          <a:solidFill>
            <a:srgbClr val="1E3A5F"/>
          </a:solidFill>
          <a:ln/>
        </p:spPr>
      </p:sp>
      <p:sp>
        <p:nvSpPr>
          <p:cNvPr id="46" name="Text 44"/>
          <p:cNvSpPr/>
          <p:nvPr/>
        </p:nvSpPr>
        <p:spPr>
          <a:xfrm>
            <a:off x="8612148" y="3048000"/>
            <a:ext cx="1238250" cy="190500"/>
          </a:xfrm>
          <a:prstGeom prst="rect">
            <a:avLst/>
          </a:prstGeom>
          <a:noFill/>
          <a:ln/>
        </p:spPr>
        <p:txBody>
          <a:bodyPr wrap="square" lIns="0" tIns="0" rIns="0" bIns="0" rtlCol="0" anchor="ctr"/>
          <a:lstStyle/>
          <a:p>
            <a:pPr>
              <a:lnSpc>
                <a:spcPct val="120000"/>
              </a:lnSpc>
            </a:pPr>
            <a:r>
              <a:rPr lang="en-US" sz="1050" dirty="0">
                <a:solidFill>
                  <a:srgbClr val="1E293B"/>
                </a:solidFill>
                <a:latin typeface="Quattrocento Sans" pitchFamily="34" charset="0"/>
                <a:ea typeface="Quattrocento Sans" pitchFamily="34" charset="-122"/>
                <a:cs typeface="Quattrocento Sans" pitchFamily="34" charset="-120"/>
              </a:rPr>
              <a:t>Emergency contacts</a:t>
            </a:r>
            <a:endParaRPr lang="en-US" sz="1600" dirty="0"/>
          </a:p>
        </p:txBody>
      </p:sp>
      <p:sp>
        <p:nvSpPr>
          <p:cNvPr id="47" name="Shape 45"/>
          <p:cNvSpPr/>
          <p:nvPr/>
        </p:nvSpPr>
        <p:spPr>
          <a:xfrm>
            <a:off x="381000" y="4019550"/>
            <a:ext cx="3705225" cy="2457450"/>
          </a:xfrm>
          <a:custGeom>
            <a:avLst/>
            <a:gdLst/>
            <a:ahLst/>
            <a:cxnLst/>
            <a:rect l="l" t="t" r="r" b="b"/>
            <a:pathLst>
              <a:path w="3705225" h="2457450">
                <a:moveTo>
                  <a:pt x="38100" y="0"/>
                </a:moveTo>
                <a:lnTo>
                  <a:pt x="3667125" y="0"/>
                </a:lnTo>
                <a:cubicBezTo>
                  <a:pt x="3688153" y="0"/>
                  <a:pt x="3705225" y="17072"/>
                  <a:pt x="3705225" y="38100"/>
                </a:cubicBezTo>
                <a:lnTo>
                  <a:pt x="3705225" y="2343154"/>
                </a:lnTo>
                <a:cubicBezTo>
                  <a:pt x="3705225" y="2406278"/>
                  <a:pt x="3654053" y="2457450"/>
                  <a:pt x="3590929" y="2457450"/>
                </a:cubicBezTo>
                <a:lnTo>
                  <a:pt x="114296" y="2457450"/>
                </a:lnTo>
                <a:cubicBezTo>
                  <a:pt x="51172" y="2457450"/>
                  <a:pt x="0" y="2406278"/>
                  <a:pt x="0" y="2343154"/>
                </a:cubicBezTo>
                <a:lnTo>
                  <a:pt x="0" y="38100"/>
                </a:lnTo>
                <a:cubicBezTo>
                  <a:pt x="0" y="17072"/>
                  <a:pt x="17072" y="0"/>
                  <a:pt x="38100" y="0"/>
                </a:cubicBezTo>
                <a:close/>
              </a:path>
            </a:pathLst>
          </a:custGeom>
          <a:solidFill>
            <a:srgbClr val="FFFFFF"/>
          </a:solidFill>
          <a:ln/>
          <a:effectLst>
            <a:outerShdw blurRad="57150" dist="38100" dir="5400000" algn="bl" rotWithShape="0">
              <a:srgbClr val="000000">
                <a:alpha val="10196"/>
              </a:srgbClr>
            </a:outerShdw>
          </a:effectLst>
        </p:spPr>
      </p:sp>
      <p:sp>
        <p:nvSpPr>
          <p:cNvPr id="48" name="Shape 46"/>
          <p:cNvSpPr/>
          <p:nvPr/>
        </p:nvSpPr>
        <p:spPr>
          <a:xfrm>
            <a:off x="381000" y="4019550"/>
            <a:ext cx="3705225" cy="38100"/>
          </a:xfrm>
          <a:custGeom>
            <a:avLst/>
            <a:gdLst/>
            <a:ahLst/>
            <a:cxnLst/>
            <a:rect l="l" t="t" r="r" b="b"/>
            <a:pathLst>
              <a:path w="3705225" h="38100">
                <a:moveTo>
                  <a:pt x="38100" y="0"/>
                </a:moveTo>
                <a:lnTo>
                  <a:pt x="3667125" y="0"/>
                </a:lnTo>
                <a:cubicBezTo>
                  <a:pt x="3688153" y="0"/>
                  <a:pt x="3705225" y="17072"/>
                  <a:pt x="3705225" y="38100"/>
                </a:cubicBezTo>
                <a:lnTo>
                  <a:pt x="3705225" y="38100"/>
                </a:lnTo>
                <a:lnTo>
                  <a:pt x="0" y="38100"/>
                </a:lnTo>
                <a:lnTo>
                  <a:pt x="0" y="38100"/>
                </a:lnTo>
                <a:cubicBezTo>
                  <a:pt x="0" y="17072"/>
                  <a:pt x="17072" y="0"/>
                  <a:pt x="38100" y="0"/>
                </a:cubicBezTo>
                <a:close/>
              </a:path>
            </a:pathLst>
          </a:custGeom>
          <a:solidFill>
            <a:srgbClr val="3B82F6"/>
          </a:solidFill>
          <a:ln/>
        </p:spPr>
      </p:sp>
      <p:sp>
        <p:nvSpPr>
          <p:cNvPr id="49" name="Shape 47"/>
          <p:cNvSpPr/>
          <p:nvPr/>
        </p:nvSpPr>
        <p:spPr>
          <a:xfrm>
            <a:off x="571500" y="42291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3B82F6">
              <a:alpha val="10196"/>
            </a:srgbClr>
          </a:solidFill>
          <a:ln/>
        </p:spPr>
      </p:sp>
      <p:sp>
        <p:nvSpPr>
          <p:cNvPr id="50" name="Shape 48"/>
          <p:cNvSpPr/>
          <p:nvPr/>
        </p:nvSpPr>
        <p:spPr>
          <a:xfrm>
            <a:off x="689372" y="4333875"/>
            <a:ext cx="150019" cy="171450"/>
          </a:xfrm>
          <a:custGeom>
            <a:avLst/>
            <a:gdLst/>
            <a:ahLst/>
            <a:cxnLst/>
            <a:rect l="l" t="t" r="r" b="b"/>
            <a:pathLst>
              <a:path w="150019" h="171450">
                <a:moveTo>
                  <a:pt x="42863" y="0"/>
                </a:moveTo>
                <a:cubicBezTo>
                  <a:pt x="48790" y="0"/>
                  <a:pt x="53578" y="4789"/>
                  <a:pt x="53578" y="10716"/>
                </a:cubicBezTo>
                <a:lnTo>
                  <a:pt x="53578" y="21431"/>
                </a:lnTo>
                <a:lnTo>
                  <a:pt x="96441" y="21431"/>
                </a:lnTo>
                <a:lnTo>
                  <a:pt x="96441" y="10716"/>
                </a:lnTo>
                <a:cubicBezTo>
                  <a:pt x="96441" y="4789"/>
                  <a:pt x="101229" y="0"/>
                  <a:pt x="107156" y="0"/>
                </a:cubicBezTo>
                <a:cubicBezTo>
                  <a:pt x="113083" y="0"/>
                  <a:pt x="117872" y="4789"/>
                  <a:pt x="117872" y="10716"/>
                </a:cubicBezTo>
                <a:lnTo>
                  <a:pt x="117872" y="21431"/>
                </a:lnTo>
                <a:lnTo>
                  <a:pt x="128588" y="21431"/>
                </a:lnTo>
                <a:cubicBezTo>
                  <a:pt x="140408" y="21431"/>
                  <a:pt x="150019" y="31042"/>
                  <a:pt x="150019" y="42863"/>
                </a:cubicBezTo>
                <a:lnTo>
                  <a:pt x="150019" y="139303"/>
                </a:lnTo>
                <a:cubicBezTo>
                  <a:pt x="150019" y="151124"/>
                  <a:pt x="140408" y="160734"/>
                  <a:pt x="128588" y="160734"/>
                </a:cubicBezTo>
                <a:lnTo>
                  <a:pt x="21431" y="160734"/>
                </a:lnTo>
                <a:cubicBezTo>
                  <a:pt x="9611" y="160734"/>
                  <a:pt x="0" y="151124"/>
                  <a:pt x="0" y="139303"/>
                </a:cubicBezTo>
                <a:lnTo>
                  <a:pt x="0" y="42863"/>
                </a:lnTo>
                <a:cubicBezTo>
                  <a:pt x="0" y="31042"/>
                  <a:pt x="9611" y="21431"/>
                  <a:pt x="21431" y="21431"/>
                </a:cubicBezTo>
                <a:lnTo>
                  <a:pt x="32147" y="21431"/>
                </a:lnTo>
                <a:lnTo>
                  <a:pt x="32147" y="10716"/>
                </a:lnTo>
                <a:cubicBezTo>
                  <a:pt x="32147" y="4789"/>
                  <a:pt x="36935" y="0"/>
                  <a:pt x="42863" y="0"/>
                </a:cubicBezTo>
                <a:close/>
                <a:moveTo>
                  <a:pt x="21431" y="80367"/>
                </a:moveTo>
                <a:lnTo>
                  <a:pt x="21431" y="91083"/>
                </a:lnTo>
                <a:cubicBezTo>
                  <a:pt x="21431" y="94030"/>
                  <a:pt x="23842" y="96441"/>
                  <a:pt x="26789" y="96441"/>
                </a:cubicBezTo>
                <a:lnTo>
                  <a:pt x="37505" y="96441"/>
                </a:lnTo>
                <a:cubicBezTo>
                  <a:pt x="40451" y="96441"/>
                  <a:pt x="42863" y="94030"/>
                  <a:pt x="42863" y="91083"/>
                </a:cubicBezTo>
                <a:lnTo>
                  <a:pt x="42863" y="80367"/>
                </a:lnTo>
                <a:cubicBezTo>
                  <a:pt x="42863" y="77420"/>
                  <a:pt x="40451" y="75009"/>
                  <a:pt x="37505" y="75009"/>
                </a:cubicBezTo>
                <a:lnTo>
                  <a:pt x="26789" y="75009"/>
                </a:lnTo>
                <a:cubicBezTo>
                  <a:pt x="23842" y="75009"/>
                  <a:pt x="21431" y="77420"/>
                  <a:pt x="21431" y="80367"/>
                </a:cubicBezTo>
                <a:close/>
                <a:moveTo>
                  <a:pt x="64294" y="80367"/>
                </a:moveTo>
                <a:lnTo>
                  <a:pt x="64294" y="91083"/>
                </a:lnTo>
                <a:cubicBezTo>
                  <a:pt x="64294" y="94030"/>
                  <a:pt x="66705" y="96441"/>
                  <a:pt x="69652" y="96441"/>
                </a:cubicBezTo>
                <a:lnTo>
                  <a:pt x="80367" y="96441"/>
                </a:lnTo>
                <a:cubicBezTo>
                  <a:pt x="83314" y="96441"/>
                  <a:pt x="85725" y="94030"/>
                  <a:pt x="85725" y="91083"/>
                </a:cubicBezTo>
                <a:lnTo>
                  <a:pt x="85725" y="80367"/>
                </a:lnTo>
                <a:cubicBezTo>
                  <a:pt x="85725" y="77420"/>
                  <a:pt x="83314" y="75009"/>
                  <a:pt x="80367" y="75009"/>
                </a:cubicBezTo>
                <a:lnTo>
                  <a:pt x="69652" y="75009"/>
                </a:lnTo>
                <a:cubicBezTo>
                  <a:pt x="66705" y="75009"/>
                  <a:pt x="64294" y="77420"/>
                  <a:pt x="64294" y="80367"/>
                </a:cubicBezTo>
                <a:close/>
                <a:moveTo>
                  <a:pt x="112514" y="75009"/>
                </a:moveTo>
                <a:cubicBezTo>
                  <a:pt x="109567" y="75009"/>
                  <a:pt x="107156" y="77420"/>
                  <a:pt x="107156" y="80367"/>
                </a:cubicBezTo>
                <a:lnTo>
                  <a:pt x="107156" y="91083"/>
                </a:lnTo>
                <a:cubicBezTo>
                  <a:pt x="107156" y="94030"/>
                  <a:pt x="109567" y="96441"/>
                  <a:pt x="112514" y="96441"/>
                </a:cubicBezTo>
                <a:lnTo>
                  <a:pt x="123230" y="96441"/>
                </a:lnTo>
                <a:cubicBezTo>
                  <a:pt x="126176" y="96441"/>
                  <a:pt x="128588" y="94030"/>
                  <a:pt x="128588" y="91083"/>
                </a:cubicBezTo>
                <a:lnTo>
                  <a:pt x="128588" y="80367"/>
                </a:lnTo>
                <a:cubicBezTo>
                  <a:pt x="128588" y="77420"/>
                  <a:pt x="126176" y="75009"/>
                  <a:pt x="123230" y="75009"/>
                </a:cubicBezTo>
                <a:lnTo>
                  <a:pt x="112514" y="75009"/>
                </a:lnTo>
                <a:close/>
                <a:moveTo>
                  <a:pt x="21431" y="123230"/>
                </a:moveTo>
                <a:lnTo>
                  <a:pt x="21431" y="133945"/>
                </a:lnTo>
                <a:cubicBezTo>
                  <a:pt x="21431" y="136892"/>
                  <a:pt x="23842" y="139303"/>
                  <a:pt x="26789" y="139303"/>
                </a:cubicBezTo>
                <a:lnTo>
                  <a:pt x="37505" y="139303"/>
                </a:lnTo>
                <a:cubicBezTo>
                  <a:pt x="40451" y="139303"/>
                  <a:pt x="42863" y="136892"/>
                  <a:pt x="42863" y="133945"/>
                </a:cubicBezTo>
                <a:lnTo>
                  <a:pt x="42863" y="123230"/>
                </a:lnTo>
                <a:cubicBezTo>
                  <a:pt x="42863" y="120283"/>
                  <a:pt x="40451" y="117872"/>
                  <a:pt x="37505" y="117872"/>
                </a:cubicBezTo>
                <a:lnTo>
                  <a:pt x="26789" y="117872"/>
                </a:lnTo>
                <a:cubicBezTo>
                  <a:pt x="23842" y="117872"/>
                  <a:pt x="21431" y="120283"/>
                  <a:pt x="21431" y="123230"/>
                </a:cubicBezTo>
                <a:close/>
                <a:moveTo>
                  <a:pt x="69652" y="117872"/>
                </a:moveTo>
                <a:cubicBezTo>
                  <a:pt x="66705" y="117872"/>
                  <a:pt x="64294" y="120283"/>
                  <a:pt x="64294" y="123230"/>
                </a:cubicBezTo>
                <a:lnTo>
                  <a:pt x="64294" y="133945"/>
                </a:lnTo>
                <a:cubicBezTo>
                  <a:pt x="64294" y="136892"/>
                  <a:pt x="66705" y="139303"/>
                  <a:pt x="69652" y="139303"/>
                </a:cubicBezTo>
                <a:lnTo>
                  <a:pt x="80367" y="139303"/>
                </a:lnTo>
                <a:cubicBezTo>
                  <a:pt x="83314" y="139303"/>
                  <a:pt x="85725" y="136892"/>
                  <a:pt x="85725" y="133945"/>
                </a:cubicBezTo>
                <a:lnTo>
                  <a:pt x="85725" y="123230"/>
                </a:lnTo>
                <a:cubicBezTo>
                  <a:pt x="85725" y="120283"/>
                  <a:pt x="83314" y="117872"/>
                  <a:pt x="80367" y="117872"/>
                </a:cubicBezTo>
                <a:lnTo>
                  <a:pt x="69652" y="117872"/>
                </a:lnTo>
                <a:close/>
                <a:moveTo>
                  <a:pt x="107156" y="123230"/>
                </a:moveTo>
                <a:lnTo>
                  <a:pt x="107156" y="133945"/>
                </a:lnTo>
                <a:cubicBezTo>
                  <a:pt x="107156" y="136892"/>
                  <a:pt x="109567" y="139303"/>
                  <a:pt x="112514" y="139303"/>
                </a:cubicBezTo>
                <a:lnTo>
                  <a:pt x="123230" y="139303"/>
                </a:lnTo>
                <a:cubicBezTo>
                  <a:pt x="126176" y="139303"/>
                  <a:pt x="128588" y="136892"/>
                  <a:pt x="128588" y="133945"/>
                </a:cubicBezTo>
                <a:lnTo>
                  <a:pt x="128588" y="123230"/>
                </a:lnTo>
                <a:cubicBezTo>
                  <a:pt x="128588" y="120283"/>
                  <a:pt x="126176" y="117872"/>
                  <a:pt x="123230" y="117872"/>
                </a:cubicBezTo>
                <a:lnTo>
                  <a:pt x="112514" y="117872"/>
                </a:lnTo>
                <a:cubicBezTo>
                  <a:pt x="109567" y="117872"/>
                  <a:pt x="107156" y="120283"/>
                  <a:pt x="107156" y="123230"/>
                </a:cubicBezTo>
                <a:close/>
              </a:path>
            </a:pathLst>
          </a:custGeom>
          <a:solidFill>
            <a:srgbClr val="3B82F6"/>
          </a:solidFill>
          <a:ln/>
        </p:spPr>
      </p:sp>
      <p:sp>
        <p:nvSpPr>
          <p:cNvPr id="51" name="Text 49"/>
          <p:cNvSpPr/>
          <p:nvPr/>
        </p:nvSpPr>
        <p:spPr>
          <a:xfrm>
            <a:off x="1066800" y="4286250"/>
            <a:ext cx="1685925" cy="266700"/>
          </a:xfrm>
          <a:prstGeom prst="rect">
            <a:avLst/>
          </a:prstGeom>
          <a:noFill/>
          <a:ln/>
        </p:spPr>
        <p:txBody>
          <a:bodyPr wrap="square" lIns="0" tIns="0" rIns="0" bIns="0" rtlCol="0" anchor="ctr"/>
          <a:lstStyle/>
          <a:p>
            <a:pPr>
              <a:lnSpc>
                <a:spcPct val="130000"/>
              </a:lnSpc>
            </a:pPr>
            <a:r>
              <a:rPr lang="en-US" sz="1350" b="1" dirty="0">
                <a:solidFill>
                  <a:srgbClr val="1E3A5F"/>
                </a:solidFill>
                <a:latin typeface="Liter" pitchFamily="34" charset="0"/>
                <a:ea typeface="Liter" pitchFamily="34" charset="-122"/>
                <a:cs typeface="Liter" pitchFamily="34" charset="-120"/>
              </a:rPr>
              <a:t>Appointment System</a:t>
            </a:r>
            <a:endParaRPr lang="en-US" sz="1600" dirty="0"/>
          </a:p>
        </p:txBody>
      </p:sp>
      <p:sp>
        <p:nvSpPr>
          <p:cNvPr id="52" name="Shape 50"/>
          <p:cNvSpPr/>
          <p:nvPr/>
        </p:nvSpPr>
        <p:spPr>
          <a:xfrm>
            <a:off x="571500" y="4762500"/>
            <a:ext cx="3324225" cy="342900"/>
          </a:xfrm>
          <a:custGeom>
            <a:avLst/>
            <a:gdLst/>
            <a:ahLst/>
            <a:cxnLst/>
            <a:rect l="l" t="t" r="r" b="b"/>
            <a:pathLst>
              <a:path w="3324225" h="342900">
                <a:moveTo>
                  <a:pt x="76199" y="0"/>
                </a:moveTo>
                <a:lnTo>
                  <a:pt x="3248026" y="0"/>
                </a:lnTo>
                <a:cubicBezTo>
                  <a:pt x="3290109" y="0"/>
                  <a:pt x="3324225" y="34116"/>
                  <a:pt x="3324225" y="76199"/>
                </a:cubicBezTo>
                <a:lnTo>
                  <a:pt x="3324225" y="266701"/>
                </a:lnTo>
                <a:cubicBezTo>
                  <a:pt x="3324225" y="308784"/>
                  <a:pt x="3290109" y="342900"/>
                  <a:pt x="3248026" y="342900"/>
                </a:cubicBezTo>
                <a:lnTo>
                  <a:pt x="76199" y="342900"/>
                </a:lnTo>
                <a:cubicBezTo>
                  <a:pt x="34144" y="342900"/>
                  <a:pt x="0" y="308756"/>
                  <a:pt x="0" y="266701"/>
                </a:cubicBezTo>
                <a:lnTo>
                  <a:pt x="0" y="76199"/>
                </a:lnTo>
                <a:cubicBezTo>
                  <a:pt x="0" y="34144"/>
                  <a:pt x="34144" y="0"/>
                  <a:pt x="76199" y="0"/>
                </a:cubicBezTo>
                <a:close/>
              </a:path>
            </a:pathLst>
          </a:custGeom>
          <a:solidFill>
            <a:srgbClr val="F8FAFC"/>
          </a:solidFill>
          <a:ln/>
        </p:spPr>
      </p:sp>
      <p:sp>
        <p:nvSpPr>
          <p:cNvPr id="53" name="Shape 51"/>
          <p:cNvSpPr/>
          <p:nvPr/>
        </p:nvSpPr>
        <p:spPr>
          <a:xfrm>
            <a:off x="650081" y="4867275"/>
            <a:ext cx="166688" cy="133350"/>
          </a:xfrm>
          <a:custGeom>
            <a:avLst/>
            <a:gdLst/>
            <a:ahLst/>
            <a:cxnLst/>
            <a:rect l="l" t="t" r="r" b="b"/>
            <a:pathLst>
              <a:path w="166688" h="133350">
                <a:moveTo>
                  <a:pt x="16669" y="25003"/>
                </a:moveTo>
                <a:cubicBezTo>
                  <a:pt x="16669" y="15809"/>
                  <a:pt x="24144" y="8334"/>
                  <a:pt x="33337" y="8334"/>
                </a:cubicBezTo>
                <a:lnTo>
                  <a:pt x="133350" y="8334"/>
                </a:lnTo>
                <a:cubicBezTo>
                  <a:pt x="142544" y="8334"/>
                  <a:pt x="150019" y="15809"/>
                  <a:pt x="150019" y="25003"/>
                </a:cubicBezTo>
                <a:lnTo>
                  <a:pt x="150019" y="87511"/>
                </a:lnTo>
                <a:lnTo>
                  <a:pt x="133350" y="87511"/>
                </a:lnTo>
                <a:lnTo>
                  <a:pt x="133350" y="25003"/>
                </a:lnTo>
                <a:lnTo>
                  <a:pt x="33337" y="25003"/>
                </a:lnTo>
                <a:lnTo>
                  <a:pt x="33337" y="87511"/>
                </a:lnTo>
                <a:lnTo>
                  <a:pt x="16669" y="87511"/>
                </a:lnTo>
                <a:lnTo>
                  <a:pt x="16669" y="25003"/>
                </a:lnTo>
                <a:close/>
                <a:moveTo>
                  <a:pt x="0" y="105013"/>
                </a:moveTo>
                <a:cubicBezTo>
                  <a:pt x="0" y="102252"/>
                  <a:pt x="2240" y="100013"/>
                  <a:pt x="5001" y="100013"/>
                </a:cubicBezTo>
                <a:lnTo>
                  <a:pt x="161687" y="100013"/>
                </a:lnTo>
                <a:cubicBezTo>
                  <a:pt x="164448" y="100013"/>
                  <a:pt x="166688" y="102252"/>
                  <a:pt x="166688" y="105013"/>
                </a:cubicBezTo>
                <a:cubicBezTo>
                  <a:pt x="166688" y="116056"/>
                  <a:pt x="157728" y="125016"/>
                  <a:pt x="146685" y="125016"/>
                </a:cubicBezTo>
                <a:lnTo>
                  <a:pt x="20003" y="125016"/>
                </a:lnTo>
                <a:cubicBezTo>
                  <a:pt x="8959" y="125016"/>
                  <a:pt x="0" y="116056"/>
                  <a:pt x="0" y="105013"/>
                </a:cubicBezTo>
                <a:close/>
                <a:moveTo>
                  <a:pt x="75009" y="41672"/>
                </a:moveTo>
                <a:cubicBezTo>
                  <a:pt x="75009" y="39380"/>
                  <a:pt x="76885" y="37505"/>
                  <a:pt x="79177" y="37505"/>
                </a:cubicBezTo>
                <a:lnTo>
                  <a:pt x="87511" y="37505"/>
                </a:lnTo>
                <a:cubicBezTo>
                  <a:pt x="89803" y="37505"/>
                  <a:pt x="91678" y="39380"/>
                  <a:pt x="91678" y="41672"/>
                </a:cubicBezTo>
                <a:lnTo>
                  <a:pt x="91678" y="52090"/>
                </a:lnTo>
                <a:lnTo>
                  <a:pt x="102096" y="52090"/>
                </a:lnTo>
                <a:cubicBezTo>
                  <a:pt x="104388" y="52090"/>
                  <a:pt x="106263" y="53965"/>
                  <a:pt x="106263" y="56257"/>
                </a:cubicBezTo>
                <a:lnTo>
                  <a:pt x="106263" y="64591"/>
                </a:lnTo>
                <a:cubicBezTo>
                  <a:pt x="106263" y="66883"/>
                  <a:pt x="104388" y="68759"/>
                  <a:pt x="102096" y="68759"/>
                </a:cubicBezTo>
                <a:lnTo>
                  <a:pt x="91678" y="68759"/>
                </a:lnTo>
                <a:lnTo>
                  <a:pt x="91678" y="79177"/>
                </a:lnTo>
                <a:cubicBezTo>
                  <a:pt x="91678" y="81469"/>
                  <a:pt x="89803" y="83344"/>
                  <a:pt x="87511" y="83344"/>
                </a:cubicBezTo>
                <a:lnTo>
                  <a:pt x="79177" y="83344"/>
                </a:lnTo>
                <a:cubicBezTo>
                  <a:pt x="76885" y="83344"/>
                  <a:pt x="75009" y="81469"/>
                  <a:pt x="75009" y="79177"/>
                </a:cubicBezTo>
                <a:lnTo>
                  <a:pt x="75009" y="68759"/>
                </a:lnTo>
                <a:lnTo>
                  <a:pt x="64591" y="68759"/>
                </a:lnTo>
                <a:cubicBezTo>
                  <a:pt x="62299" y="68759"/>
                  <a:pt x="60424" y="66883"/>
                  <a:pt x="60424" y="64591"/>
                </a:cubicBezTo>
                <a:lnTo>
                  <a:pt x="60424" y="56257"/>
                </a:lnTo>
                <a:cubicBezTo>
                  <a:pt x="60424" y="53965"/>
                  <a:pt x="62299" y="52090"/>
                  <a:pt x="64591" y="52090"/>
                </a:cubicBezTo>
                <a:lnTo>
                  <a:pt x="75009" y="52090"/>
                </a:lnTo>
                <a:lnTo>
                  <a:pt x="75009" y="41672"/>
                </a:lnTo>
                <a:close/>
              </a:path>
            </a:pathLst>
          </a:custGeom>
          <a:solidFill>
            <a:srgbClr val="3B82F6"/>
          </a:solidFill>
          <a:ln/>
        </p:spPr>
      </p:sp>
      <p:sp>
        <p:nvSpPr>
          <p:cNvPr id="54" name="Text 52"/>
          <p:cNvSpPr/>
          <p:nvPr/>
        </p:nvSpPr>
        <p:spPr>
          <a:xfrm>
            <a:off x="890588" y="4838700"/>
            <a:ext cx="1381125" cy="190500"/>
          </a:xfrm>
          <a:prstGeom prst="rect">
            <a:avLst/>
          </a:prstGeom>
          <a:noFill/>
          <a:ln/>
        </p:spPr>
        <p:txBody>
          <a:bodyPr wrap="square" lIns="0" tIns="0" rIns="0" bIns="0" rtlCol="0" anchor="ctr"/>
          <a:lstStyle/>
          <a:p>
            <a:pPr>
              <a:lnSpc>
                <a:spcPct val="120000"/>
              </a:lnSpc>
            </a:pPr>
            <a:r>
              <a:rPr lang="en-US" sz="1050" dirty="0">
                <a:solidFill>
                  <a:srgbClr val="1E293B"/>
                </a:solidFill>
                <a:latin typeface="Quattrocento Sans" pitchFamily="34" charset="0"/>
                <a:ea typeface="Quattrocento Sans" pitchFamily="34" charset="-122"/>
                <a:cs typeface="Quattrocento Sans" pitchFamily="34" charset="-120"/>
              </a:rPr>
              <a:t>Online booking system</a:t>
            </a:r>
            <a:endParaRPr lang="en-US" sz="1600" dirty="0"/>
          </a:p>
        </p:txBody>
      </p:sp>
      <p:sp>
        <p:nvSpPr>
          <p:cNvPr id="55" name="Shape 53"/>
          <p:cNvSpPr/>
          <p:nvPr/>
        </p:nvSpPr>
        <p:spPr>
          <a:xfrm>
            <a:off x="571500" y="5181600"/>
            <a:ext cx="3324225" cy="342900"/>
          </a:xfrm>
          <a:custGeom>
            <a:avLst/>
            <a:gdLst/>
            <a:ahLst/>
            <a:cxnLst/>
            <a:rect l="l" t="t" r="r" b="b"/>
            <a:pathLst>
              <a:path w="3324225" h="342900">
                <a:moveTo>
                  <a:pt x="76199" y="0"/>
                </a:moveTo>
                <a:lnTo>
                  <a:pt x="3248026" y="0"/>
                </a:lnTo>
                <a:cubicBezTo>
                  <a:pt x="3290109" y="0"/>
                  <a:pt x="3324225" y="34116"/>
                  <a:pt x="3324225" y="76199"/>
                </a:cubicBezTo>
                <a:lnTo>
                  <a:pt x="3324225" y="266701"/>
                </a:lnTo>
                <a:cubicBezTo>
                  <a:pt x="3324225" y="308784"/>
                  <a:pt x="3290109" y="342900"/>
                  <a:pt x="3248026" y="342900"/>
                </a:cubicBezTo>
                <a:lnTo>
                  <a:pt x="76199" y="342900"/>
                </a:lnTo>
                <a:cubicBezTo>
                  <a:pt x="34144" y="342900"/>
                  <a:pt x="0" y="308756"/>
                  <a:pt x="0" y="266701"/>
                </a:cubicBezTo>
                <a:lnTo>
                  <a:pt x="0" y="76199"/>
                </a:lnTo>
                <a:cubicBezTo>
                  <a:pt x="0" y="34144"/>
                  <a:pt x="34144" y="0"/>
                  <a:pt x="76199" y="0"/>
                </a:cubicBezTo>
                <a:close/>
              </a:path>
            </a:pathLst>
          </a:custGeom>
          <a:solidFill>
            <a:srgbClr val="F8FAFC"/>
          </a:solidFill>
          <a:ln/>
        </p:spPr>
      </p:sp>
      <p:sp>
        <p:nvSpPr>
          <p:cNvPr id="56" name="Shape 54"/>
          <p:cNvSpPr/>
          <p:nvPr/>
        </p:nvSpPr>
        <p:spPr>
          <a:xfrm>
            <a:off x="658416" y="5286375"/>
            <a:ext cx="150019" cy="133350"/>
          </a:xfrm>
          <a:custGeom>
            <a:avLst/>
            <a:gdLst/>
            <a:ahLst/>
            <a:cxnLst/>
            <a:rect l="l" t="t" r="r" b="b"/>
            <a:pathLst>
              <a:path w="150019" h="133350">
                <a:moveTo>
                  <a:pt x="0" y="33337"/>
                </a:moveTo>
                <a:cubicBezTo>
                  <a:pt x="0" y="24144"/>
                  <a:pt x="7475" y="16669"/>
                  <a:pt x="16669" y="16669"/>
                </a:cubicBezTo>
                <a:lnTo>
                  <a:pt x="133350" y="16669"/>
                </a:lnTo>
                <a:cubicBezTo>
                  <a:pt x="142544" y="16669"/>
                  <a:pt x="150019" y="24144"/>
                  <a:pt x="150019" y="33337"/>
                </a:cubicBezTo>
                <a:lnTo>
                  <a:pt x="150019" y="50006"/>
                </a:lnTo>
                <a:cubicBezTo>
                  <a:pt x="150019" y="52298"/>
                  <a:pt x="148091" y="54095"/>
                  <a:pt x="145930" y="54851"/>
                </a:cubicBezTo>
                <a:cubicBezTo>
                  <a:pt x="141033" y="56544"/>
                  <a:pt x="137517" y="61206"/>
                  <a:pt x="137517" y="66675"/>
                </a:cubicBezTo>
                <a:cubicBezTo>
                  <a:pt x="137517" y="72144"/>
                  <a:pt x="141033" y="76806"/>
                  <a:pt x="145930" y="78499"/>
                </a:cubicBezTo>
                <a:cubicBezTo>
                  <a:pt x="148091" y="79255"/>
                  <a:pt x="150019" y="81052"/>
                  <a:pt x="150019" y="83344"/>
                </a:cubicBezTo>
                <a:lnTo>
                  <a:pt x="150019" y="100013"/>
                </a:lnTo>
                <a:cubicBezTo>
                  <a:pt x="150019" y="109206"/>
                  <a:pt x="142544" y="116681"/>
                  <a:pt x="133350" y="116681"/>
                </a:cubicBezTo>
                <a:lnTo>
                  <a:pt x="16669" y="116681"/>
                </a:lnTo>
                <a:cubicBezTo>
                  <a:pt x="7475" y="116681"/>
                  <a:pt x="0" y="109206"/>
                  <a:pt x="0" y="100013"/>
                </a:cubicBezTo>
                <a:lnTo>
                  <a:pt x="0" y="83344"/>
                </a:lnTo>
                <a:cubicBezTo>
                  <a:pt x="0" y="81052"/>
                  <a:pt x="1927" y="79255"/>
                  <a:pt x="4089" y="78499"/>
                </a:cubicBezTo>
                <a:cubicBezTo>
                  <a:pt x="8985" y="76806"/>
                  <a:pt x="12502" y="72144"/>
                  <a:pt x="12502" y="66675"/>
                </a:cubicBezTo>
                <a:cubicBezTo>
                  <a:pt x="12502" y="61206"/>
                  <a:pt x="8985" y="56544"/>
                  <a:pt x="4089" y="54851"/>
                </a:cubicBezTo>
                <a:cubicBezTo>
                  <a:pt x="1927" y="54095"/>
                  <a:pt x="0" y="52298"/>
                  <a:pt x="0" y="50006"/>
                </a:cubicBezTo>
                <a:lnTo>
                  <a:pt x="0" y="33337"/>
                </a:lnTo>
                <a:close/>
              </a:path>
            </a:pathLst>
          </a:custGeom>
          <a:solidFill>
            <a:srgbClr val="3B82F6"/>
          </a:solidFill>
          <a:ln/>
        </p:spPr>
      </p:sp>
      <p:sp>
        <p:nvSpPr>
          <p:cNvPr id="57" name="Text 55"/>
          <p:cNvSpPr/>
          <p:nvPr/>
        </p:nvSpPr>
        <p:spPr>
          <a:xfrm>
            <a:off x="890588" y="5257800"/>
            <a:ext cx="1504950" cy="190500"/>
          </a:xfrm>
          <a:prstGeom prst="rect">
            <a:avLst/>
          </a:prstGeom>
          <a:noFill/>
          <a:ln/>
        </p:spPr>
        <p:txBody>
          <a:bodyPr wrap="square" lIns="0" tIns="0" rIns="0" bIns="0" rtlCol="0" anchor="ctr"/>
          <a:lstStyle/>
          <a:p>
            <a:pPr>
              <a:lnSpc>
                <a:spcPct val="120000"/>
              </a:lnSpc>
            </a:pPr>
            <a:r>
              <a:rPr lang="en-US" sz="1050" dirty="0">
                <a:solidFill>
                  <a:srgbClr val="1E293B"/>
                </a:solidFill>
                <a:latin typeface="Quattrocento Sans" pitchFamily="34" charset="0"/>
                <a:ea typeface="Quattrocento Sans" pitchFamily="34" charset="-122"/>
                <a:cs typeface="Quattrocento Sans" pitchFamily="34" charset="-120"/>
              </a:rPr>
              <a:t>Automatic token number</a:t>
            </a:r>
            <a:endParaRPr lang="en-US" sz="1600" dirty="0"/>
          </a:p>
        </p:txBody>
      </p:sp>
      <p:sp>
        <p:nvSpPr>
          <p:cNvPr id="58" name="Shape 56"/>
          <p:cNvSpPr/>
          <p:nvPr/>
        </p:nvSpPr>
        <p:spPr>
          <a:xfrm>
            <a:off x="571500" y="5600700"/>
            <a:ext cx="3324225" cy="342900"/>
          </a:xfrm>
          <a:custGeom>
            <a:avLst/>
            <a:gdLst/>
            <a:ahLst/>
            <a:cxnLst/>
            <a:rect l="l" t="t" r="r" b="b"/>
            <a:pathLst>
              <a:path w="3324225" h="342900">
                <a:moveTo>
                  <a:pt x="76199" y="0"/>
                </a:moveTo>
                <a:lnTo>
                  <a:pt x="3248026" y="0"/>
                </a:lnTo>
                <a:cubicBezTo>
                  <a:pt x="3290109" y="0"/>
                  <a:pt x="3324225" y="34116"/>
                  <a:pt x="3324225" y="76199"/>
                </a:cubicBezTo>
                <a:lnTo>
                  <a:pt x="3324225" y="266701"/>
                </a:lnTo>
                <a:cubicBezTo>
                  <a:pt x="3324225" y="308784"/>
                  <a:pt x="3290109" y="342900"/>
                  <a:pt x="3248026" y="342900"/>
                </a:cubicBezTo>
                <a:lnTo>
                  <a:pt x="76199" y="342900"/>
                </a:lnTo>
                <a:cubicBezTo>
                  <a:pt x="34144" y="342900"/>
                  <a:pt x="0" y="308756"/>
                  <a:pt x="0" y="266701"/>
                </a:cubicBezTo>
                <a:lnTo>
                  <a:pt x="0" y="76199"/>
                </a:lnTo>
                <a:cubicBezTo>
                  <a:pt x="0" y="34144"/>
                  <a:pt x="34144" y="0"/>
                  <a:pt x="76199" y="0"/>
                </a:cubicBezTo>
                <a:close/>
              </a:path>
            </a:pathLst>
          </a:custGeom>
          <a:solidFill>
            <a:srgbClr val="F8FAFC"/>
          </a:solidFill>
          <a:ln/>
        </p:spPr>
      </p:sp>
      <p:sp>
        <p:nvSpPr>
          <p:cNvPr id="59" name="Shape 57"/>
          <p:cNvSpPr/>
          <p:nvPr/>
        </p:nvSpPr>
        <p:spPr>
          <a:xfrm>
            <a:off x="666750" y="5705475"/>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58341" y="41672"/>
                </a:moveTo>
                <a:cubicBezTo>
                  <a:pt x="58341" y="37072"/>
                  <a:pt x="62075" y="33337"/>
                  <a:pt x="66675" y="33337"/>
                </a:cubicBezTo>
                <a:cubicBezTo>
                  <a:pt x="71275" y="33337"/>
                  <a:pt x="75009" y="37072"/>
                  <a:pt x="75009" y="41672"/>
                </a:cubicBezTo>
                <a:cubicBezTo>
                  <a:pt x="75009" y="46272"/>
                  <a:pt x="71275" y="50006"/>
                  <a:pt x="66675" y="50006"/>
                </a:cubicBezTo>
                <a:cubicBezTo>
                  <a:pt x="62075" y="50006"/>
                  <a:pt x="58341" y="46272"/>
                  <a:pt x="58341" y="41672"/>
                </a:cubicBezTo>
                <a:close/>
                <a:moveTo>
                  <a:pt x="56257" y="58341"/>
                </a:moveTo>
                <a:lnTo>
                  <a:pt x="68759" y="58341"/>
                </a:lnTo>
                <a:cubicBezTo>
                  <a:pt x="72223" y="58341"/>
                  <a:pt x="75009" y="61127"/>
                  <a:pt x="75009" y="64591"/>
                </a:cubicBezTo>
                <a:lnTo>
                  <a:pt x="75009" y="87511"/>
                </a:lnTo>
                <a:lnTo>
                  <a:pt x="77093" y="87511"/>
                </a:lnTo>
                <a:cubicBezTo>
                  <a:pt x="80557" y="87511"/>
                  <a:pt x="83344" y="90298"/>
                  <a:pt x="83344" y="93762"/>
                </a:cubicBezTo>
                <a:cubicBezTo>
                  <a:pt x="83344" y="97226"/>
                  <a:pt x="80557" y="100013"/>
                  <a:pt x="77093" y="100013"/>
                </a:cubicBezTo>
                <a:lnTo>
                  <a:pt x="56257" y="100013"/>
                </a:lnTo>
                <a:cubicBezTo>
                  <a:pt x="52793" y="100013"/>
                  <a:pt x="50006" y="97226"/>
                  <a:pt x="50006" y="93762"/>
                </a:cubicBezTo>
                <a:cubicBezTo>
                  <a:pt x="50006" y="90298"/>
                  <a:pt x="52793" y="87511"/>
                  <a:pt x="56257" y="87511"/>
                </a:cubicBezTo>
                <a:lnTo>
                  <a:pt x="62508" y="87511"/>
                </a:lnTo>
                <a:lnTo>
                  <a:pt x="62508" y="70842"/>
                </a:lnTo>
                <a:lnTo>
                  <a:pt x="56257" y="70842"/>
                </a:lnTo>
                <a:cubicBezTo>
                  <a:pt x="52793" y="70842"/>
                  <a:pt x="50006" y="68055"/>
                  <a:pt x="50006" y="64591"/>
                </a:cubicBezTo>
                <a:cubicBezTo>
                  <a:pt x="50006" y="61127"/>
                  <a:pt x="52793" y="58341"/>
                  <a:pt x="56257" y="58341"/>
                </a:cubicBezTo>
                <a:close/>
              </a:path>
            </a:pathLst>
          </a:custGeom>
          <a:solidFill>
            <a:srgbClr val="3B82F6"/>
          </a:solidFill>
          <a:ln/>
        </p:spPr>
      </p:sp>
      <p:sp>
        <p:nvSpPr>
          <p:cNvPr id="60" name="Text 58"/>
          <p:cNvSpPr/>
          <p:nvPr/>
        </p:nvSpPr>
        <p:spPr>
          <a:xfrm>
            <a:off x="890588" y="5676900"/>
            <a:ext cx="914400" cy="190500"/>
          </a:xfrm>
          <a:prstGeom prst="rect">
            <a:avLst/>
          </a:prstGeom>
          <a:noFill/>
          <a:ln/>
        </p:spPr>
        <p:txBody>
          <a:bodyPr wrap="square" lIns="0" tIns="0" rIns="0" bIns="0" rtlCol="0" anchor="ctr"/>
          <a:lstStyle/>
          <a:p>
            <a:pPr>
              <a:lnSpc>
                <a:spcPct val="120000"/>
              </a:lnSpc>
            </a:pPr>
            <a:r>
              <a:rPr lang="en-US" sz="1050" dirty="0">
                <a:solidFill>
                  <a:srgbClr val="1E293B"/>
                </a:solidFill>
                <a:latin typeface="Quattrocento Sans" pitchFamily="34" charset="0"/>
                <a:ea typeface="Quattrocento Sans" pitchFamily="34" charset="-122"/>
                <a:cs typeface="Quattrocento Sans" pitchFamily="34" charset="-120"/>
              </a:rPr>
              <a:t>Status tracking</a:t>
            </a:r>
            <a:endParaRPr lang="en-US" sz="1600" dirty="0"/>
          </a:p>
        </p:txBody>
      </p:sp>
      <p:sp>
        <p:nvSpPr>
          <p:cNvPr id="61" name="Shape 59"/>
          <p:cNvSpPr/>
          <p:nvPr/>
        </p:nvSpPr>
        <p:spPr>
          <a:xfrm>
            <a:off x="4241721" y="4019550"/>
            <a:ext cx="3705225" cy="2457450"/>
          </a:xfrm>
          <a:custGeom>
            <a:avLst/>
            <a:gdLst/>
            <a:ahLst/>
            <a:cxnLst/>
            <a:rect l="l" t="t" r="r" b="b"/>
            <a:pathLst>
              <a:path w="3705225" h="2457450">
                <a:moveTo>
                  <a:pt x="38100" y="0"/>
                </a:moveTo>
                <a:lnTo>
                  <a:pt x="3667125" y="0"/>
                </a:lnTo>
                <a:cubicBezTo>
                  <a:pt x="3688153" y="0"/>
                  <a:pt x="3705225" y="17072"/>
                  <a:pt x="3705225" y="38100"/>
                </a:cubicBezTo>
                <a:lnTo>
                  <a:pt x="3705225" y="2343154"/>
                </a:lnTo>
                <a:cubicBezTo>
                  <a:pt x="3705225" y="2406278"/>
                  <a:pt x="3654053" y="2457450"/>
                  <a:pt x="3590929" y="2457450"/>
                </a:cubicBezTo>
                <a:lnTo>
                  <a:pt x="114296" y="2457450"/>
                </a:lnTo>
                <a:cubicBezTo>
                  <a:pt x="51172" y="2457450"/>
                  <a:pt x="0" y="2406278"/>
                  <a:pt x="0" y="2343154"/>
                </a:cubicBezTo>
                <a:lnTo>
                  <a:pt x="0" y="38100"/>
                </a:lnTo>
                <a:cubicBezTo>
                  <a:pt x="0" y="17072"/>
                  <a:pt x="17072" y="0"/>
                  <a:pt x="38100" y="0"/>
                </a:cubicBezTo>
                <a:close/>
              </a:path>
            </a:pathLst>
          </a:custGeom>
          <a:solidFill>
            <a:srgbClr val="FFFFFF"/>
          </a:solidFill>
          <a:ln/>
          <a:effectLst>
            <a:outerShdw blurRad="57150" dist="38100" dir="5400000" algn="bl" rotWithShape="0">
              <a:srgbClr val="000000">
                <a:alpha val="10196"/>
              </a:srgbClr>
            </a:outerShdw>
          </a:effectLst>
        </p:spPr>
      </p:sp>
      <p:sp>
        <p:nvSpPr>
          <p:cNvPr id="62" name="Shape 60"/>
          <p:cNvSpPr/>
          <p:nvPr/>
        </p:nvSpPr>
        <p:spPr>
          <a:xfrm>
            <a:off x="4241721" y="4019550"/>
            <a:ext cx="3705225" cy="38100"/>
          </a:xfrm>
          <a:custGeom>
            <a:avLst/>
            <a:gdLst/>
            <a:ahLst/>
            <a:cxnLst/>
            <a:rect l="l" t="t" r="r" b="b"/>
            <a:pathLst>
              <a:path w="3705225" h="38100">
                <a:moveTo>
                  <a:pt x="38100" y="0"/>
                </a:moveTo>
                <a:lnTo>
                  <a:pt x="3667125" y="0"/>
                </a:lnTo>
                <a:cubicBezTo>
                  <a:pt x="3688153" y="0"/>
                  <a:pt x="3705225" y="17072"/>
                  <a:pt x="3705225" y="38100"/>
                </a:cubicBezTo>
                <a:lnTo>
                  <a:pt x="3705225" y="38100"/>
                </a:lnTo>
                <a:lnTo>
                  <a:pt x="0" y="38100"/>
                </a:lnTo>
                <a:lnTo>
                  <a:pt x="0" y="38100"/>
                </a:lnTo>
                <a:cubicBezTo>
                  <a:pt x="0" y="17072"/>
                  <a:pt x="17072" y="0"/>
                  <a:pt x="38100" y="0"/>
                </a:cubicBezTo>
                <a:close/>
              </a:path>
            </a:pathLst>
          </a:custGeom>
          <a:solidFill>
            <a:srgbClr val="10B981"/>
          </a:solidFill>
          <a:ln/>
        </p:spPr>
      </p:sp>
      <p:sp>
        <p:nvSpPr>
          <p:cNvPr id="63" name="Shape 61"/>
          <p:cNvSpPr/>
          <p:nvPr/>
        </p:nvSpPr>
        <p:spPr>
          <a:xfrm>
            <a:off x="4432221" y="42291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10B981">
              <a:alpha val="10196"/>
            </a:srgbClr>
          </a:solidFill>
          <a:ln/>
        </p:spPr>
      </p:sp>
      <p:sp>
        <p:nvSpPr>
          <p:cNvPr id="64" name="Shape 62"/>
          <p:cNvSpPr/>
          <p:nvPr/>
        </p:nvSpPr>
        <p:spPr>
          <a:xfrm>
            <a:off x="4539377" y="4333875"/>
            <a:ext cx="171450" cy="171450"/>
          </a:xfrm>
          <a:custGeom>
            <a:avLst/>
            <a:gdLst/>
            <a:ahLst/>
            <a:cxnLst/>
            <a:rect l="l" t="t" r="r" b="b"/>
            <a:pathLst>
              <a:path w="171450" h="171450">
                <a:moveTo>
                  <a:pt x="0" y="42863"/>
                </a:moveTo>
                <a:lnTo>
                  <a:pt x="0" y="53578"/>
                </a:lnTo>
                <a:lnTo>
                  <a:pt x="171450" y="53578"/>
                </a:lnTo>
                <a:lnTo>
                  <a:pt x="171450" y="42863"/>
                </a:lnTo>
                <a:cubicBezTo>
                  <a:pt x="171450" y="31042"/>
                  <a:pt x="161839" y="21431"/>
                  <a:pt x="150019" y="21431"/>
                </a:cubicBezTo>
                <a:lnTo>
                  <a:pt x="21431" y="21431"/>
                </a:lnTo>
                <a:cubicBezTo>
                  <a:pt x="9611" y="21431"/>
                  <a:pt x="0" y="31042"/>
                  <a:pt x="0" y="42863"/>
                </a:cubicBezTo>
                <a:close/>
                <a:moveTo>
                  <a:pt x="0" y="69652"/>
                </a:moveTo>
                <a:lnTo>
                  <a:pt x="0" y="128588"/>
                </a:lnTo>
                <a:cubicBezTo>
                  <a:pt x="0" y="140408"/>
                  <a:pt x="9611" y="150019"/>
                  <a:pt x="21431" y="150019"/>
                </a:cubicBezTo>
                <a:lnTo>
                  <a:pt x="150019" y="150019"/>
                </a:lnTo>
                <a:cubicBezTo>
                  <a:pt x="161839" y="150019"/>
                  <a:pt x="171450" y="140408"/>
                  <a:pt x="171450" y="128588"/>
                </a:cubicBezTo>
                <a:lnTo>
                  <a:pt x="171450" y="69652"/>
                </a:lnTo>
                <a:lnTo>
                  <a:pt x="0" y="69652"/>
                </a:lnTo>
                <a:close/>
                <a:moveTo>
                  <a:pt x="21431" y="120551"/>
                </a:moveTo>
                <a:cubicBezTo>
                  <a:pt x="21431" y="116097"/>
                  <a:pt x="25014" y="112514"/>
                  <a:pt x="29468" y="112514"/>
                </a:cubicBezTo>
                <a:lnTo>
                  <a:pt x="45541" y="112514"/>
                </a:lnTo>
                <a:cubicBezTo>
                  <a:pt x="49995" y="112514"/>
                  <a:pt x="53578" y="116097"/>
                  <a:pt x="53578" y="120551"/>
                </a:cubicBezTo>
                <a:cubicBezTo>
                  <a:pt x="53578" y="125004"/>
                  <a:pt x="49995" y="128588"/>
                  <a:pt x="45541" y="128588"/>
                </a:cubicBezTo>
                <a:lnTo>
                  <a:pt x="29468" y="128588"/>
                </a:lnTo>
                <a:cubicBezTo>
                  <a:pt x="25014" y="128588"/>
                  <a:pt x="21431" y="125004"/>
                  <a:pt x="21431" y="120551"/>
                </a:cubicBezTo>
                <a:close/>
                <a:moveTo>
                  <a:pt x="69652" y="120551"/>
                </a:moveTo>
                <a:cubicBezTo>
                  <a:pt x="69652" y="116097"/>
                  <a:pt x="73235" y="112514"/>
                  <a:pt x="77688" y="112514"/>
                </a:cubicBezTo>
                <a:lnTo>
                  <a:pt x="99120" y="112514"/>
                </a:lnTo>
                <a:cubicBezTo>
                  <a:pt x="103573" y="112514"/>
                  <a:pt x="107156" y="116097"/>
                  <a:pt x="107156" y="120551"/>
                </a:cubicBezTo>
                <a:cubicBezTo>
                  <a:pt x="107156" y="125004"/>
                  <a:pt x="103573" y="128588"/>
                  <a:pt x="99120" y="128588"/>
                </a:cubicBezTo>
                <a:lnTo>
                  <a:pt x="77688" y="128588"/>
                </a:lnTo>
                <a:cubicBezTo>
                  <a:pt x="73235" y="128588"/>
                  <a:pt x="69652" y="125004"/>
                  <a:pt x="69652" y="120551"/>
                </a:cubicBezTo>
                <a:close/>
              </a:path>
            </a:pathLst>
          </a:custGeom>
          <a:solidFill>
            <a:srgbClr val="10B981"/>
          </a:solidFill>
          <a:ln/>
        </p:spPr>
      </p:sp>
      <p:sp>
        <p:nvSpPr>
          <p:cNvPr id="65" name="Text 63"/>
          <p:cNvSpPr/>
          <p:nvPr/>
        </p:nvSpPr>
        <p:spPr>
          <a:xfrm>
            <a:off x="4927521" y="4286250"/>
            <a:ext cx="1362075" cy="266700"/>
          </a:xfrm>
          <a:prstGeom prst="rect">
            <a:avLst/>
          </a:prstGeom>
          <a:noFill/>
          <a:ln/>
        </p:spPr>
        <p:txBody>
          <a:bodyPr wrap="square" lIns="0" tIns="0" rIns="0" bIns="0" rtlCol="0" anchor="ctr"/>
          <a:lstStyle/>
          <a:p>
            <a:pPr>
              <a:lnSpc>
                <a:spcPct val="130000"/>
              </a:lnSpc>
            </a:pPr>
            <a:r>
              <a:rPr lang="en-US" sz="1350" b="1" dirty="0">
                <a:solidFill>
                  <a:srgbClr val="1E3A5F"/>
                </a:solidFill>
                <a:latin typeface="Liter" pitchFamily="34" charset="0"/>
                <a:ea typeface="Liter" pitchFamily="34" charset="-122"/>
                <a:cs typeface="Liter" pitchFamily="34" charset="-120"/>
              </a:rPr>
              <a:t>Payment System</a:t>
            </a:r>
            <a:endParaRPr lang="en-US" sz="1600" dirty="0"/>
          </a:p>
        </p:txBody>
      </p:sp>
      <p:sp>
        <p:nvSpPr>
          <p:cNvPr id="66" name="Shape 64"/>
          <p:cNvSpPr/>
          <p:nvPr/>
        </p:nvSpPr>
        <p:spPr>
          <a:xfrm>
            <a:off x="4432221" y="4762500"/>
            <a:ext cx="3324225" cy="342900"/>
          </a:xfrm>
          <a:custGeom>
            <a:avLst/>
            <a:gdLst/>
            <a:ahLst/>
            <a:cxnLst/>
            <a:rect l="l" t="t" r="r" b="b"/>
            <a:pathLst>
              <a:path w="3324225" h="342900">
                <a:moveTo>
                  <a:pt x="76199" y="0"/>
                </a:moveTo>
                <a:lnTo>
                  <a:pt x="3248026" y="0"/>
                </a:lnTo>
                <a:cubicBezTo>
                  <a:pt x="3290109" y="0"/>
                  <a:pt x="3324225" y="34116"/>
                  <a:pt x="3324225" y="76199"/>
                </a:cubicBezTo>
                <a:lnTo>
                  <a:pt x="3324225" y="266701"/>
                </a:lnTo>
                <a:cubicBezTo>
                  <a:pt x="3324225" y="308784"/>
                  <a:pt x="3290109" y="342900"/>
                  <a:pt x="3248026" y="342900"/>
                </a:cubicBezTo>
                <a:lnTo>
                  <a:pt x="76199" y="342900"/>
                </a:lnTo>
                <a:cubicBezTo>
                  <a:pt x="34144" y="342900"/>
                  <a:pt x="0" y="308756"/>
                  <a:pt x="0" y="266701"/>
                </a:cubicBezTo>
                <a:lnTo>
                  <a:pt x="0" y="76199"/>
                </a:lnTo>
                <a:cubicBezTo>
                  <a:pt x="0" y="34144"/>
                  <a:pt x="34144" y="0"/>
                  <a:pt x="76199" y="0"/>
                </a:cubicBezTo>
                <a:close/>
              </a:path>
            </a:pathLst>
          </a:custGeom>
          <a:solidFill>
            <a:srgbClr val="F8FAFC"/>
          </a:solidFill>
          <a:ln/>
        </p:spPr>
      </p:sp>
      <p:sp>
        <p:nvSpPr>
          <p:cNvPr id="67" name="Shape 65"/>
          <p:cNvSpPr/>
          <p:nvPr/>
        </p:nvSpPr>
        <p:spPr>
          <a:xfrm>
            <a:off x="4527471" y="4867275"/>
            <a:ext cx="133350" cy="133350"/>
          </a:xfrm>
          <a:custGeom>
            <a:avLst/>
            <a:gdLst/>
            <a:ahLst/>
            <a:cxnLst/>
            <a:rect l="l" t="t" r="r" b="b"/>
            <a:pathLst>
              <a:path w="133350" h="133350">
                <a:moveTo>
                  <a:pt x="55918" y="182"/>
                </a:moveTo>
                <a:cubicBezTo>
                  <a:pt x="60424" y="1146"/>
                  <a:pt x="63289" y="5574"/>
                  <a:pt x="62325" y="10079"/>
                </a:cubicBezTo>
                <a:lnTo>
                  <a:pt x="57351" y="33337"/>
                </a:lnTo>
                <a:lnTo>
                  <a:pt x="90298" y="33337"/>
                </a:lnTo>
                <a:lnTo>
                  <a:pt x="96028" y="6589"/>
                </a:lnTo>
                <a:cubicBezTo>
                  <a:pt x="96991" y="2084"/>
                  <a:pt x="101419" y="-781"/>
                  <a:pt x="105925" y="182"/>
                </a:cubicBezTo>
                <a:cubicBezTo>
                  <a:pt x="110430" y="1146"/>
                  <a:pt x="113295" y="5574"/>
                  <a:pt x="112332" y="10079"/>
                </a:cubicBezTo>
                <a:lnTo>
                  <a:pt x="107357" y="33337"/>
                </a:lnTo>
                <a:lnTo>
                  <a:pt x="125016" y="33337"/>
                </a:lnTo>
                <a:cubicBezTo>
                  <a:pt x="129626" y="33337"/>
                  <a:pt x="133350" y="37062"/>
                  <a:pt x="133350" y="41672"/>
                </a:cubicBezTo>
                <a:cubicBezTo>
                  <a:pt x="133350" y="46282"/>
                  <a:pt x="129626" y="50006"/>
                  <a:pt x="125016" y="50006"/>
                </a:cubicBezTo>
                <a:lnTo>
                  <a:pt x="103763" y="50006"/>
                </a:lnTo>
                <a:lnTo>
                  <a:pt x="96627" y="83344"/>
                </a:lnTo>
                <a:lnTo>
                  <a:pt x="114285" y="83344"/>
                </a:lnTo>
                <a:cubicBezTo>
                  <a:pt x="118895" y="83344"/>
                  <a:pt x="122619" y="87068"/>
                  <a:pt x="122619" y="91678"/>
                </a:cubicBezTo>
                <a:cubicBezTo>
                  <a:pt x="122619" y="96288"/>
                  <a:pt x="118895" y="100013"/>
                  <a:pt x="114285" y="100013"/>
                </a:cubicBezTo>
                <a:lnTo>
                  <a:pt x="93032" y="100013"/>
                </a:lnTo>
                <a:lnTo>
                  <a:pt x="87303" y="126761"/>
                </a:lnTo>
                <a:cubicBezTo>
                  <a:pt x="86339" y="131266"/>
                  <a:pt x="81911" y="134131"/>
                  <a:pt x="77406" y="133168"/>
                </a:cubicBezTo>
                <a:cubicBezTo>
                  <a:pt x="72900" y="132204"/>
                  <a:pt x="70035" y="127776"/>
                  <a:pt x="70998" y="123271"/>
                </a:cubicBezTo>
                <a:lnTo>
                  <a:pt x="75973" y="100013"/>
                </a:lnTo>
                <a:lnTo>
                  <a:pt x="43026" y="100013"/>
                </a:lnTo>
                <a:lnTo>
                  <a:pt x="37296" y="126761"/>
                </a:lnTo>
                <a:cubicBezTo>
                  <a:pt x="36333" y="131266"/>
                  <a:pt x="31905" y="134131"/>
                  <a:pt x="27399" y="133168"/>
                </a:cubicBezTo>
                <a:cubicBezTo>
                  <a:pt x="22893" y="132204"/>
                  <a:pt x="20029" y="127776"/>
                  <a:pt x="20992" y="123271"/>
                </a:cubicBezTo>
                <a:lnTo>
                  <a:pt x="25993" y="100013"/>
                </a:lnTo>
                <a:lnTo>
                  <a:pt x="8334" y="100013"/>
                </a:lnTo>
                <a:cubicBezTo>
                  <a:pt x="3724" y="100013"/>
                  <a:pt x="0" y="96288"/>
                  <a:pt x="0" y="91678"/>
                </a:cubicBezTo>
                <a:cubicBezTo>
                  <a:pt x="0" y="87068"/>
                  <a:pt x="3724" y="83344"/>
                  <a:pt x="8334" y="83344"/>
                </a:cubicBezTo>
                <a:lnTo>
                  <a:pt x="29587" y="83344"/>
                </a:lnTo>
                <a:lnTo>
                  <a:pt x="36723" y="50006"/>
                </a:lnTo>
                <a:lnTo>
                  <a:pt x="19065" y="50006"/>
                </a:lnTo>
                <a:cubicBezTo>
                  <a:pt x="14455" y="50006"/>
                  <a:pt x="10731" y="46282"/>
                  <a:pt x="10731" y="41672"/>
                </a:cubicBezTo>
                <a:cubicBezTo>
                  <a:pt x="10731" y="37062"/>
                  <a:pt x="14455" y="33337"/>
                  <a:pt x="19065" y="33337"/>
                </a:cubicBezTo>
                <a:lnTo>
                  <a:pt x="40318" y="33337"/>
                </a:lnTo>
                <a:lnTo>
                  <a:pt x="46047" y="6589"/>
                </a:lnTo>
                <a:cubicBezTo>
                  <a:pt x="46985" y="2084"/>
                  <a:pt x="51413" y="-781"/>
                  <a:pt x="55918" y="182"/>
                </a:cubicBezTo>
                <a:close/>
                <a:moveTo>
                  <a:pt x="53757" y="50006"/>
                </a:moveTo>
                <a:lnTo>
                  <a:pt x="46620" y="83344"/>
                </a:lnTo>
                <a:lnTo>
                  <a:pt x="79567" y="83344"/>
                </a:lnTo>
                <a:lnTo>
                  <a:pt x="86704" y="50006"/>
                </a:lnTo>
                <a:lnTo>
                  <a:pt x="53757" y="50006"/>
                </a:lnTo>
                <a:close/>
              </a:path>
            </a:pathLst>
          </a:custGeom>
          <a:solidFill>
            <a:srgbClr val="10B981"/>
          </a:solidFill>
          <a:ln/>
        </p:spPr>
      </p:sp>
      <p:sp>
        <p:nvSpPr>
          <p:cNvPr id="68" name="Text 66"/>
          <p:cNvSpPr/>
          <p:nvPr/>
        </p:nvSpPr>
        <p:spPr>
          <a:xfrm>
            <a:off x="4751308" y="4838700"/>
            <a:ext cx="1390650" cy="190500"/>
          </a:xfrm>
          <a:prstGeom prst="rect">
            <a:avLst/>
          </a:prstGeom>
          <a:noFill/>
          <a:ln/>
        </p:spPr>
        <p:txBody>
          <a:bodyPr wrap="square" lIns="0" tIns="0" rIns="0" bIns="0" rtlCol="0" anchor="ctr"/>
          <a:lstStyle/>
          <a:p>
            <a:pPr>
              <a:lnSpc>
                <a:spcPct val="120000"/>
              </a:lnSpc>
            </a:pPr>
            <a:r>
              <a:rPr lang="en-US" sz="1050" dirty="0">
                <a:solidFill>
                  <a:srgbClr val="1E293B"/>
                </a:solidFill>
                <a:latin typeface="Quattrocento Sans" pitchFamily="34" charset="0"/>
                <a:ea typeface="Quattrocento Sans" pitchFamily="34" charset="-122"/>
                <a:cs typeface="Quattrocento Sans" pitchFamily="34" charset="-120"/>
              </a:rPr>
              <a:t>Transaction ID tracking</a:t>
            </a:r>
            <a:endParaRPr lang="en-US" sz="1600" dirty="0"/>
          </a:p>
        </p:txBody>
      </p:sp>
      <p:sp>
        <p:nvSpPr>
          <p:cNvPr id="69" name="Shape 67"/>
          <p:cNvSpPr/>
          <p:nvPr/>
        </p:nvSpPr>
        <p:spPr>
          <a:xfrm>
            <a:off x="4432221" y="5181600"/>
            <a:ext cx="3324225" cy="342900"/>
          </a:xfrm>
          <a:custGeom>
            <a:avLst/>
            <a:gdLst/>
            <a:ahLst/>
            <a:cxnLst/>
            <a:rect l="l" t="t" r="r" b="b"/>
            <a:pathLst>
              <a:path w="3324225" h="342900">
                <a:moveTo>
                  <a:pt x="76199" y="0"/>
                </a:moveTo>
                <a:lnTo>
                  <a:pt x="3248026" y="0"/>
                </a:lnTo>
                <a:cubicBezTo>
                  <a:pt x="3290109" y="0"/>
                  <a:pt x="3324225" y="34116"/>
                  <a:pt x="3324225" y="76199"/>
                </a:cubicBezTo>
                <a:lnTo>
                  <a:pt x="3324225" y="266701"/>
                </a:lnTo>
                <a:cubicBezTo>
                  <a:pt x="3324225" y="308784"/>
                  <a:pt x="3290109" y="342900"/>
                  <a:pt x="3248026" y="342900"/>
                </a:cubicBezTo>
                <a:lnTo>
                  <a:pt x="76199" y="342900"/>
                </a:lnTo>
                <a:cubicBezTo>
                  <a:pt x="34144" y="342900"/>
                  <a:pt x="0" y="308756"/>
                  <a:pt x="0" y="266701"/>
                </a:cubicBezTo>
                <a:lnTo>
                  <a:pt x="0" y="76199"/>
                </a:lnTo>
                <a:cubicBezTo>
                  <a:pt x="0" y="34144"/>
                  <a:pt x="34144" y="0"/>
                  <a:pt x="76199" y="0"/>
                </a:cubicBezTo>
                <a:close/>
              </a:path>
            </a:pathLst>
          </a:custGeom>
          <a:solidFill>
            <a:srgbClr val="F8FAFC"/>
          </a:solidFill>
          <a:ln/>
        </p:spPr>
      </p:sp>
      <p:sp>
        <p:nvSpPr>
          <p:cNvPr id="70" name="Shape 68"/>
          <p:cNvSpPr/>
          <p:nvPr/>
        </p:nvSpPr>
        <p:spPr>
          <a:xfrm>
            <a:off x="4519136" y="5286375"/>
            <a:ext cx="150019" cy="133350"/>
          </a:xfrm>
          <a:custGeom>
            <a:avLst/>
            <a:gdLst/>
            <a:ahLst/>
            <a:cxnLst/>
            <a:rect l="l" t="t" r="r" b="b"/>
            <a:pathLst>
              <a:path w="150019" h="133350">
                <a:moveTo>
                  <a:pt x="133454" y="62508"/>
                </a:moveTo>
                <a:lnTo>
                  <a:pt x="87615" y="62508"/>
                </a:lnTo>
                <a:cubicBezTo>
                  <a:pt x="83005" y="62508"/>
                  <a:pt x="79281" y="58783"/>
                  <a:pt x="79281" y="54173"/>
                </a:cubicBezTo>
                <a:lnTo>
                  <a:pt x="79281" y="8334"/>
                </a:lnTo>
                <a:cubicBezTo>
                  <a:pt x="79281" y="3724"/>
                  <a:pt x="83031" y="-52"/>
                  <a:pt x="87589" y="547"/>
                </a:cubicBezTo>
                <a:cubicBezTo>
                  <a:pt x="115457" y="4245"/>
                  <a:pt x="137543" y="26331"/>
                  <a:pt x="141242" y="54199"/>
                </a:cubicBezTo>
                <a:cubicBezTo>
                  <a:pt x="141841" y="58757"/>
                  <a:pt x="138064" y="62508"/>
                  <a:pt x="133454" y="62508"/>
                </a:cubicBezTo>
                <a:close/>
                <a:moveTo>
                  <a:pt x="57976" y="9689"/>
                </a:moveTo>
                <a:cubicBezTo>
                  <a:pt x="62690" y="8699"/>
                  <a:pt x="66779" y="12554"/>
                  <a:pt x="66779" y="17372"/>
                </a:cubicBezTo>
                <a:lnTo>
                  <a:pt x="66779" y="68759"/>
                </a:lnTo>
                <a:cubicBezTo>
                  <a:pt x="66779" y="70217"/>
                  <a:pt x="67300" y="71624"/>
                  <a:pt x="68212" y="72743"/>
                </a:cubicBezTo>
                <a:lnTo>
                  <a:pt x="102617" y="114259"/>
                </a:lnTo>
                <a:cubicBezTo>
                  <a:pt x="105664" y="117931"/>
                  <a:pt x="105013" y="123479"/>
                  <a:pt x="100820" y="125745"/>
                </a:cubicBezTo>
                <a:cubicBezTo>
                  <a:pt x="91939" y="130589"/>
                  <a:pt x="81755" y="133350"/>
                  <a:pt x="70946" y="133350"/>
                </a:cubicBezTo>
                <a:cubicBezTo>
                  <a:pt x="36437" y="133350"/>
                  <a:pt x="8439" y="105352"/>
                  <a:pt x="8439" y="70842"/>
                </a:cubicBezTo>
                <a:cubicBezTo>
                  <a:pt x="8439" y="40760"/>
                  <a:pt x="29665" y="15653"/>
                  <a:pt x="57976" y="9689"/>
                </a:cubicBezTo>
                <a:close/>
                <a:moveTo>
                  <a:pt x="124443" y="75009"/>
                </a:moveTo>
                <a:lnTo>
                  <a:pt x="141111" y="75009"/>
                </a:lnTo>
                <a:cubicBezTo>
                  <a:pt x="145930" y="75009"/>
                  <a:pt x="149784" y="79098"/>
                  <a:pt x="148795" y="83813"/>
                </a:cubicBezTo>
                <a:cubicBezTo>
                  <a:pt x="146138" y="96418"/>
                  <a:pt x="139679" y="107618"/>
                  <a:pt x="130667" y="116160"/>
                </a:cubicBezTo>
                <a:cubicBezTo>
                  <a:pt x="127464" y="119208"/>
                  <a:pt x="122437" y="118556"/>
                  <a:pt x="119624" y="115145"/>
                </a:cubicBezTo>
                <a:lnTo>
                  <a:pt x="97642" y="88657"/>
                </a:lnTo>
                <a:cubicBezTo>
                  <a:pt x="93137" y="83214"/>
                  <a:pt x="97017" y="75009"/>
                  <a:pt x="104049" y="75009"/>
                </a:cubicBezTo>
                <a:lnTo>
                  <a:pt x="124417" y="75009"/>
                </a:lnTo>
                <a:close/>
              </a:path>
            </a:pathLst>
          </a:custGeom>
          <a:solidFill>
            <a:srgbClr val="10B981"/>
          </a:solidFill>
          <a:ln/>
        </p:spPr>
      </p:sp>
      <p:sp>
        <p:nvSpPr>
          <p:cNvPr id="71" name="Text 69"/>
          <p:cNvSpPr/>
          <p:nvPr/>
        </p:nvSpPr>
        <p:spPr>
          <a:xfrm>
            <a:off x="4751308" y="5257800"/>
            <a:ext cx="1428750" cy="190500"/>
          </a:xfrm>
          <a:prstGeom prst="rect">
            <a:avLst/>
          </a:prstGeom>
          <a:noFill/>
          <a:ln/>
        </p:spPr>
        <p:txBody>
          <a:bodyPr wrap="square" lIns="0" tIns="0" rIns="0" bIns="0" rtlCol="0" anchor="ctr"/>
          <a:lstStyle/>
          <a:p>
            <a:pPr>
              <a:lnSpc>
                <a:spcPct val="120000"/>
              </a:lnSpc>
            </a:pPr>
            <a:r>
              <a:rPr lang="en-US" sz="1050" dirty="0">
                <a:solidFill>
                  <a:srgbClr val="1E293B"/>
                </a:solidFill>
                <a:latin typeface="Quattrocento Sans" pitchFamily="34" charset="0"/>
                <a:ea typeface="Quattrocento Sans" pitchFamily="34" charset="-122"/>
                <a:cs typeface="Quattrocento Sans" pitchFamily="34" charset="-120"/>
              </a:rPr>
              <a:t>Payment status tracking</a:t>
            </a:r>
            <a:endParaRPr lang="en-US" sz="1600" dirty="0"/>
          </a:p>
        </p:txBody>
      </p:sp>
      <p:sp>
        <p:nvSpPr>
          <p:cNvPr id="72" name="Shape 70"/>
          <p:cNvSpPr/>
          <p:nvPr/>
        </p:nvSpPr>
        <p:spPr>
          <a:xfrm>
            <a:off x="4432221" y="5600700"/>
            <a:ext cx="3324225" cy="342900"/>
          </a:xfrm>
          <a:custGeom>
            <a:avLst/>
            <a:gdLst/>
            <a:ahLst/>
            <a:cxnLst/>
            <a:rect l="l" t="t" r="r" b="b"/>
            <a:pathLst>
              <a:path w="3324225" h="342900">
                <a:moveTo>
                  <a:pt x="76199" y="0"/>
                </a:moveTo>
                <a:lnTo>
                  <a:pt x="3248026" y="0"/>
                </a:lnTo>
                <a:cubicBezTo>
                  <a:pt x="3290109" y="0"/>
                  <a:pt x="3324225" y="34116"/>
                  <a:pt x="3324225" y="76199"/>
                </a:cubicBezTo>
                <a:lnTo>
                  <a:pt x="3324225" y="266701"/>
                </a:lnTo>
                <a:cubicBezTo>
                  <a:pt x="3324225" y="308784"/>
                  <a:pt x="3290109" y="342900"/>
                  <a:pt x="3248026" y="342900"/>
                </a:cubicBezTo>
                <a:lnTo>
                  <a:pt x="76199" y="342900"/>
                </a:lnTo>
                <a:cubicBezTo>
                  <a:pt x="34144" y="342900"/>
                  <a:pt x="0" y="308756"/>
                  <a:pt x="0" y="266701"/>
                </a:cubicBezTo>
                <a:lnTo>
                  <a:pt x="0" y="76199"/>
                </a:lnTo>
                <a:cubicBezTo>
                  <a:pt x="0" y="34144"/>
                  <a:pt x="34144" y="0"/>
                  <a:pt x="76199" y="0"/>
                </a:cubicBezTo>
                <a:close/>
              </a:path>
            </a:pathLst>
          </a:custGeom>
          <a:solidFill>
            <a:srgbClr val="F8FAFC"/>
          </a:solidFill>
          <a:ln/>
        </p:spPr>
      </p:sp>
      <p:sp>
        <p:nvSpPr>
          <p:cNvPr id="73" name="Shape 71"/>
          <p:cNvSpPr/>
          <p:nvPr/>
        </p:nvSpPr>
        <p:spPr>
          <a:xfrm>
            <a:off x="4519136" y="5705475"/>
            <a:ext cx="150019" cy="133350"/>
          </a:xfrm>
          <a:custGeom>
            <a:avLst/>
            <a:gdLst/>
            <a:ahLst/>
            <a:cxnLst/>
            <a:rect l="l" t="t" r="r" b="b"/>
            <a:pathLst>
              <a:path w="150019" h="133350">
                <a:moveTo>
                  <a:pt x="75009" y="16669"/>
                </a:moveTo>
                <a:cubicBezTo>
                  <a:pt x="102617" y="16669"/>
                  <a:pt x="125016" y="39067"/>
                  <a:pt x="125016" y="66675"/>
                </a:cubicBezTo>
                <a:cubicBezTo>
                  <a:pt x="125016" y="94283"/>
                  <a:pt x="102617" y="116681"/>
                  <a:pt x="75009" y="116681"/>
                </a:cubicBezTo>
                <a:cubicBezTo>
                  <a:pt x="58028" y="116681"/>
                  <a:pt x="43000" y="108217"/>
                  <a:pt x="33963" y="95246"/>
                </a:cubicBezTo>
                <a:cubicBezTo>
                  <a:pt x="31332" y="91470"/>
                  <a:pt x="26123" y="90558"/>
                  <a:pt x="22347" y="93189"/>
                </a:cubicBezTo>
                <a:cubicBezTo>
                  <a:pt x="18570" y="95819"/>
                  <a:pt x="17658" y="101028"/>
                  <a:pt x="20289" y="104805"/>
                </a:cubicBezTo>
                <a:cubicBezTo>
                  <a:pt x="32322" y="122047"/>
                  <a:pt x="52350" y="133350"/>
                  <a:pt x="75009" y="133350"/>
                </a:cubicBezTo>
                <a:cubicBezTo>
                  <a:pt x="111837" y="133350"/>
                  <a:pt x="141684" y="103503"/>
                  <a:pt x="141684" y="66675"/>
                </a:cubicBezTo>
                <a:cubicBezTo>
                  <a:pt x="141684" y="29847"/>
                  <a:pt x="111837" y="0"/>
                  <a:pt x="75009" y="0"/>
                </a:cubicBezTo>
                <a:cubicBezTo>
                  <a:pt x="52689" y="0"/>
                  <a:pt x="32947" y="10965"/>
                  <a:pt x="20836" y="27790"/>
                </a:cubicBezTo>
                <a:lnTo>
                  <a:pt x="20836" y="20836"/>
                </a:lnTo>
                <a:cubicBezTo>
                  <a:pt x="20836" y="16226"/>
                  <a:pt x="17112" y="12502"/>
                  <a:pt x="12502" y="12502"/>
                </a:cubicBezTo>
                <a:cubicBezTo>
                  <a:pt x="7892" y="12502"/>
                  <a:pt x="4167" y="16226"/>
                  <a:pt x="4167" y="20836"/>
                </a:cubicBezTo>
                <a:lnTo>
                  <a:pt x="4167" y="50006"/>
                </a:lnTo>
                <a:cubicBezTo>
                  <a:pt x="4167" y="54616"/>
                  <a:pt x="7892" y="58341"/>
                  <a:pt x="12502" y="58341"/>
                </a:cubicBezTo>
                <a:lnTo>
                  <a:pt x="18909" y="58341"/>
                </a:lnTo>
                <a:cubicBezTo>
                  <a:pt x="19039" y="58341"/>
                  <a:pt x="19169" y="58341"/>
                  <a:pt x="19299" y="58341"/>
                </a:cubicBezTo>
                <a:lnTo>
                  <a:pt x="41698" y="58341"/>
                </a:lnTo>
                <a:cubicBezTo>
                  <a:pt x="46308" y="58341"/>
                  <a:pt x="50032" y="54616"/>
                  <a:pt x="50032" y="50006"/>
                </a:cubicBezTo>
                <a:cubicBezTo>
                  <a:pt x="50032" y="45396"/>
                  <a:pt x="46308" y="41672"/>
                  <a:pt x="41698" y="41672"/>
                </a:cubicBezTo>
                <a:lnTo>
                  <a:pt x="31723" y="41672"/>
                </a:lnTo>
                <a:cubicBezTo>
                  <a:pt x="40344" y="26722"/>
                  <a:pt x="56517" y="16669"/>
                  <a:pt x="75009" y="16669"/>
                </a:cubicBezTo>
                <a:close/>
                <a:moveTo>
                  <a:pt x="81260" y="39588"/>
                </a:moveTo>
                <a:cubicBezTo>
                  <a:pt x="81260" y="36124"/>
                  <a:pt x="78473" y="33337"/>
                  <a:pt x="75009" y="33337"/>
                </a:cubicBezTo>
                <a:cubicBezTo>
                  <a:pt x="71545" y="33337"/>
                  <a:pt x="68759" y="36124"/>
                  <a:pt x="68759" y="39588"/>
                </a:cubicBezTo>
                <a:lnTo>
                  <a:pt x="68759" y="66675"/>
                </a:lnTo>
                <a:cubicBezTo>
                  <a:pt x="68759" y="68342"/>
                  <a:pt x="69410" y="69931"/>
                  <a:pt x="70582" y="71103"/>
                </a:cubicBezTo>
                <a:lnTo>
                  <a:pt x="89334" y="89855"/>
                </a:lnTo>
                <a:cubicBezTo>
                  <a:pt x="91782" y="92303"/>
                  <a:pt x="95741" y="92303"/>
                  <a:pt x="98163" y="89855"/>
                </a:cubicBezTo>
                <a:cubicBezTo>
                  <a:pt x="100585" y="87407"/>
                  <a:pt x="100612" y="83448"/>
                  <a:pt x="98163" y="81026"/>
                </a:cubicBezTo>
                <a:lnTo>
                  <a:pt x="81234" y="64097"/>
                </a:lnTo>
                <a:lnTo>
                  <a:pt x="81234" y="39588"/>
                </a:lnTo>
                <a:close/>
              </a:path>
            </a:pathLst>
          </a:custGeom>
          <a:solidFill>
            <a:srgbClr val="10B981"/>
          </a:solidFill>
          <a:ln/>
        </p:spPr>
      </p:sp>
      <p:sp>
        <p:nvSpPr>
          <p:cNvPr id="74" name="Text 72"/>
          <p:cNvSpPr/>
          <p:nvPr/>
        </p:nvSpPr>
        <p:spPr>
          <a:xfrm>
            <a:off x="4751308" y="5676900"/>
            <a:ext cx="1266825" cy="190500"/>
          </a:xfrm>
          <a:prstGeom prst="rect">
            <a:avLst/>
          </a:prstGeom>
          <a:noFill/>
          <a:ln/>
        </p:spPr>
        <p:txBody>
          <a:bodyPr wrap="square" lIns="0" tIns="0" rIns="0" bIns="0" rtlCol="0" anchor="ctr"/>
          <a:lstStyle/>
          <a:p>
            <a:pPr>
              <a:lnSpc>
                <a:spcPct val="120000"/>
              </a:lnSpc>
            </a:pPr>
            <a:r>
              <a:rPr lang="en-US" sz="1050" dirty="0">
                <a:solidFill>
                  <a:srgbClr val="1E293B"/>
                </a:solidFill>
                <a:latin typeface="Quattrocento Sans" pitchFamily="34" charset="0"/>
                <a:ea typeface="Quattrocento Sans" pitchFamily="34" charset="-122"/>
                <a:cs typeface="Quattrocento Sans" pitchFamily="34" charset="-120"/>
              </a:rPr>
              <a:t>Refund management</a:t>
            </a:r>
            <a:endParaRPr lang="en-US" sz="1600" dirty="0"/>
          </a:p>
        </p:txBody>
      </p:sp>
      <p:sp>
        <p:nvSpPr>
          <p:cNvPr id="75" name="Shape 73"/>
          <p:cNvSpPr/>
          <p:nvPr/>
        </p:nvSpPr>
        <p:spPr>
          <a:xfrm>
            <a:off x="8102561" y="4019550"/>
            <a:ext cx="3705225" cy="2457450"/>
          </a:xfrm>
          <a:custGeom>
            <a:avLst/>
            <a:gdLst/>
            <a:ahLst/>
            <a:cxnLst/>
            <a:rect l="l" t="t" r="r" b="b"/>
            <a:pathLst>
              <a:path w="3705225" h="2457450">
                <a:moveTo>
                  <a:pt x="38100" y="0"/>
                </a:moveTo>
                <a:lnTo>
                  <a:pt x="3667125" y="0"/>
                </a:lnTo>
                <a:cubicBezTo>
                  <a:pt x="3688153" y="0"/>
                  <a:pt x="3705225" y="17072"/>
                  <a:pt x="3705225" y="38100"/>
                </a:cubicBezTo>
                <a:lnTo>
                  <a:pt x="3705225" y="2343154"/>
                </a:lnTo>
                <a:cubicBezTo>
                  <a:pt x="3705225" y="2406278"/>
                  <a:pt x="3654053" y="2457450"/>
                  <a:pt x="3590929" y="2457450"/>
                </a:cubicBezTo>
                <a:lnTo>
                  <a:pt x="114296" y="2457450"/>
                </a:lnTo>
                <a:cubicBezTo>
                  <a:pt x="51172" y="2457450"/>
                  <a:pt x="0" y="2406278"/>
                  <a:pt x="0" y="2343154"/>
                </a:cubicBezTo>
                <a:lnTo>
                  <a:pt x="0" y="38100"/>
                </a:lnTo>
                <a:cubicBezTo>
                  <a:pt x="0" y="17072"/>
                  <a:pt x="17072" y="0"/>
                  <a:pt x="38100" y="0"/>
                </a:cubicBezTo>
                <a:close/>
              </a:path>
            </a:pathLst>
          </a:custGeom>
          <a:solidFill>
            <a:srgbClr val="FFFFFF"/>
          </a:solidFill>
          <a:ln/>
          <a:effectLst>
            <a:outerShdw blurRad="57150" dist="38100" dir="5400000" algn="bl" rotWithShape="0">
              <a:srgbClr val="000000">
                <a:alpha val="10196"/>
              </a:srgbClr>
            </a:outerShdw>
          </a:effectLst>
        </p:spPr>
      </p:sp>
      <p:sp>
        <p:nvSpPr>
          <p:cNvPr id="76" name="Shape 74"/>
          <p:cNvSpPr/>
          <p:nvPr/>
        </p:nvSpPr>
        <p:spPr>
          <a:xfrm>
            <a:off x="8102561" y="4019550"/>
            <a:ext cx="3705225" cy="38100"/>
          </a:xfrm>
          <a:custGeom>
            <a:avLst/>
            <a:gdLst/>
            <a:ahLst/>
            <a:cxnLst/>
            <a:rect l="l" t="t" r="r" b="b"/>
            <a:pathLst>
              <a:path w="3705225" h="38100">
                <a:moveTo>
                  <a:pt x="38100" y="0"/>
                </a:moveTo>
                <a:lnTo>
                  <a:pt x="3667125" y="0"/>
                </a:lnTo>
                <a:cubicBezTo>
                  <a:pt x="3688153" y="0"/>
                  <a:pt x="3705225" y="17072"/>
                  <a:pt x="3705225" y="38100"/>
                </a:cubicBezTo>
                <a:lnTo>
                  <a:pt x="3705225" y="38100"/>
                </a:lnTo>
                <a:lnTo>
                  <a:pt x="0" y="38100"/>
                </a:lnTo>
                <a:lnTo>
                  <a:pt x="0" y="38100"/>
                </a:lnTo>
                <a:cubicBezTo>
                  <a:pt x="0" y="17072"/>
                  <a:pt x="17072" y="0"/>
                  <a:pt x="38100" y="0"/>
                </a:cubicBezTo>
                <a:close/>
              </a:path>
            </a:pathLst>
          </a:custGeom>
          <a:solidFill>
            <a:srgbClr val="1E3A5F"/>
          </a:solidFill>
          <a:ln/>
        </p:spPr>
      </p:sp>
      <p:sp>
        <p:nvSpPr>
          <p:cNvPr id="77" name="Shape 75"/>
          <p:cNvSpPr/>
          <p:nvPr/>
        </p:nvSpPr>
        <p:spPr>
          <a:xfrm>
            <a:off x="8293061" y="42291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1E3A5F">
              <a:alpha val="10196"/>
            </a:srgbClr>
          </a:solidFill>
          <a:ln/>
        </p:spPr>
      </p:sp>
      <p:sp>
        <p:nvSpPr>
          <p:cNvPr id="78" name="Shape 76"/>
          <p:cNvSpPr/>
          <p:nvPr/>
        </p:nvSpPr>
        <p:spPr>
          <a:xfrm>
            <a:off x="8421648" y="4333875"/>
            <a:ext cx="128588" cy="171450"/>
          </a:xfrm>
          <a:custGeom>
            <a:avLst/>
            <a:gdLst/>
            <a:ahLst/>
            <a:cxnLst/>
            <a:rect l="l" t="t" r="r" b="b"/>
            <a:pathLst>
              <a:path w="128588" h="171450">
                <a:moveTo>
                  <a:pt x="0" y="21431"/>
                </a:moveTo>
                <a:cubicBezTo>
                  <a:pt x="0" y="9611"/>
                  <a:pt x="9611" y="0"/>
                  <a:pt x="21431" y="0"/>
                </a:cubicBezTo>
                <a:lnTo>
                  <a:pt x="71493" y="0"/>
                </a:lnTo>
                <a:cubicBezTo>
                  <a:pt x="77186" y="0"/>
                  <a:pt x="82644" y="2244"/>
                  <a:pt x="86663" y="6262"/>
                </a:cubicBezTo>
                <a:lnTo>
                  <a:pt x="122326" y="41958"/>
                </a:lnTo>
                <a:cubicBezTo>
                  <a:pt x="126344" y="45977"/>
                  <a:pt x="128588" y="51435"/>
                  <a:pt x="128588" y="57128"/>
                </a:cubicBezTo>
                <a:lnTo>
                  <a:pt x="128588" y="150019"/>
                </a:lnTo>
                <a:cubicBezTo>
                  <a:pt x="128588" y="161839"/>
                  <a:pt x="118977" y="171450"/>
                  <a:pt x="107156" y="171450"/>
                </a:cubicBezTo>
                <a:lnTo>
                  <a:pt x="21431" y="171450"/>
                </a:lnTo>
                <a:cubicBezTo>
                  <a:pt x="9611" y="171450"/>
                  <a:pt x="0" y="161839"/>
                  <a:pt x="0" y="150019"/>
                </a:cubicBezTo>
                <a:lnTo>
                  <a:pt x="0" y="21431"/>
                </a:lnTo>
                <a:close/>
                <a:moveTo>
                  <a:pt x="69652" y="19590"/>
                </a:moveTo>
                <a:lnTo>
                  <a:pt x="69652" y="50899"/>
                </a:lnTo>
                <a:cubicBezTo>
                  <a:pt x="69652" y="55353"/>
                  <a:pt x="73235" y="58936"/>
                  <a:pt x="77688" y="58936"/>
                </a:cubicBezTo>
                <a:lnTo>
                  <a:pt x="108998" y="58936"/>
                </a:lnTo>
                <a:lnTo>
                  <a:pt x="69652" y="19590"/>
                </a:lnTo>
                <a:close/>
                <a:moveTo>
                  <a:pt x="29468" y="64294"/>
                </a:moveTo>
                <a:cubicBezTo>
                  <a:pt x="25014" y="64294"/>
                  <a:pt x="21431" y="67877"/>
                  <a:pt x="21431" y="72330"/>
                </a:cubicBezTo>
                <a:lnTo>
                  <a:pt x="21431" y="120551"/>
                </a:lnTo>
                <a:cubicBezTo>
                  <a:pt x="21431" y="125004"/>
                  <a:pt x="25014" y="128588"/>
                  <a:pt x="29468" y="128588"/>
                </a:cubicBezTo>
                <a:cubicBezTo>
                  <a:pt x="33922" y="128588"/>
                  <a:pt x="37505" y="125004"/>
                  <a:pt x="37505" y="120551"/>
                </a:cubicBezTo>
                <a:lnTo>
                  <a:pt x="37505" y="107156"/>
                </a:lnTo>
                <a:lnTo>
                  <a:pt x="45039" y="107156"/>
                </a:lnTo>
                <a:lnTo>
                  <a:pt x="64595" y="125574"/>
                </a:lnTo>
                <a:lnTo>
                  <a:pt x="53411" y="136155"/>
                </a:lnTo>
                <a:cubicBezTo>
                  <a:pt x="50196" y="139203"/>
                  <a:pt x="50029" y="144293"/>
                  <a:pt x="53109" y="147507"/>
                </a:cubicBezTo>
                <a:cubicBezTo>
                  <a:pt x="56190" y="150722"/>
                  <a:pt x="61246" y="150889"/>
                  <a:pt x="64461" y="147809"/>
                </a:cubicBezTo>
                <a:lnTo>
                  <a:pt x="76315" y="136591"/>
                </a:lnTo>
                <a:lnTo>
                  <a:pt x="88236" y="147809"/>
                </a:lnTo>
                <a:cubicBezTo>
                  <a:pt x="91485" y="150856"/>
                  <a:pt x="96541" y="150688"/>
                  <a:pt x="99588" y="147474"/>
                </a:cubicBezTo>
                <a:cubicBezTo>
                  <a:pt x="102636" y="144259"/>
                  <a:pt x="102468" y="139169"/>
                  <a:pt x="99253" y="136122"/>
                </a:cubicBezTo>
                <a:lnTo>
                  <a:pt x="88002" y="125540"/>
                </a:lnTo>
                <a:lnTo>
                  <a:pt x="99253" y="114892"/>
                </a:lnTo>
                <a:cubicBezTo>
                  <a:pt x="102468" y="111844"/>
                  <a:pt x="102636" y="106754"/>
                  <a:pt x="99555" y="103540"/>
                </a:cubicBezTo>
                <a:cubicBezTo>
                  <a:pt x="96474" y="100325"/>
                  <a:pt x="91418" y="100158"/>
                  <a:pt x="88203" y="103238"/>
                </a:cubicBezTo>
                <a:lnTo>
                  <a:pt x="76248" y="114523"/>
                </a:lnTo>
                <a:lnTo>
                  <a:pt x="62552" y="101631"/>
                </a:lnTo>
                <a:cubicBezTo>
                  <a:pt x="66872" y="97713"/>
                  <a:pt x="69618" y="92054"/>
                  <a:pt x="69618" y="85725"/>
                </a:cubicBezTo>
                <a:cubicBezTo>
                  <a:pt x="69618" y="73904"/>
                  <a:pt x="60008" y="64294"/>
                  <a:pt x="48187" y="64294"/>
                </a:cubicBezTo>
                <a:lnTo>
                  <a:pt x="29434" y="64294"/>
                </a:lnTo>
                <a:close/>
                <a:moveTo>
                  <a:pt x="40184" y="91083"/>
                </a:moveTo>
                <a:lnTo>
                  <a:pt x="37505" y="91083"/>
                </a:lnTo>
                <a:lnTo>
                  <a:pt x="37505" y="80367"/>
                </a:lnTo>
                <a:lnTo>
                  <a:pt x="48220" y="80367"/>
                </a:lnTo>
                <a:cubicBezTo>
                  <a:pt x="51167" y="80367"/>
                  <a:pt x="53578" y="82778"/>
                  <a:pt x="53578" y="85725"/>
                </a:cubicBezTo>
                <a:cubicBezTo>
                  <a:pt x="53578" y="88672"/>
                  <a:pt x="51167" y="91083"/>
                  <a:pt x="48220" y="91083"/>
                </a:cubicBezTo>
                <a:lnTo>
                  <a:pt x="40184" y="91083"/>
                </a:lnTo>
                <a:close/>
              </a:path>
            </a:pathLst>
          </a:custGeom>
          <a:solidFill>
            <a:srgbClr val="1E3A5F"/>
          </a:solidFill>
          <a:ln/>
        </p:spPr>
      </p:sp>
      <p:sp>
        <p:nvSpPr>
          <p:cNvPr id="79" name="Text 77"/>
          <p:cNvSpPr/>
          <p:nvPr/>
        </p:nvSpPr>
        <p:spPr>
          <a:xfrm>
            <a:off x="8788361" y="4286250"/>
            <a:ext cx="1609725" cy="266700"/>
          </a:xfrm>
          <a:prstGeom prst="rect">
            <a:avLst/>
          </a:prstGeom>
          <a:noFill/>
          <a:ln/>
        </p:spPr>
        <p:txBody>
          <a:bodyPr wrap="square" lIns="0" tIns="0" rIns="0" bIns="0" rtlCol="0" anchor="ctr"/>
          <a:lstStyle/>
          <a:p>
            <a:pPr>
              <a:lnSpc>
                <a:spcPct val="130000"/>
              </a:lnSpc>
            </a:pPr>
            <a:r>
              <a:rPr lang="en-US" sz="1350" b="1" dirty="0">
                <a:solidFill>
                  <a:srgbClr val="1E3A5F"/>
                </a:solidFill>
                <a:latin typeface="Liter" pitchFamily="34" charset="0"/>
                <a:ea typeface="Liter" pitchFamily="34" charset="-122"/>
                <a:cs typeface="Liter" pitchFamily="34" charset="-120"/>
              </a:rPr>
              <a:t>Prescription System</a:t>
            </a:r>
            <a:endParaRPr lang="en-US" sz="1600" dirty="0"/>
          </a:p>
        </p:txBody>
      </p:sp>
      <p:sp>
        <p:nvSpPr>
          <p:cNvPr id="80" name="Shape 78"/>
          <p:cNvSpPr/>
          <p:nvPr/>
        </p:nvSpPr>
        <p:spPr>
          <a:xfrm>
            <a:off x="8293061" y="4762500"/>
            <a:ext cx="3324225" cy="342900"/>
          </a:xfrm>
          <a:custGeom>
            <a:avLst/>
            <a:gdLst/>
            <a:ahLst/>
            <a:cxnLst/>
            <a:rect l="l" t="t" r="r" b="b"/>
            <a:pathLst>
              <a:path w="3324225" h="342900">
                <a:moveTo>
                  <a:pt x="76199" y="0"/>
                </a:moveTo>
                <a:lnTo>
                  <a:pt x="3248026" y="0"/>
                </a:lnTo>
                <a:cubicBezTo>
                  <a:pt x="3290109" y="0"/>
                  <a:pt x="3324225" y="34116"/>
                  <a:pt x="3324225" y="76199"/>
                </a:cubicBezTo>
                <a:lnTo>
                  <a:pt x="3324225" y="266701"/>
                </a:lnTo>
                <a:cubicBezTo>
                  <a:pt x="3324225" y="308784"/>
                  <a:pt x="3290109" y="342900"/>
                  <a:pt x="3248026" y="342900"/>
                </a:cubicBezTo>
                <a:lnTo>
                  <a:pt x="76199" y="342900"/>
                </a:lnTo>
                <a:cubicBezTo>
                  <a:pt x="34144" y="342900"/>
                  <a:pt x="0" y="308756"/>
                  <a:pt x="0" y="266701"/>
                </a:cubicBezTo>
                <a:lnTo>
                  <a:pt x="0" y="76199"/>
                </a:lnTo>
                <a:cubicBezTo>
                  <a:pt x="0" y="34144"/>
                  <a:pt x="34144" y="0"/>
                  <a:pt x="76199" y="0"/>
                </a:cubicBezTo>
                <a:close/>
              </a:path>
            </a:pathLst>
          </a:custGeom>
          <a:solidFill>
            <a:srgbClr val="F8FAFC"/>
          </a:solidFill>
          <a:ln/>
        </p:spPr>
      </p:sp>
      <p:sp>
        <p:nvSpPr>
          <p:cNvPr id="81" name="Shape 79"/>
          <p:cNvSpPr/>
          <p:nvPr/>
        </p:nvSpPr>
        <p:spPr>
          <a:xfrm>
            <a:off x="8413314" y="4867275"/>
            <a:ext cx="83344" cy="133350"/>
          </a:xfrm>
          <a:custGeom>
            <a:avLst/>
            <a:gdLst/>
            <a:ahLst/>
            <a:cxnLst/>
            <a:rect l="l" t="t" r="r" b="b"/>
            <a:pathLst>
              <a:path w="83344" h="133350">
                <a:moveTo>
                  <a:pt x="41672" y="0"/>
                </a:moveTo>
                <a:cubicBezTo>
                  <a:pt x="27868" y="0"/>
                  <a:pt x="16669" y="11199"/>
                  <a:pt x="16669" y="25003"/>
                </a:cubicBezTo>
                <a:lnTo>
                  <a:pt x="16669" y="67899"/>
                </a:lnTo>
                <a:cubicBezTo>
                  <a:pt x="8985" y="74749"/>
                  <a:pt x="4167" y="84750"/>
                  <a:pt x="4167" y="95845"/>
                </a:cubicBezTo>
                <a:cubicBezTo>
                  <a:pt x="4167" y="116551"/>
                  <a:pt x="20966" y="133350"/>
                  <a:pt x="41672" y="133350"/>
                </a:cubicBezTo>
                <a:cubicBezTo>
                  <a:pt x="62378" y="133350"/>
                  <a:pt x="79177" y="116551"/>
                  <a:pt x="79177" y="95845"/>
                </a:cubicBezTo>
                <a:cubicBezTo>
                  <a:pt x="79177" y="84750"/>
                  <a:pt x="74358" y="74749"/>
                  <a:pt x="66675" y="67899"/>
                </a:cubicBezTo>
                <a:lnTo>
                  <a:pt x="66675" y="25003"/>
                </a:lnTo>
                <a:cubicBezTo>
                  <a:pt x="66675" y="11199"/>
                  <a:pt x="55476" y="0"/>
                  <a:pt x="41672" y="0"/>
                </a:cubicBezTo>
                <a:close/>
                <a:moveTo>
                  <a:pt x="58341" y="95845"/>
                </a:moveTo>
                <a:cubicBezTo>
                  <a:pt x="58341" y="105039"/>
                  <a:pt x="50866" y="112514"/>
                  <a:pt x="41672" y="112514"/>
                </a:cubicBezTo>
                <a:cubicBezTo>
                  <a:pt x="32478" y="112514"/>
                  <a:pt x="25003" y="105039"/>
                  <a:pt x="25003" y="95845"/>
                </a:cubicBezTo>
                <a:cubicBezTo>
                  <a:pt x="25003" y="88839"/>
                  <a:pt x="29301" y="82849"/>
                  <a:pt x="35421" y="80401"/>
                </a:cubicBezTo>
                <a:lnTo>
                  <a:pt x="35421" y="56257"/>
                </a:lnTo>
                <a:cubicBezTo>
                  <a:pt x="35421" y="52793"/>
                  <a:pt x="38208" y="50006"/>
                  <a:pt x="41672" y="50006"/>
                </a:cubicBezTo>
                <a:cubicBezTo>
                  <a:pt x="45136" y="50006"/>
                  <a:pt x="47923" y="52793"/>
                  <a:pt x="47923" y="56257"/>
                </a:cubicBezTo>
                <a:lnTo>
                  <a:pt x="47923" y="80401"/>
                </a:lnTo>
                <a:cubicBezTo>
                  <a:pt x="54043" y="82875"/>
                  <a:pt x="58341" y="88865"/>
                  <a:pt x="58341" y="95845"/>
                </a:cubicBezTo>
                <a:close/>
              </a:path>
            </a:pathLst>
          </a:custGeom>
          <a:solidFill>
            <a:srgbClr val="1E3A5F"/>
          </a:solidFill>
          <a:ln/>
        </p:spPr>
      </p:sp>
      <p:sp>
        <p:nvSpPr>
          <p:cNvPr id="82" name="Text 80"/>
          <p:cNvSpPr/>
          <p:nvPr/>
        </p:nvSpPr>
        <p:spPr>
          <a:xfrm>
            <a:off x="8612148" y="4838700"/>
            <a:ext cx="1381125" cy="190500"/>
          </a:xfrm>
          <a:prstGeom prst="rect">
            <a:avLst/>
          </a:prstGeom>
          <a:noFill/>
          <a:ln/>
        </p:spPr>
        <p:txBody>
          <a:bodyPr wrap="square" lIns="0" tIns="0" rIns="0" bIns="0" rtlCol="0" anchor="ctr"/>
          <a:lstStyle/>
          <a:p>
            <a:pPr>
              <a:lnSpc>
                <a:spcPct val="120000"/>
              </a:lnSpc>
            </a:pPr>
            <a:r>
              <a:rPr lang="en-US" sz="1050" dirty="0">
                <a:solidFill>
                  <a:srgbClr val="1E293B"/>
                </a:solidFill>
                <a:latin typeface="Quattrocento Sans" pitchFamily="34" charset="0"/>
                <a:ea typeface="Quattrocento Sans" pitchFamily="34" charset="-122"/>
                <a:cs typeface="Quattrocento Sans" pitchFamily="34" charset="-120"/>
              </a:rPr>
              <a:t>Symptoms &amp; diagnosis</a:t>
            </a:r>
            <a:endParaRPr lang="en-US" sz="1600" dirty="0"/>
          </a:p>
        </p:txBody>
      </p:sp>
      <p:sp>
        <p:nvSpPr>
          <p:cNvPr id="83" name="Shape 81"/>
          <p:cNvSpPr/>
          <p:nvPr/>
        </p:nvSpPr>
        <p:spPr>
          <a:xfrm>
            <a:off x="8293061" y="5181600"/>
            <a:ext cx="3324225" cy="342900"/>
          </a:xfrm>
          <a:custGeom>
            <a:avLst/>
            <a:gdLst/>
            <a:ahLst/>
            <a:cxnLst/>
            <a:rect l="l" t="t" r="r" b="b"/>
            <a:pathLst>
              <a:path w="3324225" h="342900">
                <a:moveTo>
                  <a:pt x="76199" y="0"/>
                </a:moveTo>
                <a:lnTo>
                  <a:pt x="3248026" y="0"/>
                </a:lnTo>
                <a:cubicBezTo>
                  <a:pt x="3290109" y="0"/>
                  <a:pt x="3324225" y="34116"/>
                  <a:pt x="3324225" y="76199"/>
                </a:cubicBezTo>
                <a:lnTo>
                  <a:pt x="3324225" y="266701"/>
                </a:lnTo>
                <a:cubicBezTo>
                  <a:pt x="3324225" y="308784"/>
                  <a:pt x="3290109" y="342900"/>
                  <a:pt x="3248026" y="342900"/>
                </a:cubicBezTo>
                <a:lnTo>
                  <a:pt x="76199" y="342900"/>
                </a:lnTo>
                <a:cubicBezTo>
                  <a:pt x="34144" y="342900"/>
                  <a:pt x="0" y="308756"/>
                  <a:pt x="0" y="266701"/>
                </a:cubicBezTo>
                <a:lnTo>
                  <a:pt x="0" y="76199"/>
                </a:lnTo>
                <a:cubicBezTo>
                  <a:pt x="0" y="34144"/>
                  <a:pt x="34144" y="0"/>
                  <a:pt x="76199" y="0"/>
                </a:cubicBezTo>
                <a:close/>
              </a:path>
            </a:pathLst>
          </a:custGeom>
          <a:solidFill>
            <a:srgbClr val="F8FAFC"/>
          </a:solidFill>
          <a:ln/>
        </p:spPr>
      </p:sp>
      <p:sp>
        <p:nvSpPr>
          <p:cNvPr id="84" name="Shape 82"/>
          <p:cNvSpPr/>
          <p:nvPr/>
        </p:nvSpPr>
        <p:spPr>
          <a:xfrm>
            <a:off x="8388311" y="5286375"/>
            <a:ext cx="133350" cy="133350"/>
          </a:xfrm>
          <a:custGeom>
            <a:avLst/>
            <a:gdLst/>
            <a:ahLst/>
            <a:cxnLst/>
            <a:rect l="l" t="t" r="r" b="b"/>
            <a:pathLst>
              <a:path w="133350" h="133350">
                <a:moveTo>
                  <a:pt x="16669" y="29170"/>
                </a:moveTo>
                <a:cubicBezTo>
                  <a:pt x="16669" y="22268"/>
                  <a:pt x="22268" y="16669"/>
                  <a:pt x="29170" y="16669"/>
                </a:cubicBezTo>
                <a:cubicBezTo>
                  <a:pt x="36072" y="16669"/>
                  <a:pt x="41672" y="22268"/>
                  <a:pt x="41672" y="29170"/>
                </a:cubicBezTo>
                <a:lnTo>
                  <a:pt x="41672" y="58341"/>
                </a:lnTo>
                <a:lnTo>
                  <a:pt x="16669" y="58341"/>
                </a:lnTo>
                <a:lnTo>
                  <a:pt x="16669" y="29170"/>
                </a:lnTo>
                <a:close/>
                <a:moveTo>
                  <a:pt x="45839" y="95845"/>
                </a:moveTo>
                <a:cubicBezTo>
                  <a:pt x="45839" y="83161"/>
                  <a:pt x="50553" y="71571"/>
                  <a:pt x="58341" y="62768"/>
                </a:cubicBezTo>
                <a:lnTo>
                  <a:pt x="58341" y="29170"/>
                </a:lnTo>
                <a:cubicBezTo>
                  <a:pt x="58341" y="13049"/>
                  <a:pt x="45292" y="0"/>
                  <a:pt x="29170" y="0"/>
                </a:cubicBezTo>
                <a:cubicBezTo>
                  <a:pt x="13049" y="0"/>
                  <a:pt x="0" y="13049"/>
                  <a:pt x="0" y="29170"/>
                </a:cubicBezTo>
                <a:lnTo>
                  <a:pt x="0" y="104180"/>
                </a:lnTo>
                <a:cubicBezTo>
                  <a:pt x="0" y="120301"/>
                  <a:pt x="13049" y="133350"/>
                  <a:pt x="29170" y="133350"/>
                </a:cubicBezTo>
                <a:cubicBezTo>
                  <a:pt x="38885" y="133350"/>
                  <a:pt x="47480" y="128610"/>
                  <a:pt x="52793" y="121291"/>
                </a:cubicBezTo>
                <a:cubicBezTo>
                  <a:pt x="48365" y="113842"/>
                  <a:pt x="45839" y="105143"/>
                  <a:pt x="45839" y="95845"/>
                </a:cubicBezTo>
                <a:close/>
                <a:moveTo>
                  <a:pt x="62690" y="113400"/>
                </a:moveTo>
                <a:cubicBezTo>
                  <a:pt x="63888" y="115665"/>
                  <a:pt x="66935" y="115926"/>
                  <a:pt x="68759" y="114103"/>
                </a:cubicBezTo>
                <a:lnTo>
                  <a:pt x="114103" y="68759"/>
                </a:lnTo>
                <a:cubicBezTo>
                  <a:pt x="115926" y="66935"/>
                  <a:pt x="115665" y="63888"/>
                  <a:pt x="113400" y="62690"/>
                </a:cubicBezTo>
                <a:cubicBezTo>
                  <a:pt x="108165" y="59903"/>
                  <a:pt x="102200" y="58341"/>
                  <a:pt x="95845" y="58341"/>
                </a:cubicBezTo>
                <a:cubicBezTo>
                  <a:pt x="75140" y="58341"/>
                  <a:pt x="58341" y="75140"/>
                  <a:pt x="58341" y="95845"/>
                </a:cubicBezTo>
                <a:cubicBezTo>
                  <a:pt x="58341" y="102174"/>
                  <a:pt x="59903" y="108165"/>
                  <a:pt x="62690" y="113400"/>
                </a:cubicBezTo>
                <a:close/>
                <a:moveTo>
                  <a:pt x="77588" y="122932"/>
                </a:moveTo>
                <a:cubicBezTo>
                  <a:pt x="75765" y="124755"/>
                  <a:pt x="76025" y="127802"/>
                  <a:pt x="78291" y="129000"/>
                </a:cubicBezTo>
                <a:cubicBezTo>
                  <a:pt x="83526" y="131787"/>
                  <a:pt x="89490" y="133350"/>
                  <a:pt x="95845" y="133350"/>
                </a:cubicBezTo>
                <a:cubicBezTo>
                  <a:pt x="116551" y="133350"/>
                  <a:pt x="133350" y="116551"/>
                  <a:pt x="133350" y="95845"/>
                </a:cubicBezTo>
                <a:cubicBezTo>
                  <a:pt x="133350" y="89516"/>
                  <a:pt x="131787" y="83526"/>
                  <a:pt x="129000" y="78291"/>
                </a:cubicBezTo>
                <a:cubicBezTo>
                  <a:pt x="127802" y="76025"/>
                  <a:pt x="124755" y="75765"/>
                  <a:pt x="122932" y="77588"/>
                </a:cubicBezTo>
                <a:lnTo>
                  <a:pt x="77588" y="122932"/>
                </a:lnTo>
                <a:close/>
              </a:path>
            </a:pathLst>
          </a:custGeom>
          <a:solidFill>
            <a:srgbClr val="1E3A5F"/>
          </a:solidFill>
          <a:ln/>
        </p:spPr>
      </p:sp>
      <p:sp>
        <p:nvSpPr>
          <p:cNvPr id="85" name="Text 83"/>
          <p:cNvSpPr/>
          <p:nvPr/>
        </p:nvSpPr>
        <p:spPr>
          <a:xfrm>
            <a:off x="8612148" y="5257800"/>
            <a:ext cx="1228725" cy="190500"/>
          </a:xfrm>
          <a:prstGeom prst="rect">
            <a:avLst/>
          </a:prstGeom>
          <a:noFill/>
          <a:ln/>
        </p:spPr>
        <p:txBody>
          <a:bodyPr wrap="square" lIns="0" tIns="0" rIns="0" bIns="0" rtlCol="0" anchor="ctr"/>
          <a:lstStyle/>
          <a:p>
            <a:pPr>
              <a:lnSpc>
                <a:spcPct val="120000"/>
              </a:lnSpc>
            </a:pPr>
            <a:r>
              <a:rPr lang="en-US" sz="1050" dirty="0">
                <a:solidFill>
                  <a:srgbClr val="1E293B"/>
                </a:solidFill>
                <a:latin typeface="Quattrocento Sans" pitchFamily="34" charset="0"/>
                <a:ea typeface="Quattrocento Sans" pitchFamily="34" charset="-122"/>
                <a:cs typeface="Quattrocento Sans" pitchFamily="34" charset="-120"/>
              </a:rPr>
              <a:t>Medicines &amp; dosage</a:t>
            </a:r>
            <a:endParaRPr lang="en-US" sz="1600" dirty="0"/>
          </a:p>
        </p:txBody>
      </p:sp>
      <p:sp>
        <p:nvSpPr>
          <p:cNvPr id="86" name="Shape 84"/>
          <p:cNvSpPr/>
          <p:nvPr/>
        </p:nvSpPr>
        <p:spPr>
          <a:xfrm>
            <a:off x="8293061" y="5600700"/>
            <a:ext cx="3324225" cy="342900"/>
          </a:xfrm>
          <a:custGeom>
            <a:avLst/>
            <a:gdLst/>
            <a:ahLst/>
            <a:cxnLst/>
            <a:rect l="l" t="t" r="r" b="b"/>
            <a:pathLst>
              <a:path w="3324225" h="342900">
                <a:moveTo>
                  <a:pt x="76199" y="0"/>
                </a:moveTo>
                <a:lnTo>
                  <a:pt x="3248026" y="0"/>
                </a:lnTo>
                <a:cubicBezTo>
                  <a:pt x="3290109" y="0"/>
                  <a:pt x="3324225" y="34116"/>
                  <a:pt x="3324225" y="76199"/>
                </a:cubicBezTo>
                <a:lnTo>
                  <a:pt x="3324225" y="266701"/>
                </a:lnTo>
                <a:cubicBezTo>
                  <a:pt x="3324225" y="308784"/>
                  <a:pt x="3290109" y="342900"/>
                  <a:pt x="3248026" y="342900"/>
                </a:cubicBezTo>
                <a:lnTo>
                  <a:pt x="76199" y="342900"/>
                </a:lnTo>
                <a:cubicBezTo>
                  <a:pt x="34144" y="342900"/>
                  <a:pt x="0" y="308756"/>
                  <a:pt x="0" y="266701"/>
                </a:cubicBezTo>
                <a:lnTo>
                  <a:pt x="0" y="76199"/>
                </a:lnTo>
                <a:cubicBezTo>
                  <a:pt x="0" y="34144"/>
                  <a:pt x="34144" y="0"/>
                  <a:pt x="76199" y="0"/>
                </a:cubicBezTo>
                <a:close/>
              </a:path>
            </a:pathLst>
          </a:custGeom>
          <a:solidFill>
            <a:srgbClr val="F8FAFC"/>
          </a:solidFill>
          <a:ln/>
        </p:spPr>
      </p:sp>
      <p:sp>
        <p:nvSpPr>
          <p:cNvPr id="87" name="Shape 85"/>
          <p:cNvSpPr/>
          <p:nvPr/>
        </p:nvSpPr>
        <p:spPr>
          <a:xfrm>
            <a:off x="8388311" y="5705475"/>
            <a:ext cx="133350" cy="133350"/>
          </a:xfrm>
          <a:custGeom>
            <a:avLst/>
            <a:gdLst/>
            <a:ahLst/>
            <a:cxnLst/>
            <a:rect l="l" t="t" r="r" b="b"/>
            <a:pathLst>
              <a:path w="133350" h="133350">
                <a:moveTo>
                  <a:pt x="66675" y="125016"/>
                </a:moveTo>
                <a:cubicBezTo>
                  <a:pt x="103503" y="125016"/>
                  <a:pt x="133350" y="97017"/>
                  <a:pt x="133350" y="62508"/>
                </a:cubicBezTo>
                <a:cubicBezTo>
                  <a:pt x="133350" y="27998"/>
                  <a:pt x="103503" y="0"/>
                  <a:pt x="66675" y="0"/>
                </a:cubicBezTo>
                <a:cubicBezTo>
                  <a:pt x="29847" y="0"/>
                  <a:pt x="0" y="27998"/>
                  <a:pt x="0" y="62508"/>
                </a:cubicBezTo>
                <a:cubicBezTo>
                  <a:pt x="0" y="76650"/>
                  <a:pt x="5001" y="89673"/>
                  <a:pt x="13439" y="100143"/>
                </a:cubicBezTo>
                <a:lnTo>
                  <a:pt x="729" y="124182"/>
                </a:lnTo>
                <a:cubicBezTo>
                  <a:pt x="-521" y="126526"/>
                  <a:pt x="-130" y="129391"/>
                  <a:pt x="1667" y="131345"/>
                </a:cubicBezTo>
                <a:cubicBezTo>
                  <a:pt x="3464" y="133298"/>
                  <a:pt x="6303" y="133897"/>
                  <a:pt x="8725" y="132855"/>
                </a:cubicBezTo>
                <a:lnTo>
                  <a:pt x="39562" y="119650"/>
                </a:lnTo>
                <a:cubicBezTo>
                  <a:pt x="47845" y="123088"/>
                  <a:pt x="57012" y="125016"/>
                  <a:pt x="66675" y="125016"/>
                </a:cubicBezTo>
                <a:close/>
                <a:moveTo>
                  <a:pt x="56674" y="40005"/>
                </a:moveTo>
                <a:cubicBezTo>
                  <a:pt x="56674" y="37244"/>
                  <a:pt x="58914" y="35004"/>
                  <a:pt x="61674" y="35004"/>
                </a:cubicBezTo>
                <a:lnTo>
                  <a:pt x="71676" y="35004"/>
                </a:lnTo>
                <a:cubicBezTo>
                  <a:pt x="74436" y="35004"/>
                  <a:pt x="76676" y="37244"/>
                  <a:pt x="76676" y="40005"/>
                </a:cubicBezTo>
                <a:lnTo>
                  <a:pt x="76676" y="52507"/>
                </a:lnTo>
                <a:lnTo>
                  <a:pt x="89178" y="52507"/>
                </a:lnTo>
                <a:cubicBezTo>
                  <a:pt x="91939" y="52507"/>
                  <a:pt x="94178" y="54746"/>
                  <a:pt x="94178" y="57507"/>
                </a:cubicBezTo>
                <a:lnTo>
                  <a:pt x="94178" y="67508"/>
                </a:lnTo>
                <a:cubicBezTo>
                  <a:pt x="94178" y="70269"/>
                  <a:pt x="91939" y="72509"/>
                  <a:pt x="89178" y="72509"/>
                </a:cubicBezTo>
                <a:lnTo>
                  <a:pt x="76676" y="72509"/>
                </a:lnTo>
                <a:lnTo>
                  <a:pt x="76676" y="85011"/>
                </a:lnTo>
                <a:cubicBezTo>
                  <a:pt x="76676" y="87771"/>
                  <a:pt x="74436" y="90011"/>
                  <a:pt x="71676" y="90011"/>
                </a:cubicBezTo>
                <a:lnTo>
                  <a:pt x="61674" y="90011"/>
                </a:lnTo>
                <a:cubicBezTo>
                  <a:pt x="58914" y="90011"/>
                  <a:pt x="56674" y="87771"/>
                  <a:pt x="56674" y="85011"/>
                </a:cubicBezTo>
                <a:lnTo>
                  <a:pt x="56674" y="72509"/>
                </a:lnTo>
                <a:lnTo>
                  <a:pt x="44172" y="72509"/>
                </a:lnTo>
                <a:cubicBezTo>
                  <a:pt x="41411" y="72509"/>
                  <a:pt x="39172" y="70269"/>
                  <a:pt x="39172" y="67508"/>
                </a:cubicBezTo>
                <a:lnTo>
                  <a:pt x="39172" y="57507"/>
                </a:lnTo>
                <a:cubicBezTo>
                  <a:pt x="39172" y="54746"/>
                  <a:pt x="41411" y="52507"/>
                  <a:pt x="44172" y="52507"/>
                </a:cubicBezTo>
                <a:lnTo>
                  <a:pt x="56674" y="52507"/>
                </a:lnTo>
                <a:lnTo>
                  <a:pt x="56674" y="40005"/>
                </a:lnTo>
                <a:close/>
              </a:path>
            </a:pathLst>
          </a:custGeom>
          <a:solidFill>
            <a:srgbClr val="1E3A5F"/>
          </a:solidFill>
          <a:ln/>
        </p:spPr>
      </p:sp>
      <p:sp>
        <p:nvSpPr>
          <p:cNvPr id="88" name="Text 86"/>
          <p:cNvSpPr/>
          <p:nvPr/>
        </p:nvSpPr>
        <p:spPr>
          <a:xfrm>
            <a:off x="8612148" y="5676900"/>
            <a:ext cx="1666875" cy="190500"/>
          </a:xfrm>
          <a:prstGeom prst="rect">
            <a:avLst/>
          </a:prstGeom>
          <a:noFill/>
          <a:ln/>
        </p:spPr>
        <p:txBody>
          <a:bodyPr wrap="square" lIns="0" tIns="0" rIns="0" bIns="0" rtlCol="0" anchor="ctr"/>
          <a:lstStyle/>
          <a:p>
            <a:pPr>
              <a:lnSpc>
                <a:spcPct val="120000"/>
              </a:lnSpc>
            </a:pPr>
            <a:r>
              <a:rPr lang="en-US" sz="1050" dirty="0">
                <a:solidFill>
                  <a:srgbClr val="1E293B"/>
                </a:solidFill>
                <a:latin typeface="Quattrocento Sans" pitchFamily="34" charset="0"/>
                <a:ea typeface="Quattrocento Sans" pitchFamily="34" charset="-122"/>
                <a:cs typeface="Quattrocento Sans" pitchFamily="34" charset="-120"/>
              </a:rPr>
              <a:t>Medical advice &amp; follow-up</a:t>
            </a:r>
            <a:endParaRPr lang="en-US" sz="1600" dirty="0"/>
          </a:p>
        </p:txBody>
      </p:sp>
      <p:pic>
        <p:nvPicPr>
          <p:cNvPr id="89" name="Picture 88">
            <a:extLst>
              <a:ext uri="{FF2B5EF4-FFF2-40B4-BE49-F238E27FC236}">
                <a16:creationId xmlns:a16="http://schemas.microsoft.com/office/drawing/2014/main" id="{4DF22EB7-0A0B-4FC4-A2B8-8512D66262C4}"/>
              </a:ext>
            </a:extLst>
          </p:cNvPr>
          <p:cNvPicPr>
            <a:picLocks noChangeAspect="1"/>
          </p:cNvPicPr>
          <p:nvPr/>
        </p:nvPicPr>
        <p:blipFill>
          <a:blip r:embed="rId3"/>
          <a:stretch>
            <a:fillRect/>
          </a:stretch>
        </p:blipFill>
        <p:spPr>
          <a:xfrm>
            <a:off x="10855285" y="292854"/>
            <a:ext cx="762001" cy="1021596"/>
          </a:xfrm>
          <a:prstGeom prst="rect">
            <a:avLst/>
          </a:prstGeom>
        </p:spPr>
      </p:pic>
      <p:sp>
        <p:nvSpPr>
          <p:cNvPr id="90" name="TextBox 89">
            <a:extLst>
              <a:ext uri="{FF2B5EF4-FFF2-40B4-BE49-F238E27FC236}">
                <a16:creationId xmlns:a16="http://schemas.microsoft.com/office/drawing/2014/main" id="{B221589F-3796-4ABB-B633-D46B5E1D8B56}"/>
              </a:ext>
            </a:extLst>
          </p:cNvPr>
          <p:cNvSpPr txBox="1"/>
          <p:nvPr/>
        </p:nvSpPr>
        <p:spPr>
          <a:xfrm>
            <a:off x="11671221" y="6473785"/>
            <a:ext cx="457200"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06</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366677" y="366677"/>
            <a:ext cx="11522815" cy="183338"/>
          </a:xfrm>
          <a:prstGeom prst="rect">
            <a:avLst/>
          </a:prstGeom>
          <a:noFill/>
          <a:ln/>
        </p:spPr>
        <p:txBody>
          <a:bodyPr wrap="square" lIns="0" tIns="0" rIns="0" bIns="0" rtlCol="0" anchor="ctr"/>
          <a:lstStyle/>
          <a:p>
            <a:pPr>
              <a:lnSpc>
                <a:spcPct val="120000"/>
              </a:lnSpc>
            </a:pPr>
            <a:r>
              <a:rPr lang="en-US" sz="1011" b="1" kern="0" spc="51" dirty="0">
                <a:solidFill>
                  <a:srgbClr val="3B82F6"/>
                </a:solidFill>
                <a:latin typeface="Quattrocento Sans" pitchFamily="34" charset="0"/>
                <a:ea typeface="Quattrocento Sans" pitchFamily="34" charset="-122"/>
                <a:cs typeface="Quattrocento Sans" pitchFamily="34" charset="-120"/>
              </a:rPr>
              <a:t>DATABASE DESIGN</a:t>
            </a:r>
            <a:endParaRPr lang="en-US" sz="1600" dirty="0"/>
          </a:p>
        </p:txBody>
      </p:sp>
      <p:sp>
        <p:nvSpPr>
          <p:cNvPr id="3" name="Text 1"/>
          <p:cNvSpPr/>
          <p:nvPr/>
        </p:nvSpPr>
        <p:spPr>
          <a:xfrm>
            <a:off x="366677" y="623350"/>
            <a:ext cx="11623651" cy="366677"/>
          </a:xfrm>
          <a:prstGeom prst="rect">
            <a:avLst/>
          </a:prstGeom>
          <a:noFill/>
          <a:ln/>
        </p:spPr>
        <p:txBody>
          <a:bodyPr wrap="square" lIns="0" tIns="0" rIns="0" bIns="0" rtlCol="0" anchor="ctr"/>
          <a:lstStyle/>
          <a:p>
            <a:pPr>
              <a:lnSpc>
                <a:spcPct val="90000"/>
              </a:lnSpc>
            </a:pPr>
            <a:r>
              <a:rPr lang="en-US" sz="2599" b="1" dirty="0">
                <a:solidFill>
                  <a:srgbClr val="1E3A5F"/>
                </a:solidFill>
                <a:latin typeface="Liter" pitchFamily="34" charset="0"/>
                <a:ea typeface="Liter" pitchFamily="34" charset="-122"/>
                <a:cs typeface="Liter" pitchFamily="34" charset="-120"/>
              </a:rPr>
              <a:t>Entity-Relationship Diagram</a:t>
            </a:r>
            <a:endParaRPr lang="en-US" sz="1600" dirty="0"/>
          </a:p>
        </p:txBody>
      </p:sp>
      <p:sp>
        <p:nvSpPr>
          <p:cNvPr id="4" name="Shape 2"/>
          <p:cNvSpPr/>
          <p:nvPr/>
        </p:nvSpPr>
        <p:spPr>
          <a:xfrm>
            <a:off x="366677" y="1100030"/>
            <a:ext cx="733353" cy="36668"/>
          </a:xfrm>
          <a:custGeom>
            <a:avLst/>
            <a:gdLst/>
            <a:ahLst/>
            <a:cxnLst/>
            <a:rect l="l" t="t" r="r" b="b"/>
            <a:pathLst>
              <a:path w="733353" h="36668">
                <a:moveTo>
                  <a:pt x="18334" y="0"/>
                </a:moveTo>
                <a:lnTo>
                  <a:pt x="715020" y="0"/>
                </a:lnTo>
                <a:cubicBezTo>
                  <a:pt x="725145" y="0"/>
                  <a:pt x="733353" y="8208"/>
                  <a:pt x="733353" y="18334"/>
                </a:cubicBezTo>
                <a:lnTo>
                  <a:pt x="733353" y="18334"/>
                </a:lnTo>
                <a:cubicBezTo>
                  <a:pt x="733353" y="28459"/>
                  <a:pt x="725145" y="36668"/>
                  <a:pt x="715020" y="36668"/>
                </a:cubicBezTo>
                <a:lnTo>
                  <a:pt x="18334" y="36668"/>
                </a:lnTo>
                <a:cubicBezTo>
                  <a:pt x="8215" y="36668"/>
                  <a:pt x="0" y="28453"/>
                  <a:pt x="0" y="18334"/>
                </a:cubicBezTo>
                <a:lnTo>
                  <a:pt x="0" y="18334"/>
                </a:lnTo>
                <a:cubicBezTo>
                  <a:pt x="0" y="8215"/>
                  <a:pt x="8215" y="0"/>
                  <a:pt x="18334" y="0"/>
                </a:cubicBezTo>
                <a:close/>
              </a:path>
            </a:pathLst>
          </a:custGeom>
          <a:solidFill>
            <a:srgbClr val="10B981"/>
          </a:solidFill>
          <a:ln/>
        </p:spPr>
      </p:sp>
      <p:sp>
        <p:nvSpPr>
          <p:cNvPr id="5" name="Shape 3"/>
          <p:cNvSpPr/>
          <p:nvPr/>
        </p:nvSpPr>
        <p:spPr>
          <a:xfrm>
            <a:off x="366677" y="1320036"/>
            <a:ext cx="7306033" cy="5536818"/>
          </a:xfrm>
          <a:custGeom>
            <a:avLst/>
            <a:gdLst/>
            <a:ahLst/>
            <a:cxnLst/>
            <a:rect l="l" t="t" r="r" b="b"/>
            <a:pathLst>
              <a:path w="7306033" h="5536818">
                <a:moveTo>
                  <a:pt x="110017" y="0"/>
                </a:moveTo>
                <a:lnTo>
                  <a:pt x="7196017" y="0"/>
                </a:lnTo>
                <a:cubicBezTo>
                  <a:pt x="7256777" y="0"/>
                  <a:pt x="7306033" y="49256"/>
                  <a:pt x="7306033" y="110017"/>
                </a:cubicBezTo>
                <a:lnTo>
                  <a:pt x="7306033" y="5426801"/>
                </a:lnTo>
                <a:cubicBezTo>
                  <a:pt x="7306033" y="5487562"/>
                  <a:pt x="7256777" y="5536818"/>
                  <a:pt x="7196017" y="5536818"/>
                </a:cubicBezTo>
                <a:lnTo>
                  <a:pt x="110017" y="5536818"/>
                </a:lnTo>
                <a:cubicBezTo>
                  <a:pt x="49256" y="5536818"/>
                  <a:pt x="0" y="5487562"/>
                  <a:pt x="0" y="5426801"/>
                </a:cubicBezTo>
                <a:lnTo>
                  <a:pt x="0" y="110017"/>
                </a:lnTo>
                <a:cubicBezTo>
                  <a:pt x="0" y="49297"/>
                  <a:pt x="49297" y="0"/>
                  <a:pt x="110017" y="0"/>
                </a:cubicBezTo>
                <a:close/>
              </a:path>
            </a:pathLst>
          </a:custGeom>
          <a:solidFill>
            <a:srgbClr val="FFFFFF"/>
          </a:solidFill>
          <a:ln/>
          <a:effectLst>
            <a:outerShdw blurRad="55002" dist="36668" dir="5400000" algn="bl" rotWithShape="0">
              <a:srgbClr val="000000">
                <a:alpha val="10196"/>
              </a:srgbClr>
            </a:outerShdw>
          </a:effectLst>
        </p:spPr>
      </p:sp>
      <p:sp>
        <p:nvSpPr>
          <p:cNvPr id="6" name="Shape 4"/>
          <p:cNvSpPr/>
          <p:nvPr/>
        </p:nvSpPr>
        <p:spPr>
          <a:xfrm>
            <a:off x="609600" y="1585877"/>
            <a:ext cx="165005" cy="165005"/>
          </a:xfrm>
          <a:custGeom>
            <a:avLst/>
            <a:gdLst/>
            <a:ahLst/>
            <a:cxnLst/>
            <a:rect l="l" t="t" r="r" b="b"/>
            <a:pathLst>
              <a:path w="165005" h="165005">
                <a:moveTo>
                  <a:pt x="0" y="25782"/>
                </a:moveTo>
                <a:cubicBezTo>
                  <a:pt x="0" y="17242"/>
                  <a:pt x="6929" y="10313"/>
                  <a:pt x="15469" y="10313"/>
                </a:cubicBezTo>
                <a:lnTo>
                  <a:pt x="46408" y="10313"/>
                </a:lnTo>
                <a:cubicBezTo>
                  <a:pt x="54948" y="10313"/>
                  <a:pt x="61877" y="17242"/>
                  <a:pt x="61877" y="25782"/>
                </a:cubicBezTo>
                <a:lnTo>
                  <a:pt x="61877" y="30938"/>
                </a:lnTo>
                <a:lnTo>
                  <a:pt x="103128" y="30938"/>
                </a:lnTo>
                <a:lnTo>
                  <a:pt x="103128" y="25782"/>
                </a:lnTo>
                <a:cubicBezTo>
                  <a:pt x="103128" y="17242"/>
                  <a:pt x="110057" y="10313"/>
                  <a:pt x="118597" y="10313"/>
                </a:cubicBezTo>
                <a:lnTo>
                  <a:pt x="149535" y="10313"/>
                </a:lnTo>
                <a:cubicBezTo>
                  <a:pt x="158076" y="10313"/>
                  <a:pt x="165005" y="17242"/>
                  <a:pt x="165005" y="25782"/>
                </a:cubicBezTo>
                <a:lnTo>
                  <a:pt x="165005" y="56720"/>
                </a:lnTo>
                <a:cubicBezTo>
                  <a:pt x="165005" y="65261"/>
                  <a:pt x="158076" y="72189"/>
                  <a:pt x="149535" y="72189"/>
                </a:cubicBezTo>
                <a:lnTo>
                  <a:pt x="118597" y="72189"/>
                </a:lnTo>
                <a:cubicBezTo>
                  <a:pt x="110057" y="72189"/>
                  <a:pt x="103128" y="65261"/>
                  <a:pt x="103128" y="56720"/>
                </a:cubicBezTo>
                <a:lnTo>
                  <a:pt x="103128" y="51564"/>
                </a:lnTo>
                <a:lnTo>
                  <a:pt x="61877" y="51564"/>
                </a:lnTo>
                <a:lnTo>
                  <a:pt x="61877" y="56720"/>
                </a:lnTo>
                <a:cubicBezTo>
                  <a:pt x="61877" y="59073"/>
                  <a:pt x="61329" y="61329"/>
                  <a:pt x="60394" y="63327"/>
                </a:cubicBezTo>
                <a:lnTo>
                  <a:pt x="82502" y="92815"/>
                </a:lnTo>
                <a:lnTo>
                  <a:pt x="108284" y="92815"/>
                </a:lnTo>
                <a:cubicBezTo>
                  <a:pt x="116824" y="92815"/>
                  <a:pt x="123753" y="99744"/>
                  <a:pt x="123753" y="108284"/>
                </a:cubicBezTo>
                <a:lnTo>
                  <a:pt x="123753" y="139223"/>
                </a:lnTo>
                <a:cubicBezTo>
                  <a:pt x="123753" y="147763"/>
                  <a:pt x="116824" y="154692"/>
                  <a:pt x="108284" y="154692"/>
                </a:cubicBezTo>
                <a:lnTo>
                  <a:pt x="77346" y="154692"/>
                </a:lnTo>
                <a:cubicBezTo>
                  <a:pt x="68806" y="154692"/>
                  <a:pt x="61877" y="147763"/>
                  <a:pt x="61877" y="139223"/>
                </a:cubicBezTo>
                <a:lnTo>
                  <a:pt x="61877" y="108284"/>
                </a:lnTo>
                <a:cubicBezTo>
                  <a:pt x="61877" y="105932"/>
                  <a:pt x="62425" y="103676"/>
                  <a:pt x="63359" y="101678"/>
                </a:cubicBezTo>
                <a:lnTo>
                  <a:pt x="41251" y="72189"/>
                </a:lnTo>
                <a:lnTo>
                  <a:pt x="15469" y="72189"/>
                </a:lnTo>
                <a:cubicBezTo>
                  <a:pt x="6929" y="72189"/>
                  <a:pt x="0" y="65261"/>
                  <a:pt x="0" y="56720"/>
                </a:cubicBezTo>
                <a:lnTo>
                  <a:pt x="0" y="25782"/>
                </a:lnTo>
                <a:close/>
              </a:path>
            </a:pathLst>
          </a:custGeom>
          <a:solidFill>
            <a:srgbClr val="3B82F6"/>
          </a:solidFill>
          <a:ln/>
        </p:spPr>
      </p:sp>
      <p:sp>
        <p:nvSpPr>
          <p:cNvPr id="7" name="Text 5"/>
          <p:cNvSpPr/>
          <p:nvPr/>
        </p:nvSpPr>
        <p:spPr>
          <a:xfrm>
            <a:off x="797522" y="1540042"/>
            <a:ext cx="6737684" cy="256674"/>
          </a:xfrm>
          <a:prstGeom prst="rect">
            <a:avLst/>
          </a:prstGeom>
          <a:noFill/>
          <a:ln/>
        </p:spPr>
        <p:txBody>
          <a:bodyPr wrap="square" lIns="0" tIns="0" rIns="0" bIns="0" rtlCol="0" anchor="ctr"/>
          <a:lstStyle/>
          <a:p>
            <a:pPr>
              <a:lnSpc>
                <a:spcPct val="130000"/>
              </a:lnSpc>
            </a:pPr>
            <a:r>
              <a:rPr lang="en-US" sz="1299" b="1" dirty="0">
                <a:solidFill>
                  <a:srgbClr val="1E3A5F"/>
                </a:solidFill>
                <a:latin typeface="Liter" pitchFamily="34" charset="0"/>
                <a:ea typeface="Liter" pitchFamily="34" charset="-122"/>
                <a:cs typeface="Liter" pitchFamily="34" charset="-120"/>
              </a:rPr>
              <a:t>ER Diagram Structure</a:t>
            </a:r>
            <a:endParaRPr lang="en-US" sz="1600" dirty="0"/>
          </a:p>
        </p:txBody>
      </p:sp>
      <p:sp>
        <p:nvSpPr>
          <p:cNvPr id="8" name="Shape 6"/>
          <p:cNvSpPr/>
          <p:nvPr/>
        </p:nvSpPr>
        <p:spPr>
          <a:xfrm>
            <a:off x="586683" y="1943386"/>
            <a:ext cx="6866021" cy="4656794"/>
          </a:xfrm>
          <a:custGeom>
            <a:avLst/>
            <a:gdLst/>
            <a:ahLst/>
            <a:cxnLst/>
            <a:rect l="l" t="t" r="r" b="b"/>
            <a:pathLst>
              <a:path w="6866021" h="4656794">
                <a:moveTo>
                  <a:pt x="73345" y="0"/>
                </a:moveTo>
                <a:lnTo>
                  <a:pt x="6792677" y="0"/>
                </a:lnTo>
                <a:cubicBezTo>
                  <a:pt x="6833184" y="0"/>
                  <a:pt x="6866021" y="32837"/>
                  <a:pt x="6866021" y="73345"/>
                </a:cubicBezTo>
                <a:lnTo>
                  <a:pt x="6866021" y="4583449"/>
                </a:lnTo>
                <a:cubicBezTo>
                  <a:pt x="6866021" y="4623957"/>
                  <a:pt x="6833184" y="4656794"/>
                  <a:pt x="6792677" y="4656794"/>
                </a:cubicBezTo>
                <a:lnTo>
                  <a:pt x="73345" y="4656794"/>
                </a:lnTo>
                <a:cubicBezTo>
                  <a:pt x="32837" y="4656794"/>
                  <a:pt x="0" y="4623957"/>
                  <a:pt x="0" y="4583449"/>
                </a:cubicBezTo>
                <a:lnTo>
                  <a:pt x="0" y="73345"/>
                </a:lnTo>
                <a:cubicBezTo>
                  <a:pt x="0" y="32865"/>
                  <a:pt x="32865" y="0"/>
                  <a:pt x="73345" y="0"/>
                </a:cubicBezTo>
                <a:close/>
              </a:path>
            </a:pathLst>
          </a:custGeom>
          <a:solidFill>
            <a:srgbClr val="F8FAFC"/>
          </a:solidFill>
          <a:ln/>
        </p:spPr>
      </p:sp>
      <p:sp>
        <p:nvSpPr>
          <p:cNvPr id="10" name="Shape 7"/>
          <p:cNvSpPr/>
          <p:nvPr/>
        </p:nvSpPr>
        <p:spPr>
          <a:xfrm>
            <a:off x="7890424" y="1320036"/>
            <a:ext cx="3932608" cy="3446761"/>
          </a:xfrm>
          <a:custGeom>
            <a:avLst/>
            <a:gdLst/>
            <a:ahLst/>
            <a:cxnLst/>
            <a:rect l="l" t="t" r="r" b="b"/>
            <a:pathLst>
              <a:path w="3932608" h="3446761">
                <a:moveTo>
                  <a:pt x="109986" y="0"/>
                </a:moveTo>
                <a:lnTo>
                  <a:pt x="3822621" y="0"/>
                </a:lnTo>
                <a:cubicBezTo>
                  <a:pt x="3883365" y="0"/>
                  <a:pt x="3932608" y="49242"/>
                  <a:pt x="3932608" y="109986"/>
                </a:cubicBezTo>
                <a:lnTo>
                  <a:pt x="3932608" y="3336775"/>
                </a:lnTo>
                <a:cubicBezTo>
                  <a:pt x="3932608" y="3397518"/>
                  <a:pt x="3883365" y="3446761"/>
                  <a:pt x="3822621" y="3446761"/>
                </a:cubicBezTo>
                <a:lnTo>
                  <a:pt x="109986" y="3446761"/>
                </a:lnTo>
                <a:cubicBezTo>
                  <a:pt x="49242" y="3446761"/>
                  <a:pt x="0" y="3397518"/>
                  <a:pt x="0" y="3336775"/>
                </a:cubicBezTo>
                <a:lnTo>
                  <a:pt x="0" y="109986"/>
                </a:lnTo>
                <a:cubicBezTo>
                  <a:pt x="0" y="49283"/>
                  <a:pt x="49283" y="0"/>
                  <a:pt x="109986" y="0"/>
                </a:cubicBezTo>
                <a:close/>
              </a:path>
            </a:pathLst>
          </a:custGeom>
          <a:gradFill flip="none" rotWithShape="1">
            <a:gsLst>
              <a:gs pos="0">
                <a:srgbClr val="1E3A5F"/>
              </a:gs>
              <a:gs pos="100000">
                <a:srgbClr val="3B82F6"/>
              </a:gs>
            </a:gsLst>
            <a:lin ang="2700000" scaled="1"/>
          </a:gradFill>
          <a:ln/>
          <a:effectLst>
            <a:outerShdw blurRad="137504" dist="91669" dir="5400000" algn="bl" rotWithShape="0">
              <a:srgbClr val="000000">
                <a:alpha val="10196"/>
              </a:srgbClr>
            </a:outerShdw>
          </a:effectLst>
        </p:spPr>
      </p:sp>
      <p:sp>
        <p:nvSpPr>
          <p:cNvPr id="11" name="Shape 8"/>
          <p:cNvSpPr/>
          <p:nvPr/>
        </p:nvSpPr>
        <p:spPr>
          <a:xfrm>
            <a:off x="8096680" y="1549209"/>
            <a:ext cx="165005" cy="165005"/>
          </a:xfrm>
          <a:custGeom>
            <a:avLst/>
            <a:gdLst/>
            <a:ahLst/>
            <a:cxnLst/>
            <a:rect l="l" t="t" r="r" b="b"/>
            <a:pathLst>
              <a:path w="165005" h="165005">
                <a:moveTo>
                  <a:pt x="61877" y="20626"/>
                </a:moveTo>
                <a:cubicBezTo>
                  <a:pt x="61877" y="14921"/>
                  <a:pt x="66485" y="10313"/>
                  <a:pt x="72189" y="10313"/>
                </a:cubicBezTo>
                <a:lnTo>
                  <a:pt x="92815" y="10313"/>
                </a:lnTo>
                <a:cubicBezTo>
                  <a:pt x="98519" y="10313"/>
                  <a:pt x="103128" y="14921"/>
                  <a:pt x="103128" y="20626"/>
                </a:cubicBezTo>
                <a:lnTo>
                  <a:pt x="103128" y="41251"/>
                </a:lnTo>
                <a:cubicBezTo>
                  <a:pt x="103128" y="46955"/>
                  <a:pt x="98519" y="51564"/>
                  <a:pt x="92815" y="51564"/>
                </a:cubicBezTo>
                <a:lnTo>
                  <a:pt x="90237" y="51564"/>
                </a:lnTo>
                <a:lnTo>
                  <a:pt x="90237" y="72189"/>
                </a:lnTo>
                <a:lnTo>
                  <a:pt x="128910" y="72189"/>
                </a:lnTo>
                <a:cubicBezTo>
                  <a:pt x="141736" y="72189"/>
                  <a:pt x="152114" y="82567"/>
                  <a:pt x="152114" y="95393"/>
                </a:cubicBezTo>
                <a:lnTo>
                  <a:pt x="152114" y="113441"/>
                </a:lnTo>
                <a:lnTo>
                  <a:pt x="154692" y="113441"/>
                </a:lnTo>
                <a:cubicBezTo>
                  <a:pt x="160396" y="113441"/>
                  <a:pt x="165005" y="118049"/>
                  <a:pt x="165005" y="123753"/>
                </a:cubicBezTo>
                <a:lnTo>
                  <a:pt x="165005" y="144379"/>
                </a:lnTo>
                <a:cubicBezTo>
                  <a:pt x="165005" y="150083"/>
                  <a:pt x="160396" y="154692"/>
                  <a:pt x="154692" y="154692"/>
                </a:cubicBezTo>
                <a:lnTo>
                  <a:pt x="134066" y="154692"/>
                </a:lnTo>
                <a:cubicBezTo>
                  <a:pt x="128362" y="154692"/>
                  <a:pt x="123753" y="150083"/>
                  <a:pt x="123753" y="144379"/>
                </a:cubicBezTo>
                <a:lnTo>
                  <a:pt x="123753" y="123753"/>
                </a:lnTo>
                <a:cubicBezTo>
                  <a:pt x="123753" y="118049"/>
                  <a:pt x="128362" y="113441"/>
                  <a:pt x="134066" y="113441"/>
                </a:cubicBezTo>
                <a:lnTo>
                  <a:pt x="136644" y="113441"/>
                </a:lnTo>
                <a:lnTo>
                  <a:pt x="136644" y="95393"/>
                </a:lnTo>
                <a:cubicBezTo>
                  <a:pt x="136644" y="91107"/>
                  <a:pt x="133196" y="87659"/>
                  <a:pt x="128910" y="87659"/>
                </a:cubicBezTo>
                <a:lnTo>
                  <a:pt x="90237" y="87659"/>
                </a:lnTo>
                <a:lnTo>
                  <a:pt x="90237" y="113441"/>
                </a:lnTo>
                <a:lnTo>
                  <a:pt x="92815" y="113441"/>
                </a:lnTo>
                <a:cubicBezTo>
                  <a:pt x="98519" y="113441"/>
                  <a:pt x="103128" y="118049"/>
                  <a:pt x="103128" y="123753"/>
                </a:cubicBezTo>
                <a:lnTo>
                  <a:pt x="103128" y="144379"/>
                </a:lnTo>
                <a:cubicBezTo>
                  <a:pt x="103128" y="150083"/>
                  <a:pt x="98519" y="154692"/>
                  <a:pt x="92815" y="154692"/>
                </a:cubicBezTo>
                <a:lnTo>
                  <a:pt x="72189" y="154692"/>
                </a:lnTo>
                <a:cubicBezTo>
                  <a:pt x="66485" y="154692"/>
                  <a:pt x="61877" y="150083"/>
                  <a:pt x="61877" y="144379"/>
                </a:cubicBezTo>
                <a:lnTo>
                  <a:pt x="61877" y="123753"/>
                </a:lnTo>
                <a:cubicBezTo>
                  <a:pt x="61877" y="118049"/>
                  <a:pt x="66485" y="113441"/>
                  <a:pt x="72189" y="113441"/>
                </a:cubicBezTo>
                <a:lnTo>
                  <a:pt x="74768" y="113441"/>
                </a:lnTo>
                <a:lnTo>
                  <a:pt x="74768" y="87659"/>
                </a:lnTo>
                <a:lnTo>
                  <a:pt x="36095" y="87659"/>
                </a:lnTo>
                <a:cubicBezTo>
                  <a:pt x="31808" y="87659"/>
                  <a:pt x="28360" y="91107"/>
                  <a:pt x="28360" y="95393"/>
                </a:cubicBezTo>
                <a:lnTo>
                  <a:pt x="28360" y="113441"/>
                </a:lnTo>
                <a:lnTo>
                  <a:pt x="30938" y="113441"/>
                </a:lnTo>
                <a:cubicBezTo>
                  <a:pt x="36643" y="113441"/>
                  <a:pt x="41251" y="118049"/>
                  <a:pt x="41251" y="123753"/>
                </a:cubicBezTo>
                <a:lnTo>
                  <a:pt x="41251" y="144379"/>
                </a:lnTo>
                <a:cubicBezTo>
                  <a:pt x="41251" y="150083"/>
                  <a:pt x="36643" y="154692"/>
                  <a:pt x="30938" y="154692"/>
                </a:cubicBezTo>
                <a:lnTo>
                  <a:pt x="10313" y="154692"/>
                </a:lnTo>
                <a:cubicBezTo>
                  <a:pt x="4609" y="154692"/>
                  <a:pt x="0" y="150083"/>
                  <a:pt x="0" y="144379"/>
                </a:cubicBezTo>
                <a:lnTo>
                  <a:pt x="0" y="123753"/>
                </a:lnTo>
                <a:cubicBezTo>
                  <a:pt x="0" y="118049"/>
                  <a:pt x="4609" y="113441"/>
                  <a:pt x="10313" y="113441"/>
                </a:cubicBezTo>
                <a:lnTo>
                  <a:pt x="12891" y="113441"/>
                </a:lnTo>
                <a:lnTo>
                  <a:pt x="12891" y="95393"/>
                </a:lnTo>
                <a:cubicBezTo>
                  <a:pt x="12891" y="82567"/>
                  <a:pt x="23268" y="72189"/>
                  <a:pt x="36095" y="72189"/>
                </a:cubicBezTo>
                <a:lnTo>
                  <a:pt x="74768" y="72189"/>
                </a:lnTo>
                <a:lnTo>
                  <a:pt x="74768" y="51564"/>
                </a:lnTo>
                <a:lnTo>
                  <a:pt x="72189" y="51564"/>
                </a:lnTo>
                <a:cubicBezTo>
                  <a:pt x="66485" y="51564"/>
                  <a:pt x="61877" y="46955"/>
                  <a:pt x="61877" y="41251"/>
                </a:cubicBezTo>
                <a:lnTo>
                  <a:pt x="61877" y="20626"/>
                </a:lnTo>
                <a:close/>
              </a:path>
            </a:pathLst>
          </a:custGeom>
          <a:solidFill>
            <a:srgbClr val="10B981"/>
          </a:solidFill>
          <a:ln/>
        </p:spPr>
      </p:sp>
      <p:sp>
        <p:nvSpPr>
          <p:cNvPr id="12" name="Text 9"/>
          <p:cNvSpPr/>
          <p:nvPr/>
        </p:nvSpPr>
        <p:spPr>
          <a:xfrm>
            <a:off x="8284602" y="1503374"/>
            <a:ext cx="3437594" cy="256674"/>
          </a:xfrm>
          <a:prstGeom prst="rect">
            <a:avLst/>
          </a:prstGeom>
          <a:noFill/>
          <a:ln/>
        </p:spPr>
        <p:txBody>
          <a:bodyPr wrap="square" lIns="0" tIns="0" rIns="0" bIns="0" rtlCol="0" anchor="ctr"/>
          <a:lstStyle/>
          <a:p>
            <a:pPr>
              <a:lnSpc>
                <a:spcPct val="130000"/>
              </a:lnSpc>
            </a:pPr>
            <a:r>
              <a:rPr lang="en-US" sz="1299" b="1" dirty="0">
                <a:solidFill>
                  <a:srgbClr val="FFFFFF"/>
                </a:solidFill>
                <a:latin typeface="Liter" pitchFamily="34" charset="0"/>
                <a:ea typeface="Liter" pitchFamily="34" charset="-122"/>
                <a:cs typeface="Liter" pitchFamily="34" charset="-120"/>
              </a:rPr>
              <a:t>Key Relationships</a:t>
            </a:r>
            <a:endParaRPr lang="en-US" sz="1600" dirty="0"/>
          </a:p>
        </p:txBody>
      </p:sp>
      <p:sp>
        <p:nvSpPr>
          <p:cNvPr id="13" name="Shape 10"/>
          <p:cNvSpPr/>
          <p:nvPr/>
        </p:nvSpPr>
        <p:spPr>
          <a:xfrm>
            <a:off x="8073762" y="1906719"/>
            <a:ext cx="3565931" cy="586683"/>
          </a:xfrm>
          <a:custGeom>
            <a:avLst/>
            <a:gdLst/>
            <a:ahLst/>
            <a:cxnLst/>
            <a:rect l="l" t="t" r="r" b="b"/>
            <a:pathLst>
              <a:path w="3565931" h="586683">
                <a:moveTo>
                  <a:pt x="73335" y="0"/>
                </a:moveTo>
                <a:lnTo>
                  <a:pt x="3492595" y="0"/>
                </a:lnTo>
                <a:cubicBezTo>
                  <a:pt x="3533097" y="0"/>
                  <a:pt x="3565931" y="32833"/>
                  <a:pt x="3565931" y="73335"/>
                </a:cubicBezTo>
                <a:lnTo>
                  <a:pt x="3565931" y="513347"/>
                </a:lnTo>
                <a:cubicBezTo>
                  <a:pt x="3565931" y="553849"/>
                  <a:pt x="3533097" y="586683"/>
                  <a:pt x="3492595" y="586683"/>
                </a:cubicBezTo>
                <a:lnTo>
                  <a:pt x="73335" y="586683"/>
                </a:lnTo>
                <a:cubicBezTo>
                  <a:pt x="32860" y="586683"/>
                  <a:pt x="0" y="553822"/>
                  <a:pt x="0" y="513347"/>
                </a:cubicBezTo>
                <a:lnTo>
                  <a:pt x="0" y="73335"/>
                </a:lnTo>
                <a:cubicBezTo>
                  <a:pt x="0" y="32860"/>
                  <a:pt x="32860" y="0"/>
                  <a:pt x="73335" y="0"/>
                </a:cubicBezTo>
                <a:close/>
              </a:path>
            </a:pathLst>
          </a:custGeom>
          <a:solidFill>
            <a:srgbClr val="FFFFFF">
              <a:alpha val="10196"/>
            </a:srgbClr>
          </a:solidFill>
          <a:ln/>
        </p:spPr>
      </p:sp>
      <p:sp>
        <p:nvSpPr>
          <p:cNvPr id="14" name="Shape 11"/>
          <p:cNvSpPr/>
          <p:nvPr/>
        </p:nvSpPr>
        <p:spPr>
          <a:xfrm>
            <a:off x="8202099" y="2035056"/>
            <a:ext cx="146671" cy="146671"/>
          </a:xfrm>
          <a:custGeom>
            <a:avLst/>
            <a:gdLst/>
            <a:ahLst/>
            <a:cxnLst/>
            <a:rect l="l" t="t" r="r" b="b"/>
            <a:pathLst>
              <a:path w="146671" h="146671">
                <a:moveTo>
                  <a:pt x="143978" y="79809"/>
                </a:moveTo>
                <a:cubicBezTo>
                  <a:pt x="147559" y="76229"/>
                  <a:pt x="147559" y="70413"/>
                  <a:pt x="143978" y="66833"/>
                </a:cubicBezTo>
                <a:lnTo>
                  <a:pt x="98143" y="20998"/>
                </a:lnTo>
                <a:cubicBezTo>
                  <a:pt x="94562" y="17417"/>
                  <a:pt x="88747" y="17417"/>
                  <a:pt x="85166" y="20998"/>
                </a:cubicBezTo>
                <a:cubicBezTo>
                  <a:pt x="81586" y="24579"/>
                  <a:pt x="81586" y="30394"/>
                  <a:pt x="85166" y="33975"/>
                </a:cubicBezTo>
                <a:lnTo>
                  <a:pt x="115360" y="64168"/>
                </a:lnTo>
                <a:lnTo>
                  <a:pt x="9167" y="64168"/>
                </a:lnTo>
                <a:cubicBezTo>
                  <a:pt x="4096" y="64168"/>
                  <a:pt x="0" y="68265"/>
                  <a:pt x="0" y="73335"/>
                </a:cubicBezTo>
                <a:cubicBezTo>
                  <a:pt x="0" y="78406"/>
                  <a:pt x="4096" y="82502"/>
                  <a:pt x="9167" y="82502"/>
                </a:cubicBezTo>
                <a:lnTo>
                  <a:pt x="115360" y="82502"/>
                </a:lnTo>
                <a:lnTo>
                  <a:pt x="85166" y="112696"/>
                </a:lnTo>
                <a:cubicBezTo>
                  <a:pt x="81586" y="116277"/>
                  <a:pt x="81586" y="122092"/>
                  <a:pt x="85166" y="125673"/>
                </a:cubicBezTo>
                <a:cubicBezTo>
                  <a:pt x="88747" y="129254"/>
                  <a:pt x="94562" y="129254"/>
                  <a:pt x="98143" y="125673"/>
                </a:cubicBezTo>
                <a:lnTo>
                  <a:pt x="143978" y="79838"/>
                </a:lnTo>
                <a:close/>
              </a:path>
            </a:pathLst>
          </a:custGeom>
          <a:solidFill>
            <a:srgbClr val="10B981"/>
          </a:solidFill>
          <a:ln/>
        </p:spPr>
      </p:sp>
      <p:sp>
        <p:nvSpPr>
          <p:cNvPr id="15" name="Text 12"/>
          <p:cNvSpPr/>
          <p:nvPr/>
        </p:nvSpPr>
        <p:spPr>
          <a:xfrm>
            <a:off x="8440439" y="2016722"/>
            <a:ext cx="1356704" cy="183338"/>
          </a:xfrm>
          <a:prstGeom prst="rect">
            <a:avLst/>
          </a:prstGeom>
          <a:noFill/>
          <a:ln/>
        </p:spPr>
        <p:txBody>
          <a:bodyPr wrap="square" lIns="0" tIns="0" rIns="0" bIns="0" rtlCol="0" anchor="ctr"/>
          <a:lstStyle/>
          <a:p>
            <a:pPr>
              <a:lnSpc>
                <a:spcPct val="120000"/>
              </a:lnSpc>
            </a:pPr>
            <a:r>
              <a:rPr lang="en-US" sz="1011" b="1" dirty="0">
                <a:solidFill>
                  <a:srgbClr val="FFFFFF"/>
                </a:solidFill>
                <a:latin typeface="Quattrocento Sans" pitchFamily="34" charset="0"/>
                <a:ea typeface="Quattrocento Sans" pitchFamily="34" charset="-122"/>
                <a:cs typeface="Quattrocento Sans" pitchFamily="34" charset="-120"/>
              </a:rPr>
              <a:t>Patient → Appointment</a:t>
            </a:r>
            <a:endParaRPr lang="en-US" sz="1600" dirty="0"/>
          </a:p>
        </p:txBody>
      </p:sp>
      <p:sp>
        <p:nvSpPr>
          <p:cNvPr id="16" name="Text 13"/>
          <p:cNvSpPr/>
          <p:nvPr/>
        </p:nvSpPr>
        <p:spPr>
          <a:xfrm>
            <a:off x="8183765" y="2236728"/>
            <a:ext cx="3400926" cy="146671"/>
          </a:xfrm>
          <a:prstGeom prst="rect">
            <a:avLst/>
          </a:prstGeom>
          <a:noFill/>
          <a:ln/>
        </p:spPr>
        <p:txBody>
          <a:bodyPr wrap="square" lIns="0" tIns="0" rIns="0" bIns="0" rtlCol="0" anchor="ctr"/>
          <a:lstStyle/>
          <a:p>
            <a:pPr>
              <a:lnSpc>
                <a:spcPct val="110000"/>
              </a:lnSpc>
            </a:pPr>
            <a:r>
              <a:rPr lang="en-US" sz="866" dirty="0">
                <a:solidFill>
                  <a:srgbClr val="F1F5F9">
                    <a:alpha val="80000"/>
                  </a:srgbClr>
                </a:solidFill>
                <a:latin typeface="Quattrocento Sans" pitchFamily="34" charset="0"/>
                <a:ea typeface="Quattrocento Sans" pitchFamily="34" charset="-122"/>
                <a:cs typeface="Quattrocento Sans" pitchFamily="34" charset="-120"/>
              </a:rPr>
              <a:t>Books appointments with automatic token generation</a:t>
            </a:r>
            <a:endParaRPr lang="en-US" sz="1600" dirty="0"/>
          </a:p>
        </p:txBody>
      </p:sp>
      <p:sp>
        <p:nvSpPr>
          <p:cNvPr id="17" name="Shape 14"/>
          <p:cNvSpPr/>
          <p:nvPr/>
        </p:nvSpPr>
        <p:spPr>
          <a:xfrm>
            <a:off x="8073762" y="2603293"/>
            <a:ext cx="3565931" cy="586683"/>
          </a:xfrm>
          <a:custGeom>
            <a:avLst/>
            <a:gdLst/>
            <a:ahLst/>
            <a:cxnLst/>
            <a:rect l="l" t="t" r="r" b="b"/>
            <a:pathLst>
              <a:path w="3565931" h="586683">
                <a:moveTo>
                  <a:pt x="73335" y="0"/>
                </a:moveTo>
                <a:lnTo>
                  <a:pt x="3492595" y="0"/>
                </a:lnTo>
                <a:cubicBezTo>
                  <a:pt x="3533097" y="0"/>
                  <a:pt x="3565931" y="32833"/>
                  <a:pt x="3565931" y="73335"/>
                </a:cubicBezTo>
                <a:lnTo>
                  <a:pt x="3565931" y="513347"/>
                </a:lnTo>
                <a:cubicBezTo>
                  <a:pt x="3565931" y="553849"/>
                  <a:pt x="3533097" y="586683"/>
                  <a:pt x="3492595" y="586683"/>
                </a:cubicBezTo>
                <a:lnTo>
                  <a:pt x="73335" y="586683"/>
                </a:lnTo>
                <a:cubicBezTo>
                  <a:pt x="32860" y="586683"/>
                  <a:pt x="0" y="553822"/>
                  <a:pt x="0" y="513347"/>
                </a:cubicBezTo>
                <a:lnTo>
                  <a:pt x="0" y="73335"/>
                </a:lnTo>
                <a:cubicBezTo>
                  <a:pt x="0" y="32860"/>
                  <a:pt x="32860" y="0"/>
                  <a:pt x="73335" y="0"/>
                </a:cubicBezTo>
                <a:close/>
              </a:path>
            </a:pathLst>
          </a:custGeom>
          <a:solidFill>
            <a:srgbClr val="FFFFFF">
              <a:alpha val="10196"/>
            </a:srgbClr>
          </a:solidFill>
          <a:ln/>
        </p:spPr>
      </p:sp>
      <p:sp>
        <p:nvSpPr>
          <p:cNvPr id="18" name="Shape 15"/>
          <p:cNvSpPr/>
          <p:nvPr/>
        </p:nvSpPr>
        <p:spPr>
          <a:xfrm>
            <a:off x="8202099" y="2731629"/>
            <a:ext cx="146671" cy="146671"/>
          </a:xfrm>
          <a:custGeom>
            <a:avLst/>
            <a:gdLst/>
            <a:ahLst/>
            <a:cxnLst/>
            <a:rect l="l" t="t" r="r" b="b"/>
            <a:pathLst>
              <a:path w="146671" h="146671">
                <a:moveTo>
                  <a:pt x="143978" y="79809"/>
                </a:moveTo>
                <a:cubicBezTo>
                  <a:pt x="147559" y="76229"/>
                  <a:pt x="147559" y="70413"/>
                  <a:pt x="143978" y="66833"/>
                </a:cubicBezTo>
                <a:lnTo>
                  <a:pt x="98143" y="20998"/>
                </a:lnTo>
                <a:cubicBezTo>
                  <a:pt x="94562" y="17417"/>
                  <a:pt x="88747" y="17417"/>
                  <a:pt x="85166" y="20998"/>
                </a:cubicBezTo>
                <a:cubicBezTo>
                  <a:pt x="81586" y="24579"/>
                  <a:pt x="81586" y="30394"/>
                  <a:pt x="85166" y="33975"/>
                </a:cubicBezTo>
                <a:lnTo>
                  <a:pt x="115360" y="64168"/>
                </a:lnTo>
                <a:lnTo>
                  <a:pt x="9167" y="64168"/>
                </a:lnTo>
                <a:cubicBezTo>
                  <a:pt x="4096" y="64168"/>
                  <a:pt x="0" y="68265"/>
                  <a:pt x="0" y="73335"/>
                </a:cubicBezTo>
                <a:cubicBezTo>
                  <a:pt x="0" y="78406"/>
                  <a:pt x="4096" y="82502"/>
                  <a:pt x="9167" y="82502"/>
                </a:cubicBezTo>
                <a:lnTo>
                  <a:pt x="115360" y="82502"/>
                </a:lnTo>
                <a:lnTo>
                  <a:pt x="85166" y="112696"/>
                </a:lnTo>
                <a:cubicBezTo>
                  <a:pt x="81586" y="116277"/>
                  <a:pt x="81586" y="122092"/>
                  <a:pt x="85166" y="125673"/>
                </a:cubicBezTo>
                <a:cubicBezTo>
                  <a:pt x="88747" y="129254"/>
                  <a:pt x="94562" y="129254"/>
                  <a:pt x="98143" y="125673"/>
                </a:cubicBezTo>
                <a:lnTo>
                  <a:pt x="143978" y="79838"/>
                </a:lnTo>
                <a:close/>
              </a:path>
            </a:pathLst>
          </a:custGeom>
          <a:solidFill>
            <a:srgbClr val="10B981"/>
          </a:solidFill>
          <a:ln/>
        </p:spPr>
      </p:sp>
      <p:sp>
        <p:nvSpPr>
          <p:cNvPr id="19" name="Text 16"/>
          <p:cNvSpPr/>
          <p:nvPr/>
        </p:nvSpPr>
        <p:spPr>
          <a:xfrm>
            <a:off x="8440439" y="2713296"/>
            <a:ext cx="1155032" cy="183338"/>
          </a:xfrm>
          <a:prstGeom prst="rect">
            <a:avLst/>
          </a:prstGeom>
          <a:noFill/>
          <a:ln/>
        </p:spPr>
        <p:txBody>
          <a:bodyPr wrap="square" lIns="0" tIns="0" rIns="0" bIns="0" rtlCol="0" anchor="ctr"/>
          <a:lstStyle/>
          <a:p>
            <a:pPr>
              <a:lnSpc>
                <a:spcPct val="120000"/>
              </a:lnSpc>
            </a:pPr>
            <a:r>
              <a:rPr lang="en-US" sz="1011" b="1" dirty="0">
                <a:solidFill>
                  <a:srgbClr val="FFFFFF"/>
                </a:solidFill>
                <a:latin typeface="Quattrocento Sans" pitchFamily="34" charset="0"/>
                <a:ea typeface="Quattrocento Sans" pitchFamily="34" charset="-122"/>
                <a:cs typeface="Quattrocento Sans" pitchFamily="34" charset="-120"/>
              </a:rPr>
              <a:t>Doctor → Schedule</a:t>
            </a:r>
            <a:endParaRPr lang="en-US" sz="1600" dirty="0"/>
          </a:p>
        </p:txBody>
      </p:sp>
      <p:sp>
        <p:nvSpPr>
          <p:cNvPr id="20" name="Text 17"/>
          <p:cNvSpPr/>
          <p:nvPr/>
        </p:nvSpPr>
        <p:spPr>
          <a:xfrm>
            <a:off x="8183765" y="2933302"/>
            <a:ext cx="3400926" cy="146671"/>
          </a:xfrm>
          <a:prstGeom prst="rect">
            <a:avLst/>
          </a:prstGeom>
          <a:noFill/>
          <a:ln/>
        </p:spPr>
        <p:txBody>
          <a:bodyPr wrap="square" lIns="0" tIns="0" rIns="0" bIns="0" rtlCol="0" anchor="ctr"/>
          <a:lstStyle/>
          <a:p>
            <a:pPr>
              <a:lnSpc>
                <a:spcPct val="110000"/>
              </a:lnSpc>
            </a:pPr>
            <a:r>
              <a:rPr lang="en-US" sz="866" dirty="0">
                <a:solidFill>
                  <a:srgbClr val="F1F5F9">
                    <a:alpha val="80000"/>
                  </a:srgbClr>
                </a:solidFill>
                <a:latin typeface="Quattrocento Sans" pitchFamily="34" charset="0"/>
                <a:ea typeface="Quattrocento Sans" pitchFamily="34" charset="-122"/>
                <a:cs typeface="Quattrocento Sans" pitchFamily="34" charset="-120"/>
              </a:rPr>
              <a:t>Manages weekly schedules and availability</a:t>
            </a:r>
            <a:endParaRPr lang="en-US" sz="1600" dirty="0"/>
          </a:p>
        </p:txBody>
      </p:sp>
      <p:sp>
        <p:nvSpPr>
          <p:cNvPr id="21" name="Shape 18"/>
          <p:cNvSpPr/>
          <p:nvPr/>
        </p:nvSpPr>
        <p:spPr>
          <a:xfrm>
            <a:off x="8073762" y="3299862"/>
            <a:ext cx="3565931" cy="586683"/>
          </a:xfrm>
          <a:custGeom>
            <a:avLst/>
            <a:gdLst/>
            <a:ahLst/>
            <a:cxnLst/>
            <a:rect l="l" t="t" r="r" b="b"/>
            <a:pathLst>
              <a:path w="3565931" h="586683">
                <a:moveTo>
                  <a:pt x="73335" y="0"/>
                </a:moveTo>
                <a:lnTo>
                  <a:pt x="3492595" y="0"/>
                </a:lnTo>
                <a:cubicBezTo>
                  <a:pt x="3533097" y="0"/>
                  <a:pt x="3565931" y="32833"/>
                  <a:pt x="3565931" y="73335"/>
                </a:cubicBezTo>
                <a:lnTo>
                  <a:pt x="3565931" y="513347"/>
                </a:lnTo>
                <a:cubicBezTo>
                  <a:pt x="3565931" y="553849"/>
                  <a:pt x="3533097" y="586683"/>
                  <a:pt x="3492595" y="586683"/>
                </a:cubicBezTo>
                <a:lnTo>
                  <a:pt x="73335" y="586683"/>
                </a:lnTo>
                <a:cubicBezTo>
                  <a:pt x="32860" y="586683"/>
                  <a:pt x="0" y="553822"/>
                  <a:pt x="0" y="513347"/>
                </a:cubicBezTo>
                <a:lnTo>
                  <a:pt x="0" y="73335"/>
                </a:lnTo>
                <a:cubicBezTo>
                  <a:pt x="0" y="32860"/>
                  <a:pt x="32860" y="0"/>
                  <a:pt x="73335" y="0"/>
                </a:cubicBezTo>
                <a:close/>
              </a:path>
            </a:pathLst>
          </a:custGeom>
          <a:solidFill>
            <a:srgbClr val="FFFFFF">
              <a:alpha val="10196"/>
            </a:srgbClr>
          </a:solidFill>
          <a:ln/>
        </p:spPr>
      </p:sp>
      <p:sp>
        <p:nvSpPr>
          <p:cNvPr id="22" name="Shape 19"/>
          <p:cNvSpPr/>
          <p:nvPr/>
        </p:nvSpPr>
        <p:spPr>
          <a:xfrm>
            <a:off x="8202099" y="3428199"/>
            <a:ext cx="146671" cy="146671"/>
          </a:xfrm>
          <a:custGeom>
            <a:avLst/>
            <a:gdLst/>
            <a:ahLst/>
            <a:cxnLst/>
            <a:rect l="l" t="t" r="r" b="b"/>
            <a:pathLst>
              <a:path w="146671" h="146671">
                <a:moveTo>
                  <a:pt x="143978" y="79809"/>
                </a:moveTo>
                <a:cubicBezTo>
                  <a:pt x="147559" y="76229"/>
                  <a:pt x="147559" y="70413"/>
                  <a:pt x="143978" y="66833"/>
                </a:cubicBezTo>
                <a:lnTo>
                  <a:pt x="98143" y="20998"/>
                </a:lnTo>
                <a:cubicBezTo>
                  <a:pt x="94562" y="17417"/>
                  <a:pt x="88747" y="17417"/>
                  <a:pt x="85166" y="20998"/>
                </a:cubicBezTo>
                <a:cubicBezTo>
                  <a:pt x="81586" y="24579"/>
                  <a:pt x="81586" y="30394"/>
                  <a:pt x="85166" y="33975"/>
                </a:cubicBezTo>
                <a:lnTo>
                  <a:pt x="115360" y="64168"/>
                </a:lnTo>
                <a:lnTo>
                  <a:pt x="9167" y="64168"/>
                </a:lnTo>
                <a:cubicBezTo>
                  <a:pt x="4096" y="64168"/>
                  <a:pt x="0" y="68265"/>
                  <a:pt x="0" y="73335"/>
                </a:cubicBezTo>
                <a:cubicBezTo>
                  <a:pt x="0" y="78406"/>
                  <a:pt x="4096" y="82502"/>
                  <a:pt x="9167" y="82502"/>
                </a:cubicBezTo>
                <a:lnTo>
                  <a:pt x="115360" y="82502"/>
                </a:lnTo>
                <a:lnTo>
                  <a:pt x="85166" y="112696"/>
                </a:lnTo>
                <a:cubicBezTo>
                  <a:pt x="81586" y="116277"/>
                  <a:pt x="81586" y="122092"/>
                  <a:pt x="85166" y="125673"/>
                </a:cubicBezTo>
                <a:cubicBezTo>
                  <a:pt x="88747" y="129254"/>
                  <a:pt x="94562" y="129254"/>
                  <a:pt x="98143" y="125673"/>
                </a:cubicBezTo>
                <a:lnTo>
                  <a:pt x="143978" y="79838"/>
                </a:lnTo>
                <a:close/>
              </a:path>
            </a:pathLst>
          </a:custGeom>
          <a:solidFill>
            <a:srgbClr val="10B981"/>
          </a:solidFill>
          <a:ln/>
        </p:spPr>
      </p:sp>
      <p:sp>
        <p:nvSpPr>
          <p:cNvPr id="23" name="Text 20"/>
          <p:cNvSpPr/>
          <p:nvPr/>
        </p:nvSpPr>
        <p:spPr>
          <a:xfrm>
            <a:off x="8440439" y="3409865"/>
            <a:ext cx="1466707" cy="183338"/>
          </a:xfrm>
          <a:prstGeom prst="rect">
            <a:avLst/>
          </a:prstGeom>
          <a:noFill/>
          <a:ln/>
        </p:spPr>
        <p:txBody>
          <a:bodyPr wrap="square" lIns="0" tIns="0" rIns="0" bIns="0" rtlCol="0" anchor="ctr"/>
          <a:lstStyle/>
          <a:p>
            <a:pPr>
              <a:lnSpc>
                <a:spcPct val="120000"/>
              </a:lnSpc>
            </a:pPr>
            <a:r>
              <a:rPr lang="en-US" sz="1011" b="1" dirty="0">
                <a:solidFill>
                  <a:srgbClr val="FFFFFF"/>
                </a:solidFill>
                <a:latin typeface="Quattrocento Sans" pitchFamily="34" charset="0"/>
                <a:ea typeface="Quattrocento Sans" pitchFamily="34" charset="-122"/>
                <a:cs typeface="Quattrocento Sans" pitchFamily="34" charset="-120"/>
              </a:rPr>
              <a:t>Appointment → Payment</a:t>
            </a:r>
            <a:endParaRPr lang="en-US" sz="1600" dirty="0"/>
          </a:p>
        </p:txBody>
      </p:sp>
      <p:sp>
        <p:nvSpPr>
          <p:cNvPr id="24" name="Text 21"/>
          <p:cNvSpPr/>
          <p:nvPr/>
        </p:nvSpPr>
        <p:spPr>
          <a:xfrm>
            <a:off x="8183765" y="3629871"/>
            <a:ext cx="3400926" cy="146671"/>
          </a:xfrm>
          <a:prstGeom prst="rect">
            <a:avLst/>
          </a:prstGeom>
          <a:noFill/>
          <a:ln/>
        </p:spPr>
        <p:txBody>
          <a:bodyPr wrap="square" lIns="0" tIns="0" rIns="0" bIns="0" rtlCol="0" anchor="ctr"/>
          <a:lstStyle/>
          <a:p>
            <a:pPr>
              <a:lnSpc>
                <a:spcPct val="110000"/>
              </a:lnSpc>
            </a:pPr>
            <a:r>
              <a:rPr lang="en-US" sz="866" dirty="0">
                <a:solidFill>
                  <a:srgbClr val="F1F5F9">
                    <a:alpha val="80000"/>
                  </a:srgbClr>
                </a:solidFill>
                <a:latin typeface="Quattrocento Sans" pitchFamily="34" charset="0"/>
                <a:ea typeface="Quattrocento Sans" pitchFamily="34" charset="-122"/>
                <a:cs typeface="Quattrocento Sans" pitchFamily="34" charset="-120"/>
              </a:rPr>
              <a:t>Generates payment records with transaction IDs</a:t>
            </a:r>
            <a:endParaRPr lang="en-US" sz="1600" dirty="0"/>
          </a:p>
        </p:txBody>
      </p:sp>
      <p:sp>
        <p:nvSpPr>
          <p:cNvPr id="25" name="Shape 22"/>
          <p:cNvSpPr/>
          <p:nvPr/>
        </p:nvSpPr>
        <p:spPr>
          <a:xfrm>
            <a:off x="8073762" y="3996431"/>
            <a:ext cx="3565931" cy="586683"/>
          </a:xfrm>
          <a:custGeom>
            <a:avLst/>
            <a:gdLst/>
            <a:ahLst/>
            <a:cxnLst/>
            <a:rect l="l" t="t" r="r" b="b"/>
            <a:pathLst>
              <a:path w="3565931" h="586683">
                <a:moveTo>
                  <a:pt x="73335" y="0"/>
                </a:moveTo>
                <a:lnTo>
                  <a:pt x="3492595" y="0"/>
                </a:lnTo>
                <a:cubicBezTo>
                  <a:pt x="3533097" y="0"/>
                  <a:pt x="3565931" y="32833"/>
                  <a:pt x="3565931" y="73335"/>
                </a:cubicBezTo>
                <a:lnTo>
                  <a:pt x="3565931" y="513347"/>
                </a:lnTo>
                <a:cubicBezTo>
                  <a:pt x="3565931" y="553849"/>
                  <a:pt x="3533097" y="586683"/>
                  <a:pt x="3492595" y="586683"/>
                </a:cubicBezTo>
                <a:lnTo>
                  <a:pt x="73335" y="586683"/>
                </a:lnTo>
                <a:cubicBezTo>
                  <a:pt x="32860" y="586683"/>
                  <a:pt x="0" y="553822"/>
                  <a:pt x="0" y="513347"/>
                </a:cubicBezTo>
                <a:lnTo>
                  <a:pt x="0" y="73335"/>
                </a:lnTo>
                <a:cubicBezTo>
                  <a:pt x="0" y="32860"/>
                  <a:pt x="32860" y="0"/>
                  <a:pt x="73335" y="0"/>
                </a:cubicBezTo>
                <a:close/>
              </a:path>
            </a:pathLst>
          </a:custGeom>
          <a:solidFill>
            <a:srgbClr val="FFFFFF">
              <a:alpha val="10196"/>
            </a:srgbClr>
          </a:solidFill>
          <a:ln/>
        </p:spPr>
      </p:sp>
      <p:sp>
        <p:nvSpPr>
          <p:cNvPr id="26" name="Shape 23"/>
          <p:cNvSpPr/>
          <p:nvPr/>
        </p:nvSpPr>
        <p:spPr>
          <a:xfrm>
            <a:off x="8202099" y="4124768"/>
            <a:ext cx="146671" cy="146671"/>
          </a:xfrm>
          <a:custGeom>
            <a:avLst/>
            <a:gdLst/>
            <a:ahLst/>
            <a:cxnLst/>
            <a:rect l="l" t="t" r="r" b="b"/>
            <a:pathLst>
              <a:path w="146671" h="146671">
                <a:moveTo>
                  <a:pt x="143978" y="79809"/>
                </a:moveTo>
                <a:cubicBezTo>
                  <a:pt x="147559" y="76229"/>
                  <a:pt x="147559" y="70413"/>
                  <a:pt x="143978" y="66833"/>
                </a:cubicBezTo>
                <a:lnTo>
                  <a:pt x="98143" y="20998"/>
                </a:lnTo>
                <a:cubicBezTo>
                  <a:pt x="94562" y="17417"/>
                  <a:pt x="88747" y="17417"/>
                  <a:pt x="85166" y="20998"/>
                </a:cubicBezTo>
                <a:cubicBezTo>
                  <a:pt x="81586" y="24579"/>
                  <a:pt x="81586" y="30394"/>
                  <a:pt x="85166" y="33975"/>
                </a:cubicBezTo>
                <a:lnTo>
                  <a:pt x="115360" y="64168"/>
                </a:lnTo>
                <a:lnTo>
                  <a:pt x="9167" y="64168"/>
                </a:lnTo>
                <a:cubicBezTo>
                  <a:pt x="4096" y="64168"/>
                  <a:pt x="0" y="68265"/>
                  <a:pt x="0" y="73335"/>
                </a:cubicBezTo>
                <a:cubicBezTo>
                  <a:pt x="0" y="78406"/>
                  <a:pt x="4096" y="82502"/>
                  <a:pt x="9167" y="82502"/>
                </a:cubicBezTo>
                <a:lnTo>
                  <a:pt x="115360" y="82502"/>
                </a:lnTo>
                <a:lnTo>
                  <a:pt x="85166" y="112696"/>
                </a:lnTo>
                <a:cubicBezTo>
                  <a:pt x="81586" y="116277"/>
                  <a:pt x="81586" y="122092"/>
                  <a:pt x="85166" y="125673"/>
                </a:cubicBezTo>
                <a:cubicBezTo>
                  <a:pt x="88747" y="129254"/>
                  <a:pt x="94562" y="129254"/>
                  <a:pt x="98143" y="125673"/>
                </a:cubicBezTo>
                <a:lnTo>
                  <a:pt x="143978" y="79838"/>
                </a:lnTo>
                <a:close/>
              </a:path>
            </a:pathLst>
          </a:custGeom>
          <a:solidFill>
            <a:srgbClr val="10B981"/>
          </a:solidFill>
          <a:ln/>
        </p:spPr>
      </p:sp>
      <p:sp>
        <p:nvSpPr>
          <p:cNvPr id="27" name="Text 24"/>
          <p:cNvSpPr/>
          <p:nvPr/>
        </p:nvSpPr>
        <p:spPr>
          <a:xfrm>
            <a:off x="8440439" y="4106434"/>
            <a:ext cx="1640878" cy="183338"/>
          </a:xfrm>
          <a:prstGeom prst="rect">
            <a:avLst/>
          </a:prstGeom>
          <a:noFill/>
          <a:ln/>
        </p:spPr>
        <p:txBody>
          <a:bodyPr wrap="square" lIns="0" tIns="0" rIns="0" bIns="0" rtlCol="0" anchor="ctr"/>
          <a:lstStyle/>
          <a:p>
            <a:pPr>
              <a:lnSpc>
                <a:spcPct val="120000"/>
              </a:lnSpc>
            </a:pPr>
            <a:r>
              <a:rPr lang="en-US" sz="1011" b="1" dirty="0">
                <a:solidFill>
                  <a:srgbClr val="FFFFFF"/>
                </a:solidFill>
                <a:latin typeface="Quattrocento Sans" pitchFamily="34" charset="0"/>
                <a:ea typeface="Quattrocento Sans" pitchFamily="34" charset="-122"/>
                <a:cs typeface="Quattrocento Sans" pitchFamily="34" charset="-120"/>
              </a:rPr>
              <a:t>Appointment → Prescription</a:t>
            </a:r>
            <a:endParaRPr lang="en-US" sz="1600" dirty="0"/>
          </a:p>
        </p:txBody>
      </p:sp>
      <p:sp>
        <p:nvSpPr>
          <p:cNvPr id="28" name="Text 25"/>
          <p:cNvSpPr/>
          <p:nvPr/>
        </p:nvSpPr>
        <p:spPr>
          <a:xfrm>
            <a:off x="8183765" y="4326440"/>
            <a:ext cx="3400926" cy="146671"/>
          </a:xfrm>
          <a:prstGeom prst="rect">
            <a:avLst/>
          </a:prstGeom>
          <a:noFill/>
          <a:ln/>
        </p:spPr>
        <p:txBody>
          <a:bodyPr wrap="square" lIns="0" tIns="0" rIns="0" bIns="0" rtlCol="0" anchor="ctr"/>
          <a:lstStyle/>
          <a:p>
            <a:pPr>
              <a:lnSpc>
                <a:spcPct val="110000"/>
              </a:lnSpc>
            </a:pPr>
            <a:r>
              <a:rPr lang="en-US" sz="866" dirty="0">
                <a:solidFill>
                  <a:srgbClr val="F1F5F9">
                    <a:alpha val="80000"/>
                  </a:srgbClr>
                </a:solidFill>
                <a:latin typeface="Quattrocento Sans" pitchFamily="34" charset="0"/>
                <a:ea typeface="Quattrocento Sans" pitchFamily="34" charset="-122"/>
                <a:cs typeface="Quattrocento Sans" pitchFamily="34" charset="-120"/>
              </a:rPr>
              <a:t>Creates digital prescriptions linked to visits</a:t>
            </a:r>
            <a:endParaRPr lang="en-US" sz="1600" dirty="0"/>
          </a:p>
        </p:txBody>
      </p:sp>
      <p:sp>
        <p:nvSpPr>
          <p:cNvPr id="31" name="Text 28"/>
          <p:cNvSpPr/>
          <p:nvPr/>
        </p:nvSpPr>
        <p:spPr>
          <a:xfrm>
            <a:off x="8284602" y="5096349"/>
            <a:ext cx="3437594" cy="256674"/>
          </a:xfrm>
          <a:prstGeom prst="rect">
            <a:avLst/>
          </a:prstGeom>
          <a:noFill/>
          <a:ln/>
        </p:spPr>
        <p:txBody>
          <a:bodyPr wrap="square" lIns="0" tIns="0" rIns="0" bIns="0" rtlCol="0" anchor="ctr"/>
          <a:lstStyle/>
          <a:p>
            <a:pPr>
              <a:lnSpc>
                <a:spcPct val="130000"/>
              </a:lnSpc>
            </a:pPr>
            <a:endParaRPr lang="en-US" sz="1600" dirty="0"/>
          </a:p>
        </p:txBody>
      </p:sp>
      <p:sp>
        <p:nvSpPr>
          <p:cNvPr id="41" name="Text 38"/>
          <p:cNvSpPr/>
          <p:nvPr/>
        </p:nvSpPr>
        <p:spPr>
          <a:xfrm>
            <a:off x="8179182" y="6306383"/>
            <a:ext cx="2273395" cy="183338"/>
          </a:xfrm>
          <a:prstGeom prst="rect">
            <a:avLst/>
          </a:prstGeom>
          <a:noFill/>
          <a:ln/>
        </p:spPr>
        <p:txBody>
          <a:bodyPr wrap="square" lIns="0" tIns="0" rIns="0" bIns="0" rtlCol="0" anchor="ctr"/>
          <a:lstStyle/>
          <a:p>
            <a:pPr>
              <a:lnSpc>
                <a:spcPct val="120000"/>
              </a:lnSpc>
            </a:pPr>
            <a:endParaRPr lang="en-US" sz="1600" dirty="0"/>
          </a:p>
        </p:txBody>
      </p:sp>
      <p:pic>
        <p:nvPicPr>
          <p:cNvPr id="43" name="Picture 42">
            <a:extLst>
              <a:ext uri="{FF2B5EF4-FFF2-40B4-BE49-F238E27FC236}">
                <a16:creationId xmlns:a16="http://schemas.microsoft.com/office/drawing/2014/main" id="{34764787-8B59-495C-9FD3-1E5EC1F03803}"/>
              </a:ext>
            </a:extLst>
          </p:cNvPr>
          <p:cNvPicPr>
            <a:picLocks noChangeAspect="1"/>
          </p:cNvPicPr>
          <p:nvPr/>
        </p:nvPicPr>
        <p:blipFill>
          <a:blip r:embed="rId3"/>
          <a:stretch>
            <a:fillRect/>
          </a:stretch>
        </p:blipFill>
        <p:spPr>
          <a:xfrm>
            <a:off x="462307" y="1870396"/>
            <a:ext cx="7102993" cy="4912777"/>
          </a:xfrm>
          <a:prstGeom prst="rect">
            <a:avLst/>
          </a:prstGeom>
        </p:spPr>
      </p:pic>
      <p:pic>
        <p:nvPicPr>
          <p:cNvPr id="44" name="Picture 43">
            <a:extLst>
              <a:ext uri="{FF2B5EF4-FFF2-40B4-BE49-F238E27FC236}">
                <a16:creationId xmlns:a16="http://schemas.microsoft.com/office/drawing/2014/main" id="{7A652F64-E47B-490D-B571-034662301EF8}"/>
              </a:ext>
            </a:extLst>
          </p:cNvPr>
          <p:cNvPicPr>
            <a:picLocks noChangeAspect="1"/>
          </p:cNvPicPr>
          <p:nvPr/>
        </p:nvPicPr>
        <p:blipFill>
          <a:blip r:embed="rId4"/>
          <a:stretch>
            <a:fillRect/>
          </a:stretch>
        </p:blipFill>
        <p:spPr>
          <a:xfrm>
            <a:off x="11072557" y="195160"/>
            <a:ext cx="816935" cy="1097375"/>
          </a:xfrm>
          <a:prstGeom prst="rect">
            <a:avLst/>
          </a:prstGeom>
        </p:spPr>
      </p:pic>
      <p:sp>
        <p:nvSpPr>
          <p:cNvPr id="45" name="TextBox 44">
            <a:extLst>
              <a:ext uri="{FF2B5EF4-FFF2-40B4-BE49-F238E27FC236}">
                <a16:creationId xmlns:a16="http://schemas.microsoft.com/office/drawing/2014/main" id="{686B4152-F10F-48E5-AA7F-7C12F7447764}"/>
              </a:ext>
            </a:extLst>
          </p:cNvPr>
          <p:cNvSpPr txBox="1"/>
          <p:nvPr/>
        </p:nvSpPr>
        <p:spPr>
          <a:xfrm>
            <a:off x="11671221" y="6473785"/>
            <a:ext cx="457200"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07</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endParaRPr lang="en-US" sz="1600" dirty="0"/>
          </a:p>
        </p:txBody>
      </p:sp>
      <p:sp>
        <p:nvSpPr>
          <p:cNvPr id="3" name="Text 1"/>
          <p:cNvSpPr/>
          <p:nvPr/>
        </p:nvSpPr>
        <p:spPr>
          <a:xfrm>
            <a:off x="381000" y="647700"/>
            <a:ext cx="11601450" cy="381000"/>
          </a:xfrm>
          <a:prstGeom prst="rect">
            <a:avLst/>
          </a:prstGeom>
          <a:noFill/>
          <a:ln/>
        </p:spPr>
        <p:txBody>
          <a:bodyPr wrap="square" lIns="0" tIns="0" rIns="0" bIns="0" rtlCol="0" anchor="ctr"/>
          <a:lstStyle/>
          <a:p>
            <a:pPr>
              <a:lnSpc>
                <a:spcPct val="90000"/>
              </a:lnSpc>
            </a:pPr>
            <a:endParaRPr lang="en-US" sz="1600" dirty="0"/>
          </a:p>
        </p:txBody>
      </p:sp>
      <p:sp>
        <p:nvSpPr>
          <p:cNvPr id="54" name="Shape 52"/>
          <p:cNvSpPr/>
          <p:nvPr/>
        </p:nvSpPr>
        <p:spPr>
          <a:xfrm>
            <a:off x="369808" y="5486400"/>
            <a:ext cx="3705225" cy="1028700"/>
          </a:xfrm>
          <a:custGeom>
            <a:avLst/>
            <a:gdLst/>
            <a:ahLst/>
            <a:cxnLst/>
            <a:rect l="l" t="t" r="r" b="b"/>
            <a:pathLst>
              <a:path w="3705225" h="1028700">
                <a:moveTo>
                  <a:pt x="114299" y="0"/>
                </a:moveTo>
                <a:lnTo>
                  <a:pt x="3590926" y="0"/>
                </a:lnTo>
                <a:cubicBezTo>
                  <a:pt x="3654052" y="0"/>
                  <a:pt x="3705225" y="51173"/>
                  <a:pt x="3705225" y="114299"/>
                </a:cubicBezTo>
                <a:lnTo>
                  <a:pt x="3705225" y="914401"/>
                </a:lnTo>
                <a:cubicBezTo>
                  <a:pt x="3705225" y="977527"/>
                  <a:pt x="3654052" y="1028700"/>
                  <a:pt x="3590926" y="1028700"/>
                </a:cubicBezTo>
                <a:lnTo>
                  <a:pt x="114299" y="1028700"/>
                </a:lnTo>
                <a:cubicBezTo>
                  <a:pt x="51173" y="1028700"/>
                  <a:pt x="0" y="977527"/>
                  <a:pt x="0" y="914401"/>
                </a:cubicBezTo>
                <a:lnTo>
                  <a:pt x="0" y="114299"/>
                </a:lnTo>
                <a:cubicBezTo>
                  <a:pt x="0" y="51173"/>
                  <a:pt x="51173" y="0"/>
                  <a:pt x="114299" y="0"/>
                </a:cubicBezTo>
                <a:close/>
              </a:path>
            </a:pathLst>
          </a:custGeom>
          <a:gradFill flip="none" rotWithShape="1">
            <a:gsLst>
              <a:gs pos="0">
                <a:srgbClr val="FB2C36"/>
              </a:gs>
              <a:gs pos="100000">
                <a:srgbClr val="E7000B"/>
              </a:gs>
            </a:gsLst>
            <a:lin ang="2700000" scaled="1"/>
          </a:gradFill>
          <a:ln/>
        </p:spPr>
      </p:sp>
      <p:sp>
        <p:nvSpPr>
          <p:cNvPr id="55" name="Shape 53"/>
          <p:cNvSpPr/>
          <p:nvPr/>
        </p:nvSpPr>
        <p:spPr>
          <a:xfrm>
            <a:off x="561975" y="5715121"/>
            <a:ext cx="228600" cy="228600"/>
          </a:xfrm>
          <a:custGeom>
            <a:avLst/>
            <a:gdLst/>
            <a:ahLst/>
            <a:cxnLst/>
            <a:rect l="l" t="t" r="r" b="b"/>
            <a:pathLst>
              <a:path w="228600" h="228600">
                <a:moveTo>
                  <a:pt x="28575" y="28575"/>
                </a:moveTo>
                <a:cubicBezTo>
                  <a:pt x="28575" y="20672"/>
                  <a:pt x="22190" y="14288"/>
                  <a:pt x="14288" y="14288"/>
                </a:cubicBezTo>
                <a:cubicBezTo>
                  <a:pt x="6385" y="14288"/>
                  <a:pt x="0" y="20672"/>
                  <a:pt x="0" y="28575"/>
                </a:cubicBezTo>
                <a:lnTo>
                  <a:pt x="0" y="178594"/>
                </a:lnTo>
                <a:cubicBezTo>
                  <a:pt x="0" y="198328"/>
                  <a:pt x="15984" y="214313"/>
                  <a:pt x="35719" y="214313"/>
                </a:cubicBezTo>
                <a:lnTo>
                  <a:pt x="214313" y="214313"/>
                </a:lnTo>
                <a:cubicBezTo>
                  <a:pt x="222215" y="214313"/>
                  <a:pt x="228600" y="207928"/>
                  <a:pt x="228600" y="200025"/>
                </a:cubicBezTo>
                <a:cubicBezTo>
                  <a:pt x="228600" y="192122"/>
                  <a:pt x="222215" y="185738"/>
                  <a:pt x="214313" y="185738"/>
                </a:cubicBezTo>
                <a:lnTo>
                  <a:pt x="35719" y="185738"/>
                </a:lnTo>
                <a:cubicBezTo>
                  <a:pt x="31790" y="185738"/>
                  <a:pt x="28575" y="182523"/>
                  <a:pt x="28575" y="178594"/>
                </a:cubicBezTo>
                <a:lnTo>
                  <a:pt x="28575" y="28575"/>
                </a:lnTo>
                <a:close/>
                <a:moveTo>
                  <a:pt x="210116" y="67241"/>
                </a:moveTo>
                <a:cubicBezTo>
                  <a:pt x="215697" y="61659"/>
                  <a:pt x="215697" y="52596"/>
                  <a:pt x="210116" y="47015"/>
                </a:cubicBezTo>
                <a:cubicBezTo>
                  <a:pt x="204534" y="41434"/>
                  <a:pt x="195471" y="41434"/>
                  <a:pt x="189890" y="47015"/>
                </a:cubicBezTo>
                <a:lnTo>
                  <a:pt x="142875" y="94074"/>
                </a:lnTo>
                <a:lnTo>
                  <a:pt x="117247" y="68491"/>
                </a:lnTo>
                <a:cubicBezTo>
                  <a:pt x="111666" y="62910"/>
                  <a:pt x="102602" y="62910"/>
                  <a:pt x="97021" y="68491"/>
                </a:cubicBezTo>
                <a:lnTo>
                  <a:pt x="54159" y="111353"/>
                </a:lnTo>
                <a:cubicBezTo>
                  <a:pt x="48578" y="116934"/>
                  <a:pt x="48578" y="125998"/>
                  <a:pt x="54159" y="131579"/>
                </a:cubicBezTo>
                <a:cubicBezTo>
                  <a:pt x="59740" y="137160"/>
                  <a:pt x="68803" y="137160"/>
                  <a:pt x="74384" y="131579"/>
                </a:cubicBezTo>
                <a:lnTo>
                  <a:pt x="107156" y="98807"/>
                </a:lnTo>
                <a:lnTo>
                  <a:pt x="132784" y="124435"/>
                </a:lnTo>
                <a:cubicBezTo>
                  <a:pt x="138366" y="130016"/>
                  <a:pt x="147429" y="130016"/>
                  <a:pt x="153010" y="124435"/>
                </a:cubicBezTo>
                <a:lnTo>
                  <a:pt x="210160" y="67285"/>
                </a:lnTo>
                <a:close/>
              </a:path>
            </a:pathLst>
          </a:custGeom>
          <a:solidFill>
            <a:srgbClr val="FFFFFF"/>
          </a:solidFill>
          <a:ln/>
        </p:spPr>
      </p:sp>
      <p:sp>
        <p:nvSpPr>
          <p:cNvPr id="56" name="Text 54"/>
          <p:cNvSpPr/>
          <p:nvPr/>
        </p:nvSpPr>
        <p:spPr>
          <a:xfrm>
            <a:off x="933450" y="5600937"/>
            <a:ext cx="781050" cy="152400"/>
          </a:xfrm>
          <a:prstGeom prst="rect">
            <a:avLst/>
          </a:prstGeom>
          <a:noFill/>
          <a:ln/>
        </p:spPr>
        <p:txBody>
          <a:bodyPr wrap="square" lIns="0" tIns="0" rIns="0" bIns="0" rtlCol="0" anchor="ctr"/>
          <a:lstStyle/>
          <a:p>
            <a:pPr>
              <a:lnSpc>
                <a:spcPct val="110000"/>
              </a:lnSpc>
            </a:pPr>
            <a:r>
              <a:rPr lang="en-US" sz="900" dirty="0">
                <a:solidFill>
                  <a:srgbClr val="FFFFFF">
                    <a:alpha val="80000"/>
                  </a:srgbClr>
                </a:solidFill>
                <a:latin typeface="Quattrocento Sans" pitchFamily="34" charset="0"/>
                <a:ea typeface="Quattrocento Sans" pitchFamily="34" charset="-122"/>
                <a:cs typeface="Quattrocento Sans" pitchFamily="34" charset="-120"/>
              </a:rPr>
              <a:t>Efficiency Loss</a:t>
            </a:r>
            <a:endParaRPr lang="en-US" sz="1600" dirty="0"/>
          </a:p>
        </p:txBody>
      </p:sp>
      <p:sp>
        <p:nvSpPr>
          <p:cNvPr id="57" name="Text 55"/>
          <p:cNvSpPr/>
          <p:nvPr/>
        </p:nvSpPr>
        <p:spPr>
          <a:xfrm>
            <a:off x="933450" y="5753221"/>
            <a:ext cx="838200" cy="304800"/>
          </a:xfrm>
          <a:prstGeom prst="rect">
            <a:avLst/>
          </a:prstGeom>
          <a:noFill/>
          <a:ln/>
        </p:spPr>
        <p:txBody>
          <a:bodyPr wrap="square" lIns="0" tIns="0" rIns="0" bIns="0" rtlCol="0" anchor="ctr"/>
          <a:lstStyle/>
          <a:p>
            <a:pPr>
              <a:lnSpc>
                <a:spcPct val="110000"/>
              </a:lnSpc>
            </a:pPr>
            <a:r>
              <a:rPr lang="en-US" sz="1800" b="1" dirty="0">
                <a:solidFill>
                  <a:srgbClr val="FFFFFF"/>
                </a:solidFill>
                <a:latin typeface="Quattrocento Sans" pitchFamily="34" charset="0"/>
                <a:ea typeface="Quattrocento Sans" pitchFamily="34" charset="-122"/>
                <a:cs typeface="Quattrocento Sans" pitchFamily="34" charset="-120"/>
              </a:rPr>
              <a:t>-45%</a:t>
            </a:r>
            <a:endParaRPr lang="en-US" sz="1600" dirty="0"/>
          </a:p>
        </p:txBody>
      </p:sp>
      <p:sp>
        <p:nvSpPr>
          <p:cNvPr id="58" name="Text 56"/>
          <p:cNvSpPr/>
          <p:nvPr/>
        </p:nvSpPr>
        <p:spPr>
          <a:xfrm>
            <a:off x="533400" y="6134100"/>
            <a:ext cx="3467100" cy="190500"/>
          </a:xfrm>
          <a:prstGeom prst="rect">
            <a:avLst/>
          </a:prstGeom>
          <a:noFill/>
          <a:ln/>
        </p:spPr>
        <p:txBody>
          <a:bodyPr wrap="square" lIns="0" tIns="0" rIns="0" bIns="0" rtlCol="0" anchor="ctr"/>
          <a:lstStyle/>
          <a:p>
            <a:pPr>
              <a:lnSpc>
                <a:spcPct val="120000"/>
              </a:lnSpc>
            </a:pPr>
            <a:r>
              <a:rPr lang="en-US" sz="1050" dirty="0">
                <a:solidFill>
                  <a:srgbClr val="FFFFFF">
                    <a:alpha val="90000"/>
                  </a:srgbClr>
                </a:solidFill>
                <a:latin typeface="Quattrocento Sans" pitchFamily="34" charset="0"/>
                <a:ea typeface="Quattrocento Sans" pitchFamily="34" charset="-122"/>
                <a:cs typeface="Quattrocento Sans" pitchFamily="34" charset="-120"/>
              </a:rPr>
              <a:t>Manual systems reduce operational efficiency</a:t>
            </a:r>
            <a:endParaRPr lang="en-US" sz="1600" dirty="0"/>
          </a:p>
        </p:txBody>
      </p:sp>
      <p:sp>
        <p:nvSpPr>
          <p:cNvPr id="59" name="Shape 57"/>
          <p:cNvSpPr/>
          <p:nvPr/>
        </p:nvSpPr>
        <p:spPr>
          <a:xfrm>
            <a:off x="4241721" y="5448537"/>
            <a:ext cx="3705225" cy="1028700"/>
          </a:xfrm>
          <a:custGeom>
            <a:avLst/>
            <a:gdLst/>
            <a:ahLst/>
            <a:cxnLst/>
            <a:rect l="l" t="t" r="r" b="b"/>
            <a:pathLst>
              <a:path w="3705225" h="1028700">
                <a:moveTo>
                  <a:pt x="114299" y="0"/>
                </a:moveTo>
                <a:lnTo>
                  <a:pt x="3590926" y="0"/>
                </a:lnTo>
                <a:cubicBezTo>
                  <a:pt x="3654052" y="0"/>
                  <a:pt x="3705225" y="51173"/>
                  <a:pt x="3705225" y="114299"/>
                </a:cubicBezTo>
                <a:lnTo>
                  <a:pt x="3705225" y="914401"/>
                </a:lnTo>
                <a:cubicBezTo>
                  <a:pt x="3705225" y="977527"/>
                  <a:pt x="3654052" y="1028700"/>
                  <a:pt x="3590926" y="1028700"/>
                </a:cubicBezTo>
                <a:lnTo>
                  <a:pt x="114299" y="1028700"/>
                </a:lnTo>
                <a:cubicBezTo>
                  <a:pt x="51173" y="1028700"/>
                  <a:pt x="0" y="977527"/>
                  <a:pt x="0" y="914401"/>
                </a:cubicBezTo>
                <a:lnTo>
                  <a:pt x="0" y="114299"/>
                </a:lnTo>
                <a:cubicBezTo>
                  <a:pt x="0" y="51173"/>
                  <a:pt x="51173" y="0"/>
                  <a:pt x="114299" y="0"/>
                </a:cubicBezTo>
                <a:close/>
              </a:path>
            </a:pathLst>
          </a:custGeom>
          <a:gradFill flip="none" rotWithShape="1">
            <a:gsLst>
              <a:gs pos="0">
                <a:srgbClr val="F0B100"/>
              </a:gs>
              <a:gs pos="100000">
                <a:srgbClr val="D08700"/>
              </a:gs>
            </a:gsLst>
            <a:lin ang="2700000" scaled="1"/>
          </a:gradFill>
          <a:ln/>
        </p:spPr>
      </p:sp>
      <p:sp>
        <p:nvSpPr>
          <p:cNvPr id="60" name="Shape 58"/>
          <p:cNvSpPr/>
          <p:nvPr/>
        </p:nvSpPr>
        <p:spPr>
          <a:xfrm>
            <a:off x="4394121" y="5715121"/>
            <a:ext cx="285750" cy="228600"/>
          </a:xfrm>
          <a:custGeom>
            <a:avLst/>
            <a:gdLst/>
            <a:ahLst/>
            <a:cxnLst/>
            <a:rect l="l" t="t" r="r" b="b"/>
            <a:pathLst>
              <a:path w="285750" h="228600">
                <a:moveTo>
                  <a:pt x="142875" y="7144"/>
                </a:moveTo>
                <a:cubicBezTo>
                  <a:pt x="168503" y="7144"/>
                  <a:pt x="189309" y="27950"/>
                  <a:pt x="189309" y="53578"/>
                </a:cubicBezTo>
                <a:cubicBezTo>
                  <a:pt x="189309" y="79206"/>
                  <a:pt x="168503" y="100013"/>
                  <a:pt x="142875" y="100013"/>
                </a:cubicBezTo>
                <a:cubicBezTo>
                  <a:pt x="117247" y="100013"/>
                  <a:pt x="96441" y="79206"/>
                  <a:pt x="96441" y="53578"/>
                </a:cubicBezTo>
                <a:cubicBezTo>
                  <a:pt x="96441" y="27950"/>
                  <a:pt x="117247" y="7144"/>
                  <a:pt x="142875" y="7144"/>
                </a:cubicBezTo>
                <a:close/>
                <a:moveTo>
                  <a:pt x="42863" y="39291"/>
                </a:moveTo>
                <a:cubicBezTo>
                  <a:pt x="60605" y="39291"/>
                  <a:pt x="75009" y="53695"/>
                  <a:pt x="75009" y="71438"/>
                </a:cubicBezTo>
                <a:cubicBezTo>
                  <a:pt x="75009" y="89180"/>
                  <a:pt x="60605" y="103584"/>
                  <a:pt x="42863" y="103584"/>
                </a:cubicBezTo>
                <a:cubicBezTo>
                  <a:pt x="25120" y="103584"/>
                  <a:pt x="10716" y="89180"/>
                  <a:pt x="10716" y="71438"/>
                </a:cubicBezTo>
                <a:cubicBezTo>
                  <a:pt x="10716" y="53695"/>
                  <a:pt x="25120" y="39291"/>
                  <a:pt x="42862" y="39291"/>
                </a:cubicBezTo>
                <a:close/>
                <a:moveTo>
                  <a:pt x="0" y="185738"/>
                </a:moveTo>
                <a:cubicBezTo>
                  <a:pt x="0" y="154171"/>
                  <a:pt x="25584" y="128588"/>
                  <a:pt x="57150" y="128588"/>
                </a:cubicBezTo>
                <a:cubicBezTo>
                  <a:pt x="62865" y="128588"/>
                  <a:pt x="68401" y="129436"/>
                  <a:pt x="73625" y="130999"/>
                </a:cubicBezTo>
                <a:cubicBezTo>
                  <a:pt x="58936" y="147429"/>
                  <a:pt x="50006" y="169128"/>
                  <a:pt x="50006" y="192881"/>
                </a:cubicBezTo>
                <a:lnTo>
                  <a:pt x="50006" y="200025"/>
                </a:lnTo>
                <a:cubicBezTo>
                  <a:pt x="50006" y="205115"/>
                  <a:pt x="51078" y="209937"/>
                  <a:pt x="52998" y="214313"/>
                </a:cubicBezTo>
                <a:lnTo>
                  <a:pt x="14288" y="214313"/>
                </a:lnTo>
                <a:cubicBezTo>
                  <a:pt x="6385" y="214313"/>
                  <a:pt x="0" y="207928"/>
                  <a:pt x="0" y="200025"/>
                </a:cubicBezTo>
                <a:lnTo>
                  <a:pt x="0" y="185738"/>
                </a:lnTo>
                <a:close/>
                <a:moveTo>
                  <a:pt x="232752" y="214313"/>
                </a:moveTo>
                <a:cubicBezTo>
                  <a:pt x="234672" y="209937"/>
                  <a:pt x="235744" y="205115"/>
                  <a:pt x="235744" y="200025"/>
                </a:cubicBezTo>
                <a:lnTo>
                  <a:pt x="235744" y="192881"/>
                </a:lnTo>
                <a:cubicBezTo>
                  <a:pt x="235744" y="169128"/>
                  <a:pt x="226814" y="147429"/>
                  <a:pt x="212125" y="130999"/>
                </a:cubicBezTo>
                <a:cubicBezTo>
                  <a:pt x="217349" y="129436"/>
                  <a:pt x="222885" y="128588"/>
                  <a:pt x="228600" y="128588"/>
                </a:cubicBezTo>
                <a:cubicBezTo>
                  <a:pt x="260166" y="128588"/>
                  <a:pt x="285750" y="154171"/>
                  <a:pt x="285750" y="185738"/>
                </a:cubicBezTo>
                <a:lnTo>
                  <a:pt x="285750" y="200025"/>
                </a:lnTo>
                <a:cubicBezTo>
                  <a:pt x="285750" y="207928"/>
                  <a:pt x="279365" y="214313"/>
                  <a:pt x="271463" y="214313"/>
                </a:cubicBezTo>
                <a:lnTo>
                  <a:pt x="232752" y="214313"/>
                </a:lnTo>
                <a:close/>
                <a:moveTo>
                  <a:pt x="210741" y="71438"/>
                </a:moveTo>
                <a:cubicBezTo>
                  <a:pt x="210741" y="53695"/>
                  <a:pt x="225145" y="39291"/>
                  <a:pt x="242888" y="39291"/>
                </a:cubicBezTo>
                <a:cubicBezTo>
                  <a:pt x="260630" y="39291"/>
                  <a:pt x="275034" y="53695"/>
                  <a:pt x="275034" y="71437"/>
                </a:cubicBezTo>
                <a:cubicBezTo>
                  <a:pt x="275034" y="89180"/>
                  <a:pt x="260630" y="103584"/>
                  <a:pt x="242888" y="103584"/>
                </a:cubicBezTo>
                <a:cubicBezTo>
                  <a:pt x="225145" y="103584"/>
                  <a:pt x="210741" y="89180"/>
                  <a:pt x="210741" y="71438"/>
                </a:cubicBezTo>
                <a:close/>
                <a:moveTo>
                  <a:pt x="71438" y="192881"/>
                </a:moveTo>
                <a:cubicBezTo>
                  <a:pt x="71438" y="153412"/>
                  <a:pt x="103406" y="121444"/>
                  <a:pt x="142875" y="121444"/>
                </a:cubicBezTo>
                <a:cubicBezTo>
                  <a:pt x="182344" y="121444"/>
                  <a:pt x="214313" y="153412"/>
                  <a:pt x="214313" y="192881"/>
                </a:cubicBezTo>
                <a:lnTo>
                  <a:pt x="214313" y="200025"/>
                </a:lnTo>
                <a:cubicBezTo>
                  <a:pt x="214313" y="207928"/>
                  <a:pt x="207928" y="214313"/>
                  <a:pt x="200025" y="214313"/>
                </a:cubicBezTo>
                <a:lnTo>
                  <a:pt x="85725" y="214313"/>
                </a:lnTo>
                <a:cubicBezTo>
                  <a:pt x="77822" y="214313"/>
                  <a:pt x="71438" y="207928"/>
                  <a:pt x="71438" y="200025"/>
                </a:cubicBezTo>
                <a:lnTo>
                  <a:pt x="71438" y="192881"/>
                </a:lnTo>
                <a:close/>
              </a:path>
            </a:pathLst>
          </a:custGeom>
          <a:solidFill>
            <a:srgbClr val="FFFFFF"/>
          </a:solidFill>
          <a:ln/>
        </p:spPr>
      </p:sp>
      <p:sp>
        <p:nvSpPr>
          <p:cNvPr id="61" name="Text 59"/>
          <p:cNvSpPr/>
          <p:nvPr/>
        </p:nvSpPr>
        <p:spPr>
          <a:xfrm>
            <a:off x="4794171" y="5600937"/>
            <a:ext cx="981075" cy="152400"/>
          </a:xfrm>
          <a:prstGeom prst="rect">
            <a:avLst/>
          </a:prstGeom>
          <a:noFill/>
          <a:ln/>
        </p:spPr>
        <p:txBody>
          <a:bodyPr wrap="square" lIns="0" tIns="0" rIns="0" bIns="0" rtlCol="0" anchor="ctr"/>
          <a:lstStyle/>
          <a:p>
            <a:pPr>
              <a:lnSpc>
                <a:spcPct val="110000"/>
              </a:lnSpc>
            </a:pPr>
            <a:r>
              <a:rPr lang="en-US" sz="900" dirty="0">
                <a:solidFill>
                  <a:srgbClr val="FFFFFF">
                    <a:alpha val="80000"/>
                  </a:srgbClr>
                </a:solidFill>
                <a:latin typeface="Quattrocento Sans" pitchFamily="34" charset="0"/>
                <a:ea typeface="Quattrocento Sans" pitchFamily="34" charset="-122"/>
                <a:cs typeface="Quattrocento Sans" pitchFamily="34" charset="-120"/>
              </a:rPr>
              <a:t>Patient Complaints</a:t>
            </a:r>
            <a:endParaRPr lang="en-US" sz="1600" dirty="0"/>
          </a:p>
        </p:txBody>
      </p:sp>
      <p:sp>
        <p:nvSpPr>
          <p:cNvPr id="62" name="Text 60"/>
          <p:cNvSpPr/>
          <p:nvPr/>
        </p:nvSpPr>
        <p:spPr>
          <a:xfrm>
            <a:off x="4794171" y="5753221"/>
            <a:ext cx="1038225" cy="304800"/>
          </a:xfrm>
          <a:prstGeom prst="rect">
            <a:avLst/>
          </a:prstGeom>
          <a:noFill/>
          <a:ln/>
        </p:spPr>
        <p:txBody>
          <a:bodyPr wrap="square" lIns="0" tIns="0" rIns="0" bIns="0" rtlCol="0" anchor="ctr"/>
          <a:lstStyle/>
          <a:p>
            <a:pPr>
              <a:lnSpc>
                <a:spcPct val="110000"/>
              </a:lnSpc>
            </a:pPr>
            <a:r>
              <a:rPr lang="en-US" sz="1800" b="1" dirty="0">
                <a:solidFill>
                  <a:srgbClr val="FFFFFF"/>
                </a:solidFill>
                <a:latin typeface="Quattrocento Sans" pitchFamily="34" charset="0"/>
                <a:ea typeface="Quattrocento Sans" pitchFamily="34" charset="-122"/>
                <a:cs typeface="Quattrocento Sans" pitchFamily="34" charset="-120"/>
              </a:rPr>
              <a:t>+60%</a:t>
            </a:r>
            <a:endParaRPr lang="en-US" sz="1600" dirty="0"/>
          </a:p>
        </p:txBody>
      </p:sp>
      <p:sp>
        <p:nvSpPr>
          <p:cNvPr id="63" name="Text 61"/>
          <p:cNvSpPr/>
          <p:nvPr/>
        </p:nvSpPr>
        <p:spPr>
          <a:xfrm>
            <a:off x="4394121" y="6134100"/>
            <a:ext cx="3467100" cy="190500"/>
          </a:xfrm>
          <a:prstGeom prst="rect">
            <a:avLst/>
          </a:prstGeom>
          <a:noFill/>
          <a:ln/>
        </p:spPr>
        <p:txBody>
          <a:bodyPr wrap="square" lIns="0" tIns="0" rIns="0" bIns="0" rtlCol="0" anchor="ctr"/>
          <a:lstStyle/>
          <a:p>
            <a:pPr>
              <a:lnSpc>
                <a:spcPct val="120000"/>
              </a:lnSpc>
            </a:pPr>
            <a:r>
              <a:rPr lang="en-US" sz="1050" dirty="0">
                <a:solidFill>
                  <a:srgbClr val="FFFFFF">
                    <a:alpha val="90000"/>
                  </a:srgbClr>
                </a:solidFill>
                <a:latin typeface="Quattrocento Sans" pitchFamily="34" charset="0"/>
                <a:ea typeface="Quattrocento Sans" pitchFamily="34" charset="-122"/>
                <a:cs typeface="Quattrocento Sans" pitchFamily="34" charset="-120"/>
              </a:rPr>
              <a:t>Higher dissatisfaction with manual processes</a:t>
            </a:r>
            <a:endParaRPr lang="en-US" sz="1600" dirty="0"/>
          </a:p>
        </p:txBody>
      </p:sp>
      <p:sp>
        <p:nvSpPr>
          <p:cNvPr id="64" name="Shape 62"/>
          <p:cNvSpPr/>
          <p:nvPr/>
        </p:nvSpPr>
        <p:spPr>
          <a:xfrm>
            <a:off x="8102561" y="5448537"/>
            <a:ext cx="3705225" cy="1028700"/>
          </a:xfrm>
          <a:custGeom>
            <a:avLst/>
            <a:gdLst/>
            <a:ahLst/>
            <a:cxnLst/>
            <a:rect l="l" t="t" r="r" b="b"/>
            <a:pathLst>
              <a:path w="3705225" h="1028700">
                <a:moveTo>
                  <a:pt x="114299" y="0"/>
                </a:moveTo>
                <a:lnTo>
                  <a:pt x="3590926" y="0"/>
                </a:lnTo>
                <a:cubicBezTo>
                  <a:pt x="3654052" y="0"/>
                  <a:pt x="3705225" y="51173"/>
                  <a:pt x="3705225" y="114299"/>
                </a:cubicBezTo>
                <a:lnTo>
                  <a:pt x="3705225" y="914401"/>
                </a:lnTo>
                <a:cubicBezTo>
                  <a:pt x="3705225" y="977527"/>
                  <a:pt x="3654052" y="1028700"/>
                  <a:pt x="3590926" y="1028700"/>
                </a:cubicBezTo>
                <a:lnTo>
                  <a:pt x="114299" y="1028700"/>
                </a:lnTo>
                <a:cubicBezTo>
                  <a:pt x="51173" y="1028700"/>
                  <a:pt x="0" y="977527"/>
                  <a:pt x="0" y="914401"/>
                </a:cubicBezTo>
                <a:lnTo>
                  <a:pt x="0" y="114299"/>
                </a:lnTo>
                <a:cubicBezTo>
                  <a:pt x="0" y="51173"/>
                  <a:pt x="51173" y="0"/>
                  <a:pt x="114299" y="0"/>
                </a:cubicBezTo>
                <a:close/>
              </a:path>
            </a:pathLst>
          </a:custGeom>
          <a:gradFill flip="none" rotWithShape="1">
            <a:gsLst>
              <a:gs pos="0">
                <a:srgbClr val="10B981"/>
              </a:gs>
              <a:gs pos="100000">
                <a:srgbClr val="009966"/>
              </a:gs>
            </a:gsLst>
            <a:lin ang="2700000" scaled="1"/>
          </a:gradFill>
          <a:ln/>
        </p:spPr>
      </p:sp>
      <p:sp>
        <p:nvSpPr>
          <p:cNvPr id="65" name="Shape 63"/>
          <p:cNvSpPr/>
          <p:nvPr/>
        </p:nvSpPr>
        <p:spPr>
          <a:xfrm>
            <a:off x="8312111" y="5715121"/>
            <a:ext cx="171450" cy="228600"/>
          </a:xfrm>
          <a:custGeom>
            <a:avLst/>
            <a:gdLst/>
            <a:ahLst/>
            <a:cxnLst/>
            <a:rect l="l" t="t" r="r" b="b"/>
            <a:pathLst>
              <a:path w="171450" h="228600">
                <a:moveTo>
                  <a:pt x="95816" y="7769"/>
                </a:moveTo>
                <a:cubicBezTo>
                  <a:pt x="90234" y="2188"/>
                  <a:pt x="81171" y="2188"/>
                  <a:pt x="75590" y="7769"/>
                </a:cubicBezTo>
                <a:lnTo>
                  <a:pt x="4152" y="79206"/>
                </a:lnTo>
                <a:cubicBezTo>
                  <a:pt x="-1429" y="84787"/>
                  <a:pt x="-1429" y="93851"/>
                  <a:pt x="4152" y="99432"/>
                </a:cubicBezTo>
                <a:cubicBezTo>
                  <a:pt x="9733" y="105013"/>
                  <a:pt x="18797" y="105013"/>
                  <a:pt x="24378" y="99432"/>
                </a:cubicBezTo>
                <a:lnTo>
                  <a:pt x="71438" y="52373"/>
                </a:lnTo>
                <a:lnTo>
                  <a:pt x="71438" y="217884"/>
                </a:lnTo>
                <a:cubicBezTo>
                  <a:pt x="71438" y="225787"/>
                  <a:pt x="77822" y="232172"/>
                  <a:pt x="85725" y="232172"/>
                </a:cubicBezTo>
                <a:cubicBezTo>
                  <a:pt x="93628" y="232172"/>
                  <a:pt x="100013" y="225787"/>
                  <a:pt x="100013" y="217884"/>
                </a:cubicBezTo>
                <a:lnTo>
                  <a:pt x="100013" y="52373"/>
                </a:lnTo>
                <a:lnTo>
                  <a:pt x="147072" y="99432"/>
                </a:lnTo>
                <a:cubicBezTo>
                  <a:pt x="152653" y="105013"/>
                  <a:pt x="161717" y="105013"/>
                  <a:pt x="167298" y="99432"/>
                </a:cubicBezTo>
                <a:cubicBezTo>
                  <a:pt x="172879" y="93851"/>
                  <a:pt x="172879" y="84787"/>
                  <a:pt x="167298" y="79206"/>
                </a:cubicBezTo>
                <a:lnTo>
                  <a:pt x="95860" y="7769"/>
                </a:lnTo>
                <a:close/>
              </a:path>
            </a:pathLst>
          </a:custGeom>
          <a:solidFill>
            <a:srgbClr val="FFFFFF"/>
          </a:solidFill>
          <a:ln/>
        </p:spPr>
      </p:sp>
      <p:sp>
        <p:nvSpPr>
          <p:cNvPr id="66" name="Text 64"/>
          <p:cNvSpPr/>
          <p:nvPr/>
        </p:nvSpPr>
        <p:spPr>
          <a:xfrm>
            <a:off x="8655011" y="5600937"/>
            <a:ext cx="1219200" cy="152400"/>
          </a:xfrm>
          <a:prstGeom prst="rect">
            <a:avLst/>
          </a:prstGeom>
          <a:noFill/>
          <a:ln/>
        </p:spPr>
        <p:txBody>
          <a:bodyPr wrap="square" lIns="0" tIns="0" rIns="0" bIns="0" rtlCol="0" anchor="ctr"/>
          <a:lstStyle/>
          <a:p>
            <a:pPr>
              <a:lnSpc>
                <a:spcPct val="110000"/>
              </a:lnSpc>
            </a:pPr>
            <a:r>
              <a:rPr lang="en-US" sz="900" dirty="0">
                <a:solidFill>
                  <a:srgbClr val="FFFFFF">
                    <a:alpha val="80000"/>
                  </a:srgbClr>
                </a:solidFill>
                <a:latin typeface="Quattrocento Sans" pitchFamily="34" charset="0"/>
                <a:ea typeface="Quattrocento Sans" pitchFamily="34" charset="-122"/>
                <a:cs typeface="Quattrocento Sans" pitchFamily="34" charset="-120"/>
              </a:rPr>
              <a:t>Expected Improvement</a:t>
            </a:r>
            <a:endParaRPr lang="en-US" sz="1600" dirty="0"/>
          </a:p>
        </p:txBody>
      </p:sp>
      <p:sp>
        <p:nvSpPr>
          <p:cNvPr id="67" name="Text 65"/>
          <p:cNvSpPr/>
          <p:nvPr/>
        </p:nvSpPr>
        <p:spPr>
          <a:xfrm>
            <a:off x="8655011" y="5753221"/>
            <a:ext cx="1276350" cy="304800"/>
          </a:xfrm>
          <a:prstGeom prst="rect">
            <a:avLst/>
          </a:prstGeom>
          <a:noFill/>
          <a:ln/>
        </p:spPr>
        <p:txBody>
          <a:bodyPr wrap="square" lIns="0" tIns="0" rIns="0" bIns="0" rtlCol="0" anchor="ctr"/>
          <a:lstStyle/>
          <a:p>
            <a:pPr>
              <a:lnSpc>
                <a:spcPct val="110000"/>
              </a:lnSpc>
            </a:pPr>
            <a:r>
              <a:rPr lang="en-US" sz="1800" b="1" dirty="0">
                <a:solidFill>
                  <a:srgbClr val="FFFFFF"/>
                </a:solidFill>
                <a:latin typeface="Quattrocento Sans" pitchFamily="34" charset="0"/>
                <a:ea typeface="Quattrocento Sans" pitchFamily="34" charset="-122"/>
                <a:cs typeface="Quattrocento Sans" pitchFamily="34" charset="-120"/>
              </a:rPr>
              <a:t>+85%</a:t>
            </a:r>
            <a:endParaRPr lang="en-US" sz="1600" dirty="0"/>
          </a:p>
        </p:txBody>
      </p:sp>
      <p:sp>
        <p:nvSpPr>
          <p:cNvPr id="68" name="Text 66"/>
          <p:cNvSpPr/>
          <p:nvPr/>
        </p:nvSpPr>
        <p:spPr>
          <a:xfrm>
            <a:off x="8254961" y="6134100"/>
            <a:ext cx="3467100" cy="190500"/>
          </a:xfrm>
          <a:prstGeom prst="rect">
            <a:avLst/>
          </a:prstGeom>
          <a:noFill/>
          <a:ln/>
        </p:spPr>
        <p:txBody>
          <a:bodyPr wrap="square" lIns="0" tIns="0" rIns="0" bIns="0" rtlCol="0" anchor="ctr"/>
          <a:lstStyle/>
          <a:p>
            <a:pPr>
              <a:lnSpc>
                <a:spcPct val="120000"/>
              </a:lnSpc>
            </a:pPr>
            <a:r>
              <a:rPr lang="en-US" sz="1050" dirty="0">
                <a:solidFill>
                  <a:srgbClr val="FFFFFF">
                    <a:alpha val="90000"/>
                  </a:srgbClr>
                </a:solidFill>
                <a:latin typeface="Quattrocento Sans" pitchFamily="34" charset="0"/>
                <a:ea typeface="Quattrocento Sans" pitchFamily="34" charset="-122"/>
                <a:cs typeface="Quattrocento Sans" pitchFamily="34" charset="-120"/>
              </a:rPr>
              <a:t>Efficiency gain with digital system</a:t>
            </a:r>
            <a:endParaRPr lang="en-US" sz="1600" dirty="0"/>
          </a:p>
        </p:txBody>
      </p:sp>
      <p:pic>
        <p:nvPicPr>
          <p:cNvPr id="69" name="Picture 68">
            <a:extLst>
              <a:ext uri="{FF2B5EF4-FFF2-40B4-BE49-F238E27FC236}">
                <a16:creationId xmlns:a16="http://schemas.microsoft.com/office/drawing/2014/main" id="{4476953F-D00E-4053-B90D-0F1E9C14DF18}"/>
              </a:ext>
            </a:extLst>
          </p:cNvPr>
          <p:cNvPicPr>
            <a:picLocks noChangeAspect="1"/>
          </p:cNvPicPr>
          <p:nvPr/>
        </p:nvPicPr>
        <p:blipFill>
          <a:blip r:embed="rId3"/>
          <a:stretch>
            <a:fillRect/>
          </a:stretch>
        </p:blipFill>
        <p:spPr>
          <a:xfrm>
            <a:off x="11114715" y="190901"/>
            <a:ext cx="816935" cy="1097375"/>
          </a:xfrm>
          <a:prstGeom prst="rect">
            <a:avLst/>
          </a:prstGeom>
        </p:spPr>
      </p:pic>
      <p:sp>
        <p:nvSpPr>
          <p:cNvPr id="70" name="TextBox 69">
            <a:extLst>
              <a:ext uri="{FF2B5EF4-FFF2-40B4-BE49-F238E27FC236}">
                <a16:creationId xmlns:a16="http://schemas.microsoft.com/office/drawing/2014/main" id="{5ACEFAF6-D516-46D5-8745-C1676FB5430F}"/>
              </a:ext>
            </a:extLst>
          </p:cNvPr>
          <p:cNvSpPr txBox="1"/>
          <p:nvPr/>
        </p:nvSpPr>
        <p:spPr>
          <a:xfrm>
            <a:off x="11703050" y="6445208"/>
            <a:ext cx="457200"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08</a:t>
            </a:r>
          </a:p>
        </p:txBody>
      </p:sp>
      <p:pic>
        <p:nvPicPr>
          <p:cNvPr id="72" name="Picture 71">
            <a:extLst>
              <a:ext uri="{FF2B5EF4-FFF2-40B4-BE49-F238E27FC236}">
                <a16:creationId xmlns:a16="http://schemas.microsoft.com/office/drawing/2014/main" id="{DF270A33-259F-4DF5-9C64-2D4E39E7F637}"/>
              </a:ext>
            </a:extLst>
          </p:cNvPr>
          <p:cNvPicPr>
            <a:picLocks noChangeAspect="1"/>
          </p:cNvPicPr>
          <p:nvPr/>
        </p:nvPicPr>
        <p:blipFill>
          <a:blip r:embed="rId4"/>
          <a:stretch>
            <a:fillRect/>
          </a:stretch>
        </p:blipFill>
        <p:spPr>
          <a:xfrm>
            <a:off x="1390571" y="177175"/>
            <a:ext cx="9474200" cy="5099912"/>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kern="0" spc="53" dirty="0">
                <a:solidFill>
                  <a:srgbClr val="3B82F6"/>
                </a:solidFill>
                <a:latin typeface="Quattrocento Sans" pitchFamily="34" charset="0"/>
                <a:ea typeface="Quattrocento Sans" pitchFamily="34" charset="-122"/>
                <a:cs typeface="Quattrocento Sans" pitchFamily="34" charset="-120"/>
              </a:rPr>
              <a:t>TECHNOLOGY STACK</a:t>
            </a:r>
            <a:endParaRPr lang="en-US" sz="1600" dirty="0"/>
          </a:p>
        </p:txBody>
      </p:sp>
      <p:sp>
        <p:nvSpPr>
          <p:cNvPr id="3" name="Text 1"/>
          <p:cNvSpPr/>
          <p:nvPr/>
        </p:nvSpPr>
        <p:spPr>
          <a:xfrm>
            <a:off x="381000" y="647700"/>
            <a:ext cx="11601450" cy="381000"/>
          </a:xfrm>
          <a:prstGeom prst="rect">
            <a:avLst/>
          </a:prstGeom>
          <a:noFill/>
          <a:ln/>
        </p:spPr>
        <p:txBody>
          <a:bodyPr wrap="square" lIns="0" tIns="0" rIns="0" bIns="0" rtlCol="0" anchor="ctr"/>
          <a:lstStyle/>
          <a:p>
            <a:pPr>
              <a:lnSpc>
                <a:spcPct val="90000"/>
              </a:lnSpc>
            </a:pPr>
            <a:r>
              <a:rPr lang="en-US" sz="2700" b="1" dirty="0">
                <a:solidFill>
                  <a:srgbClr val="1E3A5F"/>
                </a:solidFill>
                <a:latin typeface="Liter" pitchFamily="34" charset="0"/>
                <a:ea typeface="Liter" pitchFamily="34" charset="-122"/>
                <a:cs typeface="Liter" pitchFamily="34" charset="-120"/>
              </a:rPr>
              <a:t>Tools &amp; Technologies</a:t>
            </a:r>
            <a:endParaRPr lang="en-US" sz="1600" dirty="0"/>
          </a:p>
        </p:txBody>
      </p:sp>
      <p:sp>
        <p:nvSpPr>
          <p:cNvPr id="4" name="Shape 2"/>
          <p:cNvSpPr/>
          <p:nvPr/>
        </p:nvSpPr>
        <p:spPr>
          <a:xfrm>
            <a:off x="381000" y="1143000"/>
            <a:ext cx="762000" cy="38100"/>
          </a:xfrm>
          <a:custGeom>
            <a:avLst/>
            <a:gdLst/>
            <a:ahLst/>
            <a:cxnLst/>
            <a:rect l="l" t="t" r="r" b="b"/>
            <a:pathLst>
              <a:path w="762000" h="38100">
                <a:moveTo>
                  <a:pt x="19050" y="0"/>
                </a:moveTo>
                <a:lnTo>
                  <a:pt x="742950" y="0"/>
                </a:lnTo>
                <a:cubicBezTo>
                  <a:pt x="753464" y="0"/>
                  <a:pt x="762000" y="8536"/>
                  <a:pt x="762000" y="19050"/>
                </a:cubicBezTo>
                <a:lnTo>
                  <a:pt x="762000" y="19050"/>
                </a:lnTo>
                <a:cubicBezTo>
                  <a:pt x="762000" y="29564"/>
                  <a:pt x="753464" y="38100"/>
                  <a:pt x="742950" y="38100"/>
                </a:cubicBezTo>
                <a:lnTo>
                  <a:pt x="19050" y="38100"/>
                </a:lnTo>
                <a:cubicBezTo>
                  <a:pt x="8536" y="38100"/>
                  <a:pt x="0" y="29564"/>
                  <a:pt x="0" y="19050"/>
                </a:cubicBezTo>
                <a:lnTo>
                  <a:pt x="0" y="19050"/>
                </a:lnTo>
                <a:cubicBezTo>
                  <a:pt x="0" y="8536"/>
                  <a:pt x="8536" y="0"/>
                  <a:pt x="19050" y="0"/>
                </a:cubicBezTo>
                <a:close/>
              </a:path>
            </a:pathLst>
          </a:custGeom>
          <a:solidFill>
            <a:srgbClr val="10B981"/>
          </a:solidFill>
          <a:ln/>
        </p:spPr>
      </p:sp>
      <p:sp>
        <p:nvSpPr>
          <p:cNvPr id="5" name="Shape 3"/>
          <p:cNvSpPr/>
          <p:nvPr/>
        </p:nvSpPr>
        <p:spPr>
          <a:xfrm>
            <a:off x="400050" y="1409700"/>
            <a:ext cx="5600700" cy="3162300"/>
          </a:xfrm>
          <a:custGeom>
            <a:avLst/>
            <a:gdLst/>
            <a:ahLst/>
            <a:cxnLst/>
            <a:rect l="l" t="t" r="r" b="b"/>
            <a:pathLst>
              <a:path w="5600700" h="3162300">
                <a:moveTo>
                  <a:pt x="38100" y="0"/>
                </a:moveTo>
                <a:lnTo>
                  <a:pt x="5486414" y="0"/>
                </a:lnTo>
                <a:cubicBezTo>
                  <a:pt x="5549533" y="0"/>
                  <a:pt x="5600700" y="51167"/>
                  <a:pt x="5600700" y="114286"/>
                </a:cubicBezTo>
                <a:lnTo>
                  <a:pt x="5600700" y="3048014"/>
                </a:lnTo>
                <a:cubicBezTo>
                  <a:pt x="5600700" y="3111133"/>
                  <a:pt x="5549533" y="3162300"/>
                  <a:pt x="5486414" y="3162300"/>
                </a:cubicBezTo>
                <a:lnTo>
                  <a:pt x="38100" y="3162300"/>
                </a:lnTo>
                <a:cubicBezTo>
                  <a:pt x="17058" y="3162300"/>
                  <a:pt x="0" y="3145242"/>
                  <a:pt x="0" y="3124200"/>
                </a:cubicBezTo>
                <a:lnTo>
                  <a:pt x="0" y="38100"/>
                </a:lnTo>
                <a:cubicBezTo>
                  <a:pt x="0" y="17072"/>
                  <a:pt x="17072" y="0"/>
                  <a:pt x="38100" y="0"/>
                </a:cubicBezTo>
                <a:close/>
              </a:path>
            </a:pathLst>
          </a:custGeom>
          <a:solidFill>
            <a:srgbClr val="FFFFFF"/>
          </a:solidFill>
          <a:ln/>
          <a:effectLst>
            <a:outerShdw blurRad="57150" dist="38100" dir="5400000" algn="bl" rotWithShape="0">
              <a:srgbClr val="000000">
                <a:alpha val="10196"/>
              </a:srgbClr>
            </a:outerShdw>
          </a:effectLst>
        </p:spPr>
      </p:sp>
      <p:sp>
        <p:nvSpPr>
          <p:cNvPr id="6" name="Shape 4"/>
          <p:cNvSpPr/>
          <p:nvPr/>
        </p:nvSpPr>
        <p:spPr>
          <a:xfrm>
            <a:off x="400050" y="1409700"/>
            <a:ext cx="38100" cy="3162300"/>
          </a:xfrm>
          <a:custGeom>
            <a:avLst/>
            <a:gdLst/>
            <a:ahLst/>
            <a:cxnLst/>
            <a:rect l="l" t="t" r="r" b="b"/>
            <a:pathLst>
              <a:path w="38100" h="3162300">
                <a:moveTo>
                  <a:pt x="38100" y="0"/>
                </a:moveTo>
                <a:lnTo>
                  <a:pt x="38100" y="0"/>
                </a:lnTo>
                <a:lnTo>
                  <a:pt x="38100" y="3162300"/>
                </a:lnTo>
                <a:lnTo>
                  <a:pt x="38100" y="3162300"/>
                </a:lnTo>
                <a:cubicBezTo>
                  <a:pt x="17072" y="3162300"/>
                  <a:pt x="0" y="3145228"/>
                  <a:pt x="0" y="3124200"/>
                </a:cubicBezTo>
                <a:lnTo>
                  <a:pt x="0" y="38100"/>
                </a:lnTo>
                <a:cubicBezTo>
                  <a:pt x="0" y="17072"/>
                  <a:pt x="17072" y="0"/>
                  <a:pt x="38100" y="0"/>
                </a:cubicBezTo>
                <a:close/>
              </a:path>
            </a:pathLst>
          </a:custGeom>
          <a:solidFill>
            <a:srgbClr val="3B82F6"/>
          </a:solidFill>
          <a:ln/>
        </p:spPr>
      </p:sp>
      <p:sp>
        <p:nvSpPr>
          <p:cNvPr id="7" name="Shape 5"/>
          <p:cNvSpPr/>
          <p:nvPr/>
        </p:nvSpPr>
        <p:spPr>
          <a:xfrm>
            <a:off x="609600" y="1600200"/>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3B82F6">
              <a:alpha val="10196"/>
            </a:srgbClr>
          </a:solidFill>
          <a:ln/>
        </p:spPr>
      </p:sp>
      <p:sp>
        <p:nvSpPr>
          <p:cNvPr id="8" name="Shape 6"/>
          <p:cNvSpPr/>
          <p:nvPr/>
        </p:nvSpPr>
        <p:spPr>
          <a:xfrm>
            <a:off x="723900" y="1714500"/>
            <a:ext cx="228600" cy="228600"/>
          </a:xfrm>
          <a:custGeom>
            <a:avLst/>
            <a:gdLst/>
            <a:ahLst/>
            <a:cxnLst/>
            <a:rect l="l" t="t" r="r" b="b"/>
            <a:pathLst>
              <a:path w="228600" h="228600">
                <a:moveTo>
                  <a:pt x="28575" y="14288"/>
                </a:moveTo>
                <a:cubicBezTo>
                  <a:pt x="12814" y="14288"/>
                  <a:pt x="0" y="27102"/>
                  <a:pt x="0" y="42863"/>
                </a:cubicBezTo>
                <a:lnTo>
                  <a:pt x="0" y="157163"/>
                </a:lnTo>
                <a:cubicBezTo>
                  <a:pt x="0" y="172923"/>
                  <a:pt x="12814" y="185738"/>
                  <a:pt x="28575" y="185738"/>
                </a:cubicBezTo>
                <a:lnTo>
                  <a:pt x="92869" y="185738"/>
                </a:lnTo>
                <a:lnTo>
                  <a:pt x="85725" y="207169"/>
                </a:lnTo>
                <a:lnTo>
                  <a:pt x="53578" y="207169"/>
                </a:lnTo>
                <a:cubicBezTo>
                  <a:pt x="47640" y="207169"/>
                  <a:pt x="42863" y="211946"/>
                  <a:pt x="42863" y="217884"/>
                </a:cubicBezTo>
                <a:cubicBezTo>
                  <a:pt x="42863" y="223823"/>
                  <a:pt x="47640" y="228600"/>
                  <a:pt x="53578" y="228600"/>
                </a:cubicBezTo>
                <a:lnTo>
                  <a:pt x="175022" y="228600"/>
                </a:lnTo>
                <a:cubicBezTo>
                  <a:pt x="180960" y="228600"/>
                  <a:pt x="185738" y="223823"/>
                  <a:pt x="185738" y="217884"/>
                </a:cubicBezTo>
                <a:cubicBezTo>
                  <a:pt x="185738" y="211946"/>
                  <a:pt x="180960" y="207169"/>
                  <a:pt x="175022" y="207169"/>
                </a:cubicBezTo>
                <a:lnTo>
                  <a:pt x="142875" y="207169"/>
                </a:lnTo>
                <a:lnTo>
                  <a:pt x="135731" y="185738"/>
                </a:lnTo>
                <a:lnTo>
                  <a:pt x="200025" y="185738"/>
                </a:lnTo>
                <a:cubicBezTo>
                  <a:pt x="215786" y="185738"/>
                  <a:pt x="228600" y="172923"/>
                  <a:pt x="228600" y="157163"/>
                </a:cubicBezTo>
                <a:lnTo>
                  <a:pt x="228600" y="42863"/>
                </a:lnTo>
                <a:cubicBezTo>
                  <a:pt x="228600" y="27102"/>
                  <a:pt x="215786" y="14288"/>
                  <a:pt x="200025" y="14288"/>
                </a:cubicBezTo>
                <a:lnTo>
                  <a:pt x="28575" y="14288"/>
                </a:lnTo>
                <a:close/>
                <a:moveTo>
                  <a:pt x="42863" y="42863"/>
                </a:moveTo>
                <a:lnTo>
                  <a:pt x="185738" y="42863"/>
                </a:lnTo>
                <a:cubicBezTo>
                  <a:pt x="193640" y="42863"/>
                  <a:pt x="200025" y="49247"/>
                  <a:pt x="200025" y="57150"/>
                </a:cubicBezTo>
                <a:lnTo>
                  <a:pt x="200025" y="128588"/>
                </a:lnTo>
                <a:cubicBezTo>
                  <a:pt x="200025" y="136490"/>
                  <a:pt x="193640" y="142875"/>
                  <a:pt x="185738" y="142875"/>
                </a:cubicBezTo>
                <a:lnTo>
                  <a:pt x="42863" y="142875"/>
                </a:lnTo>
                <a:cubicBezTo>
                  <a:pt x="34960" y="142875"/>
                  <a:pt x="28575" y="136490"/>
                  <a:pt x="28575" y="128588"/>
                </a:cubicBezTo>
                <a:lnTo>
                  <a:pt x="28575" y="57150"/>
                </a:lnTo>
                <a:cubicBezTo>
                  <a:pt x="28575" y="49247"/>
                  <a:pt x="34960" y="42863"/>
                  <a:pt x="42863" y="42863"/>
                </a:cubicBezTo>
                <a:close/>
              </a:path>
            </a:pathLst>
          </a:custGeom>
          <a:solidFill>
            <a:srgbClr val="3B82F6"/>
          </a:solidFill>
          <a:ln/>
        </p:spPr>
      </p:sp>
      <p:sp>
        <p:nvSpPr>
          <p:cNvPr id="9" name="Text 7"/>
          <p:cNvSpPr/>
          <p:nvPr/>
        </p:nvSpPr>
        <p:spPr>
          <a:xfrm>
            <a:off x="1181100" y="1695450"/>
            <a:ext cx="857250" cy="266700"/>
          </a:xfrm>
          <a:prstGeom prst="rect">
            <a:avLst/>
          </a:prstGeom>
          <a:noFill/>
          <a:ln/>
        </p:spPr>
        <p:txBody>
          <a:bodyPr wrap="square" lIns="0" tIns="0" rIns="0" bIns="0" rtlCol="0" anchor="ctr"/>
          <a:lstStyle/>
          <a:p>
            <a:pPr>
              <a:lnSpc>
                <a:spcPct val="120000"/>
              </a:lnSpc>
            </a:pPr>
            <a:r>
              <a:rPr lang="en-US" sz="1500" b="1" dirty="0">
                <a:solidFill>
                  <a:srgbClr val="1E3A5F"/>
                </a:solidFill>
                <a:latin typeface="Liter" pitchFamily="34" charset="0"/>
                <a:ea typeface="Liter" pitchFamily="34" charset="-122"/>
                <a:cs typeface="Liter" pitchFamily="34" charset="-120"/>
              </a:rPr>
              <a:t>Frontend</a:t>
            </a:r>
            <a:endParaRPr lang="en-US" sz="1600" dirty="0"/>
          </a:p>
        </p:txBody>
      </p:sp>
      <p:sp>
        <p:nvSpPr>
          <p:cNvPr id="10" name="Shape 8"/>
          <p:cNvSpPr/>
          <p:nvPr/>
        </p:nvSpPr>
        <p:spPr>
          <a:xfrm>
            <a:off x="609600" y="2209800"/>
            <a:ext cx="5200650" cy="647700"/>
          </a:xfrm>
          <a:custGeom>
            <a:avLst/>
            <a:gdLst/>
            <a:ahLst/>
            <a:cxnLst/>
            <a:rect l="l" t="t" r="r" b="b"/>
            <a:pathLst>
              <a:path w="5200650" h="647700">
                <a:moveTo>
                  <a:pt x="76202" y="0"/>
                </a:moveTo>
                <a:lnTo>
                  <a:pt x="5124448" y="0"/>
                </a:lnTo>
                <a:cubicBezTo>
                  <a:pt x="5166533" y="0"/>
                  <a:pt x="5200650" y="34117"/>
                  <a:pt x="5200650" y="76202"/>
                </a:cubicBezTo>
                <a:lnTo>
                  <a:pt x="5200650" y="571498"/>
                </a:lnTo>
                <a:cubicBezTo>
                  <a:pt x="5200650" y="613583"/>
                  <a:pt x="5166533" y="647700"/>
                  <a:pt x="5124448" y="647700"/>
                </a:cubicBezTo>
                <a:lnTo>
                  <a:pt x="76202" y="647700"/>
                </a:lnTo>
                <a:cubicBezTo>
                  <a:pt x="34117" y="647700"/>
                  <a:pt x="0" y="613583"/>
                  <a:pt x="0" y="571498"/>
                </a:cubicBezTo>
                <a:lnTo>
                  <a:pt x="0" y="76202"/>
                </a:lnTo>
                <a:cubicBezTo>
                  <a:pt x="0" y="34117"/>
                  <a:pt x="34117" y="0"/>
                  <a:pt x="76202" y="0"/>
                </a:cubicBezTo>
                <a:close/>
              </a:path>
            </a:pathLst>
          </a:custGeom>
          <a:solidFill>
            <a:srgbClr val="F8FAFC"/>
          </a:solidFill>
          <a:ln/>
        </p:spPr>
      </p:sp>
      <p:sp>
        <p:nvSpPr>
          <p:cNvPr id="11" name="Shape 9"/>
          <p:cNvSpPr/>
          <p:nvPr/>
        </p:nvSpPr>
        <p:spPr>
          <a:xfrm>
            <a:off x="723900" y="234315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FFEDD4"/>
          </a:solidFill>
          <a:ln/>
        </p:spPr>
      </p:sp>
      <p:sp>
        <p:nvSpPr>
          <p:cNvPr id="12" name="Shape 10"/>
          <p:cNvSpPr/>
          <p:nvPr/>
        </p:nvSpPr>
        <p:spPr>
          <a:xfrm>
            <a:off x="842963" y="2438400"/>
            <a:ext cx="142875" cy="190500"/>
          </a:xfrm>
          <a:custGeom>
            <a:avLst/>
            <a:gdLst/>
            <a:ahLst/>
            <a:cxnLst/>
            <a:rect l="l" t="t" r="r" b="b"/>
            <a:pathLst>
              <a:path w="142875" h="190500">
                <a:moveTo>
                  <a:pt x="0" y="11906"/>
                </a:moveTo>
                <a:lnTo>
                  <a:pt x="12985" y="159172"/>
                </a:lnTo>
                <a:lnTo>
                  <a:pt x="71251" y="178594"/>
                </a:lnTo>
                <a:lnTo>
                  <a:pt x="129890" y="159172"/>
                </a:lnTo>
                <a:lnTo>
                  <a:pt x="142875" y="11906"/>
                </a:lnTo>
                <a:lnTo>
                  <a:pt x="0" y="11906"/>
                </a:lnTo>
                <a:close/>
                <a:moveTo>
                  <a:pt x="114672" y="59494"/>
                </a:moveTo>
                <a:lnTo>
                  <a:pt x="46286" y="59494"/>
                </a:lnTo>
                <a:lnTo>
                  <a:pt x="47811" y="77874"/>
                </a:lnTo>
                <a:lnTo>
                  <a:pt x="113147" y="77874"/>
                </a:lnTo>
                <a:lnTo>
                  <a:pt x="108086" y="133090"/>
                </a:lnTo>
                <a:lnTo>
                  <a:pt x="71661" y="143135"/>
                </a:lnTo>
                <a:lnTo>
                  <a:pt x="71661" y="143247"/>
                </a:lnTo>
                <a:lnTo>
                  <a:pt x="71251" y="143247"/>
                </a:lnTo>
                <a:lnTo>
                  <a:pt x="34528" y="133090"/>
                </a:lnTo>
                <a:lnTo>
                  <a:pt x="32296" y="104887"/>
                </a:lnTo>
                <a:lnTo>
                  <a:pt x="50043" y="104887"/>
                </a:lnTo>
                <a:lnTo>
                  <a:pt x="51346" y="119063"/>
                </a:lnTo>
                <a:lnTo>
                  <a:pt x="71251" y="124458"/>
                </a:lnTo>
                <a:lnTo>
                  <a:pt x="91232" y="119063"/>
                </a:lnTo>
                <a:lnTo>
                  <a:pt x="93464" y="95920"/>
                </a:lnTo>
                <a:lnTo>
                  <a:pt x="31366" y="95920"/>
                </a:lnTo>
                <a:lnTo>
                  <a:pt x="26603" y="41746"/>
                </a:lnTo>
                <a:lnTo>
                  <a:pt x="116309" y="41746"/>
                </a:lnTo>
                <a:lnTo>
                  <a:pt x="114672" y="59494"/>
                </a:lnTo>
                <a:close/>
              </a:path>
            </a:pathLst>
          </a:custGeom>
          <a:solidFill>
            <a:srgbClr val="F54900"/>
          </a:solidFill>
          <a:ln/>
        </p:spPr>
      </p:sp>
      <p:sp>
        <p:nvSpPr>
          <p:cNvPr id="13" name="Text 11"/>
          <p:cNvSpPr/>
          <p:nvPr/>
        </p:nvSpPr>
        <p:spPr>
          <a:xfrm>
            <a:off x="1219200" y="2324100"/>
            <a:ext cx="1952625" cy="228600"/>
          </a:xfrm>
          <a:prstGeom prst="rect">
            <a:avLst/>
          </a:prstGeom>
          <a:noFill/>
          <a:ln/>
        </p:spPr>
        <p:txBody>
          <a:bodyPr wrap="square" lIns="0" tIns="0" rIns="0" bIns="0" rtlCol="0" anchor="ctr"/>
          <a:lstStyle/>
          <a:p>
            <a:pPr>
              <a:lnSpc>
                <a:spcPct val="130000"/>
              </a:lnSpc>
            </a:pPr>
            <a:r>
              <a:rPr lang="en-US" sz="1200" b="1" dirty="0">
                <a:solidFill>
                  <a:srgbClr val="1E3A5F"/>
                </a:solidFill>
                <a:latin typeface="Quattrocento Sans" pitchFamily="34" charset="0"/>
                <a:ea typeface="Quattrocento Sans" pitchFamily="34" charset="-122"/>
                <a:cs typeface="Quattrocento Sans" pitchFamily="34" charset="-120"/>
              </a:rPr>
              <a:t>HTML5</a:t>
            </a:r>
            <a:endParaRPr lang="en-US" sz="1600" dirty="0"/>
          </a:p>
        </p:txBody>
      </p:sp>
      <p:sp>
        <p:nvSpPr>
          <p:cNvPr id="14" name="Text 12"/>
          <p:cNvSpPr/>
          <p:nvPr/>
        </p:nvSpPr>
        <p:spPr>
          <a:xfrm>
            <a:off x="1219200" y="2552700"/>
            <a:ext cx="1943100" cy="190500"/>
          </a:xfrm>
          <a:prstGeom prst="rect">
            <a:avLst/>
          </a:prstGeom>
          <a:noFill/>
          <a:ln/>
        </p:spPr>
        <p:txBody>
          <a:bodyPr wrap="square" lIns="0" tIns="0" rIns="0" bIns="0" rtlCol="0" anchor="ctr"/>
          <a:lstStyle/>
          <a:p>
            <a:pPr>
              <a:lnSpc>
                <a:spcPct val="120000"/>
              </a:lnSpc>
            </a:pPr>
            <a:r>
              <a:rPr lang="en-US" sz="1050" dirty="0">
                <a:solidFill>
                  <a:srgbClr val="1E293B">
                    <a:alpha val="70000"/>
                  </a:srgbClr>
                </a:solidFill>
                <a:latin typeface="Quattrocento Sans" pitchFamily="34" charset="0"/>
                <a:ea typeface="Quattrocento Sans" pitchFamily="34" charset="-122"/>
                <a:cs typeface="Quattrocento Sans" pitchFamily="34" charset="-120"/>
              </a:rPr>
              <a:t>Web page structure and content</a:t>
            </a:r>
            <a:endParaRPr lang="en-US" sz="1600" dirty="0"/>
          </a:p>
        </p:txBody>
      </p:sp>
      <p:sp>
        <p:nvSpPr>
          <p:cNvPr id="15" name="Shape 13"/>
          <p:cNvSpPr/>
          <p:nvPr/>
        </p:nvSpPr>
        <p:spPr>
          <a:xfrm>
            <a:off x="609600" y="2971800"/>
            <a:ext cx="5200650" cy="647700"/>
          </a:xfrm>
          <a:custGeom>
            <a:avLst/>
            <a:gdLst/>
            <a:ahLst/>
            <a:cxnLst/>
            <a:rect l="l" t="t" r="r" b="b"/>
            <a:pathLst>
              <a:path w="5200650" h="647700">
                <a:moveTo>
                  <a:pt x="76202" y="0"/>
                </a:moveTo>
                <a:lnTo>
                  <a:pt x="5124448" y="0"/>
                </a:lnTo>
                <a:cubicBezTo>
                  <a:pt x="5166533" y="0"/>
                  <a:pt x="5200650" y="34117"/>
                  <a:pt x="5200650" y="76202"/>
                </a:cubicBezTo>
                <a:lnTo>
                  <a:pt x="5200650" y="571498"/>
                </a:lnTo>
                <a:cubicBezTo>
                  <a:pt x="5200650" y="613583"/>
                  <a:pt x="5166533" y="647700"/>
                  <a:pt x="5124448" y="647700"/>
                </a:cubicBezTo>
                <a:lnTo>
                  <a:pt x="76202" y="647700"/>
                </a:lnTo>
                <a:cubicBezTo>
                  <a:pt x="34117" y="647700"/>
                  <a:pt x="0" y="613583"/>
                  <a:pt x="0" y="571498"/>
                </a:cubicBezTo>
                <a:lnTo>
                  <a:pt x="0" y="76202"/>
                </a:lnTo>
                <a:cubicBezTo>
                  <a:pt x="0" y="34117"/>
                  <a:pt x="34117" y="0"/>
                  <a:pt x="76202" y="0"/>
                </a:cubicBezTo>
                <a:close/>
              </a:path>
            </a:pathLst>
          </a:custGeom>
          <a:solidFill>
            <a:srgbClr val="F8FAFC"/>
          </a:solidFill>
          <a:ln/>
        </p:spPr>
      </p:sp>
      <p:sp>
        <p:nvSpPr>
          <p:cNvPr id="16" name="Shape 14"/>
          <p:cNvSpPr/>
          <p:nvPr/>
        </p:nvSpPr>
        <p:spPr>
          <a:xfrm>
            <a:off x="723900" y="310515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DBEAFE"/>
          </a:solidFill>
          <a:ln/>
        </p:spPr>
      </p:sp>
      <p:sp>
        <p:nvSpPr>
          <p:cNvPr id="17" name="Shape 15"/>
          <p:cNvSpPr/>
          <p:nvPr/>
        </p:nvSpPr>
        <p:spPr>
          <a:xfrm>
            <a:off x="842963" y="3200400"/>
            <a:ext cx="142875" cy="190500"/>
          </a:xfrm>
          <a:custGeom>
            <a:avLst/>
            <a:gdLst/>
            <a:ahLst/>
            <a:cxnLst/>
            <a:rect l="l" t="t" r="r" b="b"/>
            <a:pathLst>
              <a:path w="142875" h="190500">
                <a:moveTo>
                  <a:pt x="0" y="11906"/>
                </a:moveTo>
                <a:lnTo>
                  <a:pt x="12985" y="159172"/>
                </a:lnTo>
                <a:lnTo>
                  <a:pt x="71438" y="178594"/>
                </a:lnTo>
                <a:lnTo>
                  <a:pt x="129890" y="159172"/>
                </a:lnTo>
                <a:lnTo>
                  <a:pt x="142875" y="11906"/>
                </a:lnTo>
                <a:lnTo>
                  <a:pt x="0" y="11906"/>
                </a:lnTo>
                <a:close/>
                <a:moveTo>
                  <a:pt x="116495" y="41672"/>
                </a:moveTo>
                <a:lnTo>
                  <a:pt x="114709" y="59271"/>
                </a:lnTo>
                <a:lnTo>
                  <a:pt x="71810" y="77614"/>
                </a:lnTo>
                <a:lnTo>
                  <a:pt x="71698" y="77651"/>
                </a:lnTo>
                <a:lnTo>
                  <a:pt x="113184" y="77651"/>
                </a:lnTo>
                <a:lnTo>
                  <a:pt x="108421" y="132197"/>
                </a:lnTo>
                <a:lnTo>
                  <a:pt x="71884" y="142875"/>
                </a:lnTo>
                <a:lnTo>
                  <a:pt x="35123" y="132011"/>
                </a:lnTo>
                <a:lnTo>
                  <a:pt x="32742" y="104515"/>
                </a:lnTo>
                <a:lnTo>
                  <a:pt x="50936" y="104515"/>
                </a:lnTo>
                <a:lnTo>
                  <a:pt x="52127" y="118765"/>
                </a:lnTo>
                <a:lnTo>
                  <a:pt x="71698" y="123713"/>
                </a:lnTo>
                <a:lnTo>
                  <a:pt x="92050" y="117983"/>
                </a:lnTo>
                <a:lnTo>
                  <a:pt x="93427" y="95064"/>
                </a:lnTo>
                <a:lnTo>
                  <a:pt x="31552" y="94878"/>
                </a:lnTo>
                <a:lnTo>
                  <a:pt x="31552" y="94841"/>
                </a:lnTo>
                <a:lnTo>
                  <a:pt x="31477" y="94878"/>
                </a:lnTo>
                <a:lnTo>
                  <a:pt x="30138" y="77651"/>
                </a:lnTo>
                <a:lnTo>
                  <a:pt x="71847" y="60275"/>
                </a:lnTo>
                <a:lnTo>
                  <a:pt x="74265" y="59271"/>
                </a:lnTo>
                <a:lnTo>
                  <a:pt x="28538" y="59271"/>
                </a:lnTo>
                <a:lnTo>
                  <a:pt x="26380" y="41672"/>
                </a:lnTo>
                <a:lnTo>
                  <a:pt x="116495" y="41672"/>
                </a:lnTo>
                <a:close/>
              </a:path>
            </a:pathLst>
          </a:custGeom>
          <a:solidFill>
            <a:srgbClr val="155DFC"/>
          </a:solidFill>
          <a:ln/>
        </p:spPr>
      </p:sp>
      <p:sp>
        <p:nvSpPr>
          <p:cNvPr id="18" name="Text 16"/>
          <p:cNvSpPr/>
          <p:nvPr/>
        </p:nvSpPr>
        <p:spPr>
          <a:xfrm>
            <a:off x="1219200" y="3086100"/>
            <a:ext cx="2085975" cy="228600"/>
          </a:xfrm>
          <a:prstGeom prst="rect">
            <a:avLst/>
          </a:prstGeom>
          <a:noFill/>
          <a:ln/>
        </p:spPr>
        <p:txBody>
          <a:bodyPr wrap="square" lIns="0" tIns="0" rIns="0" bIns="0" rtlCol="0" anchor="ctr"/>
          <a:lstStyle/>
          <a:p>
            <a:pPr>
              <a:lnSpc>
                <a:spcPct val="130000"/>
              </a:lnSpc>
            </a:pPr>
            <a:r>
              <a:rPr lang="en-US" sz="1200" b="1" dirty="0">
                <a:solidFill>
                  <a:srgbClr val="1E3A5F"/>
                </a:solidFill>
                <a:latin typeface="Quattrocento Sans" pitchFamily="34" charset="0"/>
                <a:ea typeface="Quattrocento Sans" pitchFamily="34" charset="-122"/>
                <a:cs typeface="Quattrocento Sans" pitchFamily="34" charset="-120"/>
              </a:rPr>
              <a:t>CSS3</a:t>
            </a:r>
            <a:endParaRPr lang="en-US" sz="1600" dirty="0"/>
          </a:p>
        </p:txBody>
      </p:sp>
      <p:sp>
        <p:nvSpPr>
          <p:cNvPr id="19" name="Text 17"/>
          <p:cNvSpPr/>
          <p:nvPr/>
        </p:nvSpPr>
        <p:spPr>
          <a:xfrm>
            <a:off x="1219200" y="3314700"/>
            <a:ext cx="2076450" cy="190500"/>
          </a:xfrm>
          <a:prstGeom prst="rect">
            <a:avLst/>
          </a:prstGeom>
          <a:noFill/>
          <a:ln/>
        </p:spPr>
        <p:txBody>
          <a:bodyPr wrap="square" lIns="0" tIns="0" rIns="0" bIns="0" rtlCol="0" anchor="ctr"/>
          <a:lstStyle/>
          <a:p>
            <a:pPr>
              <a:lnSpc>
                <a:spcPct val="120000"/>
              </a:lnSpc>
            </a:pPr>
            <a:r>
              <a:rPr lang="en-US" sz="1050" dirty="0">
                <a:solidFill>
                  <a:srgbClr val="1E293B">
                    <a:alpha val="70000"/>
                  </a:srgbClr>
                </a:solidFill>
                <a:latin typeface="Quattrocento Sans" pitchFamily="34" charset="0"/>
                <a:ea typeface="Quattrocento Sans" pitchFamily="34" charset="-122"/>
                <a:cs typeface="Quattrocento Sans" pitchFamily="34" charset="-120"/>
              </a:rPr>
              <a:t>Design, layout, and responsiveness</a:t>
            </a:r>
            <a:endParaRPr lang="en-US" sz="1600" dirty="0"/>
          </a:p>
        </p:txBody>
      </p:sp>
      <p:sp>
        <p:nvSpPr>
          <p:cNvPr id="20" name="Shape 18"/>
          <p:cNvSpPr/>
          <p:nvPr/>
        </p:nvSpPr>
        <p:spPr>
          <a:xfrm>
            <a:off x="609600" y="3733800"/>
            <a:ext cx="5200650" cy="647700"/>
          </a:xfrm>
          <a:custGeom>
            <a:avLst/>
            <a:gdLst/>
            <a:ahLst/>
            <a:cxnLst/>
            <a:rect l="l" t="t" r="r" b="b"/>
            <a:pathLst>
              <a:path w="5200650" h="647700">
                <a:moveTo>
                  <a:pt x="76202" y="0"/>
                </a:moveTo>
                <a:lnTo>
                  <a:pt x="5124448" y="0"/>
                </a:lnTo>
                <a:cubicBezTo>
                  <a:pt x="5166533" y="0"/>
                  <a:pt x="5200650" y="34117"/>
                  <a:pt x="5200650" y="76202"/>
                </a:cubicBezTo>
                <a:lnTo>
                  <a:pt x="5200650" y="571498"/>
                </a:lnTo>
                <a:cubicBezTo>
                  <a:pt x="5200650" y="613583"/>
                  <a:pt x="5166533" y="647700"/>
                  <a:pt x="5124448" y="647700"/>
                </a:cubicBezTo>
                <a:lnTo>
                  <a:pt x="76202" y="647700"/>
                </a:lnTo>
                <a:cubicBezTo>
                  <a:pt x="34117" y="647700"/>
                  <a:pt x="0" y="613583"/>
                  <a:pt x="0" y="571498"/>
                </a:cubicBezTo>
                <a:lnTo>
                  <a:pt x="0" y="76202"/>
                </a:lnTo>
                <a:cubicBezTo>
                  <a:pt x="0" y="34117"/>
                  <a:pt x="34117" y="0"/>
                  <a:pt x="76202" y="0"/>
                </a:cubicBezTo>
                <a:close/>
              </a:path>
            </a:pathLst>
          </a:custGeom>
          <a:solidFill>
            <a:srgbClr val="F8FAFC"/>
          </a:solidFill>
          <a:ln/>
        </p:spPr>
      </p:sp>
      <p:sp>
        <p:nvSpPr>
          <p:cNvPr id="21" name="Shape 19"/>
          <p:cNvSpPr/>
          <p:nvPr/>
        </p:nvSpPr>
        <p:spPr>
          <a:xfrm>
            <a:off x="723900" y="386715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FEF9C2"/>
          </a:solidFill>
          <a:ln/>
        </p:spPr>
      </p:sp>
      <p:sp>
        <p:nvSpPr>
          <p:cNvPr id="22" name="Shape 20"/>
          <p:cNvSpPr/>
          <p:nvPr/>
        </p:nvSpPr>
        <p:spPr>
          <a:xfrm>
            <a:off x="831056" y="3962400"/>
            <a:ext cx="166688" cy="190500"/>
          </a:xfrm>
          <a:custGeom>
            <a:avLst/>
            <a:gdLst/>
            <a:ahLst/>
            <a:cxnLst/>
            <a:rect l="l" t="t" r="r" b="b"/>
            <a:pathLst>
              <a:path w="166688" h="190500">
                <a:moveTo>
                  <a:pt x="0" y="11906"/>
                </a:moveTo>
                <a:lnTo>
                  <a:pt x="0" y="178594"/>
                </a:lnTo>
                <a:lnTo>
                  <a:pt x="166688" y="178594"/>
                </a:lnTo>
                <a:lnTo>
                  <a:pt x="166688" y="11906"/>
                </a:lnTo>
                <a:lnTo>
                  <a:pt x="0" y="11906"/>
                </a:lnTo>
                <a:close/>
                <a:moveTo>
                  <a:pt x="90711" y="141908"/>
                </a:moveTo>
                <a:cubicBezTo>
                  <a:pt x="90711" y="158130"/>
                  <a:pt x="81186" y="165534"/>
                  <a:pt x="67308" y="165534"/>
                </a:cubicBezTo>
                <a:cubicBezTo>
                  <a:pt x="54769" y="165534"/>
                  <a:pt x="47513" y="159060"/>
                  <a:pt x="43793" y="151209"/>
                </a:cubicBezTo>
                <a:lnTo>
                  <a:pt x="56555" y="143508"/>
                </a:lnTo>
                <a:cubicBezTo>
                  <a:pt x="59010" y="147861"/>
                  <a:pt x="61243" y="151544"/>
                  <a:pt x="66638" y="151544"/>
                </a:cubicBezTo>
                <a:cubicBezTo>
                  <a:pt x="71772" y="151544"/>
                  <a:pt x="75047" y="149535"/>
                  <a:pt x="75047" y="141684"/>
                </a:cubicBezTo>
                <a:lnTo>
                  <a:pt x="75047" y="88441"/>
                </a:lnTo>
                <a:lnTo>
                  <a:pt x="90711" y="88441"/>
                </a:lnTo>
                <a:lnTo>
                  <a:pt x="90711" y="141908"/>
                </a:lnTo>
                <a:close/>
                <a:moveTo>
                  <a:pt x="127769" y="165534"/>
                </a:moveTo>
                <a:cubicBezTo>
                  <a:pt x="113221" y="165534"/>
                  <a:pt x="103808" y="158614"/>
                  <a:pt x="99231" y="149535"/>
                </a:cubicBezTo>
                <a:lnTo>
                  <a:pt x="111993" y="142168"/>
                </a:lnTo>
                <a:cubicBezTo>
                  <a:pt x="115342" y="147638"/>
                  <a:pt x="119732" y="151693"/>
                  <a:pt x="127434" y="151693"/>
                </a:cubicBezTo>
                <a:cubicBezTo>
                  <a:pt x="133908" y="151693"/>
                  <a:pt x="138075" y="148456"/>
                  <a:pt x="138075" y="143954"/>
                </a:cubicBezTo>
                <a:cubicBezTo>
                  <a:pt x="138075" y="138596"/>
                  <a:pt x="133834" y="136699"/>
                  <a:pt x="126653" y="133536"/>
                </a:cubicBezTo>
                <a:lnTo>
                  <a:pt x="122746" y="131862"/>
                </a:lnTo>
                <a:cubicBezTo>
                  <a:pt x="111435" y="127062"/>
                  <a:pt x="103956" y="120997"/>
                  <a:pt x="103956" y="108235"/>
                </a:cubicBezTo>
                <a:cubicBezTo>
                  <a:pt x="103956" y="96478"/>
                  <a:pt x="112923" y="87548"/>
                  <a:pt x="126876" y="87548"/>
                </a:cubicBezTo>
                <a:cubicBezTo>
                  <a:pt x="136847" y="87548"/>
                  <a:pt x="143991" y="91008"/>
                  <a:pt x="149126" y="100087"/>
                </a:cubicBezTo>
                <a:lnTo>
                  <a:pt x="136922" y="107900"/>
                </a:lnTo>
                <a:cubicBezTo>
                  <a:pt x="134243" y="103101"/>
                  <a:pt x="131341" y="101203"/>
                  <a:pt x="126839" y="101203"/>
                </a:cubicBezTo>
                <a:cubicBezTo>
                  <a:pt x="122262" y="101203"/>
                  <a:pt x="119360" y="104105"/>
                  <a:pt x="119360" y="107900"/>
                </a:cubicBezTo>
                <a:cubicBezTo>
                  <a:pt x="119360" y="112588"/>
                  <a:pt x="122262" y="114486"/>
                  <a:pt x="128997" y="117425"/>
                </a:cubicBezTo>
                <a:lnTo>
                  <a:pt x="132904" y="119100"/>
                </a:lnTo>
                <a:cubicBezTo>
                  <a:pt x="146224" y="124792"/>
                  <a:pt x="153702" y="130634"/>
                  <a:pt x="153702" y="143731"/>
                </a:cubicBezTo>
                <a:cubicBezTo>
                  <a:pt x="153702" y="157795"/>
                  <a:pt x="142615" y="165534"/>
                  <a:pt x="127769" y="165534"/>
                </a:cubicBezTo>
                <a:close/>
              </a:path>
            </a:pathLst>
          </a:custGeom>
          <a:solidFill>
            <a:srgbClr val="D08700"/>
          </a:solidFill>
          <a:ln/>
        </p:spPr>
      </p:sp>
      <p:sp>
        <p:nvSpPr>
          <p:cNvPr id="23" name="Text 21"/>
          <p:cNvSpPr/>
          <p:nvPr/>
        </p:nvSpPr>
        <p:spPr>
          <a:xfrm>
            <a:off x="1219200" y="3848100"/>
            <a:ext cx="2447925" cy="228600"/>
          </a:xfrm>
          <a:prstGeom prst="rect">
            <a:avLst/>
          </a:prstGeom>
          <a:noFill/>
          <a:ln/>
        </p:spPr>
        <p:txBody>
          <a:bodyPr wrap="square" lIns="0" tIns="0" rIns="0" bIns="0" rtlCol="0" anchor="ctr"/>
          <a:lstStyle/>
          <a:p>
            <a:pPr>
              <a:lnSpc>
                <a:spcPct val="130000"/>
              </a:lnSpc>
            </a:pPr>
            <a:r>
              <a:rPr lang="en-US" sz="1200" b="1" dirty="0">
                <a:solidFill>
                  <a:srgbClr val="1E3A5F"/>
                </a:solidFill>
                <a:latin typeface="Quattrocento Sans" pitchFamily="34" charset="0"/>
                <a:ea typeface="Quattrocento Sans" pitchFamily="34" charset="-122"/>
                <a:cs typeface="Quattrocento Sans" pitchFamily="34" charset="-120"/>
              </a:rPr>
              <a:t>JavaScript</a:t>
            </a:r>
            <a:endParaRPr lang="en-US" sz="1600" dirty="0"/>
          </a:p>
        </p:txBody>
      </p:sp>
      <p:sp>
        <p:nvSpPr>
          <p:cNvPr id="24" name="Text 22"/>
          <p:cNvSpPr/>
          <p:nvPr/>
        </p:nvSpPr>
        <p:spPr>
          <a:xfrm>
            <a:off x="1219200" y="4076700"/>
            <a:ext cx="2438400" cy="190500"/>
          </a:xfrm>
          <a:prstGeom prst="rect">
            <a:avLst/>
          </a:prstGeom>
          <a:noFill/>
          <a:ln/>
        </p:spPr>
        <p:txBody>
          <a:bodyPr wrap="square" lIns="0" tIns="0" rIns="0" bIns="0" rtlCol="0" anchor="ctr"/>
          <a:lstStyle/>
          <a:p>
            <a:pPr>
              <a:lnSpc>
                <a:spcPct val="120000"/>
              </a:lnSpc>
            </a:pPr>
            <a:r>
              <a:rPr lang="en-US" sz="1050" dirty="0">
                <a:solidFill>
                  <a:srgbClr val="1E293B">
                    <a:alpha val="70000"/>
                  </a:srgbClr>
                </a:solidFill>
                <a:latin typeface="Quattrocento Sans" pitchFamily="34" charset="0"/>
                <a:ea typeface="Quattrocento Sans" pitchFamily="34" charset="-122"/>
                <a:cs typeface="Quattrocento Sans" pitchFamily="34" charset="-120"/>
              </a:rPr>
              <a:t>Form validation and dynamic interactions</a:t>
            </a:r>
            <a:endParaRPr lang="en-US" sz="1600" dirty="0"/>
          </a:p>
        </p:txBody>
      </p:sp>
      <p:sp>
        <p:nvSpPr>
          <p:cNvPr id="25" name="Shape 23"/>
          <p:cNvSpPr/>
          <p:nvPr/>
        </p:nvSpPr>
        <p:spPr>
          <a:xfrm>
            <a:off x="400050" y="4724400"/>
            <a:ext cx="5600700" cy="1638300"/>
          </a:xfrm>
          <a:custGeom>
            <a:avLst/>
            <a:gdLst/>
            <a:ahLst/>
            <a:cxnLst/>
            <a:rect l="l" t="t" r="r" b="b"/>
            <a:pathLst>
              <a:path w="5600700" h="1638300">
                <a:moveTo>
                  <a:pt x="38100" y="0"/>
                </a:moveTo>
                <a:lnTo>
                  <a:pt x="5486396" y="0"/>
                </a:lnTo>
                <a:cubicBezTo>
                  <a:pt x="5549524" y="0"/>
                  <a:pt x="5600700" y="51176"/>
                  <a:pt x="5600700" y="114304"/>
                </a:cubicBezTo>
                <a:lnTo>
                  <a:pt x="5600700" y="1523996"/>
                </a:lnTo>
                <a:cubicBezTo>
                  <a:pt x="5600700" y="1587124"/>
                  <a:pt x="5549524" y="1638300"/>
                  <a:pt x="5486396" y="1638300"/>
                </a:cubicBezTo>
                <a:lnTo>
                  <a:pt x="38100" y="1638300"/>
                </a:lnTo>
                <a:cubicBezTo>
                  <a:pt x="17072" y="1638300"/>
                  <a:pt x="0" y="1621228"/>
                  <a:pt x="0" y="1600200"/>
                </a:cubicBezTo>
                <a:lnTo>
                  <a:pt x="0" y="38100"/>
                </a:lnTo>
                <a:cubicBezTo>
                  <a:pt x="0" y="17072"/>
                  <a:pt x="17072" y="0"/>
                  <a:pt x="38100" y="0"/>
                </a:cubicBezTo>
                <a:close/>
              </a:path>
            </a:pathLst>
          </a:custGeom>
          <a:solidFill>
            <a:srgbClr val="FFFFFF"/>
          </a:solidFill>
          <a:ln/>
          <a:effectLst>
            <a:outerShdw blurRad="57150" dist="38100" dir="5400000" algn="bl" rotWithShape="0">
              <a:srgbClr val="000000">
                <a:alpha val="10196"/>
              </a:srgbClr>
            </a:outerShdw>
          </a:effectLst>
        </p:spPr>
      </p:sp>
      <p:sp>
        <p:nvSpPr>
          <p:cNvPr id="26" name="Shape 24"/>
          <p:cNvSpPr/>
          <p:nvPr/>
        </p:nvSpPr>
        <p:spPr>
          <a:xfrm>
            <a:off x="400050" y="4724400"/>
            <a:ext cx="38100" cy="1638300"/>
          </a:xfrm>
          <a:custGeom>
            <a:avLst/>
            <a:gdLst/>
            <a:ahLst/>
            <a:cxnLst/>
            <a:rect l="l" t="t" r="r" b="b"/>
            <a:pathLst>
              <a:path w="38100" h="1638300">
                <a:moveTo>
                  <a:pt x="38100" y="0"/>
                </a:moveTo>
                <a:lnTo>
                  <a:pt x="38100" y="0"/>
                </a:lnTo>
                <a:lnTo>
                  <a:pt x="38100" y="1638300"/>
                </a:lnTo>
                <a:lnTo>
                  <a:pt x="38100" y="1638300"/>
                </a:lnTo>
                <a:cubicBezTo>
                  <a:pt x="17072" y="1638300"/>
                  <a:pt x="0" y="1621228"/>
                  <a:pt x="0" y="1600200"/>
                </a:cubicBezTo>
                <a:lnTo>
                  <a:pt x="0" y="38100"/>
                </a:lnTo>
                <a:cubicBezTo>
                  <a:pt x="0" y="17072"/>
                  <a:pt x="17072" y="0"/>
                  <a:pt x="38100" y="0"/>
                </a:cubicBezTo>
                <a:close/>
              </a:path>
            </a:pathLst>
          </a:custGeom>
          <a:solidFill>
            <a:srgbClr val="1E3A5F"/>
          </a:solidFill>
          <a:ln/>
        </p:spPr>
      </p:sp>
      <p:sp>
        <p:nvSpPr>
          <p:cNvPr id="27" name="Shape 25"/>
          <p:cNvSpPr/>
          <p:nvPr/>
        </p:nvSpPr>
        <p:spPr>
          <a:xfrm>
            <a:off x="609600" y="4914900"/>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1E3A5F">
              <a:alpha val="10196"/>
            </a:srgbClr>
          </a:solidFill>
          <a:ln/>
        </p:spPr>
      </p:sp>
      <p:sp>
        <p:nvSpPr>
          <p:cNvPr id="28" name="Shape 26"/>
          <p:cNvSpPr/>
          <p:nvPr/>
        </p:nvSpPr>
        <p:spPr>
          <a:xfrm>
            <a:off x="738188" y="5029200"/>
            <a:ext cx="200025" cy="228600"/>
          </a:xfrm>
          <a:custGeom>
            <a:avLst/>
            <a:gdLst/>
            <a:ahLst/>
            <a:cxnLst/>
            <a:rect l="l" t="t" r="r" b="b"/>
            <a:pathLst>
              <a:path w="200025" h="228600">
                <a:moveTo>
                  <a:pt x="28575" y="14288"/>
                </a:moveTo>
                <a:cubicBezTo>
                  <a:pt x="12814" y="14288"/>
                  <a:pt x="0" y="27102"/>
                  <a:pt x="0" y="42863"/>
                </a:cubicBezTo>
                <a:lnTo>
                  <a:pt x="0" y="71438"/>
                </a:lnTo>
                <a:cubicBezTo>
                  <a:pt x="0" y="87198"/>
                  <a:pt x="12814" y="100013"/>
                  <a:pt x="28575" y="100013"/>
                </a:cubicBezTo>
                <a:lnTo>
                  <a:pt x="171450" y="100013"/>
                </a:lnTo>
                <a:cubicBezTo>
                  <a:pt x="187211" y="100013"/>
                  <a:pt x="200025" y="87198"/>
                  <a:pt x="200025" y="71438"/>
                </a:cubicBezTo>
                <a:lnTo>
                  <a:pt x="200025" y="42863"/>
                </a:lnTo>
                <a:cubicBezTo>
                  <a:pt x="200025" y="27102"/>
                  <a:pt x="187211" y="14288"/>
                  <a:pt x="171450" y="14288"/>
                </a:cubicBezTo>
                <a:lnTo>
                  <a:pt x="28575" y="14288"/>
                </a:lnTo>
                <a:close/>
                <a:moveTo>
                  <a:pt x="125016" y="46434"/>
                </a:moveTo>
                <a:cubicBezTo>
                  <a:pt x="130930" y="46434"/>
                  <a:pt x="135731" y="51236"/>
                  <a:pt x="135731" y="57150"/>
                </a:cubicBezTo>
                <a:cubicBezTo>
                  <a:pt x="135731" y="63064"/>
                  <a:pt x="130930" y="67866"/>
                  <a:pt x="125016" y="67866"/>
                </a:cubicBezTo>
                <a:cubicBezTo>
                  <a:pt x="119102" y="67866"/>
                  <a:pt x="114300" y="63064"/>
                  <a:pt x="114300" y="57150"/>
                </a:cubicBezTo>
                <a:cubicBezTo>
                  <a:pt x="114300" y="51236"/>
                  <a:pt x="119102" y="46434"/>
                  <a:pt x="125016" y="46434"/>
                </a:cubicBezTo>
                <a:close/>
                <a:moveTo>
                  <a:pt x="150019" y="57150"/>
                </a:moveTo>
                <a:cubicBezTo>
                  <a:pt x="150019" y="51236"/>
                  <a:pt x="154820" y="46434"/>
                  <a:pt x="160734" y="46434"/>
                </a:cubicBezTo>
                <a:cubicBezTo>
                  <a:pt x="166648" y="46434"/>
                  <a:pt x="171450" y="51236"/>
                  <a:pt x="171450" y="57150"/>
                </a:cubicBezTo>
                <a:cubicBezTo>
                  <a:pt x="171450" y="63064"/>
                  <a:pt x="166648" y="67866"/>
                  <a:pt x="160734" y="67866"/>
                </a:cubicBezTo>
                <a:cubicBezTo>
                  <a:pt x="154820" y="67866"/>
                  <a:pt x="150019" y="63064"/>
                  <a:pt x="150019" y="57150"/>
                </a:cubicBezTo>
                <a:close/>
                <a:moveTo>
                  <a:pt x="28575" y="128588"/>
                </a:moveTo>
                <a:cubicBezTo>
                  <a:pt x="12814" y="128588"/>
                  <a:pt x="0" y="141402"/>
                  <a:pt x="0" y="157163"/>
                </a:cubicBezTo>
                <a:lnTo>
                  <a:pt x="0" y="185738"/>
                </a:lnTo>
                <a:cubicBezTo>
                  <a:pt x="0" y="201498"/>
                  <a:pt x="12814" y="214313"/>
                  <a:pt x="28575" y="214313"/>
                </a:cubicBezTo>
                <a:lnTo>
                  <a:pt x="171450" y="214313"/>
                </a:lnTo>
                <a:cubicBezTo>
                  <a:pt x="187211" y="214313"/>
                  <a:pt x="200025" y="201498"/>
                  <a:pt x="200025" y="185738"/>
                </a:cubicBezTo>
                <a:lnTo>
                  <a:pt x="200025" y="157163"/>
                </a:lnTo>
                <a:cubicBezTo>
                  <a:pt x="200025" y="141402"/>
                  <a:pt x="187211" y="128588"/>
                  <a:pt x="171450" y="128588"/>
                </a:cubicBezTo>
                <a:lnTo>
                  <a:pt x="28575" y="128588"/>
                </a:lnTo>
                <a:close/>
                <a:moveTo>
                  <a:pt x="125016" y="160734"/>
                </a:moveTo>
                <a:cubicBezTo>
                  <a:pt x="130930" y="160734"/>
                  <a:pt x="135731" y="165536"/>
                  <a:pt x="135731" y="171450"/>
                </a:cubicBezTo>
                <a:cubicBezTo>
                  <a:pt x="135731" y="177364"/>
                  <a:pt x="130930" y="182166"/>
                  <a:pt x="125016" y="182166"/>
                </a:cubicBezTo>
                <a:cubicBezTo>
                  <a:pt x="119102" y="182166"/>
                  <a:pt x="114300" y="177364"/>
                  <a:pt x="114300" y="171450"/>
                </a:cubicBezTo>
                <a:cubicBezTo>
                  <a:pt x="114300" y="165536"/>
                  <a:pt x="119102" y="160734"/>
                  <a:pt x="125016" y="160734"/>
                </a:cubicBezTo>
                <a:close/>
                <a:moveTo>
                  <a:pt x="150019" y="171450"/>
                </a:moveTo>
                <a:cubicBezTo>
                  <a:pt x="150019" y="165536"/>
                  <a:pt x="154820" y="160734"/>
                  <a:pt x="160734" y="160734"/>
                </a:cubicBezTo>
                <a:cubicBezTo>
                  <a:pt x="166648" y="160734"/>
                  <a:pt x="171450" y="165536"/>
                  <a:pt x="171450" y="171450"/>
                </a:cubicBezTo>
                <a:cubicBezTo>
                  <a:pt x="171450" y="177364"/>
                  <a:pt x="166648" y="182166"/>
                  <a:pt x="160734" y="182166"/>
                </a:cubicBezTo>
                <a:cubicBezTo>
                  <a:pt x="154820" y="182166"/>
                  <a:pt x="150019" y="177364"/>
                  <a:pt x="150019" y="171450"/>
                </a:cubicBezTo>
                <a:close/>
              </a:path>
            </a:pathLst>
          </a:custGeom>
          <a:solidFill>
            <a:srgbClr val="1E3A5F"/>
          </a:solidFill>
          <a:ln/>
        </p:spPr>
      </p:sp>
      <p:sp>
        <p:nvSpPr>
          <p:cNvPr id="29" name="Text 27"/>
          <p:cNvSpPr/>
          <p:nvPr/>
        </p:nvSpPr>
        <p:spPr>
          <a:xfrm>
            <a:off x="1181100" y="5010150"/>
            <a:ext cx="828675" cy="266700"/>
          </a:xfrm>
          <a:prstGeom prst="rect">
            <a:avLst/>
          </a:prstGeom>
          <a:noFill/>
          <a:ln/>
        </p:spPr>
        <p:txBody>
          <a:bodyPr wrap="square" lIns="0" tIns="0" rIns="0" bIns="0" rtlCol="0" anchor="ctr"/>
          <a:lstStyle/>
          <a:p>
            <a:pPr>
              <a:lnSpc>
                <a:spcPct val="120000"/>
              </a:lnSpc>
            </a:pPr>
            <a:r>
              <a:rPr lang="en-US" sz="1500" b="1" dirty="0">
                <a:solidFill>
                  <a:srgbClr val="1E3A5F"/>
                </a:solidFill>
                <a:latin typeface="Liter" pitchFamily="34" charset="0"/>
                <a:ea typeface="Liter" pitchFamily="34" charset="-122"/>
                <a:cs typeface="Liter" pitchFamily="34" charset="-120"/>
              </a:rPr>
              <a:t>Backend</a:t>
            </a:r>
            <a:endParaRPr lang="en-US" sz="1600" dirty="0"/>
          </a:p>
        </p:txBody>
      </p:sp>
      <p:sp>
        <p:nvSpPr>
          <p:cNvPr id="30" name="Shape 28"/>
          <p:cNvSpPr/>
          <p:nvPr/>
        </p:nvSpPr>
        <p:spPr>
          <a:xfrm>
            <a:off x="609600" y="5524500"/>
            <a:ext cx="5200650" cy="647700"/>
          </a:xfrm>
          <a:custGeom>
            <a:avLst/>
            <a:gdLst/>
            <a:ahLst/>
            <a:cxnLst/>
            <a:rect l="l" t="t" r="r" b="b"/>
            <a:pathLst>
              <a:path w="5200650" h="647700">
                <a:moveTo>
                  <a:pt x="76202" y="0"/>
                </a:moveTo>
                <a:lnTo>
                  <a:pt x="5124448" y="0"/>
                </a:lnTo>
                <a:cubicBezTo>
                  <a:pt x="5166533" y="0"/>
                  <a:pt x="5200650" y="34117"/>
                  <a:pt x="5200650" y="76202"/>
                </a:cubicBezTo>
                <a:lnTo>
                  <a:pt x="5200650" y="571498"/>
                </a:lnTo>
                <a:cubicBezTo>
                  <a:pt x="5200650" y="613583"/>
                  <a:pt x="5166533" y="647700"/>
                  <a:pt x="5124448" y="647700"/>
                </a:cubicBezTo>
                <a:lnTo>
                  <a:pt x="76202" y="647700"/>
                </a:lnTo>
                <a:cubicBezTo>
                  <a:pt x="34117" y="647700"/>
                  <a:pt x="0" y="613583"/>
                  <a:pt x="0" y="571498"/>
                </a:cubicBezTo>
                <a:lnTo>
                  <a:pt x="0" y="76202"/>
                </a:lnTo>
                <a:cubicBezTo>
                  <a:pt x="0" y="34117"/>
                  <a:pt x="34117" y="0"/>
                  <a:pt x="76202" y="0"/>
                </a:cubicBezTo>
                <a:close/>
              </a:path>
            </a:pathLst>
          </a:custGeom>
          <a:solidFill>
            <a:srgbClr val="F8FAFC"/>
          </a:solidFill>
          <a:ln/>
        </p:spPr>
      </p:sp>
      <p:sp>
        <p:nvSpPr>
          <p:cNvPr id="31" name="Shape 29"/>
          <p:cNvSpPr/>
          <p:nvPr/>
        </p:nvSpPr>
        <p:spPr>
          <a:xfrm>
            <a:off x="723900" y="565785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F3E8FF"/>
          </a:solidFill>
          <a:ln/>
        </p:spPr>
      </p:sp>
      <p:sp>
        <p:nvSpPr>
          <p:cNvPr id="32" name="Shape 30"/>
          <p:cNvSpPr/>
          <p:nvPr/>
        </p:nvSpPr>
        <p:spPr>
          <a:xfrm>
            <a:off x="795338" y="5753100"/>
            <a:ext cx="238125" cy="190500"/>
          </a:xfrm>
          <a:custGeom>
            <a:avLst/>
            <a:gdLst/>
            <a:ahLst/>
            <a:cxnLst/>
            <a:rect l="l" t="t" r="r" b="b"/>
            <a:pathLst>
              <a:path w="238125" h="190500">
                <a:moveTo>
                  <a:pt x="119063" y="38881"/>
                </a:moveTo>
                <a:cubicBezTo>
                  <a:pt x="182835" y="38881"/>
                  <a:pt x="231874" y="65745"/>
                  <a:pt x="231874" y="95250"/>
                </a:cubicBezTo>
                <a:cubicBezTo>
                  <a:pt x="231874" y="124755"/>
                  <a:pt x="182798" y="151619"/>
                  <a:pt x="119063" y="151619"/>
                </a:cubicBezTo>
                <a:cubicBezTo>
                  <a:pt x="55290" y="151619"/>
                  <a:pt x="6251" y="124755"/>
                  <a:pt x="6251" y="95250"/>
                </a:cubicBezTo>
                <a:cubicBezTo>
                  <a:pt x="6251" y="65745"/>
                  <a:pt x="55327" y="38881"/>
                  <a:pt x="119063" y="38881"/>
                </a:cubicBezTo>
                <a:close/>
                <a:moveTo>
                  <a:pt x="119063" y="32631"/>
                </a:moveTo>
                <a:cubicBezTo>
                  <a:pt x="53318" y="32631"/>
                  <a:pt x="0" y="60647"/>
                  <a:pt x="0" y="95250"/>
                </a:cubicBezTo>
                <a:cubicBezTo>
                  <a:pt x="0" y="129853"/>
                  <a:pt x="53318" y="157869"/>
                  <a:pt x="119063" y="157869"/>
                </a:cubicBezTo>
                <a:cubicBezTo>
                  <a:pt x="184807" y="157869"/>
                  <a:pt x="238125" y="129853"/>
                  <a:pt x="238125" y="95250"/>
                </a:cubicBezTo>
                <a:cubicBezTo>
                  <a:pt x="238125" y="60647"/>
                  <a:pt x="184807" y="32631"/>
                  <a:pt x="119063" y="32631"/>
                </a:cubicBezTo>
                <a:close/>
                <a:moveTo>
                  <a:pt x="81186" y="90227"/>
                </a:moveTo>
                <a:cubicBezTo>
                  <a:pt x="78246" y="105296"/>
                  <a:pt x="67866" y="103733"/>
                  <a:pt x="55104" y="103733"/>
                </a:cubicBezTo>
                <a:lnTo>
                  <a:pt x="60201" y="77465"/>
                </a:lnTo>
                <a:cubicBezTo>
                  <a:pt x="74340" y="77465"/>
                  <a:pt x="83939" y="75940"/>
                  <a:pt x="81186" y="90227"/>
                </a:cubicBezTo>
                <a:close/>
                <a:moveTo>
                  <a:pt x="36240" y="130336"/>
                </a:moveTo>
                <a:lnTo>
                  <a:pt x="49895" y="130336"/>
                </a:lnTo>
                <a:lnTo>
                  <a:pt x="53132" y="113667"/>
                </a:lnTo>
                <a:cubicBezTo>
                  <a:pt x="68424" y="113667"/>
                  <a:pt x="77912" y="114784"/>
                  <a:pt x="86692" y="106561"/>
                </a:cubicBezTo>
                <a:cubicBezTo>
                  <a:pt x="96403" y="97631"/>
                  <a:pt x="98933" y="81744"/>
                  <a:pt x="92013" y="73782"/>
                </a:cubicBezTo>
                <a:cubicBezTo>
                  <a:pt x="88404" y="69614"/>
                  <a:pt x="82600" y="67568"/>
                  <a:pt x="74712" y="67568"/>
                </a:cubicBezTo>
                <a:lnTo>
                  <a:pt x="48406" y="67568"/>
                </a:lnTo>
                <a:lnTo>
                  <a:pt x="36240" y="130336"/>
                </a:lnTo>
                <a:close/>
                <a:moveTo>
                  <a:pt x="105333" y="50862"/>
                </a:moveTo>
                <a:lnTo>
                  <a:pt x="118914" y="50862"/>
                </a:lnTo>
                <a:lnTo>
                  <a:pt x="115677" y="67531"/>
                </a:lnTo>
                <a:cubicBezTo>
                  <a:pt x="127397" y="67531"/>
                  <a:pt x="138261" y="66675"/>
                  <a:pt x="143508" y="71512"/>
                </a:cubicBezTo>
                <a:cubicBezTo>
                  <a:pt x="149014" y="76572"/>
                  <a:pt x="146372" y="83046"/>
                  <a:pt x="140419" y="113593"/>
                </a:cubicBezTo>
                <a:lnTo>
                  <a:pt x="126653" y="113593"/>
                </a:lnTo>
                <a:cubicBezTo>
                  <a:pt x="132383" y="84051"/>
                  <a:pt x="133462" y="81595"/>
                  <a:pt x="131378" y="79363"/>
                </a:cubicBezTo>
                <a:cubicBezTo>
                  <a:pt x="129369" y="77205"/>
                  <a:pt x="124792" y="77651"/>
                  <a:pt x="113742" y="77651"/>
                </a:cubicBezTo>
                <a:lnTo>
                  <a:pt x="106747" y="113593"/>
                </a:lnTo>
                <a:lnTo>
                  <a:pt x="93166" y="113593"/>
                </a:lnTo>
                <a:lnTo>
                  <a:pt x="105333" y="50862"/>
                </a:lnTo>
                <a:close/>
                <a:moveTo>
                  <a:pt x="187896" y="90227"/>
                </a:moveTo>
                <a:cubicBezTo>
                  <a:pt x="184919" y="105519"/>
                  <a:pt x="174241" y="103733"/>
                  <a:pt x="161813" y="103733"/>
                </a:cubicBezTo>
                <a:lnTo>
                  <a:pt x="166911" y="77465"/>
                </a:lnTo>
                <a:cubicBezTo>
                  <a:pt x="181124" y="77465"/>
                  <a:pt x="190649" y="75940"/>
                  <a:pt x="187896" y="90227"/>
                </a:cubicBezTo>
                <a:close/>
                <a:moveTo>
                  <a:pt x="142949" y="130336"/>
                </a:moveTo>
                <a:lnTo>
                  <a:pt x="156642" y="130336"/>
                </a:lnTo>
                <a:lnTo>
                  <a:pt x="159879" y="113667"/>
                </a:lnTo>
                <a:cubicBezTo>
                  <a:pt x="175952" y="113667"/>
                  <a:pt x="184845" y="114598"/>
                  <a:pt x="193439" y="106561"/>
                </a:cubicBezTo>
                <a:cubicBezTo>
                  <a:pt x="203150" y="97631"/>
                  <a:pt x="205680" y="81744"/>
                  <a:pt x="198760" y="73782"/>
                </a:cubicBezTo>
                <a:cubicBezTo>
                  <a:pt x="195151" y="69614"/>
                  <a:pt x="189347" y="67568"/>
                  <a:pt x="181459" y="67568"/>
                </a:cubicBezTo>
                <a:lnTo>
                  <a:pt x="155153" y="67568"/>
                </a:lnTo>
                <a:lnTo>
                  <a:pt x="142949" y="130336"/>
                </a:lnTo>
                <a:close/>
              </a:path>
            </a:pathLst>
          </a:custGeom>
          <a:solidFill>
            <a:srgbClr val="9810FA"/>
          </a:solidFill>
          <a:ln/>
        </p:spPr>
      </p:sp>
      <p:sp>
        <p:nvSpPr>
          <p:cNvPr id="33" name="Text 31"/>
          <p:cNvSpPr/>
          <p:nvPr/>
        </p:nvSpPr>
        <p:spPr>
          <a:xfrm>
            <a:off x="1219200" y="5638800"/>
            <a:ext cx="4419600" cy="228600"/>
          </a:xfrm>
          <a:prstGeom prst="rect">
            <a:avLst/>
          </a:prstGeom>
          <a:noFill/>
          <a:ln/>
        </p:spPr>
        <p:txBody>
          <a:bodyPr wrap="square" lIns="0" tIns="0" rIns="0" bIns="0" rtlCol="0" anchor="ctr"/>
          <a:lstStyle/>
          <a:p>
            <a:pPr>
              <a:lnSpc>
                <a:spcPct val="130000"/>
              </a:lnSpc>
            </a:pPr>
            <a:r>
              <a:rPr lang="en-US" sz="1200" b="1" dirty="0">
                <a:solidFill>
                  <a:srgbClr val="1E3A5F"/>
                </a:solidFill>
                <a:latin typeface="Quattrocento Sans" pitchFamily="34" charset="0"/>
                <a:ea typeface="Quattrocento Sans" pitchFamily="34" charset="-122"/>
                <a:cs typeface="Quattrocento Sans" pitchFamily="34" charset="-120"/>
              </a:rPr>
              <a:t>PHP</a:t>
            </a:r>
            <a:endParaRPr lang="en-US" sz="1600" dirty="0"/>
          </a:p>
        </p:txBody>
      </p:sp>
      <p:sp>
        <p:nvSpPr>
          <p:cNvPr id="34" name="Text 32"/>
          <p:cNvSpPr/>
          <p:nvPr/>
        </p:nvSpPr>
        <p:spPr>
          <a:xfrm>
            <a:off x="1219200" y="5867400"/>
            <a:ext cx="4410075" cy="190500"/>
          </a:xfrm>
          <a:prstGeom prst="rect">
            <a:avLst/>
          </a:prstGeom>
          <a:noFill/>
          <a:ln/>
        </p:spPr>
        <p:txBody>
          <a:bodyPr wrap="square" lIns="0" tIns="0" rIns="0" bIns="0" rtlCol="0" anchor="ctr"/>
          <a:lstStyle/>
          <a:p>
            <a:pPr>
              <a:lnSpc>
                <a:spcPct val="120000"/>
              </a:lnSpc>
            </a:pPr>
            <a:r>
              <a:rPr lang="en-US" sz="1050" dirty="0">
                <a:solidFill>
                  <a:srgbClr val="1E293B">
                    <a:alpha val="70000"/>
                  </a:srgbClr>
                </a:solidFill>
                <a:latin typeface="Quattrocento Sans" pitchFamily="34" charset="0"/>
                <a:ea typeface="Quattrocento Sans" pitchFamily="34" charset="-122"/>
                <a:cs typeface="Quattrocento Sans" pitchFamily="34" charset="-120"/>
              </a:rPr>
              <a:t>Server-side logic, role-based access, appointment and payment processing</a:t>
            </a:r>
            <a:endParaRPr lang="en-US" sz="1600" dirty="0"/>
          </a:p>
        </p:txBody>
      </p:sp>
      <p:sp>
        <p:nvSpPr>
          <p:cNvPr id="35" name="Shape 33"/>
          <p:cNvSpPr/>
          <p:nvPr/>
        </p:nvSpPr>
        <p:spPr>
          <a:xfrm>
            <a:off x="6210300" y="1409700"/>
            <a:ext cx="5600700" cy="1638300"/>
          </a:xfrm>
          <a:custGeom>
            <a:avLst/>
            <a:gdLst/>
            <a:ahLst/>
            <a:cxnLst/>
            <a:rect l="l" t="t" r="r" b="b"/>
            <a:pathLst>
              <a:path w="5600700" h="1638300">
                <a:moveTo>
                  <a:pt x="38100" y="0"/>
                </a:moveTo>
                <a:lnTo>
                  <a:pt x="5486396" y="0"/>
                </a:lnTo>
                <a:cubicBezTo>
                  <a:pt x="5549524" y="0"/>
                  <a:pt x="5600700" y="51176"/>
                  <a:pt x="5600700" y="114304"/>
                </a:cubicBezTo>
                <a:lnTo>
                  <a:pt x="5600700" y="1523996"/>
                </a:lnTo>
                <a:cubicBezTo>
                  <a:pt x="5600700" y="1587124"/>
                  <a:pt x="5549524" y="1638300"/>
                  <a:pt x="5486396" y="1638300"/>
                </a:cubicBezTo>
                <a:lnTo>
                  <a:pt x="38100" y="1638300"/>
                </a:lnTo>
                <a:cubicBezTo>
                  <a:pt x="17072" y="1638300"/>
                  <a:pt x="0" y="1621228"/>
                  <a:pt x="0" y="1600200"/>
                </a:cubicBezTo>
                <a:lnTo>
                  <a:pt x="0" y="38100"/>
                </a:lnTo>
                <a:cubicBezTo>
                  <a:pt x="0" y="17072"/>
                  <a:pt x="17072" y="0"/>
                  <a:pt x="38100" y="0"/>
                </a:cubicBezTo>
                <a:close/>
              </a:path>
            </a:pathLst>
          </a:custGeom>
          <a:solidFill>
            <a:srgbClr val="FFFFFF"/>
          </a:solidFill>
          <a:ln/>
          <a:effectLst>
            <a:outerShdw blurRad="57150" dist="38100" dir="5400000" algn="bl" rotWithShape="0">
              <a:srgbClr val="000000">
                <a:alpha val="10196"/>
              </a:srgbClr>
            </a:outerShdw>
          </a:effectLst>
        </p:spPr>
      </p:sp>
      <p:sp>
        <p:nvSpPr>
          <p:cNvPr id="36" name="Shape 34"/>
          <p:cNvSpPr/>
          <p:nvPr/>
        </p:nvSpPr>
        <p:spPr>
          <a:xfrm>
            <a:off x="6210300" y="1409700"/>
            <a:ext cx="38100" cy="1638300"/>
          </a:xfrm>
          <a:custGeom>
            <a:avLst/>
            <a:gdLst/>
            <a:ahLst/>
            <a:cxnLst/>
            <a:rect l="l" t="t" r="r" b="b"/>
            <a:pathLst>
              <a:path w="38100" h="1638300">
                <a:moveTo>
                  <a:pt x="38100" y="0"/>
                </a:moveTo>
                <a:lnTo>
                  <a:pt x="38100" y="0"/>
                </a:lnTo>
                <a:lnTo>
                  <a:pt x="38100" y="1638300"/>
                </a:lnTo>
                <a:lnTo>
                  <a:pt x="38100" y="1638300"/>
                </a:lnTo>
                <a:cubicBezTo>
                  <a:pt x="17072" y="1638300"/>
                  <a:pt x="0" y="1621228"/>
                  <a:pt x="0" y="1600200"/>
                </a:cubicBezTo>
                <a:lnTo>
                  <a:pt x="0" y="38100"/>
                </a:lnTo>
                <a:cubicBezTo>
                  <a:pt x="0" y="17072"/>
                  <a:pt x="17072" y="0"/>
                  <a:pt x="38100" y="0"/>
                </a:cubicBezTo>
                <a:close/>
              </a:path>
            </a:pathLst>
          </a:custGeom>
          <a:solidFill>
            <a:srgbClr val="10B981"/>
          </a:solidFill>
          <a:ln/>
        </p:spPr>
      </p:sp>
      <p:sp>
        <p:nvSpPr>
          <p:cNvPr id="37" name="Shape 35"/>
          <p:cNvSpPr/>
          <p:nvPr/>
        </p:nvSpPr>
        <p:spPr>
          <a:xfrm>
            <a:off x="6419850" y="1600200"/>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10B981">
              <a:alpha val="10196"/>
            </a:srgbClr>
          </a:solidFill>
          <a:ln/>
        </p:spPr>
      </p:sp>
      <p:sp>
        <p:nvSpPr>
          <p:cNvPr id="38" name="Shape 36"/>
          <p:cNvSpPr/>
          <p:nvPr/>
        </p:nvSpPr>
        <p:spPr>
          <a:xfrm>
            <a:off x="6548438" y="1714500"/>
            <a:ext cx="200025" cy="228600"/>
          </a:xfrm>
          <a:custGeom>
            <a:avLst/>
            <a:gdLst/>
            <a:ahLst/>
            <a:cxnLst/>
            <a:rect l="l" t="t" r="r" b="b"/>
            <a:pathLst>
              <a:path w="200025" h="228600">
                <a:moveTo>
                  <a:pt x="200025" y="91886"/>
                </a:moveTo>
                <a:cubicBezTo>
                  <a:pt x="193417" y="96262"/>
                  <a:pt x="185827" y="99789"/>
                  <a:pt x="177924" y="102602"/>
                </a:cubicBezTo>
                <a:cubicBezTo>
                  <a:pt x="156939" y="110103"/>
                  <a:pt x="129391" y="114300"/>
                  <a:pt x="100013" y="114300"/>
                </a:cubicBezTo>
                <a:cubicBezTo>
                  <a:pt x="70634" y="114300"/>
                  <a:pt x="43041" y="110058"/>
                  <a:pt x="22101" y="102602"/>
                </a:cubicBezTo>
                <a:cubicBezTo>
                  <a:pt x="14243" y="99789"/>
                  <a:pt x="6608" y="96262"/>
                  <a:pt x="0" y="91886"/>
                </a:cubicBezTo>
                <a:lnTo>
                  <a:pt x="0" y="128588"/>
                </a:lnTo>
                <a:cubicBezTo>
                  <a:pt x="0" y="148322"/>
                  <a:pt x="44782" y="164306"/>
                  <a:pt x="100013" y="164306"/>
                </a:cubicBezTo>
                <a:cubicBezTo>
                  <a:pt x="155243" y="164306"/>
                  <a:pt x="200025" y="148322"/>
                  <a:pt x="200025" y="128588"/>
                </a:cubicBezTo>
                <a:lnTo>
                  <a:pt x="200025" y="91886"/>
                </a:lnTo>
                <a:close/>
                <a:moveTo>
                  <a:pt x="200025" y="57150"/>
                </a:moveTo>
                <a:lnTo>
                  <a:pt x="200025" y="35719"/>
                </a:lnTo>
                <a:cubicBezTo>
                  <a:pt x="200025" y="15984"/>
                  <a:pt x="155243" y="0"/>
                  <a:pt x="100013" y="0"/>
                </a:cubicBezTo>
                <a:cubicBezTo>
                  <a:pt x="44782" y="0"/>
                  <a:pt x="0" y="15984"/>
                  <a:pt x="0" y="35719"/>
                </a:cubicBezTo>
                <a:lnTo>
                  <a:pt x="0" y="57150"/>
                </a:lnTo>
                <a:cubicBezTo>
                  <a:pt x="0" y="76885"/>
                  <a:pt x="44782" y="92869"/>
                  <a:pt x="100013" y="92869"/>
                </a:cubicBezTo>
                <a:cubicBezTo>
                  <a:pt x="155243" y="92869"/>
                  <a:pt x="200025" y="76885"/>
                  <a:pt x="200025" y="57150"/>
                </a:cubicBezTo>
                <a:close/>
                <a:moveTo>
                  <a:pt x="177924" y="174040"/>
                </a:moveTo>
                <a:cubicBezTo>
                  <a:pt x="156984" y="181496"/>
                  <a:pt x="129436" y="185738"/>
                  <a:pt x="100013" y="185738"/>
                </a:cubicBezTo>
                <a:cubicBezTo>
                  <a:pt x="70589" y="185738"/>
                  <a:pt x="43041" y="181496"/>
                  <a:pt x="22101" y="174040"/>
                </a:cubicBezTo>
                <a:cubicBezTo>
                  <a:pt x="14243" y="171227"/>
                  <a:pt x="6608" y="167700"/>
                  <a:pt x="0" y="163324"/>
                </a:cubicBezTo>
                <a:lnTo>
                  <a:pt x="0" y="192881"/>
                </a:lnTo>
                <a:cubicBezTo>
                  <a:pt x="0" y="212616"/>
                  <a:pt x="44782" y="228600"/>
                  <a:pt x="100013" y="228600"/>
                </a:cubicBezTo>
                <a:cubicBezTo>
                  <a:pt x="155243" y="228600"/>
                  <a:pt x="200025" y="212616"/>
                  <a:pt x="200025" y="192881"/>
                </a:cubicBezTo>
                <a:lnTo>
                  <a:pt x="200025" y="163324"/>
                </a:lnTo>
                <a:cubicBezTo>
                  <a:pt x="193417" y="167700"/>
                  <a:pt x="185827" y="171227"/>
                  <a:pt x="177924" y="174040"/>
                </a:cubicBezTo>
                <a:close/>
              </a:path>
            </a:pathLst>
          </a:custGeom>
          <a:solidFill>
            <a:srgbClr val="10B981"/>
          </a:solidFill>
          <a:ln/>
        </p:spPr>
      </p:sp>
      <p:sp>
        <p:nvSpPr>
          <p:cNvPr id="39" name="Text 37"/>
          <p:cNvSpPr/>
          <p:nvPr/>
        </p:nvSpPr>
        <p:spPr>
          <a:xfrm>
            <a:off x="6991350" y="1695450"/>
            <a:ext cx="885825" cy="266700"/>
          </a:xfrm>
          <a:prstGeom prst="rect">
            <a:avLst/>
          </a:prstGeom>
          <a:noFill/>
          <a:ln/>
        </p:spPr>
        <p:txBody>
          <a:bodyPr wrap="square" lIns="0" tIns="0" rIns="0" bIns="0" rtlCol="0" anchor="ctr"/>
          <a:lstStyle/>
          <a:p>
            <a:pPr>
              <a:lnSpc>
                <a:spcPct val="120000"/>
              </a:lnSpc>
            </a:pPr>
            <a:r>
              <a:rPr lang="en-US" sz="1500" b="1" dirty="0">
                <a:solidFill>
                  <a:srgbClr val="1E3A5F"/>
                </a:solidFill>
                <a:latin typeface="Liter" pitchFamily="34" charset="0"/>
                <a:ea typeface="Liter" pitchFamily="34" charset="-122"/>
                <a:cs typeface="Liter" pitchFamily="34" charset="-120"/>
              </a:rPr>
              <a:t>Database</a:t>
            </a:r>
            <a:endParaRPr lang="en-US" sz="1600" dirty="0"/>
          </a:p>
        </p:txBody>
      </p:sp>
      <p:sp>
        <p:nvSpPr>
          <p:cNvPr id="40" name="Shape 38"/>
          <p:cNvSpPr/>
          <p:nvPr/>
        </p:nvSpPr>
        <p:spPr>
          <a:xfrm>
            <a:off x="6419850" y="2209800"/>
            <a:ext cx="5200650" cy="647700"/>
          </a:xfrm>
          <a:custGeom>
            <a:avLst/>
            <a:gdLst/>
            <a:ahLst/>
            <a:cxnLst/>
            <a:rect l="l" t="t" r="r" b="b"/>
            <a:pathLst>
              <a:path w="5200650" h="647700">
                <a:moveTo>
                  <a:pt x="76202" y="0"/>
                </a:moveTo>
                <a:lnTo>
                  <a:pt x="5124448" y="0"/>
                </a:lnTo>
                <a:cubicBezTo>
                  <a:pt x="5166533" y="0"/>
                  <a:pt x="5200650" y="34117"/>
                  <a:pt x="5200650" y="76202"/>
                </a:cubicBezTo>
                <a:lnTo>
                  <a:pt x="5200650" y="571498"/>
                </a:lnTo>
                <a:cubicBezTo>
                  <a:pt x="5200650" y="613583"/>
                  <a:pt x="5166533" y="647700"/>
                  <a:pt x="5124448" y="647700"/>
                </a:cubicBezTo>
                <a:lnTo>
                  <a:pt x="76202" y="647700"/>
                </a:lnTo>
                <a:cubicBezTo>
                  <a:pt x="34117" y="647700"/>
                  <a:pt x="0" y="613583"/>
                  <a:pt x="0" y="571498"/>
                </a:cubicBezTo>
                <a:lnTo>
                  <a:pt x="0" y="76202"/>
                </a:lnTo>
                <a:cubicBezTo>
                  <a:pt x="0" y="34117"/>
                  <a:pt x="34117" y="0"/>
                  <a:pt x="76202" y="0"/>
                </a:cubicBezTo>
                <a:close/>
              </a:path>
            </a:pathLst>
          </a:custGeom>
          <a:solidFill>
            <a:srgbClr val="F8FAFC"/>
          </a:solidFill>
          <a:ln/>
        </p:spPr>
      </p:sp>
      <p:sp>
        <p:nvSpPr>
          <p:cNvPr id="41" name="Shape 39"/>
          <p:cNvSpPr/>
          <p:nvPr/>
        </p:nvSpPr>
        <p:spPr>
          <a:xfrm>
            <a:off x="6534150" y="234315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DBEAFE"/>
          </a:solidFill>
          <a:ln/>
        </p:spPr>
      </p:sp>
      <p:sp>
        <p:nvSpPr>
          <p:cNvPr id="42" name="Shape 40"/>
          <p:cNvSpPr/>
          <p:nvPr/>
        </p:nvSpPr>
        <p:spPr>
          <a:xfrm>
            <a:off x="6641306" y="2438400"/>
            <a:ext cx="166688" cy="190500"/>
          </a:xfrm>
          <a:custGeom>
            <a:avLst/>
            <a:gdLst/>
            <a:ahLst/>
            <a:cxnLst/>
            <a:rect l="l" t="t" r="r" b="b"/>
            <a:pathLst>
              <a:path w="166688" h="190500">
                <a:moveTo>
                  <a:pt x="166688" y="76572"/>
                </a:moveTo>
                <a:cubicBezTo>
                  <a:pt x="161181" y="80218"/>
                  <a:pt x="154856" y="83158"/>
                  <a:pt x="148270" y="85502"/>
                </a:cubicBezTo>
                <a:cubicBezTo>
                  <a:pt x="130783" y="91753"/>
                  <a:pt x="107826" y="95250"/>
                  <a:pt x="83344" y="95250"/>
                </a:cubicBezTo>
                <a:cubicBezTo>
                  <a:pt x="58862" y="95250"/>
                  <a:pt x="35868" y="91715"/>
                  <a:pt x="18417" y="85502"/>
                </a:cubicBezTo>
                <a:cubicBezTo>
                  <a:pt x="11869" y="83158"/>
                  <a:pt x="5507" y="80218"/>
                  <a:pt x="0" y="76572"/>
                </a:cubicBezTo>
                <a:lnTo>
                  <a:pt x="0" y="107156"/>
                </a:lnTo>
                <a:cubicBezTo>
                  <a:pt x="0" y="123602"/>
                  <a:pt x="37319" y="136922"/>
                  <a:pt x="83344" y="136922"/>
                </a:cubicBezTo>
                <a:cubicBezTo>
                  <a:pt x="129369" y="136922"/>
                  <a:pt x="166688" y="123602"/>
                  <a:pt x="166688" y="107156"/>
                </a:cubicBezTo>
                <a:lnTo>
                  <a:pt x="166688" y="76572"/>
                </a:lnTo>
                <a:close/>
                <a:moveTo>
                  <a:pt x="166688" y="47625"/>
                </a:moveTo>
                <a:lnTo>
                  <a:pt x="166688" y="29766"/>
                </a:lnTo>
                <a:cubicBezTo>
                  <a:pt x="166688" y="13320"/>
                  <a:pt x="129369" y="0"/>
                  <a:pt x="83344" y="0"/>
                </a:cubicBezTo>
                <a:cubicBezTo>
                  <a:pt x="37319" y="0"/>
                  <a:pt x="0" y="13320"/>
                  <a:pt x="0" y="29766"/>
                </a:cubicBezTo>
                <a:lnTo>
                  <a:pt x="0" y="47625"/>
                </a:lnTo>
                <a:cubicBezTo>
                  <a:pt x="0" y="64071"/>
                  <a:pt x="37319" y="77391"/>
                  <a:pt x="83344" y="77391"/>
                </a:cubicBezTo>
                <a:cubicBezTo>
                  <a:pt x="129369" y="77391"/>
                  <a:pt x="166688" y="64071"/>
                  <a:pt x="166688" y="47625"/>
                </a:cubicBezTo>
                <a:close/>
                <a:moveTo>
                  <a:pt x="148270" y="145033"/>
                </a:moveTo>
                <a:cubicBezTo>
                  <a:pt x="130820" y="151247"/>
                  <a:pt x="107863" y="154781"/>
                  <a:pt x="83344" y="154781"/>
                </a:cubicBezTo>
                <a:cubicBezTo>
                  <a:pt x="58824" y="154781"/>
                  <a:pt x="35868" y="151247"/>
                  <a:pt x="18417" y="145033"/>
                </a:cubicBezTo>
                <a:cubicBezTo>
                  <a:pt x="11869" y="142689"/>
                  <a:pt x="5507" y="139750"/>
                  <a:pt x="0" y="136103"/>
                </a:cubicBezTo>
                <a:lnTo>
                  <a:pt x="0" y="160734"/>
                </a:lnTo>
                <a:cubicBezTo>
                  <a:pt x="0" y="177180"/>
                  <a:pt x="37319" y="190500"/>
                  <a:pt x="83344" y="190500"/>
                </a:cubicBezTo>
                <a:cubicBezTo>
                  <a:pt x="129369" y="190500"/>
                  <a:pt x="166688" y="177180"/>
                  <a:pt x="166688" y="160734"/>
                </a:cubicBezTo>
                <a:lnTo>
                  <a:pt x="166688" y="136103"/>
                </a:lnTo>
                <a:cubicBezTo>
                  <a:pt x="161181" y="139750"/>
                  <a:pt x="154856" y="142689"/>
                  <a:pt x="148270" y="145033"/>
                </a:cubicBezTo>
                <a:close/>
              </a:path>
            </a:pathLst>
          </a:custGeom>
          <a:solidFill>
            <a:srgbClr val="155DFC"/>
          </a:solidFill>
          <a:ln/>
        </p:spPr>
      </p:sp>
      <p:sp>
        <p:nvSpPr>
          <p:cNvPr id="43" name="Text 41"/>
          <p:cNvSpPr/>
          <p:nvPr/>
        </p:nvSpPr>
        <p:spPr>
          <a:xfrm>
            <a:off x="7029450" y="2324100"/>
            <a:ext cx="3200400" cy="228600"/>
          </a:xfrm>
          <a:prstGeom prst="rect">
            <a:avLst/>
          </a:prstGeom>
          <a:noFill/>
          <a:ln/>
        </p:spPr>
        <p:txBody>
          <a:bodyPr wrap="square" lIns="0" tIns="0" rIns="0" bIns="0" rtlCol="0" anchor="ctr"/>
          <a:lstStyle/>
          <a:p>
            <a:pPr>
              <a:lnSpc>
                <a:spcPct val="130000"/>
              </a:lnSpc>
            </a:pPr>
            <a:r>
              <a:rPr lang="en-US" sz="1200" b="1" dirty="0">
                <a:solidFill>
                  <a:srgbClr val="1E3A5F"/>
                </a:solidFill>
                <a:latin typeface="Quattrocento Sans" pitchFamily="34" charset="0"/>
                <a:ea typeface="Quattrocento Sans" pitchFamily="34" charset="-122"/>
                <a:cs typeface="Quattrocento Sans" pitchFamily="34" charset="-120"/>
              </a:rPr>
              <a:t>MySQL</a:t>
            </a:r>
            <a:endParaRPr lang="en-US" sz="1600" dirty="0"/>
          </a:p>
        </p:txBody>
      </p:sp>
      <p:sp>
        <p:nvSpPr>
          <p:cNvPr id="44" name="Text 42"/>
          <p:cNvSpPr/>
          <p:nvPr/>
        </p:nvSpPr>
        <p:spPr>
          <a:xfrm>
            <a:off x="7029450" y="2552700"/>
            <a:ext cx="3190875" cy="190500"/>
          </a:xfrm>
          <a:prstGeom prst="rect">
            <a:avLst/>
          </a:prstGeom>
          <a:noFill/>
          <a:ln/>
        </p:spPr>
        <p:txBody>
          <a:bodyPr wrap="square" lIns="0" tIns="0" rIns="0" bIns="0" rtlCol="0" anchor="ctr"/>
          <a:lstStyle/>
          <a:p>
            <a:pPr>
              <a:lnSpc>
                <a:spcPct val="120000"/>
              </a:lnSpc>
            </a:pPr>
            <a:r>
              <a:rPr lang="en-US" sz="1050" dirty="0">
                <a:solidFill>
                  <a:srgbClr val="1E293B">
                    <a:alpha val="70000"/>
                  </a:srgbClr>
                </a:solidFill>
                <a:latin typeface="Quattrocento Sans" pitchFamily="34" charset="0"/>
                <a:ea typeface="Quattrocento Sans" pitchFamily="34" charset="-122"/>
                <a:cs typeface="Quattrocento Sans" pitchFamily="34" charset="-120"/>
              </a:rPr>
              <a:t>Relational database system for structured data storage</a:t>
            </a:r>
            <a:endParaRPr lang="en-US" sz="1600" dirty="0"/>
          </a:p>
        </p:txBody>
      </p:sp>
      <p:sp>
        <p:nvSpPr>
          <p:cNvPr id="45" name="Shape 43"/>
          <p:cNvSpPr/>
          <p:nvPr/>
        </p:nvSpPr>
        <p:spPr>
          <a:xfrm>
            <a:off x="6210300" y="3200400"/>
            <a:ext cx="5600700" cy="1638300"/>
          </a:xfrm>
          <a:custGeom>
            <a:avLst/>
            <a:gdLst/>
            <a:ahLst/>
            <a:cxnLst/>
            <a:rect l="l" t="t" r="r" b="b"/>
            <a:pathLst>
              <a:path w="5600700" h="1638300">
                <a:moveTo>
                  <a:pt x="38100" y="0"/>
                </a:moveTo>
                <a:lnTo>
                  <a:pt x="5486396" y="0"/>
                </a:lnTo>
                <a:cubicBezTo>
                  <a:pt x="5549524" y="0"/>
                  <a:pt x="5600700" y="51176"/>
                  <a:pt x="5600700" y="114304"/>
                </a:cubicBezTo>
                <a:lnTo>
                  <a:pt x="5600700" y="1523996"/>
                </a:lnTo>
                <a:cubicBezTo>
                  <a:pt x="5600700" y="1587124"/>
                  <a:pt x="5549524" y="1638300"/>
                  <a:pt x="5486396" y="1638300"/>
                </a:cubicBezTo>
                <a:lnTo>
                  <a:pt x="38100" y="1638300"/>
                </a:lnTo>
                <a:cubicBezTo>
                  <a:pt x="17072" y="1638300"/>
                  <a:pt x="0" y="1621228"/>
                  <a:pt x="0" y="1600200"/>
                </a:cubicBezTo>
                <a:lnTo>
                  <a:pt x="0" y="38100"/>
                </a:lnTo>
                <a:cubicBezTo>
                  <a:pt x="0" y="17072"/>
                  <a:pt x="17072" y="0"/>
                  <a:pt x="38100" y="0"/>
                </a:cubicBezTo>
                <a:close/>
              </a:path>
            </a:pathLst>
          </a:custGeom>
          <a:solidFill>
            <a:srgbClr val="FFFFFF"/>
          </a:solidFill>
          <a:ln/>
          <a:effectLst>
            <a:outerShdw blurRad="57150" dist="38100" dir="5400000" algn="bl" rotWithShape="0">
              <a:srgbClr val="000000">
                <a:alpha val="10196"/>
              </a:srgbClr>
            </a:outerShdw>
          </a:effectLst>
        </p:spPr>
      </p:sp>
      <p:sp>
        <p:nvSpPr>
          <p:cNvPr id="46" name="Shape 44"/>
          <p:cNvSpPr/>
          <p:nvPr/>
        </p:nvSpPr>
        <p:spPr>
          <a:xfrm>
            <a:off x="6210300" y="3200400"/>
            <a:ext cx="38100" cy="1638300"/>
          </a:xfrm>
          <a:custGeom>
            <a:avLst/>
            <a:gdLst/>
            <a:ahLst/>
            <a:cxnLst/>
            <a:rect l="l" t="t" r="r" b="b"/>
            <a:pathLst>
              <a:path w="38100" h="1638300">
                <a:moveTo>
                  <a:pt x="38100" y="0"/>
                </a:moveTo>
                <a:lnTo>
                  <a:pt x="38100" y="0"/>
                </a:lnTo>
                <a:lnTo>
                  <a:pt x="38100" y="1638300"/>
                </a:lnTo>
                <a:lnTo>
                  <a:pt x="38100" y="1638300"/>
                </a:lnTo>
                <a:cubicBezTo>
                  <a:pt x="17072" y="1638300"/>
                  <a:pt x="0" y="1621228"/>
                  <a:pt x="0" y="1600200"/>
                </a:cubicBezTo>
                <a:lnTo>
                  <a:pt x="0" y="38100"/>
                </a:lnTo>
                <a:cubicBezTo>
                  <a:pt x="0" y="17072"/>
                  <a:pt x="17072" y="0"/>
                  <a:pt x="38100" y="0"/>
                </a:cubicBezTo>
                <a:close/>
              </a:path>
            </a:pathLst>
          </a:custGeom>
          <a:solidFill>
            <a:srgbClr val="3B82F6"/>
          </a:solidFill>
          <a:ln/>
        </p:spPr>
      </p:sp>
      <p:sp>
        <p:nvSpPr>
          <p:cNvPr id="47" name="Shape 45"/>
          <p:cNvSpPr/>
          <p:nvPr/>
        </p:nvSpPr>
        <p:spPr>
          <a:xfrm>
            <a:off x="6419850" y="3390900"/>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3B82F6">
              <a:alpha val="10196"/>
            </a:srgbClr>
          </a:solidFill>
          <a:ln/>
        </p:spPr>
      </p:sp>
      <p:sp>
        <p:nvSpPr>
          <p:cNvPr id="48" name="Shape 46"/>
          <p:cNvSpPr/>
          <p:nvPr/>
        </p:nvSpPr>
        <p:spPr>
          <a:xfrm>
            <a:off x="6519863" y="3505200"/>
            <a:ext cx="257175" cy="228600"/>
          </a:xfrm>
          <a:custGeom>
            <a:avLst/>
            <a:gdLst/>
            <a:ahLst/>
            <a:cxnLst/>
            <a:rect l="l" t="t" r="r" b="b"/>
            <a:pathLst>
              <a:path w="257175" h="228600">
                <a:moveTo>
                  <a:pt x="0" y="150019"/>
                </a:moveTo>
                <a:cubicBezTo>
                  <a:pt x="0" y="185514"/>
                  <a:pt x="28798" y="214313"/>
                  <a:pt x="64294" y="214313"/>
                </a:cubicBezTo>
                <a:lnTo>
                  <a:pt x="200025" y="214313"/>
                </a:lnTo>
                <a:cubicBezTo>
                  <a:pt x="231591" y="214313"/>
                  <a:pt x="257175" y="188729"/>
                  <a:pt x="257175" y="157163"/>
                </a:cubicBezTo>
                <a:cubicBezTo>
                  <a:pt x="257175" y="134124"/>
                  <a:pt x="243557" y="114255"/>
                  <a:pt x="223912" y="105236"/>
                </a:cubicBezTo>
                <a:cubicBezTo>
                  <a:pt x="226903" y="99387"/>
                  <a:pt x="228600" y="92735"/>
                  <a:pt x="228600" y="85725"/>
                </a:cubicBezTo>
                <a:cubicBezTo>
                  <a:pt x="228600" y="62061"/>
                  <a:pt x="209401" y="42863"/>
                  <a:pt x="185738" y="42863"/>
                </a:cubicBezTo>
                <a:cubicBezTo>
                  <a:pt x="177835" y="42863"/>
                  <a:pt x="170468" y="45006"/>
                  <a:pt x="164128" y="48711"/>
                </a:cubicBezTo>
                <a:cubicBezTo>
                  <a:pt x="153367" y="28262"/>
                  <a:pt x="131891" y="14288"/>
                  <a:pt x="107156" y="14288"/>
                </a:cubicBezTo>
                <a:cubicBezTo>
                  <a:pt x="71661" y="14288"/>
                  <a:pt x="42863" y="43086"/>
                  <a:pt x="42863" y="78581"/>
                </a:cubicBezTo>
                <a:cubicBezTo>
                  <a:pt x="42863" y="82153"/>
                  <a:pt x="43175" y="85680"/>
                  <a:pt x="43711" y="89074"/>
                </a:cubicBezTo>
                <a:cubicBezTo>
                  <a:pt x="18306" y="97646"/>
                  <a:pt x="0" y="121712"/>
                  <a:pt x="0" y="150019"/>
                </a:cubicBezTo>
                <a:close/>
              </a:path>
            </a:pathLst>
          </a:custGeom>
          <a:solidFill>
            <a:srgbClr val="3B82F6"/>
          </a:solidFill>
          <a:ln/>
        </p:spPr>
      </p:sp>
      <p:sp>
        <p:nvSpPr>
          <p:cNvPr id="49" name="Text 47"/>
          <p:cNvSpPr/>
          <p:nvPr/>
        </p:nvSpPr>
        <p:spPr>
          <a:xfrm>
            <a:off x="6991350" y="3486150"/>
            <a:ext cx="638175" cy="266700"/>
          </a:xfrm>
          <a:prstGeom prst="rect">
            <a:avLst/>
          </a:prstGeom>
          <a:noFill/>
          <a:ln/>
        </p:spPr>
        <p:txBody>
          <a:bodyPr wrap="square" lIns="0" tIns="0" rIns="0" bIns="0" rtlCol="0" anchor="ctr"/>
          <a:lstStyle/>
          <a:p>
            <a:pPr>
              <a:lnSpc>
                <a:spcPct val="120000"/>
              </a:lnSpc>
            </a:pPr>
            <a:r>
              <a:rPr lang="en-US" sz="1500" b="1" dirty="0">
                <a:solidFill>
                  <a:srgbClr val="1E3A5F"/>
                </a:solidFill>
                <a:latin typeface="Liter" pitchFamily="34" charset="0"/>
                <a:ea typeface="Liter" pitchFamily="34" charset="-122"/>
                <a:cs typeface="Liter" pitchFamily="34" charset="-120"/>
              </a:rPr>
              <a:t>Server</a:t>
            </a:r>
            <a:endParaRPr lang="en-US" sz="1600" dirty="0"/>
          </a:p>
        </p:txBody>
      </p:sp>
      <p:sp>
        <p:nvSpPr>
          <p:cNvPr id="50" name="Shape 48"/>
          <p:cNvSpPr/>
          <p:nvPr/>
        </p:nvSpPr>
        <p:spPr>
          <a:xfrm>
            <a:off x="6419850" y="4000500"/>
            <a:ext cx="5200650" cy="647700"/>
          </a:xfrm>
          <a:custGeom>
            <a:avLst/>
            <a:gdLst/>
            <a:ahLst/>
            <a:cxnLst/>
            <a:rect l="l" t="t" r="r" b="b"/>
            <a:pathLst>
              <a:path w="5200650" h="647700">
                <a:moveTo>
                  <a:pt x="76202" y="0"/>
                </a:moveTo>
                <a:lnTo>
                  <a:pt x="5124448" y="0"/>
                </a:lnTo>
                <a:cubicBezTo>
                  <a:pt x="5166533" y="0"/>
                  <a:pt x="5200650" y="34117"/>
                  <a:pt x="5200650" y="76202"/>
                </a:cubicBezTo>
                <a:lnTo>
                  <a:pt x="5200650" y="571498"/>
                </a:lnTo>
                <a:cubicBezTo>
                  <a:pt x="5200650" y="613583"/>
                  <a:pt x="5166533" y="647700"/>
                  <a:pt x="5124448" y="647700"/>
                </a:cubicBezTo>
                <a:lnTo>
                  <a:pt x="76202" y="647700"/>
                </a:lnTo>
                <a:cubicBezTo>
                  <a:pt x="34117" y="647700"/>
                  <a:pt x="0" y="613583"/>
                  <a:pt x="0" y="571498"/>
                </a:cubicBezTo>
                <a:lnTo>
                  <a:pt x="0" y="76202"/>
                </a:lnTo>
                <a:cubicBezTo>
                  <a:pt x="0" y="34117"/>
                  <a:pt x="34117" y="0"/>
                  <a:pt x="76202" y="0"/>
                </a:cubicBezTo>
                <a:close/>
              </a:path>
            </a:pathLst>
          </a:custGeom>
          <a:solidFill>
            <a:srgbClr val="F8FAFC"/>
          </a:solidFill>
          <a:ln/>
        </p:spPr>
      </p:sp>
      <p:sp>
        <p:nvSpPr>
          <p:cNvPr id="51" name="Shape 49"/>
          <p:cNvSpPr/>
          <p:nvPr/>
        </p:nvSpPr>
        <p:spPr>
          <a:xfrm>
            <a:off x="6534150" y="413385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FFEDD4"/>
          </a:solidFill>
          <a:ln/>
        </p:spPr>
      </p:sp>
      <p:sp>
        <p:nvSpPr>
          <p:cNvPr id="52" name="Shape 50"/>
          <p:cNvSpPr/>
          <p:nvPr/>
        </p:nvSpPr>
        <p:spPr>
          <a:xfrm>
            <a:off x="6641306" y="4229100"/>
            <a:ext cx="166688" cy="190500"/>
          </a:xfrm>
          <a:custGeom>
            <a:avLst/>
            <a:gdLst/>
            <a:ahLst/>
            <a:cxnLst/>
            <a:rect l="l" t="t" r="r" b="b"/>
            <a:pathLst>
              <a:path w="166688" h="190500">
                <a:moveTo>
                  <a:pt x="23812" y="11906"/>
                </a:moveTo>
                <a:cubicBezTo>
                  <a:pt x="10678" y="11906"/>
                  <a:pt x="0" y="22585"/>
                  <a:pt x="0" y="35719"/>
                </a:cubicBezTo>
                <a:lnTo>
                  <a:pt x="0" y="59531"/>
                </a:lnTo>
                <a:cubicBezTo>
                  <a:pt x="0" y="72665"/>
                  <a:pt x="10678" y="83344"/>
                  <a:pt x="23812" y="83344"/>
                </a:cubicBezTo>
                <a:lnTo>
                  <a:pt x="142875" y="83344"/>
                </a:lnTo>
                <a:cubicBezTo>
                  <a:pt x="156009" y="83344"/>
                  <a:pt x="166688" y="72665"/>
                  <a:pt x="166688" y="59531"/>
                </a:cubicBezTo>
                <a:lnTo>
                  <a:pt x="166688" y="35719"/>
                </a:lnTo>
                <a:cubicBezTo>
                  <a:pt x="166688" y="22585"/>
                  <a:pt x="156009" y="11906"/>
                  <a:pt x="142875" y="11906"/>
                </a:cubicBezTo>
                <a:lnTo>
                  <a:pt x="23812" y="11906"/>
                </a:lnTo>
                <a:close/>
                <a:moveTo>
                  <a:pt x="104180" y="38695"/>
                </a:moveTo>
                <a:cubicBezTo>
                  <a:pt x="109108" y="38695"/>
                  <a:pt x="113109" y="42697"/>
                  <a:pt x="113109" y="47625"/>
                </a:cubicBezTo>
                <a:cubicBezTo>
                  <a:pt x="113109" y="52553"/>
                  <a:pt x="109108" y="56555"/>
                  <a:pt x="104180" y="56555"/>
                </a:cubicBezTo>
                <a:cubicBezTo>
                  <a:pt x="99251" y="56555"/>
                  <a:pt x="95250" y="52553"/>
                  <a:pt x="95250" y="47625"/>
                </a:cubicBezTo>
                <a:cubicBezTo>
                  <a:pt x="95250" y="42697"/>
                  <a:pt x="99251" y="38695"/>
                  <a:pt x="104180" y="38695"/>
                </a:cubicBezTo>
                <a:close/>
                <a:moveTo>
                  <a:pt x="125016" y="47625"/>
                </a:moveTo>
                <a:cubicBezTo>
                  <a:pt x="125016" y="42697"/>
                  <a:pt x="129017" y="38695"/>
                  <a:pt x="133945" y="38695"/>
                </a:cubicBezTo>
                <a:cubicBezTo>
                  <a:pt x="138874" y="38695"/>
                  <a:pt x="142875" y="42697"/>
                  <a:pt x="142875" y="47625"/>
                </a:cubicBezTo>
                <a:cubicBezTo>
                  <a:pt x="142875" y="52553"/>
                  <a:pt x="138874" y="56555"/>
                  <a:pt x="133945" y="56555"/>
                </a:cubicBezTo>
                <a:cubicBezTo>
                  <a:pt x="129017" y="56555"/>
                  <a:pt x="125016" y="52553"/>
                  <a:pt x="125016" y="47625"/>
                </a:cubicBezTo>
                <a:close/>
                <a:moveTo>
                  <a:pt x="23812" y="107156"/>
                </a:moveTo>
                <a:cubicBezTo>
                  <a:pt x="10678" y="107156"/>
                  <a:pt x="0" y="117835"/>
                  <a:pt x="0" y="130969"/>
                </a:cubicBezTo>
                <a:lnTo>
                  <a:pt x="0" y="154781"/>
                </a:lnTo>
                <a:cubicBezTo>
                  <a:pt x="0" y="167915"/>
                  <a:pt x="10678" y="178594"/>
                  <a:pt x="23812" y="178594"/>
                </a:cubicBezTo>
                <a:lnTo>
                  <a:pt x="142875" y="178594"/>
                </a:lnTo>
                <a:cubicBezTo>
                  <a:pt x="156009" y="178594"/>
                  <a:pt x="166688" y="167915"/>
                  <a:pt x="166688" y="154781"/>
                </a:cubicBezTo>
                <a:lnTo>
                  <a:pt x="166688" y="130969"/>
                </a:lnTo>
                <a:cubicBezTo>
                  <a:pt x="166688" y="117835"/>
                  <a:pt x="156009" y="107156"/>
                  <a:pt x="142875" y="107156"/>
                </a:cubicBezTo>
                <a:lnTo>
                  <a:pt x="23812" y="107156"/>
                </a:lnTo>
                <a:close/>
                <a:moveTo>
                  <a:pt x="104180" y="133945"/>
                </a:moveTo>
                <a:cubicBezTo>
                  <a:pt x="109108" y="133945"/>
                  <a:pt x="113109" y="137947"/>
                  <a:pt x="113109" y="142875"/>
                </a:cubicBezTo>
                <a:cubicBezTo>
                  <a:pt x="113109" y="147803"/>
                  <a:pt x="109108" y="151805"/>
                  <a:pt x="104180" y="151805"/>
                </a:cubicBezTo>
                <a:cubicBezTo>
                  <a:pt x="99251" y="151805"/>
                  <a:pt x="95250" y="147803"/>
                  <a:pt x="95250" y="142875"/>
                </a:cubicBezTo>
                <a:cubicBezTo>
                  <a:pt x="95250" y="137947"/>
                  <a:pt x="99251" y="133945"/>
                  <a:pt x="104180" y="133945"/>
                </a:cubicBezTo>
                <a:close/>
                <a:moveTo>
                  <a:pt x="125016" y="142875"/>
                </a:moveTo>
                <a:cubicBezTo>
                  <a:pt x="125016" y="137947"/>
                  <a:pt x="129017" y="133945"/>
                  <a:pt x="133945" y="133945"/>
                </a:cubicBezTo>
                <a:cubicBezTo>
                  <a:pt x="138874" y="133945"/>
                  <a:pt x="142875" y="137947"/>
                  <a:pt x="142875" y="142875"/>
                </a:cubicBezTo>
                <a:cubicBezTo>
                  <a:pt x="142875" y="147803"/>
                  <a:pt x="138874" y="151805"/>
                  <a:pt x="133945" y="151805"/>
                </a:cubicBezTo>
                <a:cubicBezTo>
                  <a:pt x="129017" y="151805"/>
                  <a:pt x="125016" y="147803"/>
                  <a:pt x="125016" y="142875"/>
                </a:cubicBezTo>
                <a:close/>
              </a:path>
            </a:pathLst>
          </a:custGeom>
          <a:solidFill>
            <a:srgbClr val="F54900"/>
          </a:solidFill>
          <a:ln/>
        </p:spPr>
      </p:sp>
      <p:sp>
        <p:nvSpPr>
          <p:cNvPr id="53" name="Text 51"/>
          <p:cNvSpPr/>
          <p:nvPr/>
        </p:nvSpPr>
        <p:spPr>
          <a:xfrm>
            <a:off x="7029450" y="4114800"/>
            <a:ext cx="3009900" cy="228600"/>
          </a:xfrm>
          <a:prstGeom prst="rect">
            <a:avLst/>
          </a:prstGeom>
          <a:noFill/>
          <a:ln/>
        </p:spPr>
        <p:txBody>
          <a:bodyPr wrap="square" lIns="0" tIns="0" rIns="0" bIns="0" rtlCol="0" anchor="ctr"/>
          <a:lstStyle/>
          <a:p>
            <a:pPr>
              <a:lnSpc>
                <a:spcPct val="130000"/>
              </a:lnSpc>
            </a:pPr>
            <a:r>
              <a:rPr lang="en-US" sz="1200" b="1" dirty="0">
                <a:solidFill>
                  <a:srgbClr val="1E3A5F"/>
                </a:solidFill>
                <a:latin typeface="Quattrocento Sans" pitchFamily="34" charset="0"/>
                <a:ea typeface="Quattrocento Sans" pitchFamily="34" charset="-122"/>
                <a:cs typeface="Quattrocento Sans" pitchFamily="34" charset="-120"/>
              </a:rPr>
              <a:t>XAMPP</a:t>
            </a:r>
            <a:endParaRPr lang="en-US" sz="1600" dirty="0"/>
          </a:p>
        </p:txBody>
      </p:sp>
      <p:sp>
        <p:nvSpPr>
          <p:cNvPr id="54" name="Text 52"/>
          <p:cNvSpPr/>
          <p:nvPr/>
        </p:nvSpPr>
        <p:spPr>
          <a:xfrm>
            <a:off x="7029450" y="4343400"/>
            <a:ext cx="3000375" cy="190500"/>
          </a:xfrm>
          <a:prstGeom prst="rect">
            <a:avLst/>
          </a:prstGeom>
          <a:noFill/>
          <a:ln/>
        </p:spPr>
        <p:txBody>
          <a:bodyPr wrap="square" lIns="0" tIns="0" rIns="0" bIns="0" rtlCol="0" anchor="ctr"/>
          <a:lstStyle/>
          <a:p>
            <a:pPr>
              <a:lnSpc>
                <a:spcPct val="120000"/>
              </a:lnSpc>
            </a:pPr>
            <a:r>
              <a:rPr lang="en-US" sz="1050" dirty="0">
                <a:solidFill>
                  <a:srgbClr val="1E293B">
                    <a:alpha val="70000"/>
                  </a:srgbClr>
                </a:solidFill>
                <a:latin typeface="Quattrocento Sans" pitchFamily="34" charset="0"/>
                <a:ea typeface="Quattrocento Sans" pitchFamily="34" charset="-122"/>
                <a:cs typeface="Quattrocento Sans" pitchFamily="34" charset="-120"/>
              </a:rPr>
              <a:t>Local server environment (Apache + MySQL + PHP)</a:t>
            </a:r>
            <a:endParaRPr lang="en-US" sz="1600" dirty="0"/>
          </a:p>
        </p:txBody>
      </p:sp>
      <p:sp>
        <p:nvSpPr>
          <p:cNvPr id="55" name="Shape 53"/>
          <p:cNvSpPr/>
          <p:nvPr/>
        </p:nvSpPr>
        <p:spPr>
          <a:xfrm>
            <a:off x="6210300" y="4991100"/>
            <a:ext cx="5600700" cy="1638300"/>
          </a:xfrm>
          <a:custGeom>
            <a:avLst/>
            <a:gdLst/>
            <a:ahLst/>
            <a:cxnLst/>
            <a:rect l="l" t="t" r="r" b="b"/>
            <a:pathLst>
              <a:path w="5600700" h="1638300">
                <a:moveTo>
                  <a:pt x="38100" y="0"/>
                </a:moveTo>
                <a:lnTo>
                  <a:pt x="5486396" y="0"/>
                </a:lnTo>
                <a:cubicBezTo>
                  <a:pt x="5549524" y="0"/>
                  <a:pt x="5600700" y="51176"/>
                  <a:pt x="5600700" y="114304"/>
                </a:cubicBezTo>
                <a:lnTo>
                  <a:pt x="5600700" y="1523996"/>
                </a:lnTo>
                <a:cubicBezTo>
                  <a:pt x="5600700" y="1587124"/>
                  <a:pt x="5549524" y="1638300"/>
                  <a:pt x="5486396" y="1638300"/>
                </a:cubicBezTo>
                <a:lnTo>
                  <a:pt x="38100" y="1638300"/>
                </a:lnTo>
                <a:cubicBezTo>
                  <a:pt x="17072" y="1638300"/>
                  <a:pt x="0" y="1621228"/>
                  <a:pt x="0" y="1600200"/>
                </a:cubicBezTo>
                <a:lnTo>
                  <a:pt x="0" y="38100"/>
                </a:lnTo>
                <a:cubicBezTo>
                  <a:pt x="0" y="17072"/>
                  <a:pt x="17072" y="0"/>
                  <a:pt x="38100" y="0"/>
                </a:cubicBezTo>
                <a:close/>
              </a:path>
            </a:pathLst>
          </a:custGeom>
          <a:solidFill>
            <a:srgbClr val="FFFFFF"/>
          </a:solidFill>
          <a:ln/>
          <a:effectLst>
            <a:outerShdw blurRad="57150" dist="38100" dir="5400000" algn="bl" rotWithShape="0">
              <a:srgbClr val="000000">
                <a:alpha val="10196"/>
              </a:srgbClr>
            </a:outerShdw>
          </a:effectLst>
        </p:spPr>
      </p:sp>
      <p:sp>
        <p:nvSpPr>
          <p:cNvPr id="56" name="Shape 54"/>
          <p:cNvSpPr/>
          <p:nvPr/>
        </p:nvSpPr>
        <p:spPr>
          <a:xfrm>
            <a:off x="6210300" y="4991100"/>
            <a:ext cx="38100" cy="1638300"/>
          </a:xfrm>
          <a:custGeom>
            <a:avLst/>
            <a:gdLst/>
            <a:ahLst/>
            <a:cxnLst/>
            <a:rect l="l" t="t" r="r" b="b"/>
            <a:pathLst>
              <a:path w="38100" h="1638300">
                <a:moveTo>
                  <a:pt x="38100" y="0"/>
                </a:moveTo>
                <a:lnTo>
                  <a:pt x="38100" y="0"/>
                </a:lnTo>
                <a:lnTo>
                  <a:pt x="38100" y="1638300"/>
                </a:lnTo>
                <a:lnTo>
                  <a:pt x="38100" y="1638300"/>
                </a:lnTo>
                <a:cubicBezTo>
                  <a:pt x="17072" y="1638300"/>
                  <a:pt x="0" y="1621228"/>
                  <a:pt x="0" y="1600200"/>
                </a:cubicBezTo>
                <a:lnTo>
                  <a:pt x="0" y="38100"/>
                </a:lnTo>
                <a:cubicBezTo>
                  <a:pt x="0" y="17072"/>
                  <a:pt x="17072" y="0"/>
                  <a:pt x="38100" y="0"/>
                </a:cubicBezTo>
                <a:close/>
              </a:path>
            </a:pathLst>
          </a:custGeom>
          <a:solidFill>
            <a:srgbClr val="10B981"/>
          </a:solidFill>
          <a:ln/>
        </p:spPr>
      </p:sp>
      <p:sp>
        <p:nvSpPr>
          <p:cNvPr id="57" name="Shape 55"/>
          <p:cNvSpPr/>
          <p:nvPr/>
        </p:nvSpPr>
        <p:spPr>
          <a:xfrm>
            <a:off x="6419850" y="5181600"/>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10B981">
              <a:alpha val="10196"/>
            </a:srgbClr>
          </a:solidFill>
          <a:ln/>
        </p:spPr>
      </p:sp>
      <p:sp>
        <p:nvSpPr>
          <p:cNvPr id="58" name="Shape 56"/>
          <p:cNvSpPr/>
          <p:nvPr/>
        </p:nvSpPr>
        <p:spPr>
          <a:xfrm>
            <a:off x="6519863" y="5295900"/>
            <a:ext cx="257175" cy="228600"/>
          </a:xfrm>
          <a:custGeom>
            <a:avLst/>
            <a:gdLst/>
            <a:ahLst/>
            <a:cxnLst/>
            <a:rect l="l" t="t" r="r" b="b"/>
            <a:pathLst>
              <a:path w="257175" h="228600">
                <a:moveTo>
                  <a:pt x="100057" y="43354"/>
                </a:moveTo>
                <a:lnTo>
                  <a:pt x="100057" y="65499"/>
                </a:lnTo>
                <a:lnTo>
                  <a:pt x="100280" y="65723"/>
                </a:lnTo>
                <a:cubicBezTo>
                  <a:pt x="103183" y="28932"/>
                  <a:pt x="133945" y="0"/>
                  <a:pt x="171495" y="0"/>
                </a:cubicBezTo>
                <a:cubicBezTo>
                  <a:pt x="180469" y="0"/>
                  <a:pt x="189086" y="1652"/>
                  <a:pt x="196989" y="4688"/>
                </a:cubicBezTo>
                <a:cubicBezTo>
                  <a:pt x="201454" y="6385"/>
                  <a:pt x="202257" y="12055"/>
                  <a:pt x="198909" y="15448"/>
                </a:cubicBezTo>
                <a:lnTo>
                  <a:pt x="159306" y="55052"/>
                </a:lnTo>
                <a:cubicBezTo>
                  <a:pt x="157966" y="56391"/>
                  <a:pt x="157207" y="58222"/>
                  <a:pt x="157207" y="60097"/>
                </a:cubicBezTo>
                <a:lnTo>
                  <a:pt x="157207" y="78581"/>
                </a:lnTo>
                <a:cubicBezTo>
                  <a:pt x="157207" y="82510"/>
                  <a:pt x="160422" y="85725"/>
                  <a:pt x="164351" y="85725"/>
                </a:cubicBezTo>
                <a:lnTo>
                  <a:pt x="182835" y="85725"/>
                </a:lnTo>
                <a:cubicBezTo>
                  <a:pt x="184711" y="85725"/>
                  <a:pt x="186541" y="84966"/>
                  <a:pt x="187881" y="83627"/>
                </a:cubicBezTo>
                <a:lnTo>
                  <a:pt x="227484" y="44023"/>
                </a:lnTo>
                <a:cubicBezTo>
                  <a:pt x="230877" y="40630"/>
                  <a:pt x="236547" y="41478"/>
                  <a:pt x="238244" y="45943"/>
                </a:cubicBezTo>
                <a:cubicBezTo>
                  <a:pt x="241280" y="53846"/>
                  <a:pt x="242932" y="62463"/>
                  <a:pt x="242932" y="71438"/>
                </a:cubicBezTo>
                <a:cubicBezTo>
                  <a:pt x="242932" y="98494"/>
                  <a:pt x="227886" y="122069"/>
                  <a:pt x="205651" y="134169"/>
                </a:cubicBezTo>
                <a:lnTo>
                  <a:pt x="242039" y="170557"/>
                </a:lnTo>
                <a:cubicBezTo>
                  <a:pt x="250388" y="178906"/>
                  <a:pt x="250388" y="192479"/>
                  <a:pt x="242039" y="200873"/>
                </a:cubicBezTo>
                <a:lnTo>
                  <a:pt x="215205" y="227707"/>
                </a:lnTo>
                <a:cubicBezTo>
                  <a:pt x="206856" y="236056"/>
                  <a:pt x="193283" y="236056"/>
                  <a:pt x="184889" y="227707"/>
                </a:cubicBezTo>
                <a:lnTo>
                  <a:pt x="128632" y="171450"/>
                </a:lnTo>
                <a:cubicBezTo>
                  <a:pt x="116398" y="159216"/>
                  <a:pt x="113630" y="141134"/>
                  <a:pt x="120372" y="126221"/>
                </a:cubicBezTo>
                <a:lnTo>
                  <a:pt x="79876" y="85725"/>
                </a:lnTo>
                <a:lnTo>
                  <a:pt x="57730" y="85725"/>
                </a:lnTo>
                <a:cubicBezTo>
                  <a:pt x="52953" y="85725"/>
                  <a:pt x="48488" y="83359"/>
                  <a:pt x="45854" y="79385"/>
                </a:cubicBezTo>
                <a:lnTo>
                  <a:pt x="10448" y="26298"/>
                </a:lnTo>
                <a:cubicBezTo>
                  <a:pt x="8573" y="23485"/>
                  <a:pt x="8930" y="19690"/>
                  <a:pt x="11341" y="17279"/>
                </a:cubicBezTo>
                <a:lnTo>
                  <a:pt x="31611" y="-2991"/>
                </a:lnTo>
                <a:cubicBezTo>
                  <a:pt x="34022" y="-5402"/>
                  <a:pt x="37773" y="-5760"/>
                  <a:pt x="40630" y="-3884"/>
                </a:cubicBezTo>
                <a:lnTo>
                  <a:pt x="93717" y="31477"/>
                </a:lnTo>
                <a:cubicBezTo>
                  <a:pt x="97691" y="34111"/>
                  <a:pt x="100057" y="38576"/>
                  <a:pt x="100057" y="43354"/>
                </a:cubicBezTo>
                <a:close/>
                <a:moveTo>
                  <a:pt x="96262" y="132427"/>
                </a:moveTo>
                <a:cubicBezTo>
                  <a:pt x="93449" y="148947"/>
                  <a:pt x="97334" y="166405"/>
                  <a:pt x="108049" y="180380"/>
                </a:cubicBezTo>
                <a:lnTo>
                  <a:pt x="65633" y="222751"/>
                </a:lnTo>
                <a:cubicBezTo>
                  <a:pt x="53087" y="235297"/>
                  <a:pt x="32727" y="235297"/>
                  <a:pt x="20181" y="222751"/>
                </a:cubicBezTo>
                <a:cubicBezTo>
                  <a:pt x="7635" y="210205"/>
                  <a:pt x="7635" y="189845"/>
                  <a:pt x="20181" y="177299"/>
                </a:cubicBezTo>
                <a:lnTo>
                  <a:pt x="80635" y="116845"/>
                </a:lnTo>
                <a:lnTo>
                  <a:pt x="96262" y="132472"/>
                </a:lnTo>
                <a:close/>
              </a:path>
            </a:pathLst>
          </a:custGeom>
          <a:solidFill>
            <a:srgbClr val="10B981"/>
          </a:solidFill>
          <a:ln/>
        </p:spPr>
      </p:sp>
      <p:sp>
        <p:nvSpPr>
          <p:cNvPr id="59" name="Text 57"/>
          <p:cNvSpPr/>
          <p:nvPr/>
        </p:nvSpPr>
        <p:spPr>
          <a:xfrm>
            <a:off x="6991350" y="5276850"/>
            <a:ext cx="2038350" cy="266700"/>
          </a:xfrm>
          <a:prstGeom prst="rect">
            <a:avLst/>
          </a:prstGeom>
          <a:noFill/>
          <a:ln/>
        </p:spPr>
        <p:txBody>
          <a:bodyPr wrap="square" lIns="0" tIns="0" rIns="0" bIns="0" rtlCol="0" anchor="ctr"/>
          <a:lstStyle/>
          <a:p>
            <a:pPr>
              <a:lnSpc>
                <a:spcPct val="120000"/>
              </a:lnSpc>
            </a:pPr>
            <a:r>
              <a:rPr lang="en-US" sz="1500" b="1" dirty="0">
                <a:solidFill>
                  <a:srgbClr val="1E3A5F"/>
                </a:solidFill>
                <a:latin typeface="Liter" pitchFamily="34" charset="0"/>
                <a:ea typeface="Liter" pitchFamily="34" charset="-122"/>
                <a:cs typeface="Liter" pitchFamily="34" charset="-120"/>
              </a:rPr>
              <a:t>Database Management</a:t>
            </a:r>
            <a:endParaRPr lang="en-US" sz="1600" dirty="0"/>
          </a:p>
        </p:txBody>
      </p:sp>
      <p:sp>
        <p:nvSpPr>
          <p:cNvPr id="60" name="Shape 58"/>
          <p:cNvSpPr/>
          <p:nvPr/>
        </p:nvSpPr>
        <p:spPr>
          <a:xfrm>
            <a:off x="6419850" y="5791200"/>
            <a:ext cx="5200650" cy="647700"/>
          </a:xfrm>
          <a:custGeom>
            <a:avLst/>
            <a:gdLst/>
            <a:ahLst/>
            <a:cxnLst/>
            <a:rect l="l" t="t" r="r" b="b"/>
            <a:pathLst>
              <a:path w="5200650" h="647700">
                <a:moveTo>
                  <a:pt x="76202" y="0"/>
                </a:moveTo>
                <a:lnTo>
                  <a:pt x="5124448" y="0"/>
                </a:lnTo>
                <a:cubicBezTo>
                  <a:pt x="5166533" y="0"/>
                  <a:pt x="5200650" y="34117"/>
                  <a:pt x="5200650" y="76202"/>
                </a:cubicBezTo>
                <a:lnTo>
                  <a:pt x="5200650" y="571498"/>
                </a:lnTo>
                <a:cubicBezTo>
                  <a:pt x="5200650" y="613583"/>
                  <a:pt x="5166533" y="647700"/>
                  <a:pt x="5124448" y="647700"/>
                </a:cubicBezTo>
                <a:lnTo>
                  <a:pt x="76202" y="647700"/>
                </a:lnTo>
                <a:cubicBezTo>
                  <a:pt x="34117" y="647700"/>
                  <a:pt x="0" y="613583"/>
                  <a:pt x="0" y="571498"/>
                </a:cubicBezTo>
                <a:lnTo>
                  <a:pt x="0" y="76202"/>
                </a:lnTo>
                <a:cubicBezTo>
                  <a:pt x="0" y="34117"/>
                  <a:pt x="34117" y="0"/>
                  <a:pt x="76202" y="0"/>
                </a:cubicBezTo>
                <a:close/>
              </a:path>
            </a:pathLst>
          </a:custGeom>
          <a:solidFill>
            <a:srgbClr val="F8FAFC"/>
          </a:solidFill>
          <a:ln/>
        </p:spPr>
      </p:sp>
      <p:sp>
        <p:nvSpPr>
          <p:cNvPr id="61" name="Shape 59"/>
          <p:cNvSpPr/>
          <p:nvPr/>
        </p:nvSpPr>
        <p:spPr>
          <a:xfrm>
            <a:off x="6534150" y="592455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FEF9C2"/>
          </a:solidFill>
          <a:ln/>
        </p:spPr>
      </p:sp>
      <p:sp>
        <p:nvSpPr>
          <p:cNvPr id="62" name="Shape 60"/>
          <p:cNvSpPr/>
          <p:nvPr/>
        </p:nvSpPr>
        <p:spPr>
          <a:xfrm>
            <a:off x="6605588" y="6019800"/>
            <a:ext cx="238125" cy="190500"/>
          </a:xfrm>
          <a:custGeom>
            <a:avLst/>
            <a:gdLst/>
            <a:ahLst/>
            <a:cxnLst/>
            <a:rect l="l" t="t" r="r" b="b"/>
            <a:pathLst>
              <a:path w="238125" h="190500">
                <a:moveTo>
                  <a:pt x="154744" y="78321"/>
                </a:moveTo>
                <a:cubicBezTo>
                  <a:pt x="159283" y="77093"/>
                  <a:pt x="164046" y="79251"/>
                  <a:pt x="166092" y="83455"/>
                </a:cubicBezTo>
                <a:lnTo>
                  <a:pt x="173013" y="97445"/>
                </a:lnTo>
                <a:cubicBezTo>
                  <a:pt x="176845" y="97966"/>
                  <a:pt x="180603" y="99008"/>
                  <a:pt x="184138" y="100459"/>
                </a:cubicBezTo>
                <a:lnTo>
                  <a:pt x="197160" y="91790"/>
                </a:lnTo>
                <a:cubicBezTo>
                  <a:pt x="201067" y="89185"/>
                  <a:pt x="206239" y="89706"/>
                  <a:pt x="209550" y="93018"/>
                </a:cubicBezTo>
                <a:lnTo>
                  <a:pt x="216694" y="100161"/>
                </a:lnTo>
                <a:cubicBezTo>
                  <a:pt x="220005" y="103473"/>
                  <a:pt x="220526" y="108682"/>
                  <a:pt x="217922" y="112551"/>
                </a:cubicBezTo>
                <a:lnTo>
                  <a:pt x="209252" y="125537"/>
                </a:lnTo>
                <a:cubicBezTo>
                  <a:pt x="209959" y="127285"/>
                  <a:pt x="210592" y="129108"/>
                  <a:pt x="211113" y="131006"/>
                </a:cubicBezTo>
                <a:cubicBezTo>
                  <a:pt x="211634" y="132904"/>
                  <a:pt x="211968" y="134764"/>
                  <a:pt x="212229" y="136661"/>
                </a:cubicBezTo>
                <a:lnTo>
                  <a:pt x="226256" y="143582"/>
                </a:lnTo>
                <a:cubicBezTo>
                  <a:pt x="230460" y="145666"/>
                  <a:pt x="232618" y="150428"/>
                  <a:pt x="231391" y="154930"/>
                </a:cubicBezTo>
                <a:lnTo>
                  <a:pt x="228786" y="164678"/>
                </a:lnTo>
                <a:cubicBezTo>
                  <a:pt x="227558" y="169180"/>
                  <a:pt x="223354" y="172231"/>
                  <a:pt x="218666" y="171934"/>
                </a:cubicBezTo>
                <a:lnTo>
                  <a:pt x="203039" y="170929"/>
                </a:lnTo>
                <a:cubicBezTo>
                  <a:pt x="200695" y="173943"/>
                  <a:pt x="197979" y="176733"/>
                  <a:pt x="194890" y="179115"/>
                </a:cubicBezTo>
                <a:lnTo>
                  <a:pt x="195895" y="194704"/>
                </a:lnTo>
                <a:cubicBezTo>
                  <a:pt x="196193" y="199392"/>
                  <a:pt x="193142" y="203634"/>
                  <a:pt x="188640" y="204825"/>
                </a:cubicBezTo>
                <a:lnTo>
                  <a:pt x="178891" y="207429"/>
                </a:lnTo>
                <a:cubicBezTo>
                  <a:pt x="174352" y="208657"/>
                  <a:pt x="169627" y="206499"/>
                  <a:pt x="167543" y="202295"/>
                </a:cubicBezTo>
                <a:lnTo>
                  <a:pt x="160623" y="188305"/>
                </a:lnTo>
                <a:cubicBezTo>
                  <a:pt x="156790" y="187784"/>
                  <a:pt x="153033" y="186742"/>
                  <a:pt x="149498" y="185291"/>
                </a:cubicBezTo>
                <a:lnTo>
                  <a:pt x="136475" y="193960"/>
                </a:lnTo>
                <a:cubicBezTo>
                  <a:pt x="132569" y="196565"/>
                  <a:pt x="127397" y="196044"/>
                  <a:pt x="124085" y="192732"/>
                </a:cubicBezTo>
                <a:lnTo>
                  <a:pt x="116942" y="185589"/>
                </a:lnTo>
                <a:cubicBezTo>
                  <a:pt x="113630" y="182277"/>
                  <a:pt x="113109" y="177105"/>
                  <a:pt x="115714" y="173199"/>
                </a:cubicBezTo>
                <a:lnTo>
                  <a:pt x="124383" y="160176"/>
                </a:lnTo>
                <a:cubicBezTo>
                  <a:pt x="123676" y="158428"/>
                  <a:pt x="123044" y="156604"/>
                  <a:pt x="122523" y="154707"/>
                </a:cubicBezTo>
                <a:cubicBezTo>
                  <a:pt x="122002" y="152809"/>
                  <a:pt x="121667" y="150912"/>
                  <a:pt x="121407" y="149051"/>
                </a:cubicBezTo>
                <a:lnTo>
                  <a:pt x="107379" y="142131"/>
                </a:lnTo>
                <a:cubicBezTo>
                  <a:pt x="103175" y="140047"/>
                  <a:pt x="101054" y="135285"/>
                  <a:pt x="102245" y="130783"/>
                </a:cubicBezTo>
                <a:lnTo>
                  <a:pt x="104849" y="121034"/>
                </a:lnTo>
                <a:cubicBezTo>
                  <a:pt x="106077" y="116532"/>
                  <a:pt x="110282" y="113481"/>
                  <a:pt x="114970" y="113779"/>
                </a:cubicBezTo>
                <a:lnTo>
                  <a:pt x="130559" y="114784"/>
                </a:lnTo>
                <a:cubicBezTo>
                  <a:pt x="132904" y="111770"/>
                  <a:pt x="135620" y="108979"/>
                  <a:pt x="138708" y="106598"/>
                </a:cubicBezTo>
                <a:lnTo>
                  <a:pt x="137703" y="91046"/>
                </a:lnTo>
                <a:cubicBezTo>
                  <a:pt x="137406" y="86358"/>
                  <a:pt x="140457" y="82116"/>
                  <a:pt x="144959" y="80925"/>
                </a:cubicBezTo>
                <a:lnTo>
                  <a:pt x="154707" y="78321"/>
                </a:lnTo>
                <a:close/>
                <a:moveTo>
                  <a:pt x="166836" y="126504"/>
                </a:moveTo>
                <a:cubicBezTo>
                  <a:pt x="157801" y="126514"/>
                  <a:pt x="150474" y="133858"/>
                  <a:pt x="150484" y="142894"/>
                </a:cubicBezTo>
                <a:cubicBezTo>
                  <a:pt x="150494" y="151929"/>
                  <a:pt x="157838" y="159256"/>
                  <a:pt x="166874" y="159246"/>
                </a:cubicBezTo>
                <a:cubicBezTo>
                  <a:pt x="175909" y="159236"/>
                  <a:pt x="183236" y="151892"/>
                  <a:pt x="183226" y="142856"/>
                </a:cubicBezTo>
                <a:cubicBezTo>
                  <a:pt x="183216" y="133821"/>
                  <a:pt x="175872" y="126494"/>
                  <a:pt x="166836" y="126504"/>
                </a:cubicBezTo>
                <a:close/>
                <a:moveTo>
                  <a:pt x="83679" y="-16929"/>
                </a:moveTo>
                <a:lnTo>
                  <a:pt x="93427" y="-14325"/>
                </a:lnTo>
                <a:cubicBezTo>
                  <a:pt x="97929" y="-13097"/>
                  <a:pt x="100980" y="-8855"/>
                  <a:pt x="100682" y="-4204"/>
                </a:cubicBezTo>
                <a:lnTo>
                  <a:pt x="99678" y="11348"/>
                </a:lnTo>
                <a:cubicBezTo>
                  <a:pt x="102766" y="13729"/>
                  <a:pt x="105482" y="16483"/>
                  <a:pt x="107826" y="19534"/>
                </a:cubicBezTo>
                <a:lnTo>
                  <a:pt x="123453" y="18529"/>
                </a:lnTo>
                <a:cubicBezTo>
                  <a:pt x="128104" y="18231"/>
                  <a:pt x="132345" y="21282"/>
                  <a:pt x="133573" y="25784"/>
                </a:cubicBezTo>
                <a:lnTo>
                  <a:pt x="136178" y="35533"/>
                </a:lnTo>
                <a:cubicBezTo>
                  <a:pt x="137368" y="40035"/>
                  <a:pt x="135248" y="44797"/>
                  <a:pt x="131043" y="46881"/>
                </a:cubicBezTo>
                <a:lnTo>
                  <a:pt x="117016" y="53801"/>
                </a:lnTo>
                <a:cubicBezTo>
                  <a:pt x="116756" y="55699"/>
                  <a:pt x="116384" y="57596"/>
                  <a:pt x="115900" y="59457"/>
                </a:cubicBezTo>
                <a:cubicBezTo>
                  <a:pt x="115416" y="61317"/>
                  <a:pt x="114746" y="63178"/>
                  <a:pt x="114040" y="64926"/>
                </a:cubicBezTo>
                <a:lnTo>
                  <a:pt x="122709" y="77949"/>
                </a:lnTo>
                <a:cubicBezTo>
                  <a:pt x="125313" y="81855"/>
                  <a:pt x="124792" y="87027"/>
                  <a:pt x="121481" y="90339"/>
                </a:cubicBezTo>
                <a:lnTo>
                  <a:pt x="114337" y="97482"/>
                </a:lnTo>
                <a:cubicBezTo>
                  <a:pt x="111026" y="100794"/>
                  <a:pt x="105854" y="101315"/>
                  <a:pt x="101947" y="98710"/>
                </a:cubicBezTo>
                <a:lnTo>
                  <a:pt x="88925" y="90041"/>
                </a:lnTo>
                <a:cubicBezTo>
                  <a:pt x="85390" y="91492"/>
                  <a:pt x="81632" y="92534"/>
                  <a:pt x="77800" y="93055"/>
                </a:cubicBezTo>
                <a:lnTo>
                  <a:pt x="70879" y="107045"/>
                </a:lnTo>
                <a:cubicBezTo>
                  <a:pt x="68796" y="111249"/>
                  <a:pt x="64033" y="113370"/>
                  <a:pt x="59531" y="112179"/>
                </a:cubicBezTo>
                <a:lnTo>
                  <a:pt x="49783" y="109575"/>
                </a:lnTo>
                <a:cubicBezTo>
                  <a:pt x="45244" y="108347"/>
                  <a:pt x="42230" y="104105"/>
                  <a:pt x="42528" y="99454"/>
                </a:cubicBezTo>
                <a:lnTo>
                  <a:pt x="43532" y="83865"/>
                </a:lnTo>
                <a:cubicBezTo>
                  <a:pt x="40444" y="81483"/>
                  <a:pt x="37728" y="78730"/>
                  <a:pt x="35384" y="75679"/>
                </a:cubicBezTo>
                <a:lnTo>
                  <a:pt x="19757" y="76684"/>
                </a:lnTo>
                <a:cubicBezTo>
                  <a:pt x="15106" y="76981"/>
                  <a:pt x="10864" y="73930"/>
                  <a:pt x="9637" y="69428"/>
                </a:cubicBezTo>
                <a:lnTo>
                  <a:pt x="7032" y="59680"/>
                </a:lnTo>
                <a:cubicBezTo>
                  <a:pt x="5842" y="55178"/>
                  <a:pt x="7962" y="50416"/>
                  <a:pt x="12167" y="48332"/>
                </a:cubicBezTo>
                <a:lnTo>
                  <a:pt x="26194" y="41411"/>
                </a:lnTo>
                <a:cubicBezTo>
                  <a:pt x="26454" y="39514"/>
                  <a:pt x="26826" y="37654"/>
                  <a:pt x="27310" y="35756"/>
                </a:cubicBezTo>
                <a:cubicBezTo>
                  <a:pt x="27831" y="33858"/>
                  <a:pt x="28426" y="32035"/>
                  <a:pt x="29170" y="30287"/>
                </a:cubicBezTo>
                <a:lnTo>
                  <a:pt x="20501" y="17301"/>
                </a:lnTo>
                <a:cubicBezTo>
                  <a:pt x="17897" y="13395"/>
                  <a:pt x="18417" y="8223"/>
                  <a:pt x="21729" y="4911"/>
                </a:cubicBezTo>
                <a:lnTo>
                  <a:pt x="28873" y="-2232"/>
                </a:lnTo>
                <a:cubicBezTo>
                  <a:pt x="32184" y="-5544"/>
                  <a:pt x="37356" y="-6065"/>
                  <a:pt x="41263" y="-3460"/>
                </a:cubicBezTo>
                <a:lnTo>
                  <a:pt x="54285" y="5209"/>
                </a:lnTo>
                <a:cubicBezTo>
                  <a:pt x="57820" y="3758"/>
                  <a:pt x="61578" y="2716"/>
                  <a:pt x="65410" y="2195"/>
                </a:cubicBezTo>
                <a:lnTo>
                  <a:pt x="72330" y="-11795"/>
                </a:lnTo>
                <a:cubicBezTo>
                  <a:pt x="74414" y="-15999"/>
                  <a:pt x="79139" y="-18120"/>
                  <a:pt x="83679" y="-16929"/>
                </a:cubicBezTo>
                <a:close/>
                <a:moveTo>
                  <a:pt x="71586" y="31254"/>
                </a:moveTo>
                <a:cubicBezTo>
                  <a:pt x="62551" y="31254"/>
                  <a:pt x="55215" y="38590"/>
                  <a:pt x="55215" y="47625"/>
                </a:cubicBezTo>
                <a:cubicBezTo>
                  <a:pt x="55215" y="56660"/>
                  <a:pt x="62551" y="63996"/>
                  <a:pt x="71586" y="63996"/>
                </a:cubicBezTo>
                <a:cubicBezTo>
                  <a:pt x="80622" y="63996"/>
                  <a:pt x="87957" y="56660"/>
                  <a:pt x="87957" y="47625"/>
                </a:cubicBezTo>
                <a:cubicBezTo>
                  <a:pt x="87957" y="38590"/>
                  <a:pt x="80622" y="31254"/>
                  <a:pt x="71586" y="31254"/>
                </a:cubicBezTo>
                <a:close/>
              </a:path>
            </a:pathLst>
          </a:custGeom>
          <a:solidFill>
            <a:srgbClr val="D08700"/>
          </a:solidFill>
          <a:ln/>
        </p:spPr>
      </p:sp>
      <p:sp>
        <p:nvSpPr>
          <p:cNvPr id="63" name="Text 61"/>
          <p:cNvSpPr/>
          <p:nvPr/>
        </p:nvSpPr>
        <p:spPr>
          <a:xfrm>
            <a:off x="7029450" y="5905500"/>
            <a:ext cx="2876550" cy="228600"/>
          </a:xfrm>
          <a:prstGeom prst="rect">
            <a:avLst/>
          </a:prstGeom>
          <a:noFill/>
          <a:ln/>
        </p:spPr>
        <p:txBody>
          <a:bodyPr wrap="square" lIns="0" tIns="0" rIns="0" bIns="0" rtlCol="0" anchor="ctr"/>
          <a:lstStyle/>
          <a:p>
            <a:pPr>
              <a:lnSpc>
                <a:spcPct val="130000"/>
              </a:lnSpc>
            </a:pPr>
            <a:r>
              <a:rPr lang="en-US" sz="1200" b="1" dirty="0">
                <a:solidFill>
                  <a:srgbClr val="1E3A5F"/>
                </a:solidFill>
                <a:latin typeface="Quattrocento Sans" pitchFamily="34" charset="0"/>
                <a:ea typeface="Quattrocento Sans" pitchFamily="34" charset="-122"/>
                <a:cs typeface="Quattrocento Sans" pitchFamily="34" charset="-120"/>
              </a:rPr>
              <a:t>phpMyAdmin</a:t>
            </a:r>
            <a:endParaRPr lang="en-US" sz="1600" dirty="0"/>
          </a:p>
        </p:txBody>
      </p:sp>
      <p:sp>
        <p:nvSpPr>
          <p:cNvPr id="64" name="Text 62"/>
          <p:cNvSpPr/>
          <p:nvPr/>
        </p:nvSpPr>
        <p:spPr>
          <a:xfrm>
            <a:off x="7029450" y="6134100"/>
            <a:ext cx="2867025" cy="190500"/>
          </a:xfrm>
          <a:prstGeom prst="rect">
            <a:avLst/>
          </a:prstGeom>
          <a:noFill/>
          <a:ln/>
        </p:spPr>
        <p:txBody>
          <a:bodyPr wrap="square" lIns="0" tIns="0" rIns="0" bIns="0" rtlCol="0" anchor="ctr"/>
          <a:lstStyle/>
          <a:p>
            <a:pPr>
              <a:lnSpc>
                <a:spcPct val="120000"/>
              </a:lnSpc>
            </a:pPr>
            <a:r>
              <a:rPr lang="en-US" sz="1050" dirty="0">
                <a:solidFill>
                  <a:srgbClr val="1E293B">
                    <a:alpha val="70000"/>
                  </a:srgbClr>
                </a:solidFill>
                <a:latin typeface="Quattrocento Sans" pitchFamily="34" charset="0"/>
                <a:ea typeface="Quattrocento Sans" pitchFamily="34" charset="-122"/>
                <a:cs typeface="Quattrocento Sans" pitchFamily="34" charset="-120"/>
              </a:rPr>
              <a:t>Database management and query execution tool</a:t>
            </a:r>
            <a:endParaRPr lang="en-US" sz="1600" dirty="0"/>
          </a:p>
        </p:txBody>
      </p:sp>
      <p:pic>
        <p:nvPicPr>
          <p:cNvPr id="65" name="Picture 64">
            <a:extLst>
              <a:ext uri="{FF2B5EF4-FFF2-40B4-BE49-F238E27FC236}">
                <a16:creationId xmlns:a16="http://schemas.microsoft.com/office/drawing/2014/main" id="{0BFFC541-551A-4247-B4E8-F2D2A7220189}"/>
              </a:ext>
            </a:extLst>
          </p:cNvPr>
          <p:cNvPicPr>
            <a:picLocks noChangeAspect="1"/>
          </p:cNvPicPr>
          <p:nvPr/>
        </p:nvPicPr>
        <p:blipFill>
          <a:blip r:embed="rId3"/>
          <a:stretch>
            <a:fillRect/>
          </a:stretch>
        </p:blipFill>
        <p:spPr>
          <a:xfrm>
            <a:off x="11060740" y="188500"/>
            <a:ext cx="816935" cy="1097375"/>
          </a:xfrm>
          <a:prstGeom prst="rect">
            <a:avLst/>
          </a:prstGeom>
        </p:spPr>
      </p:pic>
      <p:sp>
        <p:nvSpPr>
          <p:cNvPr id="66" name="TextBox 65">
            <a:extLst>
              <a:ext uri="{FF2B5EF4-FFF2-40B4-BE49-F238E27FC236}">
                <a16:creationId xmlns:a16="http://schemas.microsoft.com/office/drawing/2014/main" id="{56037322-DC30-49EE-A8E8-AA9544B213C4}"/>
              </a:ext>
            </a:extLst>
          </p:cNvPr>
          <p:cNvSpPr txBox="1"/>
          <p:nvPr/>
        </p:nvSpPr>
        <p:spPr>
          <a:xfrm>
            <a:off x="11753850" y="6488668"/>
            <a:ext cx="457200"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09</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370578" y="370578"/>
            <a:ext cx="11515696" cy="185289"/>
          </a:xfrm>
          <a:prstGeom prst="rect">
            <a:avLst/>
          </a:prstGeom>
          <a:noFill/>
          <a:ln/>
        </p:spPr>
        <p:txBody>
          <a:bodyPr wrap="square" lIns="0" tIns="0" rIns="0" bIns="0" rtlCol="0" anchor="ctr"/>
          <a:lstStyle/>
          <a:p>
            <a:pPr>
              <a:lnSpc>
                <a:spcPct val="120000"/>
              </a:lnSpc>
            </a:pPr>
            <a:r>
              <a:rPr lang="en-US" sz="1021" b="1" kern="0" spc="51" dirty="0">
                <a:solidFill>
                  <a:srgbClr val="3B82F6"/>
                </a:solidFill>
                <a:latin typeface="Quattrocento Sans" pitchFamily="34" charset="0"/>
                <a:ea typeface="Quattrocento Sans" pitchFamily="34" charset="-122"/>
                <a:cs typeface="Quattrocento Sans" pitchFamily="34" charset="-120"/>
              </a:rPr>
              <a:t>TEAM COLLABORATION</a:t>
            </a:r>
            <a:endParaRPr lang="en-US" sz="1600" dirty="0"/>
          </a:p>
        </p:txBody>
      </p:sp>
      <p:sp>
        <p:nvSpPr>
          <p:cNvPr id="3" name="Text 1"/>
          <p:cNvSpPr/>
          <p:nvPr/>
        </p:nvSpPr>
        <p:spPr>
          <a:xfrm>
            <a:off x="370578" y="629982"/>
            <a:ext cx="11617605" cy="370578"/>
          </a:xfrm>
          <a:prstGeom prst="rect">
            <a:avLst/>
          </a:prstGeom>
          <a:noFill/>
          <a:ln/>
        </p:spPr>
        <p:txBody>
          <a:bodyPr wrap="square" lIns="0" tIns="0" rIns="0" bIns="0" rtlCol="0" anchor="ctr"/>
          <a:lstStyle/>
          <a:p>
            <a:pPr>
              <a:lnSpc>
                <a:spcPct val="90000"/>
              </a:lnSpc>
            </a:pPr>
            <a:r>
              <a:rPr lang="en-US" sz="2626" b="1" dirty="0">
                <a:solidFill>
                  <a:srgbClr val="1E3A5F"/>
                </a:solidFill>
                <a:latin typeface="Liter" pitchFamily="34" charset="0"/>
                <a:ea typeface="Liter" pitchFamily="34" charset="-122"/>
                <a:cs typeface="Liter" pitchFamily="34" charset="-120"/>
              </a:rPr>
              <a:t>Work Distribution</a:t>
            </a:r>
            <a:endParaRPr lang="en-US" sz="1600" dirty="0"/>
          </a:p>
        </p:txBody>
      </p:sp>
      <p:sp>
        <p:nvSpPr>
          <p:cNvPr id="4" name="Shape 2"/>
          <p:cNvSpPr/>
          <p:nvPr/>
        </p:nvSpPr>
        <p:spPr>
          <a:xfrm>
            <a:off x="370578" y="1111733"/>
            <a:ext cx="741155" cy="37058"/>
          </a:xfrm>
          <a:custGeom>
            <a:avLst/>
            <a:gdLst/>
            <a:ahLst/>
            <a:cxnLst/>
            <a:rect l="l" t="t" r="r" b="b"/>
            <a:pathLst>
              <a:path w="741155" h="37058">
                <a:moveTo>
                  <a:pt x="18529" y="0"/>
                </a:moveTo>
                <a:lnTo>
                  <a:pt x="722626" y="0"/>
                </a:lnTo>
                <a:cubicBezTo>
                  <a:pt x="732859" y="0"/>
                  <a:pt x="741155" y="8296"/>
                  <a:pt x="741155" y="18529"/>
                </a:cubicBezTo>
                <a:lnTo>
                  <a:pt x="741155" y="18529"/>
                </a:lnTo>
                <a:cubicBezTo>
                  <a:pt x="741155" y="28762"/>
                  <a:pt x="732859" y="37058"/>
                  <a:pt x="722626" y="37058"/>
                </a:cubicBezTo>
                <a:lnTo>
                  <a:pt x="18529" y="37058"/>
                </a:lnTo>
                <a:cubicBezTo>
                  <a:pt x="8296" y="37058"/>
                  <a:pt x="0" y="28762"/>
                  <a:pt x="0" y="18529"/>
                </a:cubicBezTo>
                <a:lnTo>
                  <a:pt x="0" y="18529"/>
                </a:lnTo>
                <a:cubicBezTo>
                  <a:pt x="0" y="8296"/>
                  <a:pt x="8296" y="0"/>
                  <a:pt x="18529" y="0"/>
                </a:cubicBezTo>
                <a:close/>
              </a:path>
            </a:pathLst>
          </a:custGeom>
          <a:solidFill>
            <a:srgbClr val="10B981"/>
          </a:solidFill>
          <a:ln/>
        </p:spPr>
      </p:sp>
      <p:sp>
        <p:nvSpPr>
          <p:cNvPr id="5" name="Shape 3"/>
          <p:cNvSpPr/>
          <p:nvPr/>
        </p:nvSpPr>
        <p:spPr>
          <a:xfrm>
            <a:off x="425469" y="1315550"/>
            <a:ext cx="6735246" cy="5484547"/>
          </a:xfrm>
          <a:custGeom>
            <a:avLst/>
            <a:gdLst/>
            <a:ahLst/>
            <a:cxnLst/>
            <a:rect l="l" t="t" r="r" b="b"/>
            <a:pathLst>
              <a:path w="6735246" h="5484547">
                <a:moveTo>
                  <a:pt x="111172" y="0"/>
                </a:moveTo>
                <a:lnTo>
                  <a:pt x="6624074" y="0"/>
                </a:lnTo>
                <a:cubicBezTo>
                  <a:pt x="6685473" y="0"/>
                  <a:pt x="6735246" y="49773"/>
                  <a:pt x="6735246" y="111172"/>
                </a:cubicBezTo>
                <a:lnTo>
                  <a:pt x="6735246" y="5373375"/>
                </a:lnTo>
                <a:cubicBezTo>
                  <a:pt x="6735246" y="5434774"/>
                  <a:pt x="6685473" y="5484547"/>
                  <a:pt x="6624074" y="5484547"/>
                </a:cubicBezTo>
                <a:lnTo>
                  <a:pt x="111172" y="5484547"/>
                </a:lnTo>
                <a:cubicBezTo>
                  <a:pt x="49773" y="5484547"/>
                  <a:pt x="0" y="5434774"/>
                  <a:pt x="0" y="5373375"/>
                </a:cubicBezTo>
                <a:lnTo>
                  <a:pt x="0" y="111172"/>
                </a:lnTo>
                <a:cubicBezTo>
                  <a:pt x="0" y="49814"/>
                  <a:pt x="49814" y="0"/>
                  <a:pt x="111172" y="0"/>
                </a:cubicBezTo>
                <a:close/>
              </a:path>
            </a:pathLst>
          </a:custGeom>
          <a:solidFill>
            <a:srgbClr val="FFFFFF"/>
          </a:solidFill>
          <a:ln/>
          <a:effectLst>
            <a:outerShdw blurRad="55587" dist="37058" dir="5400000" algn="bl" rotWithShape="0">
              <a:srgbClr val="000000">
                <a:alpha val="10196"/>
              </a:srgbClr>
            </a:outerShdw>
          </a:effectLst>
        </p:spPr>
      </p:sp>
      <p:sp>
        <p:nvSpPr>
          <p:cNvPr id="6" name="Shape 4"/>
          <p:cNvSpPr/>
          <p:nvPr/>
        </p:nvSpPr>
        <p:spPr>
          <a:xfrm>
            <a:off x="592924" y="1630541"/>
            <a:ext cx="231611" cy="185289"/>
          </a:xfrm>
          <a:custGeom>
            <a:avLst/>
            <a:gdLst/>
            <a:ahLst/>
            <a:cxnLst/>
            <a:rect l="l" t="t" r="r" b="b"/>
            <a:pathLst>
              <a:path w="231611" h="185289">
                <a:moveTo>
                  <a:pt x="115805" y="5790"/>
                </a:moveTo>
                <a:cubicBezTo>
                  <a:pt x="136578" y="5790"/>
                  <a:pt x="153442" y="22655"/>
                  <a:pt x="153442" y="43427"/>
                </a:cubicBezTo>
                <a:cubicBezTo>
                  <a:pt x="153442" y="64199"/>
                  <a:pt x="136578" y="81064"/>
                  <a:pt x="115805" y="81064"/>
                </a:cubicBezTo>
                <a:cubicBezTo>
                  <a:pt x="95033" y="81064"/>
                  <a:pt x="78169" y="64199"/>
                  <a:pt x="78169" y="43427"/>
                </a:cubicBezTo>
                <a:cubicBezTo>
                  <a:pt x="78169" y="22655"/>
                  <a:pt x="95033" y="5790"/>
                  <a:pt x="115805" y="5790"/>
                </a:cubicBezTo>
                <a:close/>
                <a:moveTo>
                  <a:pt x="34742" y="31847"/>
                </a:moveTo>
                <a:cubicBezTo>
                  <a:pt x="49122" y="31847"/>
                  <a:pt x="60798" y="43522"/>
                  <a:pt x="60798" y="57903"/>
                </a:cubicBezTo>
                <a:cubicBezTo>
                  <a:pt x="60798" y="72284"/>
                  <a:pt x="49122" y="83959"/>
                  <a:pt x="34742" y="83959"/>
                </a:cubicBezTo>
                <a:cubicBezTo>
                  <a:pt x="20361" y="83959"/>
                  <a:pt x="8685" y="72284"/>
                  <a:pt x="8685" y="57903"/>
                </a:cubicBezTo>
                <a:cubicBezTo>
                  <a:pt x="8685" y="43522"/>
                  <a:pt x="20361" y="31847"/>
                  <a:pt x="34742" y="31847"/>
                </a:cubicBezTo>
                <a:close/>
                <a:moveTo>
                  <a:pt x="0" y="150547"/>
                </a:moveTo>
                <a:cubicBezTo>
                  <a:pt x="0" y="124961"/>
                  <a:pt x="20736" y="104225"/>
                  <a:pt x="46322" y="104225"/>
                </a:cubicBezTo>
                <a:cubicBezTo>
                  <a:pt x="50954" y="104225"/>
                  <a:pt x="55442" y="104913"/>
                  <a:pt x="59676" y="106179"/>
                </a:cubicBezTo>
                <a:cubicBezTo>
                  <a:pt x="47770" y="119497"/>
                  <a:pt x="40532" y="137085"/>
                  <a:pt x="40532" y="156337"/>
                </a:cubicBezTo>
                <a:lnTo>
                  <a:pt x="40532" y="162128"/>
                </a:lnTo>
                <a:cubicBezTo>
                  <a:pt x="40532" y="166253"/>
                  <a:pt x="41400" y="170162"/>
                  <a:pt x="42957" y="173708"/>
                </a:cubicBezTo>
                <a:lnTo>
                  <a:pt x="11581" y="173708"/>
                </a:lnTo>
                <a:cubicBezTo>
                  <a:pt x="5175" y="173708"/>
                  <a:pt x="0" y="168533"/>
                  <a:pt x="0" y="162128"/>
                </a:cubicBezTo>
                <a:lnTo>
                  <a:pt x="0" y="150547"/>
                </a:lnTo>
                <a:close/>
                <a:moveTo>
                  <a:pt x="188654" y="173708"/>
                </a:moveTo>
                <a:cubicBezTo>
                  <a:pt x="190210" y="170162"/>
                  <a:pt x="191079" y="166253"/>
                  <a:pt x="191079" y="162128"/>
                </a:cubicBezTo>
                <a:lnTo>
                  <a:pt x="191079" y="156337"/>
                </a:lnTo>
                <a:cubicBezTo>
                  <a:pt x="191079" y="137085"/>
                  <a:pt x="183841" y="119497"/>
                  <a:pt x="171935" y="106179"/>
                </a:cubicBezTo>
                <a:cubicBezTo>
                  <a:pt x="176169" y="104913"/>
                  <a:pt x="180657" y="104225"/>
                  <a:pt x="185289" y="104225"/>
                </a:cubicBezTo>
                <a:cubicBezTo>
                  <a:pt x="210875" y="104225"/>
                  <a:pt x="231611" y="124961"/>
                  <a:pt x="231611" y="150547"/>
                </a:cubicBezTo>
                <a:lnTo>
                  <a:pt x="231611" y="162128"/>
                </a:lnTo>
                <a:cubicBezTo>
                  <a:pt x="231611" y="168533"/>
                  <a:pt x="226436" y="173708"/>
                  <a:pt x="220030" y="173708"/>
                </a:cubicBezTo>
                <a:lnTo>
                  <a:pt x="188654" y="173708"/>
                </a:lnTo>
                <a:close/>
                <a:moveTo>
                  <a:pt x="170813" y="57903"/>
                </a:moveTo>
                <a:cubicBezTo>
                  <a:pt x="170813" y="43522"/>
                  <a:pt x="182488" y="31847"/>
                  <a:pt x="196869" y="31847"/>
                </a:cubicBezTo>
                <a:cubicBezTo>
                  <a:pt x="211250" y="31847"/>
                  <a:pt x="222926" y="43522"/>
                  <a:pt x="222926" y="57903"/>
                </a:cubicBezTo>
                <a:cubicBezTo>
                  <a:pt x="222926" y="72284"/>
                  <a:pt x="211250" y="83959"/>
                  <a:pt x="196869" y="83959"/>
                </a:cubicBezTo>
                <a:cubicBezTo>
                  <a:pt x="182488" y="83959"/>
                  <a:pt x="170813" y="72284"/>
                  <a:pt x="170813" y="57903"/>
                </a:cubicBezTo>
                <a:close/>
                <a:moveTo>
                  <a:pt x="57903" y="156337"/>
                </a:moveTo>
                <a:cubicBezTo>
                  <a:pt x="57903" y="124346"/>
                  <a:pt x="83814" y="98435"/>
                  <a:pt x="115805" y="98435"/>
                </a:cubicBezTo>
                <a:cubicBezTo>
                  <a:pt x="147797" y="98435"/>
                  <a:pt x="173708" y="124346"/>
                  <a:pt x="173708" y="156337"/>
                </a:cubicBezTo>
                <a:lnTo>
                  <a:pt x="173708" y="162128"/>
                </a:lnTo>
                <a:cubicBezTo>
                  <a:pt x="173708" y="168533"/>
                  <a:pt x="168533" y="173708"/>
                  <a:pt x="162128" y="173708"/>
                </a:cubicBezTo>
                <a:lnTo>
                  <a:pt x="69483" y="173708"/>
                </a:lnTo>
                <a:cubicBezTo>
                  <a:pt x="63078" y="173708"/>
                  <a:pt x="57903" y="168533"/>
                  <a:pt x="57903" y="162128"/>
                </a:cubicBezTo>
                <a:lnTo>
                  <a:pt x="57903" y="156337"/>
                </a:lnTo>
                <a:close/>
              </a:path>
            </a:pathLst>
          </a:custGeom>
          <a:solidFill>
            <a:srgbClr val="3B82F6"/>
          </a:solidFill>
          <a:ln/>
        </p:spPr>
      </p:sp>
      <p:sp>
        <p:nvSpPr>
          <p:cNvPr id="7" name="Text 5"/>
          <p:cNvSpPr/>
          <p:nvPr/>
        </p:nvSpPr>
        <p:spPr>
          <a:xfrm>
            <a:off x="824535" y="1593483"/>
            <a:ext cx="6151587" cy="259404"/>
          </a:xfrm>
          <a:prstGeom prst="rect">
            <a:avLst/>
          </a:prstGeom>
          <a:noFill/>
          <a:ln/>
        </p:spPr>
        <p:txBody>
          <a:bodyPr wrap="square" lIns="0" tIns="0" rIns="0" bIns="0" rtlCol="0" anchor="ctr"/>
          <a:lstStyle/>
          <a:p>
            <a:pPr>
              <a:lnSpc>
                <a:spcPct val="120000"/>
              </a:lnSpc>
            </a:pPr>
            <a:r>
              <a:rPr lang="en-US" sz="1459" b="1" dirty="0">
                <a:solidFill>
                  <a:srgbClr val="1E3A5F"/>
                </a:solidFill>
                <a:latin typeface="Liter" pitchFamily="34" charset="0"/>
                <a:ea typeface="Liter" pitchFamily="34" charset="-122"/>
                <a:cs typeface="Liter" pitchFamily="34" charset="-120"/>
              </a:rPr>
              <a:t>Team Member Responsibilities</a:t>
            </a:r>
            <a:endParaRPr lang="en-US" sz="1600" dirty="0"/>
          </a:p>
        </p:txBody>
      </p:sp>
      <p:sp>
        <p:nvSpPr>
          <p:cNvPr id="8" name="Shape 6"/>
          <p:cNvSpPr/>
          <p:nvPr/>
        </p:nvSpPr>
        <p:spPr>
          <a:xfrm>
            <a:off x="611453" y="2038176"/>
            <a:ext cx="6272024" cy="1074675"/>
          </a:xfrm>
          <a:custGeom>
            <a:avLst/>
            <a:gdLst/>
            <a:ahLst/>
            <a:cxnLst/>
            <a:rect l="l" t="t" r="r" b="b"/>
            <a:pathLst>
              <a:path w="6272024" h="1074675">
                <a:moveTo>
                  <a:pt x="37058" y="0"/>
                </a:moveTo>
                <a:lnTo>
                  <a:pt x="6160849" y="0"/>
                </a:lnTo>
                <a:cubicBezTo>
                  <a:pt x="6222250" y="0"/>
                  <a:pt x="6272024" y="49775"/>
                  <a:pt x="6272024" y="111175"/>
                </a:cubicBezTo>
                <a:lnTo>
                  <a:pt x="6272024" y="963500"/>
                </a:lnTo>
                <a:cubicBezTo>
                  <a:pt x="6272024" y="1024900"/>
                  <a:pt x="6222250" y="1074675"/>
                  <a:pt x="6160849" y="1074675"/>
                </a:cubicBezTo>
                <a:lnTo>
                  <a:pt x="37058" y="1074675"/>
                </a:lnTo>
                <a:cubicBezTo>
                  <a:pt x="16591" y="1074675"/>
                  <a:pt x="0" y="1058083"/>
                  <a:pt x="0" y="1037617"/>
                </a:cubicBezTo>
                <a:lnTo>
                  <a:pt x="0" y="37058"/>
                </a:lnTo>
                <a:cubicBezTo>
                  <a:pt x="0" y="16591"/>
                  <a:pt x="16591" y="0"/>
                  <a:pt x="37058" y="0"/>
                </a:cubicBezTo>
                <a:close/>
              </a:path>
            </a:pathLst>
          </a:custGeom>
          <a:gradFill flip="none" rotWithShape="1">
            <a:gsLst>
              <a:gs pos="0">
                <a:srgbClr val="1E3A5F">
                  <a:alpha val="5000"/>
                </a:srgbClr>
              </a:gs>
              <a:gs pos="100000">
                <a:srgbClr val="000000">
                  <a:alpha val="0"/>
                </a:srgbClr>
              </a:gs>
            </a:gsLst>
            <a:lin ang="0" scaled="1"/>
          </a:gradFill>
          <a:ln/>
        </p:spPr>
      </p:sp>
      <p:sp>
        <p:nvSpPr>
          <p:cNvPr id="9" name="Shape 7"/>
          <p:cNvSpPr/>
          <p:nvPr/>
        </p:nvSpPr>
        <p:spPr>
          <a:xfrm>
            <a:off x="611453" y="2038176"/>
            <a:ext cx="37058" cy="1074675"/>
          </a:xfrm>
          <a:custGeom>
            <a:avLst/>
            <a:gdLst/>
            <a:ahLst/>
            <a:cxnLst/>
            <a:rect l="l" t="t" r="r" b="b"/>
            <a:pathLst>
              <a:path w="37058" h="1074675">
                <a:moveTo>
                  <a:pt x="37058" y="0"/>
                </a:moveTo>
                <a:lnTo>
                  <a:pt x="37058" y="0"/>
                </a:lnTo>
                <a:lnTo>
                  <a:pt x="37058" y="1074675"/>
                </a:lnTo>
                <a:lnTo>
                  <a:pt x="37058" y="1074675"/>
                </a:lnTo>
                <a:cubicBezTo>
                  <a:pt x="16591" y="1074675"/>
                  <a:pt x="0" y="1058083"/>
                  <a:pt x="0" y="1037617"/>
                </a:cubicBezTo>
                <a:lnTo>
                  <a:pt x="0" y="37058"/>
                </a:lnTo>
                <a:cubicBezTo>
                  <a:pt x="0" y="16591"/>
                  <a:pt x="16591" y="0"/>
                  <a:pt x="37058" y="0"/>
                </a:cubicBezTo>
                <a:close/>
              </a:path>
            </a:pathLst>
          </a:custGeom>
          <a:solidFill>
            <a:srgbClr val="1E3A5F"/>
          </a:solidFill>
          <a:ln/>
        </p:spPr>
      </p:sp>
      <p:sp>
        <p:nvSpPr>
          <p:cNvPr id="10" name="Shape 8">
            <a:extLst>
              <a:ext uri="{C183D7F6-B498-43B3-948B-1728B52AA6E4}">
                <adec:decorative xmlns:adec="http://schemas.microsoft.com/office/drawing/2017/decorative" val="1"/>
              </a:ext>
            </a:extLst>
          </p:cNvPr>
          <p:cNvSpPr/>
          <p:nvPr/>
        </p:nvSpPr>
        <p:spPr>
          <a:xfrm>
            <a:off x="778213" y="2186407"/>
            <a:ext cx="518809" cy="518809"/>
          </a:xfrm>
          <a:custGeom>
            <a:avLst/>
            <a:gdLst/>
            <a:ahLst/>
            <a:cxnLst/>
            <a:rect l="l" t="t" r="r" b="b"/>
            <a:pathLst>
              <a:path w="518809" h="518809">
                <a:moveTo>
                  <a:pt x="259404" y="0"/>
                </a:moveTo>
                <a:lnTo>
                  <a:pt x="259404" y="0"/>
                </a:lnTo>
                <a:cubicBezTo>
                  <a:pt x="402669" y="0"/>
                  <a:pt x="518809" y="116139"/>
                  <a:pt x="518809" y="259404"/>
                </a:cubicBezTo>
                <a:lnTo>
                  <a:pt x="518809" y="259404"/>
                </a:lnTo>
                <a:cubicBezTo>
                  <a:pt x="518809" y="402669"/>
                  <a:pt x="402669" y="518809"/>
                  <a:pt x="259404" y="518809"/>
                </a:cubicBezTo>
                <a:lnTo>
                  <a:pt x="259404" y="518809"/>
                </a:lnTo>
                <a:cubicBezTo>
                  <a:pt x="116139" y="518809"/>
                  <a:pt x="0" y="402669"/>
                  <a:pt x="0" y="259404"/>
                </a:cubicBezTo>
                <a:lnTo>
                  <a:pt x="0" y="259404"/>
                </a:lnTo>
                <a:cubicBezTo>
                  <a:pt x="0" y="116139"/>
                  <a:pt x="116139" y="0"/>
                  <a:pt x="259404" y="0"/>
                </a:cubicBezTo>
                <a:close/>
              </a:path>
            </a:pathLst>
          </a:custGeom>
          <a:solidFill>
            <a:srgbClr val="1E3A5F"/>
          </a:solidFill>
          <a:ln/>
        </p:spPr>
      </p:sp>
      <p:sp>
        <p:nvSpPr>
          <p:cNvPr id="11" name="Text 9"/>
          <p:cNvSpPr/>
          <p:nvPr/>
        </p:nvSpPr>
        <p:spPr>
          <a:xfrm>
            <a:off x="731891" y="2186407"/>
            <a:ext cx="611453" cy="518809"/>
          </a:xfrm>
          <a:prstGeom prst="rect">
            <a:avLst/>
          </a:prstGeom>
          <a:noFill/>
          <a:ln/>
        </p:spPr>
        <p:txBody>
          <a:bodyPr wrap="square" lIns="0" tIns="0" rIns="0" bIns="0" rtlCol="0" anchor="ctr"/>
          <a:lstStyle/>
          <a:p>
            <a:pPr algn="ctr">
              <a:lnSpc>
                <a:spcPct val="120000"/>
              </a:lnSpc>
            </a:pPr>
            <a:endParaRPr lang="en-US" sz="1600" dirty="0"/>
          </a:p>
        </p:txBody>
      </p:sp>
      <p:sp>
        <p:nvSpPr>
          <p:cNvPr id="12" name="Text 10"/>
          <p:cNvSpPr/>
          <p:nvPr/>
        </p:nvSpPr>
        <p:spPr>
          <a:xfrm>
            <a:off x="1445252" y="2186407"/>
            <a:ext cx="1537897" cy="259404"/>
          </a:xfrm>
          <a:prstGeom prst="rect">
            <a:avLst/>
          </a:prstGeom>
          <a:noFill/>
          <a:ln/>
        </p:spPr>
        <p:txBody>
          <a:bodyPr wrap="square" lIns="0" tIns="0" rIns="0" bIns="0" rtlCol="0" anchor="ctr"/>
          <a:lstStyle/>
          <a:p>
            <a:pPr>
              <a:lnSpc>
                <a:spcPct val="130000"/>
              </a:lnSpc>
            </a:pPr>
            <a:r>
              <a:rPr lang="en-US" sz="1313" b="1" dirty="0">
                <a:solidFill>
                  <a:srgbClr val="1E3A5F"/>
                </a:solidFill>
                <a:latin typeface="Quattrocento Sans" pitchFamily="34" charset="0"/>
                <a:ea typeface="Quattrocento Sans" pitchFamily="34" charset="-122"/>
                <a:cs typeface="Quattrocento Sans" pitchFamily="34" charset="-120"/>
              </a:rPr>
              <a:t>Md. Emon Hossain</a:t>
            </a:r>
            <a:endParaRPr lang="en-US" sz="1600" dirty="0"/>
          </a:p>
        </p:txBody>
      </p:sp>
      <p:sp>
        <p:nvSpPr>
          <p:cNvPr id="13" name="Text 11"/>
          <p:cNvSpPr/>
          <p:nvPr/>
        </p:nvSpPr>
        <p:spPr>
          <a:xfrm>
            <a:off x="1445252" y="2445812"/>
            <a:ext cx="1519368" cy="185289"/>
          </a:xfrm>
          <a:prstGeom prst="rect">
            <a:avLst/>
          </a:prstGeom>
          <a:noFill/>
          <a:ln/>
        </p:spPr>
        <p:txBody>
          <a:bodyPr wrap="square" lIns="0" tIns="0" rIns="0" bIns="0" rtlCol="0" anchor="ctr"/>
          <a:lstStyle/>
          <a:p>
            <a:pPr>
              <a:lnSpc>
                <a:spcPct val="120000"/>
              </a:lnSpc>
            </a:pPr>
            <a:r>
              <a:rPr lang="en-US" sz="1021" b="1" dirty="0">
                <a:solidFill>
                  <a:srgbClr val="3B82F6"/>
                </a:solidFill>
                <a:latin typeface="Quattrocento Sans" pitchFamily="34" charset="0"/>
                <a:ea typeface="Quattrocento Sans" pitchFamily="34" charset="-122"/>
                <a:cs typeface="Quattrocento Sans" pitchFamily="34" charset="-120"/>
              </a:rPr>
              <a:t>Team Leader • 232-15-818</a:t>
            </a:r>
            <a:endParaRPr lang="en-US" sz="1600" dirty="0"/>
          </a:p>
        </p:txBody>
      </p:sp>
      <p:sp>
        <p:nvSpPr>
          <p:cNvPr id="15" name="Text 13"/>
          <p:cNvSpPr/>
          <p:nvPr/>
        </p:nvSpPr>
        <p:spPr>
          <a:xfrm>
            <a:off x="5987606" y="2279052"/>
            <a:ext cx="815271" cy="259404"/>
          </a:xfrm>
          <a:prstGeom prst="rect">
            <a:avLst/>
          </a:prstGeom>
          <a:noFill/>
          <a:ln/>
        </p:spPr>
        <p:txBody>
          <a:bodyPr wrap="square" lIns="111173" tIns="37058" rIns="111173" bIns="37058" rtlCol="0" anchor="ctr"/>
          <a:lstStyle/>
          <a:p>
            <a:pPr>
              <a:lnSpc>
                <a:spcPct val="120000"/>
              </a:lnSpc>
            </a:pPr>
            <a:endParaRPr lang="en-US" sz="1600" dirty="0"/>
          </a:p>
        </p:txBody>
      </p:sp>
      <p:sp>
        <p:nvSpPr>
          <p:cNvPr id="16" name="Shape 14"/>
          <p:cNvSpPr/>
          <p:nvPr/>
        </p:nvSpPr>
        <p:spPr>
          <a:xfrm>
            <a:off x="1445252" y="2705216"/>
            <a:ext cx="1398930" cy="259404"/>
          </a:xfrm>
          <a:custGeom>
            <a:avLst/>
            <a:gdLst/>
            <a:ahLst/>
            <a:cxnLst/>
            <a:rect l="l" t="t" r="r" b="b"/>
            <a:pathLst>
              <a:path w="1398930" h="259404">
                <a:moveTo>
                  <a:pt x="74114" y="0"/>
                </a:moveTo>
                <a:lnTo>
                  <a:pt x="1324816" y="0"/>
                </a:lnTo>
                <a:cubicBezTo>
                  <a:pt x="1365748" y="0"/>
                  <a:pt x="1398930" y="33182"/>
                  <a:pt x="1398930" y="74114"/>
                </a:cubicBezTo>
                <a:lnTo>
                  <a:pt x="1398930" y="185290"/>
                </a:lnTo>
                <a:cubicBezTo>
                  <a:pt x="1398930" y="226222"/>
                  <a:pt x="1365748" y="259404"/>
                  <a:pt x="1324816" y="259404"/>
                </a:cubicBezTo>
                <a:lnTo>
                  <a:pt x="74114" y="259404"/>
                </a:lnTo>
                <a:cubicBezTo>
                  <a:pt x="33182" y="259404"/>
                  <a:pt x="0" y="226222"/>
                  <a:pt x="0" y="185290"/>
                </a:cubicBezTo>
                <a:lnTo>
                  <a:pt x="0" y="74114"/>
                </a:lnTo>
                <a:cubicBezTo>
                  <a:pt x="0" y="33210"/>
                  <a:pt x="33210" y="0"/>
                  <a:pt x="74114" y="0"/>
                </a:cubicBezTo>
                <a:close/>
              </a:path>
            </a:pathLst>
          </a:custGeom>
          <a:solidFill>
            <a:srgbClr val="F8FAFC"/>
          </a:solidFill>
          <a:ln/>
        </p:spPr>
      </p:sp>
      <p:sp>
        <p:nvSpPr>
          <p:cNvPr id="18" name="Text 16"/>
          <p:cNvSpPr/>
          <p:nvPr/>
        </p:nvSpPr>
        <p:spPr>
          <a:xfrm>
            <a:off x="1666078" y="2705216"/>
            <a:ext cx="1242955" cy="259404"/>
          </a:xfrm>
          <a:prstGeom prst="rect">
            <a:avLst/>
          </a:prstGeom>
          <a:noFill/>
          <a:ln/>
        </p:spPr>
        <p:txBody>
          <a:bodyPr wrap="square" lIns="111173" tIns="37058" rIns="111173" bIns="37058" rtlCol="0" anchor="ctr"/>
          <a:lstStyle/>
          <a:p>
            <a:pPr>
              <a:lnSpc>
                <a:spcPct val="120000"/>
              </a:lnSpc>
            </a:pPr>
            <a:endParaRPr lang="en-US" sz="1600" dirty="0"/>
          </a:p>
        </p:txBody>
      </p:sp>
      <p:sp>
        <p:nvSpPr>
          <p:cNvPr id="19" name="Shape 17"/>
          <p:cNvSpPr/>
          <p:nvPr/>
        </p:nvSpPr>
        <p:spPr>
          <a:xfrm>
            <a:off x="2915750" y="2705216"/>
            <a:ext cx="1111733" cy="259404"/>
          </a:xfrm>
          <a:custGeom>
            <a:avLst/>
            <a:gdLst/>
            <a:ahLst/>
            <a:cxnLst/>
            <a:rect l="l" t="t" r="r" b="b"/>
            <a:pathLst>
              <a:path w="1111733" h="259404">
                <a:moveTo>
                  <a:pt x="74114" y="0"/>
                </a:moveTo>
                <a:lnTo>
                  <a:pt x="1037618" y="0"/>
                </a:lnTo>
                <a:cubicBezTo>
                  <a:pt x="1078550" y="0"/>
                  <a:pt x="1111733" y="33182"/>
                  <a:pt x="1111733" y="74114"/>
                </a:cubicBezTo>
                <a:lnTo>
                  <a:pt x="1111733" y="185290"/>
                </a:lnTo>
                <a:cubicBezTo>
                  <a:pt x="1111733" y="226222"/>
                  <a:pt x="1078550" y="259404"/>
                  <a:pt x="1037618" y="259404"/>
                </a:cubicBezTo>
                <a:lnTo>
                  <a:pt x="74114" y="259404"/>
                </a:lnTo>
                <a:cubicBezTo>
                  <a:pt x="33182" y="259404"/>
                  <a:pt x="0" y="226222"/>
                  <a:pt x="0" y="185290"/>
                </a:cubicBezTo>
                <a:lnTo>
                  <a:pt x="0" y="74114"/>
                </a:lnTo>
                <a:cubicBezTo>
                  <a:pt x="0" y="33210"/>
                  <a:pt x="33210" y="0"/>
                  <a:pt x="74114" y="0"/>
                </a:cubicBezTo>
                <a:close/>
              </a:path>
            </a:pathLst>
          </a:custGeom>
          <a:solidFill>
            <a:srgbClr val="F8FAFC"/>
          </a:solidFill>
          <a:ln/>
        </p:spPr>
      </p:sp>
      <p:sp>
        <p:nvSpPr>
          <p:cNvPr id="23" name="Shape 21"/>
          <p:cNvSpPr/>
          <p:nvPr/>
        </p:nvSpPr>
        <p:spPr>
          <a:xfrm>
            <a:off x="611453" y="3261082"/>
            <a:ext cx="37058" cy="1074675"/>
          </a:xfrm>
          <a:custGeom>
            <a:avLst/>
            <a:gdLst/>
            <a:ahLst/>
            <a:cxnLst/>
            <a:rect l="l" t="t" r="r" b="b"/>
            <a:pathLst>
              <a:path w="37058" h="1074675">
                <a:moveTo>
                  <a:pt x="37058" y="0"/>
                </a:moveTo>
                <a:lnTo>
                  <a:pt x="37058" y="0"/>
                </a:lnTo>
                <a:lnTo>
                  <a:pt x="37058" y="1074675"/>
                </a:lnTo>
                <a:lnTo>
                  <a:pt x="37058" y="1074675"/>
                </a:lnTo>
                <a:cubicBezTo>
                  <a:pt x="16591" y="1074675"/>
                  <a:pt x="0" y="1058083"/>
                  <a:pt x="0" y="1037617"/>
                </a:cubicBezTo>
                <a:lnTo>
                  <a:pt x="0" y="37058"/>
                </a:lnTo>
                <a:cubicBezTo>
                  <a:pt x="0" y="16591"/>
                  <a:pt x="16591" y="0"/>
                  <a:pt x="37058" y="0"/>
                </a:cubicBezTo>
                <a:close/>
              </a:path>
            </a:pathLst>
          </a:custGeom>
          <a:solidFill>
            <a:srgbClr val="3B82F6"/>
          </a:solidFill>
          <a:ln/>
        </p:spPr>
      </p:sp>
      <p:sp>
        <p:nvSpPr>
          <p:cNvPr id="24" name="Shape 22"/>
          <p:cNvSpPr/>
          <p:nvPr/>
        </p:nvSpPr>
        <p:spPr>
          <a:xfrm>
            <a:off x="778213" y="3409313"/>
            <a:ext cx="518809" cy="518809"/>
          </a:xfrm>
          <a:custGeom>
            <a:avLst/>
            <a:gdLst/>
            <a:ahLst/>
            <a:cxnLst/>
            <a:rect l="l" t="t" r="r" b="b"/>
            <a:pathLst>
              <a:path w="518809" h="518809">
                <a:moveTo>
                  <a:pt x="259404" y="0"/>
                </a:moveTo>
                <a:lnTo>
                  <a:pt x="259404" y="0"/>
                </a:lnTo>
                <a:cubicBezTo>
                  <a:pt x="402669" y="0"/>
                  <a:pt x="518809" y="116139"/>
                  <a:pt x="518809" y="259404"/>
                </a:cubicBezTo>
                <a:lnTo>
                  <a:pt x="518809" y="259404"/>
                </a:lnTo>
                <a:cubicBezTo>
                  <a:pt x="518809" y="402669"/>
                  <a:pt x="402669" y="518809"/>
                  <a:pt x="259404" y="518809"/>
                </a:cubicBezTo>
                <a:lnTo>
                  <a:pt x="259404" y="518809"/>
                </a:lnTo>
                <a:cubicBezTo>
                  <a:pt x="116139" y="518809"/>
                  <a:pt x="0" y="402669"/>
                  <a:pt x="0" y="259404"/>
                </a:cubicBezTo>
                <a:lnTo>
                  <a:pt x="0" y="259404"/>
                </a:lnTo>
                <a:cubicBezTo>
                  <a:pt x="0" y="116139"/>
                  <a:pt x="116139" y="0"/>
                  <a:pt x="259404" y="0"/>
                </a:cubicBezTo>
                <a:close/>
              </a:path>
            </a:pathLst>
          </a:custGeom>
          <a:solidFill>
            <a:srgbClr val="3B82F6"/>
          </a:solidFill>
          <a:ln/>
        </p:spPr>
      </p:sp>
      <p:sp>
        <p:nvSpPr>
          <p:cNvPr id="25" name="Text 23"/>
          <p:cNvSpPr/>
          <p:nvPr/>
        </p:nvSpPr>
        <p:spPr>
          <a:xfrm>
            <a:off x="731891" y="3409313"/>
            <a:ext cx="611453" cy="518809"/>
          </a:xfrm>
          <a:prstGeom prst="rect">
            <a:avLst/>
          </a:prstGeom>
          <a:noFill/>
          <a:ln/>
        </p:spPr>
        <p:txBody>
          <a:bodyPr wrap="square" lIns="0" tIns="0" rIns="0" bIns="0" rtlCol="0" anchor="ctr"/>
          <a:lstStyle/>
          <a:p>
            <a:pPr algn="ctr">
              <a:lnSpc>
                <a:spcPct val="120000"/>
              </a:lnSpc>
            </a:pPr>
            <a:r>
              <a:rPr lang="en-US" sz="1459" b="1" dirty="0">
                <a:solidFill>
                  <a:srgbClr val="FFFFFF"/>
                </a:solidFill>
                <a:latin typeface="Quattrocento Sans" pitchFamily="34" charset="0"/>
                <a:ea typeface="Quattrocento Sans" pitchFamily="34" charset="-122"/>
                <a:cs typeface="Quattrocento Sans" pitchFamily="34" charset="-120"/>
              </a:rPr>
              <a:t>MA</a:t>
            </a:r>
            <a:endParaRPr lang="en-US" sz="1600" dirty="0"/>
          </a:p>
        </p:txBody>
      </p:sp>
      <p:sp>
        <p:nvSpPr>
          <p:cNvPr id="26" name="Text 24"/>
          <p:cNvSpPr/>
          <p:nvPr/>
        </p:nvSpPr>
        <p:spPr>
          <a:xfrm>
            <a:off x="1445252" y="3409313"/>
            <a:ext cx="1843623" cy="259404"/>
          </a:xfrm>
          <a:prstGeom prst="rect">
            <a:avLst/>
          </a:prstGeom>
          <a:noFill/>
          <a:ln/>
        </p:spPr>
        <p:txBody>
          <a:bodyPr wrap="square" lIns="0" tIns="0" rIns="0" bIns="0" rtlCol="0" anchor="ctr"/>
          <a:lstStyle/>
          <a:p>
            <a:pPr>
              <a:lnSpc>
                <a:spcPct val="130000"/>
              </a:lnSpc>
            </a:pPr>
            <a:r>
              <a:rPr lang="en-US" sz="1313" b="1" dirty="0">
                <a:solidFill>
                  <a:srgbClr val="1E3A5F"/>
                </a:solidFill>
                <a:latin typeface="Quattrocento Sans" pitchFamily="34" charset="0"/>
                <a:ea typeface="Quattrocento Sans" pitchFamily="34" charset="-122"/>
                <a:cs typeface="Quattrocento Sans" pitchFamily="34" charset="-120"/>
              </a:rPr>
              <a:t>Mostafizur Rahman Antu</a:t>
            </a:r>
            <a:endParaRPr lang="en-US" sz="1600" dirty="0"/>
          </a:p>
        </p:txBody>
      </p:sp>
      <p:sp>
        <p:nvSpPr>
          <p:cNvPr id="27" name="Text 25"/>
          <p:cNvSpPr/>
          <p:nvPr/>
        </p:nvSpPr>
        <p:spPr>
          <a:xfrm>
            <a:off x="1445252" y="3668717"/>
            <a:ext cx="1825094" cy="185289"/>
          </a:xfrm>
          <a:prstGeom prst="rect">
            <a:avLst/>
          </a:prstGeom>
          <a:noFill/>
          <a:ln/>
        </p:spPr>
        <p:txBody>
          <a:bodyPr wrap="square" lIns="0" tIns="0" rIns="0" bIns="0" rtlCol="0" anchor="ctr"/>
          <a:lstStyle/>
          <a:p>
            <a:pPr>
              <a:lnSpc>
                <a:spcPct val="120000"/>
              </a:lnSpc>
            </a:pPr>
            <a:r>
              <a:rPr lang="en-US" sz="1021" b="1" dirty="0">
                <a:solidFill>
                  <a:srgbClr val="3B82F6"/>
                </a:solidFill>
                <a:latin typeface="Quattrocento Sans" pitchFamily="34" charset="0"/>
                <a:ea typeface="Quattrocento Sans" pitchFamily="34" charset="-122"/>
                <a:cs typeface="Quattrocento Sans" pitchFamily="34" charset="-120"/>
              </a:rPr>
              <a:t>241-15-631</a:t>
            </a:r>
            <a:endParaRPr lang="en-US" sz="1600" dirty="0"/>
          </a:p>
        </p:txBody>
      </p:sp>
      <p:sp>
        <p:nvSpPr>
          <p:cNvPr id="29" name="Text 27"/>
          <p:cNvSpPr/>
          <p:nvPr/>
        </p:nvSpPr>
        <p:spPr>
          <a:xfrm>
            <a:off x="6036360" y="3501957"/>
            <a:ext cx="759684" cy="259404"/>
          </a:xfrm>
          <a:prstGeom prst="rect">
            <a:avLst/>
          </a:prstGeom>
          <a:noFill/>
          <a:ln/>
        </p:spPr>
        <p:txBody>
          <a:bodyPr wrap="square" lIns="111173" tIns="37058" rIns="111173" bIns="37058" rtlCol="0" anchor="ctr"/>
          <a:lstStyle/>
          <a:p>
            <a:pPr>
              <a:lnSpc>
                <a:spcPct val="120000"/>
              </a:lnSpc>
            </a:pPr>
            <a:endParaRPr lang="en-US" sz="1600" dirty="0"/>
          </a:p>
        </p:txBody>
      </p:sp>
      <p:sp>
        <p:nvSpPr>
          <p:cNvPr id="32" name="Text 30"/>
          <p:cNvSpPr/>
          <p:nvPr/>
        </p:nvSpPr>
        <p:spPr>
          <a:xfrm>
            <a:off x="1770229" y="3928122"/>
            <a:ext cx="1463060" cy="259404"/>
          </a:xfrm>
          <a:prstGeom prst="rect">
            <a:avLst/>
          </a:prstGeom>
          <a:noFill/>
          <a:ln/>
        </p:spPr>
        <p:txBody>
          <a:bodyPr wrap="square" lIns="111173" tIns="37058" rIns="111173" bIns="37058" rtlCol="0" anchor="ctr"/>
          <a:lstStyle/>
          <a:p>
            <a:pPr>
              <a:lnSpc>
                <a:spcPct val="120000"/>
              </a:lnSpc>
            </a:pPr>
            <a:endParaRPr lang="en-US" sz="1600" b="1" dirty="0"/>
          </a:p>
        </p:txBody>
      </p:sp>
      <p:sp>
        <p:nvSpPr>
          <p:cNvPr id="35" name="Text 33"/>
          <p:cNvSpPr/>
          <p:nvPr/>
        </p:nvSpPr>
        <p:spPr>
          <a:xfrm>
            <a:off x="3467317" y="3928122"/>
            <a:ext cx="992815" cy="259404"/>
          </a:xfrm>
          <a:prstGeom prst="rect">
            <a:avLst/>
          </a:prstGeom>
          <a:noFill/>
          <a:ln/>
        </p:spPr>
        <p:txBody>
          <a:bodyPr wrap="square" lIns="111173" tIns="37058" rIns="111173" bIns="37058" rtlCol="0" anchor="ctr"/>
          <a:lstStyle/>
          <a:p>
            <a:pPr>
              <a:lnSpc>
                <a:spcPct val="120000"/>
              </a:lnSpc>
            </a:pPr>
            <a:endParaRPr lang="en-US" sz="1600" dirty="0"/>
          </a:p>
        </p:txBody>
      </p:sp>
      <p:sp>
        <p:nvSpPr>
          <p:cNvPr id="36" name="Shape 34"/>
          <p:cNvSpPr/>
          <p:nvPr/>
        </p:nvSpPr>
        <p:spPr>
          <a:xfrm>
            <a:off x="611453" y="4483988"/>
            <a:ext cx="6272024" cy="1074675"/>
          </a:xfrm>
          <a:custGeom>
            <a:avLst/>
            <a:gdLst/>
            <a:ahLst/>
            <a:cxnLst/>
            <a:rect l="l" t="t" r="r" b="b"/>
            <a:pathLst>
              <a:path w="6272024" h="1074675">
                <a:moveTo>
                  <a:pt x="37058" y="0"/>
                </a:moveTo>
                <a:lnTo>
                  <a:pt x="6160849" y="0"/>
                </a:lnTo>
                <a:cubicBezTo>
                  <a:pt x="6222250" y="0"/>
                  <a:pt x="6272024" y="49775"/>
                  <a:pt x="6272024" y="111175"/>
                </a:cubicBezTo>
                <a:lnTo>
                  <a:pt x="6272024" y="963500"/>
                </a:lnTo>
                <a:cubicBezTo>
                  <a:pt x="6272024" y="1024900"/>
                  <a:pt x="6222250" y="1074675"/>
                  <a:pt x="6160849" y="1074675"/>
                </a:cubicBezTo>
                <a:lnTo>
                  <a:pt x="37058" y="1074675"/>
                </a:lnTo>
                <a:cubicBezTo>
                  <a:pt x="16591" y="1074675"/>
                  <a:pt x="0" y="1058083"/>
                  <a:pt x="0" y="1037617"/>
                </a:cubicBezTo>
                <a:lnTo>
                  <a:pt x="0" y="37058"/>
                </a:lnTo>
                <a:cubicBezTo>
                  <a:pt x="0" y="16591"/>
                  <a:pt x="16591" y="0"/>
                  <a:pt x="37058" y="0"/>
                </a:cubicBezTo>
                <a:close/>
              </a:path>
            </a:pathLst>
          </a:custGeom>
          <a:gradFill flip="none" rotWithShape="1">
            <a:gsLst>
              <a:gs pos="0">
                <a:srgbClr val="10B981">
                  <a:alpha val="5000"/>
                </a:srgbClr>
              </a:gs>
              <a:gs pos="100000">
                <a:srgbClr val="000000">
                  <a:alpha val="0"/>
                </a:srgbClr>
              </a:gs>
            </a:gsLst>
            <a:lin ang="0" scaled="1"/>
          </a:gradFill>
          <a:ln/>
        </p:spPr>
      </p:sp>
      <p:sp>
        <p:nvSpPr>
          <p:cNvPr id="37" name="Shape 35"/>
          <p:cNvSpPr/>
          <p:nvPr/>
        </p:nvSpPr>
        <p:spPr>
          <a:xfrm>
            <a:off x="611453" y="4483988"/>
            <a:ext cx="37058" cy="1074675"/>
          </a:xfrm>
          <a:custGeom>
            <a:avLst/>
            <a:gdLst/>
            <a:ahLst/>
            <a:cxnLst/>
            <a:rect l="l" t="t" r="r" b="b"/>
            <a:pathLst>
              <a:path w="37058" h="1074675">
                <a:moveTo>
                  <a:pt x="37058" y="0"/>
                </a:moveTo>
                <a:lnTo>
                  <a:pt x="37058" y="0"/>
                </a:lnTo>
                <a:lnTo>
                  <a:pt x="37058" y="1074675"/>
                </a:lnTo>
                <a:lnTo>
                  <a:pt x="37058" y="1074675"/>
                </a:lnTo>
                <a:cubicBezTo>
                  <a:pt x="16591" y="1074675"/>
                  <a:pt x="0" y="1058083"/>
                  <a:pt x="0" y="1037617"/>
                </a:cubicBezTo>
                <a:lnTo>
                  <a:pt x="0" y="37058"/>
                </a:lnTo>
                <a:cubicBezTo>
                  <a:pt x="0" y="16591"/>
                  <a:pt x="16591" y="0"/>
                  <a:pt x="37058" y="0"/>
                </a:cubicBezTo>
                <a:close/>
              </a:path>
            </a:pathLst>
          </a:custGeom>
          <a:solidFill>
            <a:srgbClr val="10B981"/>
          </a:solidFill>
          <a:ln/>
        </p:spPr>
      </p:sp>
      <p:sp>
        <p:nvSpPr>
          <p:cNvPr id="38" name="Shape 36"/>
          <p:cNvSpPr/>
          <p:nvPr/>
        </p:nvSpPr>
        <p:spPr>
          <a:xfrm>
            <a:off x="778213" y="4632219"/>
            <a:ext cx="518809" cy="518809"/>
          </a:xfrm>
          <a:custGeom>
            <a:avLst/>
            <a:gdLst/>
            <a:ahLst/>
            <a:cxnLst/>
            <a:rect l="l" t="t" r="r" b="b"/>
            <a:pathLst>
              <a:path w="518809" h="518809">
                <a:moveTo>
                  <a:pt x="259404" y="0"/>
                </a:moveTo>
                <a:lnTo>
                  <a:pt x="259404" y="0"/>
                </a:lnTo>
                <a:cubicBezTo>
                  <a:pt x="402669" y="0"/>
                  <a:pt x="518809" y="116139"/>
                  <a:pt x="518809" y="259404"/>
                </a:cubicBezTo>
                <a:lnTo>
                  <a:pt x="518809" y="259404"/>
                </a:lnTo>
                <a:cubicBezTo>
                  <a:pt x="518809" y="402669"/>
                  <a:pt x="402669" y="518809"/>
                  <a:pt x="259404" y="518809"/>
                </a:cubicBezTo>
                <a:lnTo>
                  <a:pt x="259404" y="518809"/>
                </a:lnTo>
                <a:cubicBezTo>
                  <a:pt x="116139" y="518809"/>
                  <a:pt x="0" y="402669"/>
                  <a:pt x="0" y="259404"/>
                </a:cubicBezTo>
                <a:lnTo>
                  <a:pt x="0" y="259404"/>
                </a:lnTo>
                <a:cubicBezTo>
                  <a:pt x="0" y="116139"/>
                  <a:pt x="116139" y="0"/>
                  <a:pt x="259404" y="0"/>
                </a:cubicBezTo>
                <a:close/>
              </a:path>
            </a:pathLst>
          </a:custGeom>
          <a:solidFill>
            <a:srgbClr val="10B981"/>
          </a:solidFill>
          <a:ln/>
        </p:spPr>
      </p:sp>
      <p:sp>
        <p:nvSpPr>
          <p:cNvPr id="39" name="Text 37"/>
          <p:cNvSpPr/>
          <p:nvPr/>
        </p:nvSpPr>
        <p:spPr>
          <a:xfrm>
            <a:off x="731891" y="4632219"/>
            <a:ext cx="611453" cy="518809"/>
          </a:xfrm>
          <a:prstGeom prst="rect">
            <a:avLst/>
          </a:prstGeom>
          <a:noFill/>
          <a:ln/>
        </p:spPr>
        <p:txBody>
          <a:bodyPr wrap="square" lIns="0" tIns="0" rIns="0" bIns="0" rtlCol="0" anchor="ctr"/>
          <a:lstStyle/>
          <a:p>
            <a:pPr algn="ctr">
              <a:lnSpc>
                <a:spcPct val="120000"/>
              </a:lnSpc>
            </a:pPr>
            <a:r>
              <a:rPr lang="en-US" sz="1459" b="1" dirty="0">
                <a:solidFill>
                  <a:srgbClr val="FFFFFF"/>
                </a:solidFill>
                <a:latin typeface="Quattrocento Sans" pitchFamily="34" charset="0"/>
                <a:ea typeface="Quattrocento Sans" pitchFamily="34" charset="-122"/>
                <a:cs typeface="Quattrocento Sans" pitchFamily="34" charset="-120"/>
              </a:rPr>
              <a:t>NG</a:t>
            </a:r>
            <a:endParaRPr lang="en-US" sz="1600" dirty="0"/>
          </a:p>
        </p:txBody>
      </p:sp>
      <p:sp>
        <p:nvSpPr>
          <p:cNvPr id="40" name="Text 38"/>
          <p:cNvSpPr/>
          <p:nvPr/>
        </p:nvSpPr>
        <p:spPr>
          <a:xfrm>
            <a:off x="1445252" y="4632219"/>
            <a:ext cx="1102468" cy="259404"/>
          </a:xfrm>
          <a:prstGeom prst="rect">
            <a:avLst/>
          </a:prstGeom>
          <a:noFill/>
          <a:ln/>
        </p:spPr>
        <p:txBody>
          <a:bodyPr wrap="square" lIns="0" tIns="0" rIns="0" bIns="0" rtlCol="0" anchor="ctr"/>
          <a:lstStyle/>
          <a:p>
            <a:pPr>
              <a:lnSpc>
                <a:spcPct val="130000"/>
              </a:lnSpc>
            </a:pPr>
            <a:r>
              <a:rPr lang="en-US" sz="1313" b="1" dirty="0">
                <a:solidFill>
                  <a:srgbClr val="1E3A5F"/>
                </a:solidFill>
                <a:latin typeface="Quattrocento Sans" pitchFamily="34" charset="0"/>
                <a:ea typeface="Quattrocento Sans" pitchFamily="34" charset="-122"/>
                <a:cs typeface="Quattrocento Sans" pitchFamily="34" charset="-120"/>
              </a:rPr>
              <a:t>Nahid Al Galib</a:t>
            </a:r>
            <a:endParaRPr lang="en-US" sz="1600" dirty="0"/>
          </a:p>
        </p:txBody>
      </p:sp>
      <p:sp>
        <p:nvSpPr>
          <p:cNvPr id="41" name="Text 39"/>
          <p:cNvSpPr/>
          <p:nvPr/>
        </p:nvSpPr>
        <p:spPr>
          <a:xfrm>
            <a:off x="1445252" y="4891623"/>
            <a:ext cx="1083939" cy="185289"/>
          </a:xfrm>
          <a:prstGeom prst="rect">
            <a:avLst/>
          </a:prstGeom>
          <a:noFill/>
          <a:ln/>
        </p:spPr>
        <p:txBody>
          <a:bodyPr wrap="square" lIns="0" tIns="0" rIns="0" bIns="0" rtlCol="0" anchor="ctr"/>
          <a:lstStyle/>
          <a:p>
            <a:pPr>
              <a:lnSpc>
                <a:spcPct val="120000"/>
              </a:lnSpc>
            </a:pPr>
            <a:r>
              <a:rPr lang="en-US" sz="1021" b="1" dirty="0">
                <a:solidFill>
                  <a:srgbClr val="3B82F6"/>
                </a:solidFill>
                <a:latin typeface="Quattrocento Sans" pitchFamily="34" charset="0"/>
                <a:ea typeface="Quattrocento Sans" pitchFamily="34" charset="-122"/>
                <a:cs typeface="Quattrocento Sans" pitchFamily="34" charset="-120"/>
              </a:rPr>
              <a:t>241-15-577</a:t>
            </a:r>
            <a:endParaRPr lang="en-US" sz="1600" dirty="0"/>
          </a:p>
        </p:txBody>
      </p:sp>
      <p:sp>
        <p:nvSpPr>
          <p:cNvPr id="43" name="Text 41"/>
          <p:cNvSpPr/>
          <p:nvPr/>
        </p:nvSpPr>
        <p:spPr>
          <a:xfrm>
            <a:off x="6007178" y="4724863"/>
            <a:ext cx="796742" cy="259404"/>
          </a:xfrm>
          <a:prstGeom prst="rect">
            <a:avLst/>
          </a:prstGeom>
          <a:noFill/>
          <a:ln/>
        </p:spPr>
        <p:txBody>
          <a:bodyPr wrap="square" lIns="111173" tIns="37058" rIns="111173" bIns="37058" rtlCol="0" anchor="ctr"/>
          <a:lstStyle/>
          <a:p>
            <a:pPr>
              <a:lnSpc>
                <a:spcPct val="120000"/>
              </a:lnSpc>
            </a:pPr>
            <a:endParaRPr lang="en-US" sz="1600" dirty="0"/>
          </a:p>
        </p:txBody>
      </p:sp>
      <p:sp>
        <p:nvSpPr>
          <p:cNvPr id="44" name="Shape 42"/>
          <p:cNvSpPr/>
          <p:nvPr/>
        </p:nvSpPr>
        <p:spPr>
          <a:xfrm>
            <a:off x="1259964" y="5176222"/>
            <a:ext cx="1830422" cy="259404"/>
          </a:xfrm>
          <a:custGeom>
            <a:avLst/>
            <a:gdLst/>
            <a:ahLst/>
            <a:cxnLst/>
            <a:rect l="l" t="t" r="r" b="b"/>
            <a:pathLst>
              <a:path w="1760243" h="259404">
                <a:moveTo>
                  <a:pt x="74114" y="0"/>
                </a:moveTo>
                <a:lnTo>
                  <a:pt x="1686129" y="0"/>
                </a:lnTo>
                <a:cubicBezTo>
                  <a:pt x="1727061" y="0"/>
                  <a:pt x="1760243" y="33182"/>
                  <a:pt x="1760243" y="74114"/>
                </a:cubicBezTo>
                <a:lnTo>
                  <a:pt x="1760243" y="185290"/>
                </a:lnTo>
                <a:cubicBezTo>
                  <a:pt x="1760243" y="226222"/>
                  <a:pt x="1727061" y="259404"/>
                  <a:pt x="1686129" y="259404"/>
                </a:cubicBezTo>
                <a:lnTo>
                  <a:pt x="74114" y="259404"/>
                </a:lnTo>
                <a:cubicBezTo>
                  <a:pt x="33182" y="259404"/>
                  <a:pt x="0" y="226222"/>
                  <a:pt x="0" y="185290"/>
                </a:cubicBezTo>
                <a:lnTo>
                  <a:pt x="0" y="74114"/>
                </a:lnTo>
                <a:cubicBezTo>
                  <a:pt x="0" y="33210"/>
                  <a:pt x="33210" y="0"/>
                  <a:pt x="74114" y="0"/>
                </a:cubicBezTo>
                <a:close/>
              </a:path>
            </a:pathLst>
          </a:custGeom>
          <a:solidFill>
            <a:srgbClr val="F8FAFC"/>
          </a:solidFill>
          <a:ln/>
        </p:spPr>
      </p:sp>
      <p:sp>
        <p:nvSpPr>
          <p:cNvPr id="47" name="Shape 45"/>
          <p:cNvSpPr/>
          <p:nvPr/>
        </p:nvSpPr>
        <p:spPr>
          <a:xfrm>
            <a:off x="3243307" y="5117389"/>
            <a:ext cx="1222906" cy="259404"/>
          </a:xfrm>
          <a:custGeom>
            <a:avLst/>
            <a:gdLst/>
            <a:ahLst/>
            <a:cxnLst/>
            <a:rect l="l" t="t" r="r" b="b"/>
            <a:pathLst>
              <a:path w="1222906" h="259404">
                <a:moveTo>
                  <a:pt x="74114" y="0"/>
                </a:moveTo>
                <a:lnTo>
                  <a:pt x="1148791" y="0"/>
                </a:lnTo>
                <a:cubicBezTo>
                  <a:pt x="1189724" y="0"/>
                  <a:pt x="1222906" y="33182"/>
                  <a:pt x="1222906" y="74114"/>
                </a:cubicBezTo>
                <a:lnTo>
                  <a:pt x="1222906" y="185290"/>
                </a:lnTo>
                <a:cubicBezTo>
                  <a:pt x="1222906" y="226222"/>
                  <a:pt x="1189724" y="259404"/>
                  <a:pt x="1148791" y="259404"/>
                </a:cubicBezTo>
                <a:lnTo>
                  <a:pt x="74114" y="259404"/>
                </a:lnTo>
                <a:cubicBezTo>
                  <a:pt x="33182" y="259404"/>
                  <a:pt x="0" y="226222"/>
                  <a:pt x="0" y="185290"/>
                </a:cubicBezTo>
                <a:lnTo>
                  <a:pt x="0" y="74114"/>
                </a:lnTo>
                <a:cubicBezTo>
                  <a:pt x="0" y="33210"/>
                  <a:pt x="33210" y="0"/>
                  <a:pt x="74114" y="0"/>
                </a:cubicBezTo>
                <a:close/>
              </a:path>
            </a:pathLst>
          </a:custGeom>
          <a:solidFill>
            <a:srgbClr val="F8FAFC"/>
          </a:solidFill>
          <a:ln/>
        </p:spPr>
      </p:sp>
      <p:sp>
        <p:nvSpPr>
          <p:cNvPr id="49" name="Text 47"/>
          <p:cNvSpPr/>
          <p:nvPr/>
        </p:nvSpPr>
        <p:spPr>
          <a:xfrm>
            <a:off x="3496500" y="5151027"/>
            <a:ext cx="1066931" cy="259404"/>
          </a:xfrm>
          <a:prstGeom prst="rect">
            <a:avLst/>
          </a:prstGeom>
          <a:noFill/>
          <a:ln/>
        </p:spPr>
        <p:txBody>
          <a:bodyPr wrap="square" lIns="111173" tIns="37058" rIns="111173" bIns="37058" rtlCol="0" anchor="ctr"/>
          <a:lstStyle/>
          <a:p>
            <a:pPr>
              <a:lnSpc>
                <a:spcPct val="120000"/>
              </a:lnSpc>
            </a:pPr>
            <a:endParaRPr lang="en-US" sz="1600" dirty="0"/>
          </a:p>
        </p:txBody>
      </p:sp>
      <p:sp>
        <p:nvSpPr>
          <p:cNvPr id="50" name="Shape 48"/>
          <p:cNvSpPr/>
          <p:nvPr/>
        </p:nvSpPr>
        <p:spPr>
          <a:xfrm>
            <a:off x="759337" y="5717084"/>
            <a:ext cx="3048000" cy="926444"/>
          </a:xfrm>
          <a:custGeom>
            <a:avLst/>
            <a:gdLst/>
            <a:ahLst/>
            <a:cxnLst/>
            <a:rect l="l" t="t" r="r" b="b"/>
            <a:pathLst>
              <a:path w="3048000" h="926444">
                <a:moveTo>
                  <a:pt x="37058" y="0"/>
                </a:moveTo>
                <a:lnTo>
                  <a:pt x="2936827" y="0"/>
                </a:lnTo>
                <a:cubicBezTo>
                  <a:pt x="2998226" y="0"/>
                  <a:pt x="3048000" y="49774"/>
                  <a:pt x="3048000" y="111173"/>
                </a:cubicBezTo>
                <a:lnTo>
                  <a:pt x="3048000" y="815271"/>
                </a:lnTo>
                <a:cubicBezTo>
                  <a:pt x="3048000" y="876670"/>
                  <a:pt x="2998226" y="926444"/>
                  <a:pt x="2936827" y="926444"/>
                </a:cubicBezTo>
                <a:lnTo>
                  <a:pt x="37058" y="926444"/>
                </a:lnTo>
                <a:cubicBezTo>
                  <a:pt x="16591" y="926444"/>
                  <a:pt x="0" y="909852"/>
                  <a:pt x="0" y="889386"/>
                </a:cubicBezTo>
                <a:lnTo>
                  <a:pt x="0" y="37058"/>
                </a:lnTo>
                <a:cubicBezTo>
                  <a:pt x="0" y="16591"/>
                  <a:pt x="16591" y="0"/>
                  <a:pt x="37058" y="0"/>
                </a:cubicBezTo>
                <a:close/>
              </a:path>
            </a:pathLst>
          </a:custGeom>
          <a:gradFill flip="none" rotWithShape="1">
            <a:gsLst>
              <a:gs pos="0">
                <a:srgbClr val="1E3A5F">
                  <a:alpha val="5000"/>
                </a:srgbClr>
              </a:gs>
              <a:gs pos="100000">
                <a:srgbClr val="000000">
                  <a:alpha val="0"/>
                </a:srgbClr>
              </a:gs>
            </a:gsLst>
            <a:lin ang="0" scaled="1"/>
          </a:gradFill>
          <a:ln/>
        </p:spPr>
      </p:sp>
      <p:sp>
        <p:nvSpPr>
          <p:cNvPr id="51" name="Shape 49"/>
          <p:cNvSpPr/>
          <p:nvPr/>
        </p:nvSpPr>
        <p:spPr>
          <a:xfrm>
            <a:off x="611453" y="5706894"/>
            <a:ext cx="37058" cy="926444"/>
          </a:xfrm>
          <a:custGeom>
            <a:avLst/>
            <a:gdLst/>
            <a:ahLst/>
            <a:cxnLst/>
            <a:rect l="l" t="t" r="r" b="b"/>
            <a:pathLst>
              <a:path w="37058" h="926444">
                <a:moveTo>
                  <a:pt x="37058" y="0"/>
                </a:moveTo>
                <a:lnTo>
                  <a:pt x="37058" y="0"/>
                </a:lnTo>
                <a:lnTo>
                  <a:pt x="37058" y="926444"/>
                </a:lnTo>
                <a:lnTo>
                  <a:pt x="37058" y="926444"/>
                </a:lnTo>
                <a:cubicBezTo>
                  <a:pt x="16591" y="926444"/>
                  <a:pt x="0" y="909852"/>
                  <a:pt x="0" y="889386"/>
                </a:cubicBezTo>
                <a:lnTo>
                  <a:pt x="0" y="37058"/>
                </a:lnTo>
                <a:cubicBezTo>
                  <a:pt x="0" y="16591"/>
                  <a:pt x="16591" y="0"/>
                  <a:pt x="37058" y="0"/>
                </a:cubicBezTo>
                <a:close/>
              </a:path>
            </a:pathLst>
          </a:custGeom>
          <a:solidFill>
            <a:srgbClr val="1E3A5F"/>
          </a:solidFill>
          <a:ln/>
        </p:spPr>
      </p:sp>
      <p:sp>
        <p:nvSpPr>
          <p:cNvPr id="52" name="Shape 50"/>
          <p:cNvSpPr/>
          <p:nvPr/>
        </p:nvSpPr>
        <p:spPr>
          <a:xfrm>
            <a:off x="778213" y="5855125"/>
            <a:ext cx="444693" cy="444693"/>
          </a:xfrm>
          <a:custGeom>
            <a:avLst/>
            <a:gdLst/>
            <a:ahLst/>
            <a:cxnLst/>
            <a:rect l="l" t="t" r="r" b="b"/>
            <a:pathLst>
              <a:path w="444693" h="444693">
                <a:moveTo>
                  <a:pt x="222347" y="0"/>
                </a:moveTo>
                <a:lnTo>
                  <a:pt x="222347" y="0"/>
                </a:lnTo>
                <a:cubicBezTo>
                  <a:pt x="345145" y="0"/>
                  <a:pt x="444693" y="99548"/>
                  <a:pt x="444693" y="222347"/>
                </a:cubicBezTo>
                <a:lnTo>
                  <a:pt x="444693" y="222347"/>
                </a:lnTo>
                <a:cubicBezTo>
                  <a:pt x="444693" y="345145"/>
                  <a:pt x="345145" y="444693"/>
                  <a:pt x="222347" y="444693"/>
                </a:cubicBezTo>
                <a:lnTo>
                  <a:pt x="222347" y="444693"/>
                </a:lnTo>
                <a:cubicBezTo>
                  <a:pt x="99548" y="444693"/>
                  <a:pt x="0" y="345145"/>
                  <a:pt x="0" y="222347"/>
                </a:cubicBezTo>
                <a:lnTo>
                  <a:pt x="0" y="222347"/>
                </a:lnTo>
                <a:cubicBezTo>
                  <a:pt x="0" y="99548"/>
                  <a:pt x="99548" y="0"/>
                  <a:pt x="222347" y="0"/>
                </a:cubicBezTo>
                <a:close/>
              </a:path>
            </a:pathLst>
          </a:custGeom>
          <a:solidFill>
            <a:srgbClr val="1E3A5F"/>
          </a:solidFill>
          <a:ln/>
        </p:spPr>
      </p:sp>
      <p:sp>
        <p:nvSpPr>
          <p:cNvPr id="53" name="Text 51"/>
          <p:cNvSpPr/>
          <p:nvPr/>
        </p:nvSpPr>
        <p:spPr>
          <a:xfrm>
            <a:off x="741155" y="5855125"/>
            <a:ext cx="518809" cy="444693"/>
          </a:xfrm>
          <a:prstGeom prst="rect">
            <a:avLst/>
          </a:prstGeom>
          <a:noFill/>
          <a:ln/>
        </p:spPr>
        <p:txBody>
          <a:bodyPr wrap="square" lIns="0" tIns="0" rIns="0" bIns="0" rtlCol="0" anchor="ctr"/>
          <a:lstStyle/>
          <a:p>
            <a:pPr algn="ctr">
              <a:lnSpc>
                <a:spcPct val="130000"/>
              </a:lnSpc>
            </a:pPr>
            <a:r>
              <a:rPr lang="en-US" sz="1167" b="1" dirty="0">
                <a:solidFill>
                  <a:srgbClr val="FFFFFF"/>
                </a:solidFill>
                <a:latin typeface="Quattrocento Sans" pitchFamily="34" charset="0"/>
                <a:ea typeface="Quattrocento Sans" pitchFamily="34" charset="-122"/>
                <a:cs typeface="Quattrocento Sans" pitchFamily="34" charset="-120"/>
              </a:rPr>
              <a:t>MS</a:t>
            </a:r>
            <a:endParaRPr lang="en-US" sz="1600" dirty="0"/>
          </a:p>
        </p:txBody>
      </p:sp>
      <p:sp>
        <p:nvSpPr>
          <p:cNvPr id="54" name="Text 52"/>
          <p:cNvSpPr/>
          <p:nvPr/>
        </p:nvSpPr>
        <p:spPr>
          <a:xfrm>
            <a:off x="1334079" y="5855125"/>
            <a:ext cx="1167319" cy="222347"/>
          </a:xfrm>
          <a:prstGeom prst="rect">
            <a:avLst/>
          </a:prstGeom>
          <a:noFill/>
          <a:ln/>
        </p:spPr>
        <p:txBody>
          <a:bodyPr wrap="square" lIns="0" tIns="0" rIns="0" bIns="0" rtlCol="0" anchor="ctr"/>
          <a:lstStyle/>
          <a:p>
            <a:pPr>
              <a:lnSpc>
                <a:spcPct val="130000"/>
              </a:lnSpc>
            </a:pPr>
            <a:r>
              <a:rPr lang="en-US" sz="1167" b="1" dirty="0">
                <a:solidFill>
                  <a:srgbClr val="1E3A5F"/>
                </a:solidFill>
                <a:latin typeface="Quattrocento Sans" pitchFamily="34" charset="0"/>
                <a:ea typeface="Quattrocento Sans" pitchFamily="34" charset="-122"/>
                <a:cs typeface="Quattrocento Sans" pitchFamily="34" charset="-120"/>
              </a:rPr>
              <a:t>Mahjabin Sultana</a:t>
            </a:r>
            <a:endParaRPr lang="en-US" sz="1600" dirty="0"/>
          </a:p>
        </p:txBody>
      </p:sp>
      <p:sp>
        <p:nvSpPr>
          <p:cNvPr id="55" name="Text 53"/>
          <p:cNvSpPr/>
          <p:nvPr/>
        </p:nvSpPr>
        <p:spPr>
          <a:xfrm>
            <a:off x="1334079" y="6077471"/>
            <a:ext cx="1158055" cy="185289"/>
          </a:xfrm>
          <a:prstGeom prst="rect">
            <a:avLst/>
          </a:prstGeom>
          <a:noFill/>
          <a:ln/>
        </p:spPr>
        <p:txBody>
          <a:bodyPr wrap="square" lIns="0" tIns="0" rIns="0" bIns="0" rtlCol="0" anchor="ctr"/>
          <a:lstStyle/>
          <a:p>
            <a:pPr>
              <a:lnSpc>
                <a:spcPct val="120000"/>
              </a:lnSpc>
            </a:pPr>
            <a:r>
              <a:rPr lang="en-US" sz="1021" dirty="0">
                <a:solidFill>
                  <a:srgbClr val="3B82F6"/>
                </a:solidFill>
                <a:latin typeface="Quattrocento Sans" pitchFamily="34" charset="0"/>
                <a:ea typeface="Quattrocento Sans" pitchFamily="34" charset="-122"/>
                <a:cs typeface="Quattrocento Sans" pitchFamily="34" charset="-120"/>
              </a:rPr>
              <a:t>241-15-899</a:t>
            </a:r>
            <a:endParaRPr lang="en-US" sz="1600" dirty="0"/>
          </a:p>
        </p:txBody>
      </p:sp>
      <p:sp>
        <p:nvSpPr>
          <p:cNvPr id="57" name="Text 55"/>
          <p:cNvSpPr/>
          <p:nvPr/>
        </p:nvSpPr>
        <p:spPr>
          <a:xfrm>
            <a:off x="1527872" y="6299818"/>
            <a:ext cx="1316310" cy="222347"/>
          </a:xfrm>
          <a:prstGeom prst="rect">
            <a:avLst/>
          </a:prstGeom>
          <a:noFill/>
          <a:ln/>
        </p:spPr>
        <p:txBody>
          <a:bodyPr wrap="square" lIns="0" tIns="0" rIns="0" bIns="0" rtlCol="0" anchor="ctr"/>
          <a:lstStyle/>
          <a:p>
            <a:pPr>
              <a:lnSpc>
                <a:spcPct val="120000"/>
              </a:lnSpc>
            </a:pPr>
            <a:endParaRPr lang="en-US" sz="1200" b="1" dirty="0"/>
          </a:p>
        </p:txBody>
      </p:sp>
      <p:sp>
        <p:nvSpPr>
          <p:cNvPr id="58" name="Shape 56"/>
          <p:cNvSpPr/>
          <p:nvPr/>
        </p:nvSpPr>
        <p:spPr>
          <a:xfrm>
            <a:off x="3830498" y="5746027"/>
            <a:ext cx="3048000" cy="926444"/>
          </a:xfrm>
          <a:custGeom>
            <a:avLst/>
            <a:gdLst/>
            <a:ahLst/>
            <a:cxnLst/>
            <a:rect l="l" t="t" r="r" b="b"/>
            <a:pathLst>
              <a:path w="3048000" h="926444">
                <a:moveTo>
                  <a:pt x="37058" y="0"/>
                </a:moveTo>
                <a:lnTo>
                  <a:pt x="2936827" y="0"/>
                </a:lnTo>
                <a:cubicBezTo>
                  <a:pt x="2998226" y="0"/>
                  <a:pt x="3048000" y="49774"/>
                  <a:pt x="3048000" y="111173"/>
                </a:cubicBezTo>
                <a:lnTo>
                  <a:pt x="3048000" y="815271"/>
                </a:lnTo>
                <a:cubicBezTo>
                  <a:pt x="3048000" y="876670"/>
                  <a:pt x="2998226" y="926444"/>
                  <a:pt x="2936827" y="926444"/>
                </a:cubicBezTo>
                <a:lnTo>
                  <a:pt x="37058" y="926444"/>
                </a:lnTo>
                <a:cubicBezTo>
                  <a:pt x="16591" y="926444"/>
                  <a:pt x="0" y="909852"/>
                  <a:pt x="0" y="889386"/>
                </a:cubicBezTo>
                <a:lnTo>
                  <a:pt x="0" y="37058"/>
                </a:lnTo>
                <a:cubicBezTo>
                  <a:pt x="0" y="16591"/>
                  <a:pt x="16591" y="0"/>
                  <a:pt x="37058" y="0"/>
                </a:cubicBezTo>
                <a:close/>
              </a:path>
            </a:pathLst>
          </a:custGeom>
          <a:gradFill flip="none" rotWithShape="1">
            <a:gsLst>
              <a:gs pos="0">
                <a:srgbClr val="3B82F6">
                  <a:alpha val="5000"/>
                </a:srgbClr>
              </a:gs>
              <a:gs pos="100000">
                <a:srgbClr val="000000">
                  <a:alpha val="0"/>
                </a:srgbClr>
              </a:gs>
            </a:gsLst>
            <a:lin ang="0" scaled="1"/>
          </a:gradFill>
          <a:ln/>
        </p:spPr>
      </p:sp>
      <p:sp>
        <p:nvSpPr>
          <p:cNvPr id="59" name="Shape 57"/>
          <p:cNvSpPr/>
          <p:nvPr/>
        </p:nvSpPr>
        <p:spPr>
          <a:xfrm>
            <a:off x="3830498" y="5706894"/>
            <a:ext cx="37058" cy="926444"/>
          </a:xfrm>
          <a:custGeom>
            <a:avLst/>
            <a:gdLst/>
            <a:ahLst/>
            <a:cxnLst/>
            <a:rect l="l" t="t" r="r" b="b"/>
            <a:pathLst>
              <a:path w="37058" h="926444">
                <a:moveTo>
                  <a:pt x="37058" y="0"/>
                </a:moveTo>
                <a:lnTo>
                  <a:pt x="37058" y="0"/>
                </a:lnTo>
                <a:lnTo>
                  <a:pt x="37058" y="926444"/>
                </a:lnTo>
                <a:lnTo>
                  <a:pt x="37058" y="926444"/>
                </a:lnTo>
                <a:cubicBezTo>
                  <a:pt x="16591" y="926444"/>
                  <a:pt x="0" y="909852"/>
                  <a:pt x="0" y="889386"/>
                </a:cubicBezTo>
                <a:lnTo>
                  <a:pt x="0" y="37058"/>
                </a:lnTo>
                <a:cubicBezTo>
                  <a:pt x="0" y="16591"/>
                  <a:pt x="16591" y="0"/>
                  <a:pt x="37058" y="0"/>
                </a:cubicBezTo>
                <a:close/>
              </a:path>
            </a:pathLst>
          </a:custGeom>
          <a:solidFill>
            <a:srgbClr val="3B82F6"/>
          </a:solidFill>
          <a:ln/>
        </p:spPr>
      </p:sp>
      <p:sp>
        <p:nvSpPr>
          <p:cNvPr id="60" name="Shape 58"/>
          <p:cNvSpPr/>
          <p:nvPr/>
        </p:nvSpPr>
        <p:spPr>
          <a:xfrm>
            <a:off x="3997257" y="5855125"/>
            <a:ext cx="444693" cy="444693"/>
          </a:xfrm>
          <a:custGeom>
            <a:avLst/>
            <a:gdLst/>
            <a:ahLst/>
            <a:cxnLst/>
            <a:rect l="l" t="t" r="r" b="b"/>
            <a:pathLst>
              <a:path w="444693" h="444693">
                <a:moveTo>
                  <a:pt x="222347" y="0"/>
                </a:moveTo>
                <a:lnTo>
                  <a:pt x="222347" y="0"/>
                </a:lnTo>
                <a:cubicBezTo>
                  <a:pt x="345145" y="0"/>
                  <a:pt x="444693" y="99548"/>
                  <a:pt x="444693" y="222347"/>
                </a:cubicBezTo>
                <a:lnTo>
                  <a:pt x="444693" y="222347"/>
                </a:lnTo>
                <a:cubicBezTo>
                  <a:pt x="444693" y="345145"/>
                  <a:pt x="345145" y="444693"/>
                  <a:pt x="222347" y="444693"/>
                </a:cubicBezTo>
                <a:lnTo>
                  <a:pt x="222347" y="444693"/>
                </a:lnTo>
                <a:cubicBezTo>
                  <a:pt x="99548" y="444693"/>
                  <a:pt x="0" y="345145"/>
                  <a:pt x="0" y="222347"/>
                </a:cubicBezTo>
                <a:lnTo>
                  <a:pt x="0" y="222347"/>
                </a:lnTo>
                <a:cubicBezTo>
                  <a:pt x="0" y="99548"/>
                  <a:pt x="99548" y="0"/>
                  <a:pt x="222347" y="0"/>
                </a:cubicBezTo>
                <a:close/>
              </a:path>
            </a:pathLst>
          </a:custGeom>
          <a:solidFill>
            <a:srgbClr val="3B82F6"/>
          </a:solidFill>
          <a:ln/>
        </p:spPr>
      </p:sp>
      <p:sp>
        <p:nvSpPr>
          <p:cNvPr id="61" name="Text 59"/>
          <p:cNvSpPr/>
          <p:nvPr/>
        </p:nvSpPr>
        <p:spPr>
          <a:xfrm>
            <a:off x="3960200" y="5855125"/>
            <a:ext cx="518809" cy="444693"/>
          </a:xfrm>
          <a:prstGeom prst="rect">
            <a:avLst/>
          </a:prstGeom>
          <a:noFill/>
          <a:ln/>
        </p:spPr>
        <p:txBody>
          <a:bodyPr wrap="square" lIns="0" tIns="0" rIns="0" bIns="0" rtlCol="0" anchor="ctr"/>
          <a:lstStyle/>
          <a:p>
            <a:pPr algn="ctr">
              <a:lnSpc>
                <a:spcPct val="130000"/>
              </a:lnSpc>
            </a:pPr>
            <a:r>
              <a:rPr lang="en-US" sz="1167" b="1" dirty="0">
                <a:solidFill>
                  <a:srgbClr val="FFFFFF"/>
                </a:solidFill>
                <a:latin typeface="Quattrocento Sans" pitchFamily="34" charset="0"/>
                <a:ea typeface="Quattrocento Sans" pitchFamily="34" charset="-122"/>
                <a:cs typeface="Quattrocento Sans" pitchFamily="34" charset="-120"/>
              </a:rPr>
              <a:t>NT</a:t>
            </a:r>
            <a:endParaRPr lang="en-US" sz="1600" dirty="0"/>
          </a:p>
        </p:txBody>
      </p:sp>
      <p:sp>
        <p:nvSpPr>
          <p:cNvPr id="62" name="Text 60"/>
          <p:cNvSpPr/>
          <p:nvPr/>
        </p:nvSpPr>
        <p:spPr>
          <a:xfrm>
            <a:off x="4553124" y="5855125"/>
            <a:ext cx="1417459" cy="222347"/>
          </a:xfrm>
          <a:prstGeom prst="rect">
            <a:avLst/>
          </a:prstGeom>
          <a:noFill/>
          <a:ln/>
        </p:spPr>
        <p:txBody>
          <a:bodyPr wrap="square" lIns="0" tIns="0" rIns="0" bIns="0" rtlCol="0" anchor="ctr"/>
          <a:lstStyle/>
          <a:p>
            <a:pPr>
              <a:lnSpc>
                <a:spcPct val="130000"/>
              </a:lnSpc>
            </a:pPr>
            <a:r>
              <a:rPr lang="en-US" sz="1167" b="1" dirty="0">
                <a:solidFill>
                  <a:srgbClr val="1E3A5F"/>
                </a:solidFill>
                <a:latin typeface="Quattrocento Sans" pitchFamily="34" charset="0"/>
                <a:ea typeface="Quattrocento Sans" pitchFamily="34" charset="-122"/>
                <a:cs typeface="Quattrocento Sans" pitchFamily="34" charset="-120"/>
              </a:rPr>
              <a:t>Nadira Tanzim</a:t>
            </a:r>
            <a:endParaRPr lang="en-US" sz="1600" dirty="0"/>
          </a:p>
        </p:txBody>
      </p:sp>
      <p:sp>
        <p:nvSpPr>
          <p:cNvPr id="63" name="Text 61"/>
          <p:cNvSpPr/>
          <p:nvPr/>
        </p:nvSpPr>
        <p:spPr>
          <a:xfrm>
            <a:off x="4553124" y="6077471"/>
            <a:ext cx="1408195" cy="185289"/>
          </a:xfrm>
          <a:prstGeom prst="rect">
            <a:avLst/>
          </a:prstGeom>
          <a:noFill/>
          <a:ln/>
        </p:spPr>
        <p:txBody>
          <a:bodyPr wrap="square" lIns="0" tIns="0" rIns="0" bIns="0" rtlCol="0" anchor="ctr"/>
          <a:lstStyle/>
          <a:p>
            <a:pPr>
              <a:lnSpc>
                <a:spcPct val="120000"/>
              </a:lnSpc>
            </a:pPr>
            <a:r>
              <a:rPr lang="en-US" sz="1021" dirty="0">
                <a:solidFill>
                  <a:srgbClr val="3B82F6"/>
                </a:solidFill>
                <a:latin typeface="Quattrocento Sans" pitchFamily="34" charset="0"/>
                <a:ea typeface="Quattrocento Sans" pitchFamily="34" charset="-122"/>
                <a:cs typeface="Quattrocento Sans" pitchFamily="34" charset="-120"/>
              </a:rPr>
              <a:t>241-15-397</a:t>
            </a:r>
            <a:endParaRPr lang="en-US" sz="1600" dirty="0"/>
          </a:p>
        </p:txBody>
      </p:sp>
      <p:sp>
        <p:nvSpPr>
          <p:cNvPr id="66" name="Shape 64"/>
          <p:cNvSpPr/>
          <p:nvPr/>
        </p:nvSpPr>
        <p:spPr>
          <a:xfrm>
            <a:off x="7327475" y="1371137"/>
            <a:ext cx="4493252" cy="3038736"/>
          </a:xfrm>
          <a:custGeom>
            <a:avLst/>
            <a:gdLst/>
            <a:ahLst/>
            <a:cxnLst/>
            <a:rect l="l" t="t" r="r" b="b"/>
            <a:pathLst>
              <a:path w="4493252" h="3038736">
                <a:moveTo>
                  <a:pt x="111187" y="0"/>
                </a:moveTo>
                <a:lnTo>
                  <a:pt x="4382065" y="0"/>
                </a:lnTo>
                <a:cubicBezTo>
                  <a:pt x="4443472" y="0"/>
                  <a:pt x="4493252" y="49780"/>
                  <a:pt x="4493252" y="111187"/>
                </a:cubicBezTo>
                <a:lnTo>
                  <a:pt x="4493252" y="2927548"/>
                </a:lnTo>
                <a:cubicBezTo>
                  <a:pt x="4493252" y="2988955"/>
                  <a:pt x="4443472" y="3038736"/>
                  <a:pt x="4382065" y="3038736"/>
                </a:cubicBezTo>
                <a:lnTo>
                  <a:pt x="111187" y="3038736"/>
                </a:lnTo>
                <a:cubicBezTo>
                  <a:pt x="49780" y="3038736"/>
                  <a:pt x="0" y="2988955"/>
                  <a:pt x="0" y="2927548"/>
                </a:cubicBezTo>
                <a:lnTo>
                  <a:pt x="0" y="111187"/>
                </a:lnTo>
                <a:cubicBezTo>
                  <a:pt x="0" y="49821"/>
                  <a:pt x="49821" y="0"/>
                  <a:pt x="111187" y="0"/>
                </a:cubicBezTo>
                <a:close/>
              </a:path>
            </a:pathLst>
          </a:custGeom>
          <a:gradFill flip="none" rotWithShape="1">
            <a:gsLst>
              <a:gs pos="0">
                <a:srgbClr val="1E3A5F"/>
              </a:gs>
              <a:gs pos="100000">
                <a:srgbClr val="3B82F6"/>
              </a:gs>
            </a:gsLst>
            <a:lin ang="2700000" scaled="1"/>
          </a:gradFill>
          <a:ln/>
          <a:effectLst>
            <a:outerShdw blurRad="138967" dist="92644" dir="5400000" algn="bl" rotWithShape="0">
              <a:srgbClr val="000000">
                <a:alpha val="10196"/>
              </a:srgbClr>
            </a:outerShdw>
          </a:effectLst>
        </p:spPr>
      </p:sp>
      <p:sp>
        <p:nvSpPr>
          <p:cNvPr id="67" name="Shape 65"/>
          <p:cNvSpPr/>
          <p:nvPr/>
        </p:nvSpPr>
        <p:spPr>
          <a:xfrm>
            <a:off x="7525503" y="1602748"/>
            <a:ext cx="187605" cy="166760"/>
          </a:xfrm>
          <a:custGeom>
            <a:avLst/>
            <a:gdLst/>
            <a:ahLst/>
            <a:cxnLst/>
            <a:rect l="l" t="t" r="r" b="b"/>
            <a:pathLst>
              <a:path w="187605" h="166760">
                <a:moveTo>
                  <a:pt x="166890" y="78169"/>
                </a:moveTo>
                <a:lnTo>
                  <a:pt x="109566" y="78169"/>
                </a:lnTo>
                <a:cubicBezTo>
                  <a:pt x="103802" y="78169"/>
                  <a:pt x="99144" y="73511"/>
                  <a:pt x="99144" y="67746"/>
                </a:cubicBezTo>
                <a:lnTo>
                  <a:pt x="99144" y="10422"/>
                </a:lnTo>
                <a:cubicBezTo>
                  <a:pt x="99144" y="4658"/>
                  <a:pt x="103834" y="-65"/>
                  <a:pt x="109534" y="684"/>
                </a:cubicBezTo>
                <a:cubicBezTo>
                  <a:pt x="144384" y="5309"/>
                  <a:pt x="172004" y="32929"/>
                  <a:pt x="176629" y="67779"/>
                </a:cubicBezTo>
                <a:cubicBezTo>
                  <a:pt x="177378" y="73479"/>
                  <a:pt x="172655" y="78169"/>
                  <a:pt x="166890" y="78169"/>
                </a:cubicBezTo>
                <a:close/>
                <a:moveTo>
                  <a:pt x="72501" y="12116"/>
                </a:moveTo>
                <a:cubicBezTo>
                  <a:pt x="78397" y="10878"/>
                  <a:pt x="83510" y="15699"/>
                  <a:pt x="83510" y="21724"/>
                </a:cubicBezTo>
                <a:lnTo>
                  <a:pt x="83510" y="85986"/>
                </a:lnTo>
                <a:cubicBezTo>
                  <a:pt x="83510" y="87809"/>
                  <a:pt x="84162" y="89568"/>
                  <a:pt x="85302" y="90969"/>
                </a:cubicBezTo>
                <a:lnTo>
                  <a:pt x="128327" y="142886"/>
                </a:lnTo>
                <a:cubicBezTo>
                  <a:pt x="132138" y="147478"/>
                  <a:pt x="131323" y="154416"/>
                  <a:pt x="126080" y="157249"/>
                </a:cubicBezTo>
                <a:cubicBezTo>
                  <a:pt x="114973" y="163307"/>
                  <a:pt x="102238" y="166760"/>
                  <a:pt x="88721" y="166760"/>
                </a:cubicBezTo>
                <a:cubicBezTo>
                  <a:pt x="45566" y="166760"/>
                  <a:pt x="10553" y="131747"/>
                  <a:pt x="10553" y="88591"/>
                </a:cubicBezTo>
                <a:cubicBezTo>
                  <a:pt x="10553" y="50973"/>
                  <a:pt x="37098" y="19575"/>
                  <a:pt x="72501" y="12116"/>
                </a:cubicBezTo>
                <a:close/>
                <a:moveTo>
                  <a:pt x="155621" y="93802"/>
                </a:moveTo>
                <a:lnTo>
                  <a:pt x="176466" y="93802"/>
                </a:lnTo>
                <a:cubicBezTo>
                  <a:pt x="182491" y="93802"/>
                  <a:pt x="187312" y="98916"/>
                  <a:pt x="186074" y="104811"/>
                </a:cubicBezTo>
                <a:cubicBezTo>
                  <a:pt x="182752" y="120575"/>
                  <a:pt x="174674" y="134580"/>
                  <a:pt x="163405" y="145263"/>
                </a:cubicBezTo>
                <a:cubicBezTo>
                  <a:pt x="159399" y="149074"/>
                  <a:pt x="153113" y="148260"/>
                  <a:pt x="149595" y="143993"/>
                </a:cubicBezTo>
                <a:lnTo>
                  <a:pt x="122106" y="110869"/>
                </a:lnTo>
                <a:cubicBezTo>
                  <a:pt x="116471" y="104062"/>
                  <a:pt x="121324" y="93802"/>
                  <a:pt x="130118" y="93802"/>
                </a:cubicBezTo>
                <a:lnTo>
                  <a:pt x="155588" y="93802"/>
                </a:lnTo>
                <a:close/>
              </a:path>
            </a:pathLst>
          </a:custGeom>
          <a:solidFill>
            <a:srgbClr val="10B981"/>
          </a:solidFill>
          <a:ln/>
        </p:spPr>
      </p:sp>
      <p:sp>
        <p:nvSpPr>
          <p:cNvPr id="68" name="Text 66"/>
          <p:cNvSpPr/>
          <p:nvPr/>
        </p:nvSpPr>
        <p:spPr>
          <a:xfrm>
            <a:off x="7725846" y="1556426"/>
            <a:ext cx="3992973" cy="259404"/>
          </a:xfrm>
          <a:prstGeom prst="rect">
            <a:avLst/>
          </a:prstGeom>
          <a:noFill/>
          <a:ln/>
        </p:spPr>
        <p:txBody>
          <a:bodyPr wrap="square" lIns="0" tIns="0" rIns="0" bIns="0" rtlCol="0" anchor="ctr"/>
          <a:lstStyle/>
          <a:p>
            <a:pPr>
              <a:lnSpc>
                <a:spcPct val="130000"/>
              </a:lnSpc>
            </a:pPr>
            <a:r>
              <a:rPr lang="en-US" sz="1313" b="1" dirty="0">
                <a:solidFill>
                  <a:srgbClr val="FFFFFF"/>
                </a:solidFill>
                <a:latin typeface="Liter" pitchFamily="34" charset="0"/>
                <a:ea typeface="Liter" pitchFamily="34" charset="-122"/>
                <a:cs typeface="Liter" pitchFamily="34" charset="-120"/>
              </a:rPr>
              <a:t>Workload Distribution</a:t>
            </a:r>
            <a:endParaRPr lang="en-US" sz="1600" dirty="0"/>
          </a:p>
        </p:txBody>
      </p:sp>
      <p:sp>
        <p:nvSpPr>
          <p:cNvPr id="69" name="Text 67"/>
          <p:cNvSpPr/>
          <p:nvPr/>
        </p:nvSpPr>
        <p:spPr>
          <a:xfrm>
            <a:off x="7512764" y="1964061"/>
            <a:ext cx="1000559" cy="185289"/>
          </a:xfrm>
          <a:prstGeom prst="rect">
            <a:avLst/>
          </a:prstGeom>
          <a:noFill/>
          <a:ln/>
        </p:spPr>
        <p:txBody>
          <a:bodyPr wrap="square" lIns="0" tIns="0" rIns="0" bIns="0" rtlCol="0" anchor="ctr"/>
          <a:lstStyle/>
          <a:p>
            <a:pPr>
              <a:lnSpc>
                <a:spcPct val="120000"/>
              </a:lnSpc>
            </a:pPr>
            <a:r>
              <a:rPr lang="en-US" sz="1021" dirty="0">
                <a:solidFill>
                  <a:srgbClr val="FFFFFF"/>
                </a:solidFill>
                <a:latin typeface="Quattrocento Sans" pitchFamily="34" charset="0"/>
                <a:ea typeface="Quattrocento Sans" pitchFamily="34" charset="-122"/>
                <a:cs typeface="Quattrocento Sans" pitchFamily="34" charset="-120"/>
              </a:rPr>
              <a:t>Database Design</a:t>
            </a:r>
            <a:endParaRPr lang="en-US" sz="1600" dirty="0"/>
          </a:p>
        </p:txBody>
      </p:sp>
      <p:sp>
        <p:nvSpPr>
          <p:cNvPr id="70" name="Text 68"/>
          <p:cNvSpPr/>
          <p:nvPr/>
        </p:nvSpPr>
        <p:spPr>
          <a:xfrm>
            <a:off x="11375571" y="1964061"/>
            <a:ext cx="324255" cy="185289"/>
          </a:xfrm>
          <a:prstGeom prst="rect">
            <a:avLst/>
          </a:prstGeom>
          <a:noFill/>
          <a:ln/>
        </p:spPr>
        <p:txBody>
          <a:bodyPr wrap="square" lIns="0" tIns="0" rIns="0" bIns="0" rtlCol="0" anchor="ctr"/>
          <a:lstStyle/>
          <a:p>
            <a:pPr>
              <a:lnSpc>
                <a:spcPct val="120000"/>
              </a:lnSpc>
            </a:pPr>
            <a:r>
              <a:rPr lang="en-US" sz="1021" b="1" dirty="0">
                <a:solidFill>
                  <a:srgbClr val="FFFFFF"/>
                </a:solidFill>
                <a:latin typeface="Quattrocento Sans" pitchFamily="34" charset="0"/>
                <a:ea typeface="Quattrocento Sans" pitchFamily="34" charset="-122"/>
                <a:cs typeface="Quattrocento Sans" pitchFamily="34" charset="-120"/>
              </a:rPr>
              <a:t>20%</a:t>
            </a:r>
            <a:endParaRPr lang="en-US" sz="1600" dirty="0"/>
          </a:p>
        </p:txBody>
      </p:sp>
      <p:sp>
        <p:nvSpPr>
          <p:cNvPr id="71" name="Shape 69"/>
          <p:cNvSpPr/>
          <p:nvPr/>
        </p:nvSpPr>
        <p:spPr>
          <a:xfrm>
            <a:off x="7512764" y="2223465"/>
            <a:ext cx="4122675" cy="74116"/>
          </a:xfrm>
          <a:custGeom>
            <a:avLst/>
            <a:gdLst/>
            <a:ahLst/>
            <a:cxnLst/>
            <a:rect l="l" t="t" r="r" b="b"/>
            <a:pathLst>
              <a:path w="4122675" h="74116">
                <a:moveTo>
                  <a:pt x="37058" y="0"/>
                </a:moveTo>
                <a:lnTo>
                  <a:pt x="4085617" y="0"/>
                </a:lnTo>
                <a:cubicBezTo>
                  <a:pt x="4106083" y="0"/>
                  <a:pt x="4122675" y="16591"/>
                  <a:pt x="4122675" y="37058"/>
                </a:cubicBezTo>
                <a:lnTo>
                  <a:pt x="4122675" y="37058"/>
                </a:lnTo>
                <a:cubicBezTo>
                  <a:pt x="4122675" y="57524"/>
                  <a:pt x="4106083" y="74116"/>
                  <a:pt x="4085617" y="74116"/>
                </a:cubicBezTo>
                <a:lnTo>
                  <a:pt x="37058" y="74116"/>
                </a:lnTo>
                <a:cubicBezTo>
                  <a:pt x="16591" y="74116"/>
                  <a:pt x="0" y="57524"/>
                  <a:pt x="0" y="37058"/>
                </a:cubicBezTo>
                <a:lnTo>
                  <a:pt x="0" y="37058"/>
                </a:lnTo>
                <a:cubicBezTo>
                  <a:pt x="0" y="16591"/>
                  <a:pt x="16591" y="0"/>
                  <a:pt x="37058" y="0"/>
                </a:cubicBezTo>
                <a:close/>
              </a:path>
            </a:pathLst>
          </a:custGeom>
          <a:solidFill>
            <a:srgbClr val="FFFFFF">
              <a:alpha val="20000"/>
            </a:srgbClr>
          </a:solidFill>
          <a:ln/>
        </p:spPr>
      </p:sp>
      <p:sp>
        <p:nvSpPr>
          <p:cNvPr id="72" name="Shape 70"/>
          <p:cNvSpPr/>
          <p:nvPr/>
        </p:nvSpPr>
        <p:spPr>
          <a:xfrm>
            <a:off x="7512764" y="2223465"/>
            <a:ext cx="824535" cy="74116"/>
          </a:xfrm>
          <a:custGeom>
            <a:avLst/>
            <a:gdLst/>
            <a:ahLst/>
            <a:cxnLst/>
            <a:rect l="l" t="t" r="r" b="b"/>
            <a:pathLst>
              <a:path w="824535" h="74116">
                <a:moveTo>
                  <a:pt x="37058" y="0"/>
                </a:moveTo>
                <a:lnTo>
                  <a:pt x="787477" y="0"/>
                </a:lnTo>
                <a:cubicBezTo>
                  <a:pt x="807944" y="0"/>
                  <a:pt x="824535" y="16591"/>
                  <a:pt x="824535" y="37058"/>
                </a:cubicBezTo>
                <a:lnTo>
                  <a:pt x="824535" y="37058"/>
                </a:lnTo>
                <a:cubicBezTo>
                  <a:pt x="824535" y="57524"/>
                  <a:pt x="807944" y="74116"/>
                  <a:pt x="787477" y="74116"/>
                </a:cubicBezTo>
                <a:lnTo>
                  <a:pt x="37058" y="74116"/>
                </a:lnTo>
                <a:cubicBezTo>
                  <a:pt x="16591" y="74116"/>
                  <a:pt x="0" y="57524"/>
                  <a:pt x="0" y="37058"/>
                </a:cubicBezTo>
                <a:lnTo>
                  <a:pt x="0" y="37058"/>
                </a:lnTo>
                <a:cubicBezTo>
                  <a:pt x="0" y="16591"/>
                  <a:pt x="16591" y="0"/>
                  <a:pt x="37058" y="0"/>
                </a:cubicBezTo>
                <a:close/>
              </a:path>
            </a:pathLst>
          </a:custGeom>
          <a:solidFill>
            <a:srgbClr val="10B981"/>
          </a:solidFill>
          <a:ln/>
        </p:spPr>
      </p:sp>
      <p:sp>
        <p:nvSpPr>
          <p:cNvPr id="73" name="Text 71"/>
          <p:cNvSpPr/>
          <p:nvPr/>
        </p:nvSpPr>
        <p:spPr>
          <a:xfrm>
            <a:off x="7512764" y="2445812"/>
            <a:ext cx="1334079" cy="185289"/>
          </a:xfrm>
          <a:prstGeom prst="rect">
            <a:avLst/>
          </a:prstGeom>
          <a:noFill/>
          <a:ln/>
        </p:spPr>
        <p:txBody>
          <a:bodyPr wrap="square" lIns="0" tIns="0" rIns="0" bIns="0" rtlCol="0" anchor="ctr"/>
          <a:lstStyle/>
          <a:p>
            <a:pPr>
              <a:lnSpc>
                <a:spcPct val="120000"/>
              </a:lnSpc>
            </a:pPr>
            <a:r>
              <a:rPr lang="en-US" sz="1021" dirty="0">
                <a:solidFill>
                  <a:srgbClr val="FFFFFF"/>
                </a:solidFill>
                <a:latin typeface="Quattrocento Sans" pitchFamily="34" charset="0"/>
                <a:ea typeface="Quattrocento Sans" pitchFamily="34" charset="-122"/>
                <a:cs typeface="Quattrocento Sans" pitchFamily="34" charset="-120"/>
              </a:rPr>
              <a:t>Backend Development</a:t>
            </a:r>
            <a:endParaRPr lang="en-US" sz="1600" dirty="0"/>
          </a:p>
        </p:txBody>
      </p:sp>
      <p:sp>
        <p:nvSpPr>
          <p:cNvPr id="74" name="Text 72"/>
          <p:cNvSpPr/>
          <p:nvPr/>
        </p:nvSpPr>
        <p:spPr>
          <a:xfrm>
            <a:off x="11390047" y="2445812"/>
            <a:ext cx="305726" cy="185289"/>
          </a:xfrm>
          <a:prstGeom prst="rect">
            <a:avLst/>
          </a:prstGeom>
          <a:noFill/>
          <a:ln/>
        </p:spPr>
        <p:txBody>
          <a:bodyPr wrap="square" lIns="0" tIns="0" rIns="0" bIns="0" rtlCol="0" anchor="ctr"/>
          <a:lstStyle/>
          <a:p>
            <a:pPr>
              <a:lnSpc>
                <a:spcPct val="120000"/>
              </a:lnSpc>
            </a:pPr>
            <a:r>
              <a:rPr lang="en-US" sz="1021" b="1" dirty="0">
                <a:solidFill>
                  <a:srgbClr val="FFFFFF"/>
                </a:solidFill>
                <a:latin typeface="Quattrocento Sans" pitchFamily="34" charset="0"/>
                <a:ea typeface="Quattrocento Sans" pitchFamily="34" charset="-122"/>
                <a:cs typeface="Quattrocento Sans" pitchFamily="34" charset="-120"/>
              </a:rPr>
              <a:t>25%</a:t>
            </a:r>
            <a:endParaRPr lang="en-US" sz="1600" dirty="0"/>
          </a:p>
        </p:txBody>
      </p:sp>
      <p:sp>
        <p:nvSpPr>
          <p:cNvPr id="75" name="Shape 73"/>
          <p:cNvSpPr/>
          <p:nvPr/>
        </p:nvSpPr>
        <p:spPr>
          <a:xfrm>
            <a:off x="7512764" y="2705216"/>
            <a:ext cx="4122675" cy="74116"/>
          </a:xfrm>
          <a:custGeom>
            <a:avLst/>
            <a:gdLst/>
            <a:ahLst/>
            <a:cxnLst/>
            <a:rect l="l" t="t" r="r" b="b"/>
            <a:pathLst>
              <a:path w="4122675" h="74116">
                <a:moveTo>
                  <a:pt x="37058" y="0"/>
                </a:moveTo>
                <a:lnTo>
                  <a:pt x="4085617" y="0"/>
                </a:lnTo>
                <a:cubicBezTo>
                  <a:pt x="4106083" y="0"/>
                  <a:pt x="4122675" y="16591"/>
                  <a:pt x="4122675" y="37058"/>
                </a:cubicBezTo>
                <a:lnTo>
                  <a:pt x="4122675" y="37058"/>
                </a:lnTo>
                <a:cubicBezTo>
                  <a:pt x="4122675" y="57524"/>
                  <a:pt x="4106083" y="74116"/>
                  <a:pt x="4085617" y="74116"/>
                </a:cubicBezTo>
                <a:lnTo>
                  <a:pt x="37058" y="74116"/>
                </a:lnTo>
                <a:cubicBezTo>
                  <a:pt x="16591" y="74116"/>
                  <a:pt x="0" y="57524"/>
                  <a:pt x="0" y="37058"/>
                </a:cubicBezTo>
                <a:lnTo>
                  <a:pt x="0" y="37058"/>
                </a:lnTo>
                <a:cubicBezTo>
                  <a:pt x="0" y="16591"/>
                  <a:pt x="16591" y="0"/>
                  <a:pt x="37058" y="0"/>
                </a:cubicBezTo>
                <a:close/>
              </a:path>
            </a:pathLst>
          </a:custGeom>
          <a:solidFill>
            <a:srgbClr val="FFFFFF">
              <a:alpha val="20000"/>
            </a:srgbClr>
          </a:solidFill>
          <a:ln/>
        </p:spPr>
      </p:sp>
      <p:sp>
        <p:nvSpPr>
          <p:cNvPr id="76" name="Shape 74"/>
          <p:cNvSpPr/>
          <p:nvPr/>
        </p:nvSpPr>
        <p:spPr>
          <a:xfrm>
            <a:off x="7512764" y="2705216"/>
            <a:ext cx="1028353" cy="74116"/>
          </a:xfrm>
          <a:custGeom>
            <a:avLst/>
            <a:gdLst/>
            <a:ahLst/>
            <a:cxnLst/>
            <a:rect l="l" t="t" r="r" b="b"/>
            <a:pathLst>
              <a:path w="1028353" h="74116">
                <a:moveTo>
                  <a:pt x="37058" y="0"/>
                </a:moveTo>
                <a:lnTo>
                  <a:pt x="991295" y="0"/>
                </a:lnTo>
                <a:cubicBezTo>
                  <a:pt x="1011761" y="0"/>
                  <a:pt x="1028353" y="16591"/>
                  <a:pt x="1028353" y="37058"/>
                </a:cubicBezTo>
                <a:lnTo>
                  <a:pt x="1028353" y="37058"/>
                </a:lnTo>
                <a:cubicBezTo>
                  <a:pt x="1028353" y="57524"/>
                  <a:pt x="1011761" y="74116"/>
                  <a:pt x="991295" y="74116"/>
                </a:cubicBezTo>
                <a:lnTo>
                  <a:pt x="37058" y="74116"/>
                </a:lnTo>
                <a:cubicBezTo>
                  <a:pt x="16591" y="74116"/>
                  <a:pt x="0" y="57524"/>
                  <a:pt x="0" y="37058"/>
                </a:cubicBezTo>
                <a:lnTo>
                  <a:pt x="0" y="37058"/>
                </a:lnTo>
                <a:cubicBezTo>
                  <a:pt x="0" y="16591"/>
                  <a:pt x="16591" y="0"/>
                  <a:pt x="37058" y="0"/>
                </a:cubicBezTo>
                <a:close/>
              </a:path>
            </a:pathLst>
          </a:custGeom>
          <a:solidFill>
            <a:srgbClr val="10B981"/>
          </a:solidFill>
          <a:ln/>
        </p:spPr>
      </p:sp>
      <p:sp>
        <p:nvSpPr>
          <p:cNvPr id="77" name="Text 75"/>
          <p:cNvSpPr/>
          <p:nvPr/>
        </p:nvSpPr>
        <p:spPr>
          <a:xfrm>
            <a:off x="7512764" y="2927562"/>
            <a:ext cx="1361872" cy="185289"/>
          </a:xfrm>
          <a:prstGeom prst="rect">
            <a:avLst/>
          </a:prstGeom>
          <a:noFill/>
          <a:ln/>
        </p:spPr>
        <p:txBody>
          <a:bodyPr wrap="square" lIns="0" tIns="0" rIns="0" bIns="0" rtlCol="0" anchor="ctr"/>
          <a:lstStyle/>
          <a:p>
            <a:pPr>
              <a:lnSpc>
                <a:spcPct val="120000"/>
              </a:lnSpc>
            </a:pPr>
            <a:r>
              <a:rPr lang="en-US" sz="1021" dirty="0">
                <a:solidFill>
                  <a:srgbClr val="FFFFFF"/>
                </a:solidFill>
                <a:latin typeface="Quattrocento Sans" pitchFamily="34" charset="0"/>
                <a:ea typeface="Quattrocento Sans" pitchFamily="34" charset="-122"/>
                <a:cs typeface="Quattrocento Sans" pitchFamily="34" charset="-120"/>
              </a:rPr>
              <a:t>Frontend Development</a:t>
            </a:r>
            <a:endParaRPr lang="en-US" sz="1600" dirty="0"/>
          </a:p>
        </p:txBody>
      </p:sp>
      <p:sp>
        <p:nvSpPr>
          <p:cNvPr id="78" name="Text 76"/>
          <p:cNvSpPr/>
          <p:nvPr/>
        </p:nvSpPr>
        <p:spPr>
          <a:xfrm>
            <a:off x="11390047" y="2927562"/>
            <a:ext cx="305726" cy="185289"/>
          </a:xfrm>
          <a:prstGeom prst="rect">
            <a:avLst/>
          </a:prstGeom>
          <a:noFill/>
          <a:ln/>
        </p:spPr>
        <p:txBody>
          <a:bodyPr wrap="square" lIns="0" tIns="0" rIns="0" bIns="0" rtlCol="0" anchor="ctr"/>
          <a:lstStyle/>
          <a:p>
            <a:pPr>
              <a:lnSpc>
                <a:spcPct val="120000"/>
              </a:lnSpc>
            </a:pPr>
            <a:r>
              <a:rPr lang="en-US" sz="1021" b="1" dirty="0">
                <a:solidFill>
                  <a:srgbClr val="FFFFFF"/>
                </a:solidFill>
                <a:latin typeface="Quattrocento Sans" pitchFamily="34" charset="0"/>
                <a:ea typeface="Quattrocento Sans" pitchFamily="34" charset="-122"/>
                <a:cs typeface="Quattrocento Sans" pitchFamily="34" charset="-120"/>
              </a:rPr>
              <a:t>25%</a:t>
            </a:r>
            <a:endParaRPr lang="en-US" sz="1600" dirty="0"/>
          </a:p>
        </p:txBody>
      </p:sp>
      <p:sp>
        <p:nvSpPr>
          <p:cNvPr id="79" name="Shape 77"/>
          <p:cNvSpPr/>
          <p:nvPr/>
        </p:nvSpPr>
        <p:spPr>
          <a:xfrm>
            <a:off x="7512764" y="3186967"/>
            <a:ext cx="4122675" cy="74116"/>
          </a:xfrm>
          <a:custGeom>
            <a:avLst/>
            <a:gdLst/>
            <a:ahLst/>
            <a:cxnLst/>
            <a:rect l="l" t="t" r="r" b="b"/>
            <a:pathLst>
              <a:path w="4122675" h="74116">
                <a:moveTo>
                  <a:pt x="37058" y="0"/>
                </a:moveTo>
                <a:lnTo>
                  <a:pt x="4085617" y="0"/>
                </a:lnTo>
                <a:cubicBezTo>
                  <a:pt x="4106083" y="0"/>
                  <a:pt x="4122675" y="16591"/>
                  <a:pt x="4122675" y="37058"/>
                </a:cubicBezTo>
                <a:lnTo>
                  <a:pt x="4122675" y="37058"/>
                </a:lnTo>
                <a:cubicBezTo>
                  <a:pt x="4122675" y="57524"/>
                  <a:pt x="4106083" y="74116"/>
                  <a:pt x="4085617" y="74116"/>
                </a:cubicBezTo>
                <a:lnTo>
                  <a:pt x="37058" y="74116"/>
                </a:lnTo>
                <a:cubicBezTo>
                  <a:pt x="16591" y="74116"/>
                  <a:pt x="0" y="57524"/>
                  <a:pt x="0" y="37058"/>
                </a:cubicBezTo>
                <a:lnTo>
                  <a:pt x="0" y="37058"/>
                </a:lnTo>
                <a:cubicBezTo>
                  <a:pt x="0" y="16591"/>
                  <a:pt x="16591" y="0"/>
                  <a:pt x="37058" y="0"/>
                </a:cubicBezTo>
                <a:close/>
              </a:path>
            </a:pathLst>
          </a:custGeom>
          <a:solidFill>
            <a:srgbClr val="FFFFFF">
              <a:alpha val="20000"/>
            </a:srgbClr>
          </a:solidFill>
          <a:ln/>
        </p:spPr>
      </p:sp>
      <p:sp>
        <p:nvSpPr>
          <p:cNvPr id="80" name="Shape 78"/>
          <p:cNvSpPr/>
          <p:nvPr/>
        </p:nvSpPr>
        <p:spPr>
          <a:xfrm>
            <a:off x="7512764" y="3186967"/>
            <a:ext cx="1028353" cy="74116"/>
          </a:xfrm>
          <a:custGeom>
            <a:avLst/>
            <a:gdLst/>
            <a:ahLst/>
            <a:cxnLst/>
            <a:rect l="l" t="t" r="r" b="b"/>
            <a:pathLst>
              <a:path w="1028353" h="74116">
                <a:moveTo>
                  <a:pt x="37058" y="0"/>
                </a:moveTo>
                <a:lnTo>
                  <a:pt x="991295" y="0"/>
                </a:lnTo>
                <a:cubicBezTo>
                  <a:pt x="1011761" y="0"/>
                  <a:pt x="1028353" y="16591"/>
                  <a:pt x="1028353" y="37058"/>
                </a:cubicBezTo>
                <a:lnTo>
                  <a:pt x="1028353" y="37058"/>
                </a:lnTo>
                <a:cubicBezTo>
                  <a:pt x="1028353" y="57524"/>
                  <a:pt x="1011761" y="74116"/>
                  <a:pt x="991295" y="74116"/>
                </a:cubicBezTo>
                <a:lnTo>
                  <a:pt x="37058" y="74116"/>
                </a:lnTo>
                <a:cubicBezTo>
                  <a:pt x="16591" y="74116"/>
                  <a:pt x="0" y="57524"/>
                  <a:pt x="0" y="37058"/>
                </a:cubicBezTo>
                <a:lnTo>
                  <a:pt x="0" y="37058"/>
                </a:lnTo>
                <a:cubicBezTo>
                  <a:pt x="0" y="16591"/>
                  <a:pt x="16591" y="0"/>
                  <a:pt x="37058" y="0"/>
                </a:cubicBezTo>
                <a:close/>
              </a:path>
            </a:pathLst>
          </a:custGeom>
          <a:solidFill>
            <a:srgbClr val="10B981"/>
          </a:solidFill>
          <a:ln/>
        </p:spPr>
      </p:sp>
      <p:sp>
        <p:nvSpPr>
          <p:cNvPr id="81" name="Text 79"/>
          <p:cNvSpPr/>
          <p:nvPr/>
        </p:nvSpPr>
        <p:spPr>
          <a:xfrm>
            <a:off x="7512764" y="3409313"/>
            <a:ext cx="935708" cy="185289"/>
          </a:xfrm>
          <a:prstGeom prst="rect">
            <a:avLst/>
          </a:prstGeom>
          <a:noFill/>
          <a:ln/>
        </p:spPr>
        <p:txBody>
          <a:bodyPr wrap="square" lIns="0" tIns="0" rIns="0" bIns="0" rtlCol="0" anchor="ctr"/>
          <a:lstStyle/>
          <a:p>
            <a:pPr>
              <a:lnSpc>
                <a:spcPct val="120000"/>
              </a:lnSpc>
            </a:pPr>
            <a:r>
              <a:rPr lang="en-US" sz="1021" dirty="0">
                <a:solidFill>
                  <a:srgbClr val="FFFFFF"/>
                </a:solidFill>
                <a:latin typeface="Quattrocento Sans" pitchFamily="34" charset="0"/>
                <a:ea typeface="Quattrocento Sans" pitchFamily="34" charset="-122"/>
                <a:cs typeface="Quattrocento Sans" pitchFamily="34" charset="-120"/>
              </a:rPr>
              <a:t>Documentation</a:t>
            </a:r>
            <a:endParaRPr lang="en-US" sz="1600" dirty="0"/>
          </a:p>
        </p:txBody>
      </p:sp>
      <p:sp>
        <p:nvSpPr>
          <p:cNvPr id="82" name="Text 80"/>
          <p:cNvSpPr/>
          <p:nvPr/>
        </p:nvSpPr>
        <p:spPr>
          <a:xfrm>
            <a:off x="11414945" y="3409313"/>
            <a:ext cx="277933" cy="185289"/>
          </a:xfrm>
          <a:prstGeom prst="rect">
            <a:avLst/>
          </a:prstGeom>
          <a:noFill/>
          <a:ln/>
        </p:spPr>
        <p:txBody>
          <a:bodyPr wrap="square" lIns="0" tIns="0" rIns="0" bIns="0" rtlCol="0" anchor="ctr"/>
          <a:lstStyle/>
          <a:p>
            <a:pPr>
              <a:lnSpc>
                <a:spcPct val="120000"/>
              </a:lnSpc>
            </a:pPr>
            <a:r>
              <a:rPr lang="en-US" sz="1021" b="1" dirty="0">
                <a:solidFill>
                  <a:srgbClr val="FFFFFF"/>
                </a:solidFill>
                <a:latin typeface="Quattrocento Sans" pitchFamily="34" charset="0"/>
                <a:ea typeface="Quattrocento Sans" pitchFamily="34" charset="-122"/>
                <a:cs typeface="Quattrocento Sans" pitchFamily="34" charset="-120"/>
              </a:rPr>
              <a:t>15%</a:t>
            </a:r>
            <a:endParaRPr lang="en-US" sz="1600" dirty="0"/>
          </a:p>
        </p:txBody>
      </p:sp>
      <p:sp>
        <p:nvSpPr>
          <p:cNvPr id="83" name="Shape 81"/>
          <p:cNvSpPr/>
          <p:nvPr/>
        </p:nvSpPr>
        <p:spPr>
          <a:xfrm>
            <a:off x="7512764" y="3668717"/>
            <a:ext cx="4122675" cy="74116"/>
          </a:xfrm>
          <a:custGeom>
            <a:avLst/>
            <a:gdLst/>
            <a:ahLst/>
            <a:cxnLst/>
            <a:rect l="l" t="t" r="r" b="b"/>
            <a:pathLst>
              <a:path w="4122675" h="74116">
                <a:moveTo>
                  <a:pt x="37058" y="0"/>
                </a:moveTo>
                <a:lnTo>
                  <a:pt x="4085617" y="0"/>
                </a:lnTo>
                <a:cubicBezTo>
                  <a:pt x="4106083" y="0"/>
                  <a:pt x="4122675" y="16591"/>
                  <a:pt x="4122675" y="37058"/>
                </a:cubicBezTo>
                <a:lnTo>
                  <a:pt x="4122675" y="37058"/>
                </a:lnTo>
                <a:cubicBezTo>
                  <a:pt x="4122675" y="57524"/>
                  <a:pt x="4106083" y="74116"/>
                  <a:pt x="4085617" y="74116"/>
                </a:cubicBezTo>
                <a:lnTo>
                  <a:pt x="37058" y="74116"/>
                </a:lnTo>
                <a:cubicBezTo>
                  <a:pt x="16591" y="74116"/>
                  <a:pt x="0" y="57524"/>
                  <a:pt x="0" y="37058"/>
                </a:cubicBezTo>
                <a:lnTo>
                  <a:pt x="0" y="37058"/>
                </a:lnTo>
                <a:cubicBezTo>
                  <a:pt x="0" y="16591"/>
                  <a:pt x="16591" y="0"/>
                  <a:pt x="37058" y="0"/>
                </a:cubicBezTo>
                <a:close/>
              </a:path>
            </a:pathLst>
          </a:custGeom>
          <a:solidFill>
            <a:srgbClr val="FFFFFF">
              <a:alpha val="20000"/>
            </a:srgbClr>
          </a:solidFill>
          <a:ln/>
        </p:spPr>
      </p:sp>
      <p:sp>
        <p:nvSpPr>
          <p:cNvPr id="84" name="Shape 82"/>
          <p:cNvSpPr/>
          <p:nvPr/>
        </p:nvSpPr>
        <p:spPr>
          <a:xfrm>
            <a:off x="7512764" y="3668717"/>
            <a:ext cx="620717" cy="74116"/>
          </a:xfrm>
          <a:custGeom>
            <a:avLst/>
            <a:gdLst/>
            <a:ahLst/>
            <a:cxnLst/>
            <a:rect l="l" t="t" r="r" b="b"/>
            <a:pathLst>
              <a:path w="620717" h="74116">
                <a:moveTo>
                  <a:pt x="37058" y="0"/>
                </a:moveTo>
                <a:lnTo>
                  <a:pt x="583660" y="0"/>
                </a:lnTo>
                <a:cubicBezTo>
                  <a:pt x="604126" y="0"/>
                  <a:pt x="620717" y="16591"/>
                  <a:pt x="620717" y="37058"/>
                </a:cubicBezTo>
                <a:lnTo>
                  <a:pt x="620717" y="37058"/>
                </a:lnTo>
                <a:cubicBezTo>
                  <a:pt x="620717" y="57524"/>
                  <a:pt x="604126" y="74116"/>
                  <a:pt x="583660" y="74116"/>
                </a:cubicBezTo>
                <a:lnTo>
                  <a:pt x="37058" y="74116"/>
                </a:lnTo>
                <a:cubicBezTo>
                  <a:pt x="16591" y="74116"/>
                  <a:pt x="0" y="57524"/>
                  <a:pt x="0" y="37058"/>
                </a:cubicBezTo>
                <a:lnTo>
                  <a:pt x="0" y="37058"/>
                </a:lnTo>
                <a:cubicBezTo>
                  <a:pt x="0" y="16591"/>
                  <a:pt x="16591" y="0"/>
                  <a:pt x="37058" y="0"/>
                </a:cubicBezTo>
                <a:close/>
              </a:path>
            </a:pathLst>
          </a:custGeom>
          <a:solidFill>
            <a:srgbClr val="10B981"/>
          </a:solidFill>
          <a:ln/>
        </p:spPr>
      </p:sp>
      <p:sp>
        <p:nvSpPr>
          <p:cNvPr id="85" name="Text 83"/>
          <p:cNvSpPr/>
          <p:nvPr/>
        </p:nvSpPr>
        <p:spPr>
          <a:xfrm>
            <a:off x="7512764" y="3891064"/>
            <a:ext cx="1204377" cy="185289"/>
          </a:xfrm>
          <a:prstGeom prst="rect">
            <a:avLst/>
          </a:prstGeom>
          <a:noFill/>
          <a:ln/>
        </p:spPr>
        <p:txBody>
          <a:bodyPr wrap="square" lIns="0" tIns="0" rIns="0" bIns="0" rtlCol="0" anchor="ctr"/>
          <a:lstStyle/>
          <a:p>
            <a:pPr>
              <a:lnSpc>
                <a:spcPct val="120000"/>
              </a:lnSpc>
            </a:pPr>
            <a:r>
              <a:rPr lang="en-US" sz="1021" dirty="0">
                <a:solidFill>
                  <a:srgbClr val="FFFFFF"/>
                </a:solidFill>
                <a:latin typeface="Quattrocento Sans" pitchFamily="34" charset="0"/>
                <a:ea typeface="Quattrocento Sans" pitchFamily="34" charset="-122"/>
                <a:cs typeface="Quattrocento Sans" pitchFamily="34" charset="-120"/>
              </a:rPr>
              <a:t>Testing &amp; Data Entry</a:t>
            </a:r>
            <a:endParaRPr lang="en-US" sz="1600" dirty="0"/>
          </a:p>
        </p:txBody>
      </p:sp>
      <p:sp>
        <p:nvSpPr>
          <p:cNvPr id="86" name="Text 84"/>
          <p:cNvSpPr/>
          <p:nvPr/>
        </p:nvSpPr>
        <p:spPr>
          <a:xfrm>
            <a:off x="11414945" y="3891064"/>
            <a:ext cx="277933" cy="185289"/>
          </a:xfrm>
          <a:prstGeom prst="rect">
            <a:avLst/>
          </a:prstGeom>
          <a:noFill/>
          <a:ln/>
        </p:spPr>
        <p:txBody>
          <a:bodyPr wrap="square" lIns="0" tIns="0" rIns="0" bIns="0" rtlCol="0" anchor="ctr"/>
          <a:lstStyle/>
          <a:p>
            <a:pPr>
              <a:lnSpc>
                <a:spcPct val="120000"/>
              </a:lnSpc>
            </a:pPr>
            <a:r>
              <a:rPr lang="en-US" sz="1021" b="1" dirty="0">
                <a:solidFill>
                  <a:srgbClr val="FFFFFF"/>
                </a:solidFill>
                <a:latin typeface="Quattrocento Sans" pitchFamily="34" charset="0"/>
                <a:ea typeface="Quattrocento Sans" pitchFamily="34" charset="-122"/>
                <a:cs typeface="Quattrocento Sans" pitchFamily="34" charset="-120"/>
              </a:rPr>
              <a:t>15%</a:t>
            </a:r>
            <a:endParaRPr lang="en-US" sz="1600" dirty="0"/>
          </a:p>
        </p:txBody>
      </p:sp>
      <p:sp>
        <p:nvSpPr>
          <p:cNvPr id="87" name="Shape 85"/>
          <p:cNvSpPr/>
          <p:nvPr/>
        </p:nvSpPr>
        <p:spPr>
          <a:xfrm>
            <a:off x="7512764" y="4150468"/>
            <a:ext cx="4122675" cy="74116"/>
          </a:xfrm>
          <a:custGeom>
            <a:avLst/>
            <a:gdLst/>
            <a:ahLst/>
            <a:cxnLst/>
            <a:rect l="l" t="t" r="r" b="b"/>
            <a:pathLst>
              <a:path w="4122675" h="74116">
                <a:moveTo>
                  <a:pt x="37058" y="0"/>
                </a:moveTo>
                <a:lnTo>
                  <a:pt x="4085617" y="0"/>
                </a:lnTo>
                <a:cubicBezTo>
                  <a:pt x="4106083" y="0"/>
                  <a:pt x="4122675" y="16591"/>
                  <a:pt x="4122675" y="37058"/>
                </a:cubicBezTo>
                <a:lnTo>
                  <a:pt x="4122675" y="37058"/>
                </a:lnTo>
                <a:cubicBezTo>
                  <a:pt x="4122675" y="57524"/>
                  <a:pt x="4106083" y="74116"/>
                  <a:pt x="4085617" y="74116"/>
                </a:cubicBezTo>
                <a:lnTo>
                  <a:pt x="37058" y="74116"/>
                </a:lnTo>
                <a:cubicBezTo>
                  <a:pt x="16591" y="74116"/>
                  <a:pt x="0" y="57524"/>
                  <a:pt x="0" y="37058"/>
                </a:cubicBezTo>
                <a:lnTo>
                  <a:pt x="0" y="37058"/>
                </a:lnTo>
                <a:cubicBezTo>
                  <a:pt x="0" y="16591"/>
                  <a:pt x="16591" y="0"/>
                  <a:pt x="37058" y="0"/>
                </a:cubicBezTo>
                <a:close/>
              </a:path>
            </a:pathLst>
          </a:custGeom>
          <a:solidFill>
            <a:srgbClr val="FFFFFF">
              <a:alpha val="20000"/>
            </a:srgbClr>
          </a:solidFill>
          <a:ln/>
        </p:spPr>
      </p:sp>
      <p:sp>
        <p:nvSpPr>
          <p:cNvPr id="88" name="Shape 86"/>
          <p:cNvSpPr/>
          <p:nvPr/>
        </p:nvSpPr>
        <p:spPr>
          <a:xfrm>
            <a:off x="7512764" y="4150468"/>
            <a:ext cx="620717" cy="74116"/>
          </a:xfrm>
          <a:custGeom>
            <a:avLst/>
            <a:gdLst/>
            <a:ahLst/>
            <a:cxnLst/>
            <a:rect l="l" t="t" r="r" b="b"/>
            <a:pathLst>
              <a:path w="620717" h="74116">
                <a:moveTo>
                  <a:pt x="37058" y="0"/>
                </a:moveTo>
                <a:lnTo>
                  <a:pt x="583660" y="0"/>
                </a:lnTo>
                <a:cubicBezTo>
                  <a:pt x="604126" y="0"/>
                  <a:pt x="620717" y="16591"/>
                  <a:pt x="620717" y="37058"/>
                </a:cubicBezTo>
                <a:lnTo>
                  <a:pt x="620717" y="37058"/>
                </a:lnTo>
                <a:cubicBezTo>
                  <a:pt x="620717" y="57524"/>
                  <a:pt x="604126" y="74116"/>
                  <a:pt x="583660" y="74116"/>
                </a:cubicBezTo>
                <a:lnTo>
                  <a:pt x="37058" y="74116"/>
                </a:lnTo>
                <a:cubicBezTo>
                  <a:pt x="16591" y="74116"/>
                  <a:pt x="0" y="57524"/>
                  <a:pt x="0" y="37058"/>
                </a:cubicBezTo>
                <a:lnTo>
                  <a:pt x="0" y="37058"/>
                </a:lnTo>
                <a:cubicBezTo>
                  <a:pt x="0" y="16591"/>
                  <a:pt x="16591" y="0"/>
                  <a:pt x="37058" y="0"/>
                </a:cubicBezTo>
                <a:close/>
              </a:path>
            </a:pathLst>
          </a:custGeom>
          <a:solidFill>
            <a:srgbClr val="10B981"/>
          </a:solidFill>
          <a:ln/>
        </p:spPr>
      </p:sp>
      <p:sp>
        <p:nvSpPr>
          <p:cNvPr id="89" name="Shape 87"/>
          <p:cNvSpPr/>
          <p:nvPr/>
        </p:nvSpPr>
        <p:spPr>
          <a:xfrm>
            <a:off x="7327475" y="4558103"/>
            <a:ext cx="4493252" cy="2297581"/>
          </a:xfrm>
          <a:custGeom>
            <a:avLst/>
            <a:gdLst/>
            <a:ahLst/>
            <a:cxnLst/>
            <a:rect l="l" t="t" r="r" b="b"/>
            <a:pathLst>
              <a:path w="4493252" h="2297581">
                <a:moveTo>
                  <a:pt x="111180" y="0"/>
                </a:moveTo>
                <a:lnTo>
                  <a:pt x="4382072" y="0"/>
                </a:lnTo>
                <a:cubicBezTo>
                  <a:pt x="4443475" y="0"/>
                  <a:pt x="4493252" y="49777"/>
                  <a:pt x="4493252" y="111180"/>
                </a:cubicBezTo>
                <a:lnTo>
                  <a:pt x="4493252" y="2186401"/>
                </a:lnTo>
                <a:cubicBezTo>
                  <a:pt x="4493252" y="2247804"/>
                  <a:pt x="4443475" y="2297581"/>
                  <a:pt x="4382072" y="2297581"/>
                </a:cubicBezTo>
                <a:lnTo>
                  <a:pt x="111180" y="2297581"/>
                </a:lnTo>
                <a:cubicBezTo>
                  <a:pt x="49777" y="2297581"/>
                  <a:pt x="0" y="2247804"/>
                  <a:pt x="0" y="2186401"/>
                </a:cubicBezTo>
                <a:lnTo>
                  <a:pt x="0" y="111180"/>
                </a:lnTo>
                <a:cubicBezTo>
                  <a:pt x="0" y="49777"/>
                  <a:pt x="49777" y="0"/>
                  <a:pt x="111180" y="0"/>
                </a:cubicBezTo>
                <a:close/>
              </a:path>
            </a:pathLst>
          </a:custGeom>
          <a:solidFill>
            <a:srgbClr val="FFFFFF"/>
          </a:solidFill>
          <a:ln/>
          <a:effectLst>
            <a:outerShdw blurRad="55587" dist="37058" dir="5400000" algn="bl" rotWithShape="0">
              <a:srgbClr val="000000">
                <a:alpha val="10196"/>
              </a:srgbClr>
            </a:outerShdw>
          </a:effectLst>
        </p:spPr>
      </p:sp>
      <p:sp>
        <p:nvSpPr>
          <p:cNvPr id="90" name="Shape 88"/>
          <p:cNvSpPr/>
          <p:nvPr/>
        </p:nvSpPr>
        <p:spPr>
          <a:xfrm>
            <a:off x="7535925" y="4789714"/>
            <a:ext cx="166760" cy="166760"/>
          </a:xfrm>
          <a:custGeom>
            <a:avLst/>
            <a:gdLst/>
            <a:ahLst/>
            <a:cxnLst/>
            <a:rect l="l" t="t" r="r" b="b"/>
            <a:pathLst>
              <a:path w="166760" h="166760">
                <a:moveTo>
                  <a:pt x="46999" y="0"/>
                </a:moveTo>
                <a:lnTo>
                  <a:pt x="119956" y="0"/>
                </a:lnTo>
                <a:cubicBezTo>
                  <a:pt x="128588" y="0"/>
                  <a:pt x="135623" y="7100"/>
                  <a:pt x="135297" y="15699"/>
                </a:cubicBezTo>
                <a:cubicBezTo>
                  <a:pt x="135232" y="17425"/>
                  <a:pt x="135167" y="19151"/>
                  <a:pt x="135069" y="20845"/>
                </a:cubicBezTo>
                <a:lnTo>
                  <a:pt x="151224" y="20845"/>
                </a:lnTo>
                <a:cubicBezTo>
                  <a:pt x="159725" y="20845"/>
                  <a:pt x="167216" y="27880"/>
                  <a:pt x="166564" y="37065"/>
                </a:cubicBezTo>
                <a:cubicBezTo>
                  <a:pt x="164122" y="70840"/>
                  <a:pt x="146859" y="89405"/>
                  <a:pt x="128132" y="99111"/>
                </a:cubicBezTo>
                <a:cubicBezTo>
                  <a:pt x="122985" y="101782"/>
                  <a:pt x="117742" y="103769"/>
                  <a:pt x="112758" y="105235"/>
                </a:cubicBezTo>
                <a:cubicBezTo>
                  <a:pt x="106179" y="114550"/>
                  <a:pt x="99339" y="119468"/>
                  <a:pt x="93900" y="122106"/>
                </a:cubicBezTo>
                <a:lnTo>
                  <a:pt x="93900" y="145915"/>
                </a:lnTo>
                <a:lnTo>
                  <a:pt x="114745" y="145915"/>
                </a:lnTo>
                <a:cubicBezTo>
                  <a:pt x="120510" y="145915"/>
                  <a:pt x="125168" y="150572"/>
                  <a:pt x="125168" y="156337"/>
                </a:cubicBezTo>
                <a:cubicBezTo>
                  <a:pt x="125168" y="162102"/>
                  <a:pt x="120510" y="166760"/>
                  <a:pt x="114745" y="166760"/>
                </a:cubicBezTo>
                <a:lnTo>
                  <a:pt x="52210" y="166760"/>
                </a:lnTo>
                <a:cubicBezTo>
                  <a:pt x="46445" y="166760"/>
                  <a:pt x="41788" y="162102"/>
                  <a:pt x="41788" y="156337"/>
                </a:cubicBezTo>
                <a:cubicBezTo>
                  <a:pt x="41788" y="150572"/>
                  <a:pt x="46445" y="145915"/>
                  <a:pt x="52210" y="145915"/>
                </a:cubicBezTo>
                <a:lnTo>
                  <a:pt x="73055" y="145915"/>
                </a:lnTo>
                <a:lnTo>
                  <a:pt x="73055" y="122106"/>
                </a:lnTo>
                <a:cubicBezTo>
                  <a:pt x="67844" y="119598"/>
                  <a:pt x="61362" y="114941"/>
                  <a:pt x="55044" y="106375"/>
                </a:cubicBezTo>
                <a:cubicBezTo>
                  <a:pt x="49051" y="104811"/>
                  <a:pt x="42537" y="102434"/>
                  <a:pt x="36186" y="98851"/>
                </a:cubicBezTo>
                <a:cubicBezTo>
                  <a:pt x="18565" y="88982"/>
                  <a:pt x="2671" y="70384"/>
                  <a:pt x="391" y="37000"/>
                </a:cubicBezTo>
                <a:cubicBezTo>
                  <a:pt x="-228" y="27848"/>
                  <a:pt x="7231" y="20812"/>
                  <a:pt x="15731" y="20812"/>
                </a:cubicBezTo>
                <a:lnTo>
                  <a:pt x="31886" y="20812"/>
                </a:lnTo>
                <a:cubicBezTo>
                  <a:pt x="31789" y="19119"/>
                  <a:pt x="31723" y="17425"/>
                  <a:pt x="31658" y="15666"/>
                </a:cubicBezTo>
                <a:cubicBezTo>
                  <a:pt x="31333" y="7035"/>
                  <a:pt x="38368" y="-33"/>
                  <a:pt x="46999" y="-33"/>
                </a:cubicBezTo>
                <a:close/>
                <a:moveTo>
                  <a:pt x="33059" y="36479"/>
                </a:moveTo>
                <a:lnTo>
                  <a:pt x="15992" y="36479"/>
                </a:lnTo>
                <a:cubicBezTo>
                  <a:pt x="18011" y="64066"/>
                  <a:pt x="30681" y="77876"/>
                  <a:pt x="43742" y="85204"/>
                </a:cubicBezTo>
                <a:cubicBezTo>
                  <a:pt x="39052" y="73055"/>
                  <a:pt x="35176" y="57193"/>
                  <a:pt x="33059" y="36479"/>
                </a:cubicBezTo>
                <a:close/>
                <a:moveTo>
                  <a:pt x="123767" y="83641"/>
                </a:moveTo>
                <a:cubicBezTo>
                  <a:pt x="136958" y="75889"/>
                  <a:pt x="148879" y="62112"/>
                  <a:pt x="150898" y="36479"/>
                </a:cubicBezTo>
                <a:lnTo>
                  <a:pt x="133864" y="36479"/>
                </a:lnTo>
                <a:cubicBezTo>
                  <a:pt x="131845" y="56314"/>
                  <a:pt x="128197" y="71720"/>
                  <a:pt x="123767" y="83641"/>
                </a:cubicBezTo>
                <a:close/>
              </a:path>
            </a:pathLst>
          </a:custGeom>
          <a:solidFill>
            <a:srgbClr val="10B981"/>
          </a:solidFill>
          <a:ln/>
        </p:spPr>
      </p:sp>
      <p:sp>
        <p:nvSpPr>
          <p:cNvPr id="91" name="Text 89"/>
          <p:cNvSpPr/>
          <p:nvPr/>
        </p:nvSpPr>
        <p:spPr>
          <a:xfrm>
            <a:off x="7725846" y="4743392"/>
            <a:ext cx="3992973" cy="259404"/>
          </a:xfrm>
          <a:prstGeom prst="rect">
            <a:avLst/>
          </a:prstGeom>
          <a:noFill/>
          <a:ln/>
        </p:spPr>
        <p:txBody>
          <a:bodyPr wrap="square" lIns="0" tIns="0" rIns="0" bIns="0" rtlCol="0" anchor="ctr"/>
          <a:lstStyle/>
          <a:p>
            <a:pPr>
              <a:lnSpc>
                <a:spcPct val="130000"/>
              </a:lnSpc>
            </a:pPr>
            <a:r>
              <a:rPr lang="en-US" sz="1313" b="1" dirty="0">
                <a:solidFill>
                  <a:srgbClr val="1E3A5F"/>
                </a:solidFill>
                <a:latin typeface="Liter" pitchFamily="34" charset="0"/>
                <a:ea typeface="Liter" pitchFamily="34" charset="-122"/>
                <a:cs typeface="Liter" pitchFamily="34" charset="-120"/>
              </a:rPr>
              <a:t>Team Strengths</a:t>
            </a:r>
            <a:endParaRPr lang="en-US" sz="1600" dirty="0"/>
          </a:p>
        </p:txBody>
      </p:sp>
      <p:sp>
        <p:nvSpPr>
          <p:cNvPr id="92" name="Shape 90"/>
          <p:cNvSpPr/>
          <p:nvPr/>
        </p:nvSpPr>
        <p:spPr>
          <a:xfrm>
            <a:off x="7512764" y="5113970"/>
            <a:ext cx="4122675" cy="333520"/>
          </a:xfrm>
          <a:custGeom>
            <a:avLst/>
            <a:gdLst/>
            <a:ahLst/>
            <a:cxnLst/>
            <a:rect l="l" t="t" r="r" b="b"/>
            <a:pathLst>
              <a:path w="4122675" h="333520">
                <a:moveTo>
                  <a:pt x="74115" y="0"/>
                </a:moveTo>
                <a:lnTo>
                  <a:pt x="4048560" y="0"/>
                </a:lnTo>
                <a:cubicBezTo>
                  <a:pt x="4089492" y="0"/>
                  <a:pt x="4122675" y="33182"/>
                  <a:pt x="4122675" y="74115"/>
                </a:cubicBezTo>
                <a:lnTo>
                  <a:pt x="4122675" y="259405"/>
                </a:lnTo>
                <a:cubicBezTo>
                  <a:pt x="4122675" y="300337"/>
                  <a:pt x="4089492" y="333520"/>
                  <a:pt x="4048560" y="333520"/>
                </a:cubicBezTo>
                <a:lnTo>
                  <a:pt x="74115" y="333520"/>
                </a:lnTo>
                <a:cubicBezTo>
                  <a:pt x="33210" y="333520"/>
                  <a:pt x="0" y="300310"/>
                  <a:pt x="0" y="259405"/>
                </a:cubicBezTo>
                <a:lnTo>
                  <a:pt x="0" y="74115"/>
                </a:lnTo>
                <a:cubicBezTo>
                  <a:pt x="0" y="33210"/>
                  <a:pt x="33210" y="0"/>
                  <a:pt x="74115" y="0"/>
                </a:cubicBezTo>
                <a:close/>
              </a:path>
            </a:pathLst>
          </a:custGeom>
          <a:solidFill>
            <a:srgbClr val="F8FAFC"/>
          </a:solidFill>
          <a:ln/>
        </p:spPr>
      </p:sp>
      <p:sp>
        <p:nvSpPr>
          <p:cNvPr id="93" name="Shape 91"/>
          <p:cNvSpPr/>
          <p:nvPr/>
        </p:nvSpPr>
        <p:spPr>
          <a:xfrm>
            <a:off x="7605408" y="5206614"/>
            <a:ext cx="148231" cy="148231"/>
          </a:xfrm>
          <a:custGeom>
            <a:avLst/>
            <a:gdLst/>
            <a:ahLst/>
            <a:cxnLst/>
            <a:rect l="l" t="t" r="r" b="b"/>
            <a:pathLst>
              <a:path w="148231" h="148231">
                <a:moveTo>
                  <a:pt x="74116" y="148231"/>
                </a:moveTo>
                <a:cubicBezTo>
                  <a:pt x="115021" y="148231"/>
                  <a:pt x="148231" y="115021"/>
                  <a:pt x="148231" y="74116"/>
                </a:cubicBezTo>
                <a:cubicBezTo>
                  <a:pt x="148231" y="33210"/>
                  <a:pt x="115021" y="0"/>
                  <a:pt x="74116" y="0"/>
                </a:cubicBezTo>
                <a:cubicBezTo>
                  <a:pt x="33210" y="0"/>
                  <a:pt x="0" y="33210"/>
                  <a:pt x="0" y="74116"/>
                </a:cubicBezTo>
                <a:cubicBezTo>
                  <a:pt x="0" y="115021"/>
                  <a:pt x="33210" y="148231"/>
                  <a:pt x="74116" y="148231"/>
                </a:cubicBezTo>
                <a:close/>
                <a:moveTo>
                  <a:pt x="98550" y="61580"/>
                </a:moveTo>
                <a:lnTo>
                  <a:pt x="75389" y="98637"/>
                </a:lnTo>
                <a:cubicBezTo>
                  <a:pt x="74173" y="100577"/>
                  <a:pt x="72089" y="101793"/>
                  <a:pt x="69802" y="101909"/>
                </a:cubicBezTo>
                <a:cubicBezTo>
                  <a:pt x="67515" y="102025"/>
                  <a:pt x="65314" y="100982"/>
                  <a:pt x="63954" y="99129"/>
                </a:cubicBezTo>
                <a:lnTo>
                  <a:pt x="50057" y="80601"/>
                </a:lnTo>
                <a:cubicBezTo>
                  <a:pt x="47741" y="77532"/>
                  <a:pt x="48378" y="73189"/>
                  <a:pt x="51447" y="70873"/>
                </a:cubicBezTo>
                <a:cubicBezTo>
                  <a:pt x="54515" y="68557"/>
                  <a:pt x="58858" y="69194"/>
                  <a:pt x="61174" y="72263"/>
                </a:cubicBezTo>
                <a:lnTo>
                  <a:pt x="68991" y="82685"/>
                </a:lnTo>
                <a:lnTo>
                  <a:pt x="86767" y="54226"/>
                </a:lnTo>
                <a:cubicBezTo>
                  <a:pt x="88794" y="50983"/>
                  <a:pt x="93079" y="49970"/>
                  <a:pt x="96350" y="52026"/>
                </a:cubicBezTo>
                <a:cubicBezTo>
                  <a:pt x="99622" y="54081"/>
                  <a:pt x="100606" y="58337"/>
                  <a:pt x="98550" y="61609"/>
                </a:cubicBezTo>
                <a:close/>
              </a:path>
            </a:pathLst>
          </a:custGeom>
          <a:solidFill>
            <a:srgbClr val="10B981"/>
          </a:solidFill>
          <a:ln/>
        </p:spPr>
      </p:sp>
      <p:sp>
        <p:nvSpPr>
          <p:cNvPr id="94" name="Text 92"/>
          <p:cNvSpPr/>
          <p:nvPr/>
        </p:nvSpPr>
        <p:spPr>
          <a:xfrm>
            <a:off x="7846284" y="5188085"/>
            <a:ext cx="1482310" cy="185289"/>
          </a:xfrm>
          <a:prstGeom prst="rect">
            <a:avLst/>
          </a:prstGeom>
          <a:noFill/>
          <a:ln/>
        </p:spPr>
        <p:txBody>
          <a:bodyPr wrap="square" lIns="0" tIns="0" rIns="0" bIns="0" rtlCol="0" anchor="ctr"/>
          <a:lstStyle/>
          <a:p>
            <a:pPr>
              <a:lnSpc>
                <a:spcPct val="120000"/>
              </a:lnSpc>
            </a:pPr>
            <a:r>
              <a:rPr lang="en-US" sz="1021" dirty="0">
                <a:solidFill>
                  <a:srgbClr val="1E293B"/>
                </a:solidFill>
                <a:latin typeface="Quattrocento Sans" pitchFamily="34" charset="0"/>
                <a:ea typeface="Quattrocento Sans" pitchFamily="34" charset="-122"/>
                <a:cs typeface="Quattrocento Sans" pitchFamily="34" charset="-120"/>
              </a:rPr>
              <a:t>Balanced skill distribution</a:t>
            </a:r>
            <a:endParaRPr lang="en-US" sz="1600" dirty="0"/>
          </a:p>
        </p:txBody>
      </p:sp>
      <p:sp>
        <p:nvSpPr>
          <p:cNvPr id="95" name="Shape 93"/>
          <p:cNvSpPr/>
          <p:nvPr/>
        </p:nvSpPr>
        <p:spPr>
          <a:xfrm>
            <a:off x="7512764" y="5521605"/>
            <a:ext cx="4122675" cy="333520"/>
          </a:xfrm>
          <a:custGeom>
            <a:avLst/>
            <a:gdLst/>
            <a:ahLst/>
            <a:cxnLst/>
            <a:rect l="l" t="t" r="r" b="b"/>
            <a:pathLst>
              <a:path w="4122675" h="333520">
                <a:moveTo>
                  <a:pt x="74115" y="0"/>
                </a:moveTo>
                <a:lnTo>
                  <a:pt x="4048560" y="0"/>
                </a:lnTo>
                <a:cubicBezTo>
                  <a:pt x="4089492" y="0"/>
                  <a:pt x="4122675" y="33182"/>
                  <a:pt x="4122675" y="74115"/>
                </a:cubicBezTo>
                <a:lnTo>
                  <a:pt x="4122675" y="259405"/>
                </a:lnTo>
                <a:cubicBezTo>
                  <a:pt x="4122675" y="300337"/>
                  <a:pt x="4089492" y="333520"/>
                  <a:pt x="4048560" y="333520"/>
                </a:cubicBezTo>
                <a:lnTo>
                  <a:pt x="74115" y="333520"/>
                </a:lnTo>
                <a:cubicBezTo>
                  <a:pt x="33210" y="333520"/>
                  <a:pt x="0" y="300310"/>
                  <a:pt x="0" y="259405"/>
                </a:cubicBezTo>
                <a:lnTo>
                  <a:pt x="0" y="74115"/>
                </a:lnTo>
                <a:cubicBezTo>
                  <a:pt x="0" y="33210"/>
                  <a:pt x="33210" y="0"/>
                  <a:pt x="74115" y="0"/>
                </a:cubicBezTo>
                <a:close/>
              </a:path>
            </a:pathLst>
          </a:custGeom>
          <a:solidFill>
            <a:srgbClr val="F8FAFC"/>
          </a:solidFill>
          <a:ln/>
        </p:spPr>
      </p:sp>
      <p:sp>
        <p:nvSpPr>
          <p:cNvPr id="96" name="Shape 94"/>
          <p:cNvSpPr/>
          <p:nvPr/>
        </p:nvSpPr>
        <p:spPr>
          <a:xfrm>
            <a:off x="7605408" y="5614249"/>
            <a:ext cx="148231" cy="148231"/>
          </a:xfrm>
          <a:custGeom>
            <a:avLst/>
            <a:gdLst/>
            <a:ahLst/>
            <a:cxnLst/>
            <a:rect l="l" t="t" r="r" b="b"/>
            <a:pathLst>
              <a:path w="148231" h="148231">
                <a:moveTo>
                  <a:pt x="74116" y="148231"/>
                </a:moveTo>
                <a:cubicBezTo>
                  <a:pt x="115021" y="148231"/>
                  <a:pt x="148231" y="115021"/>
                  <a:pt x="148231" y="74116"/>
                </a:cubicBezTo>
                <a:cubicBezTo>
                  <a:pt x="148231" y="33210"/>
                  <a:pt x="115021" y="0"/>
                  <a:pt x="74116" y="0"/>
                </a:cubicBezTo>
                <a:cubicBezTo>
                  <a:pt x="33210" y="0"/>
                  <a:pt x="0" y="33210"/>
                  <a:pt x="0" y="74116"/>
                </a:cubicBezTo>
                <a:cubicBezTo>
                  <a:pt x="0" y="115021"/>
                  <a:pt x="33210" y="148231"/>
                  <a:pt x="74116" y="148231"/>
                </a:cubicBezTo>
                <a:close/>
                <a:moveTo>
                  <a:pt x="98550" y="61580"/>
                </a:moveTo>
                <a:lnTo>
                  <a:pt x="75389" y="98637"/>
                </a:lnTo>
                <a:cubicBezTo>
                  <a:pt x="74173" y="100577"/>
                  <a:pt x="72089" y="101793"/>
                  <a:pt x="69802" y="101909"/>
                </a:cubicBezTo>
                <a:cubicBezTo>
                  <a:pt x="67515" y="102025"/>
                  <a:pt x="65314" y="100982"/>
                  <a:pt x="63954" y="99129"/>
                </a:cubicBezTo>
                <a:lnTo>
                  <a:pt x="50057" y="80601"/>
                </a:lnTo>
                <a:cubicBezTo>
                  <a:pt x="47741" y="77532"/>
                  <a:pt x="48378" y="73189"/>
                  <a:pt x="51447" y="70873"/>
                </a:cubicBezTo>
                <a:cubicBezTo>
                  <a:pt x="54515" y="68557"/>
                  <a:pt x="58858" y="69194"/>
                  <a:pt x="61174" y="72263"/>
                </a:cubicBezTo>
                <a:lnTo>
                  <a:pt x="68991" y="82685"/>
                </a:lnTo>
                <a:lnTo>
                  <a:pt x="86767" y="54226"/>
                </a:lnTo>
                <a:cubicBezTo>
                  <a:pt x="88794" y="50983"/>
                  <a:pt x="93079" y="49970"/>
                  <a:pt x="96350" y="52026"/>
                </a:cubicBezTo>
                <a:cubicBezTo>
                  <a:pt x="99622" y="54081"/>
                  <a:pt x="100606" y="58337"/>
                  <a:pt x="98550" y="61609"/>
                </a:cubicBezTo>
                <a:close/>
              </a:path>
            </a:pathLst>
          </a:custGeom>
          <a:solidFill>
            <a:srgbClr val="10B981"/>
          </a:solidFill>
          <a:ln/>
        </p:spPr>
      </p:sp>
      <p:sp>
        <p:nvSpPr>
          <p:cNvPr id="97" name="Text 95"/>
          <p:cNvSpPr/>
          <p:nvPr/>
        </p:nvSpPr>
        <p:spPr>
          <a:xfrm>
            <a:off x="7846284" y="5595720"/>
            <a:ext cx="1213641" cy="185289"/>
          </a:xfrm>
          <a:prstGeom prst="rect">
            <a:avLst/>
          </a:prstGeom>
          <a:noFill/>
          <a:ln/>
        </p:spPr>
        <p:txBody>
          <a:bodyPr wrap="square" lIns="0" tIns="0" rIns="0" bIns="0" rtlCol="0" anchor="ctr"/>
          <a:lstStyle/>
          <a:p>
            <a:pPr>
              <a:lnSpc>
                <a:spcPct val="120000"/>
              </a:lnSpc>
            </a:pPr>
            <a:r>
              <a:rPr lang="en-US" sz="1021" dirty="0">
                <a:solidFill>
                  <a:srgbClr val="1E293B"/>
                </a:solidFill>
                <a:latin typeface="Quattrocento Sans" pitchFamily="34" charset="0"/>
                <a:ea typeface="Quattrocento Sans" pitchFamily="34" charset="-122"/>
                <a:cs typeface="Quattrocento Sans" pitchFamily="34" charset="-120"/>
              </a:rPr>
              <a:t>Clear role definitions</a:t>
            </a:r>
            <a:endParaRPr lang="en-US" sz="1600" dirty="0"/>
          </a:p>
        </p:txBody>
      </p:sp>
      <p:sp>
        <p:nvSpPr>
          <p:cNvPr id="98" name="Shape 96"/>
          <p:cNvSpPr/>
          <p:nvPr/>
        </p:nvSpPr>
        <p:spPr>
          <a:xfrm>
            <a:off x="7512764" y="5929240"/>
            <a:ext cx="4122675" cy="333520"/>
          </a:xfrm>
          <a:custGeom>
            <a:avLst/>
            <a:gdLst/>
            <a:ahLst/>
            <a:cxnLst/>
            <a:rect l="l" t="t" r="r" b="b"/>
            <a:pathLst>
              <a:path w="4122675" h="333520">
                <a:moveTo>
                  <a:pt x="74115" y="0"/>
                </a:moveTo>
                <a:lnTo>
                  <a:pt x="4048560" y="0"/>
                </a:lnTo>
                <a:cubicBezTo>
                  <a:pt x="4089492" y="0"/>
                  <a:pt x="4122675" y="33182"/>
                  <a:pt x="4122675" y="74115"/>
                </a:cubicBezTo>
                <a:lnTo>
                  <a:pt x="4122675" y="259405"/>
                </a:lnTo>
                <a:cubicBezTo>
                  <a:pt x="4122675" y="300337"/>
                  <a:pt x="4089492" y="333520"/>
                  <a:pt x="4048560" y="333520"/>
                </a:cubicBezTo>
                <a:lnTo>
                  <a:pt x="74115" y="333520"/>
                </a:lnTo>
                <a:cubicBezTo>
                  <a:pt x="33210" y="333520"/>
                  <a:pt x="0" y="300310"/>
                  <a:pt x="0" y="259405"/>
                </a:cubicBezTo>
                <a:lnTo>
                  <a:pt x="0" y="74115"/>
                </a:lnTo>
                <a:cubicBezTo>
                  <a:pt x="0" y="33210"/>
                  <a:pt x="33210" y="0"/>
                  <a:pt x="74115" y="0"/>
                </a:cubicBezTo>
                <a:close/>
              </a:path>
            </a:pathLst>
          </a:custGeom>
          <a:solidFill>
            <a:srgbClr val="F8FAFC"/>
          </a:solidFill>
          <a:ln/>
        </p:spPr>
      </p:sp>
      <p:sp>
        <p:nvSpPr>
          <p:cNvPr id="99" name="Shape 97"/>
          <p:cNvSpPr/>
          <p:nvPr/>
        </p:nvSpPr>
        <p:spPr>
          <a:xfrm>
            <a:off x="7605408" y="6021884"/>
            <a:ext cx="148231" cy="148231"/>
          </a:xfrm>
          <a:custGeom>
            <a:avLst/>
            <a:gdLst/>
            <a:ahLst/>
            <a:cxnLst/>
            <a:rect l="l" t="t" r="r" b="b"/>
            <a:pathLst>
              <a:path w="148231" h="148231">
                <a:moveTo>
                  <a:pt x="74116" y="148231"/>
                </a:moveTo>
                <a:cubicBezTo>
                  <a:pt x="115021" y="148231"/>
                  <a:pt x="148231" y="115021"/>
                  <a:pt x="148231" y="74116"/>
                </a:cubicBezTo>
                <a:cubicBezTo>
                  <a:pt x="148231" y="33210"/>
                  <a:pt x="115021" y="0"/>
                  <a:pt x="74116" y="0"/>
                </a:cubicBezTo>
                <a:cubicBezTo>
                  <a:pt x="33210" y="0"/>
                  <a:pt x="0" y="33210"/>
                  <a:pt x="0" y="74116"/>
                </a:cubicBezTo>
                <a:cubicBezTo>
                  <a:pt x="0" y="115021"/>
                  <a:pt x="33210" y="148231"/>
                  <a:pt x="74116" y="148231"/>
                </a:cubicBezTo>
                <a:close/>
                <a:moveTo>
                  <a:pt x="98550" y="61580"/>
                </a:moveTo>
                <a:lnTo>
                  <a:pt x="75389" y="98637"/>
                </a:lnTo>
                <a:cubicBezTo>
                  <a:pt x="74173" y="100577"/>
                  <a:pt x="72089" y="101793"/>
                  <a:pt x="69802" y="101909"/>
                </a:cubicBezTo>
                <a:cubicBezTo>
                  <a:pt x="67515" y="102025"/>
                  <a:pt x="65314" y="100982"/>
                  <a:pt x="63954" y="99129"/>
                </a:cubicBezTo>
                <a:lnTo>
                  <a:pt x="50057" y="80601"/>
                </a:lnTo>
                <a:cubicBezTo>
                  <a:pt x="47741" y="77532"/>
                  <a:pt x="48378" y="73189"/>
                  <a:pt x="51447" y="70873"/>
                </a:cubicBezTo>
                <a:cubicBezTo>
                  <a:pt x="54515" y="68557"/>
                  <a:pt x="58858" y="69194"/>
                  <a:pt x="61174" y="72263"/>
                </a:cubicBezTo>
                <a:lnTo>
                  <a:pt x="68991" y="82685"/>
                </a:lnTo>
                <a:lnTo>
                  <a:pt x="86767" y="54226"/>
                </a:lnTo>
                <a:cubicBezTo>
                  <a:pt x="88794" y="50983"/>
                  <a:pt x="93079" y="49970"/>
                  <a:pt x="96350" y="52026"/>
                </a:cubicBezTo>
                <a:cubicBezTo>
                  <a:pt x="99622" y="54081"/>
                  <a:pt x="100606" y="58337"/>
                  <a:pt x="98550" y="61609"/>
                </a:cubicBezTo>
                <a:close/>
              </a:path>
            </a:pathLst>
          </a:custGeom>
          <a:solidFill>
            <a:srgbClr val="10B981"/>
          </a:solidFill>
          <a:ln/>
        </p:spPr>
      </p:sp>
      <p:sp>
        <p:nvSpPr>
          <p:cNvPr id="100" name="Text 98"/>
          <p:cNvSpPr/>
          <p:nvPr/>
        </p:nvSpPr>
        <p:spPr>
          <a:xfrm>
            <a:off x="7846284" y="6003356"/>
            <a:ext cx="1500839" cy="185289"/>
          </a:xfrm>
          <a:prstGeom prst="rect">
            <a:avLst/>
          </a:prstGeom>
          <a:noFill/>
          <a:ln/>
        </p:spPr>
        <p:txBody>
          <a:bodyPr wrap="square" lIns="0" tIns="0" rIns="0" bIns="0" rtlCol="0" anchor="ctr"/>
          <a:lstStyle/>
          <a:p>
            <a:pPr>
              <a:lnSpc>
                <a:spcPct val="120000"/>
              </a:lnSpc>
            </a:pPr>
            <a:r>
              <a:rPr lang="en-US" sz="1021" dirty="0">
                <a:solidFill>
                  <a:srgbClr val="1E293B"/>
                </a:solidFill>
                <a:latin typeface="Quattrocento Sans" pitchFamily="34" charset="0"/>
                <a:ea typeface="Quattrocento Sans" pitchFamily="34" charset="-122"/>
                <a:cs typeface="Quattrocento Sans" pitchFamily="34" charset="-120"/>
              </a:rPr>
              <a:t>Comprehensive coverage</a:t>
            </a:r>
            <a:endParaRPr lang="en-US" sz="1600" dirty="0"/>
          </a:p>
        </p:txBody>
      </p:sp>
      <p:sp>
        <p:nvSpPr>
          <p:cNvPr id="101" name="Shape 99"/>
          <p:cNvSpPr/>
          <p:nvPr/>
        </p:nvSpPr>
        <p:spPr>
          <a:xfrm>
            <a:off x="7512764" y="6336875"/>
            <a:ext cx="4122675" cy="333520"/>
          </a:xfrm>
          <a:custGeom>
            <a:avLst/>
            <a:gdLst/>
            <a:ahLst/>
            <a:cxnLst/>
            <a:rect l="l" t="t" r="r" b="b"/>
            <a:pathLst>
              <a:path w="4122675" h="333520">
                <a:moveTo>
                  <a:pt x="74115" y="0"/>
                </a:moveTo>
                <a:lnTo>
                  <a:pt x="4048560" y="0"/>
                </a:lnTo>
                <a:cubicBezTo>
                  <a:pt x="4089492" y="0"/>
                  <a:pt x="4122675" y="33182"/>
                  <a:pt x="4122675" y="74115"/>
                </a:cubicBezTo>
                <a:lnTo>
                  <a:pt x="4122675" y="259405"/>
                </a:lnTo>
                <a:cubicBezTo>
                  <a:pt x="4122675" y="300337"/>
                  <a:pt x="4089492" y="333520"/>
                  <a:pt x="4048560" y="333520"/>
                </a:cubicBezTo>
                <a:lnTo>
                  <a:pt x="74115" y="333520"/>
                </a:lnTo>
                <a:cubicBezTo>
                  <a:pt x="33210" y="333520"/>
                  <a:pt x="0" y="300310"/>
                  <a:pt x="0" y="259405"/>
                </a:cubicBezTo>
                <a:lnTo>
                  <a:pt x="0" y="74115"/>
                </a:lnTo>
                <a:cubicBezTo>
                  <a:pt x="0" y="33210"/>
                  <a:pt x="33210" y="0"/>
                  <a:pt x="74115" y="0"/>
                </a:cubicBezTo>
                <a:close/>
              </a:path>
            </a:pathLst>
          </a:custGeom>
          <a:solidFill>
            <a:srgbClr val="F8FAFC"/>
          </a:solidFill>
          <a:ln/>
        </p:spPr>
      </p:sp>
      <p:sp>
        <p:nvSpPr>
          <p:cNvPr id="102" name="Shape 100"/>
          <p:cNvSpPr/>
          <p:nvPr/>
        </p:nvSpPr>
        <p:spPr>
          <a:xfrm>
            <a:off x="7605408" y="6429520"/>
            <a:ext cx="148231" cy="148231"/>
          </a:xfrm>
          <a:custGeom>
            <a:avLst/>
            <a:gdLst/>
            <a:ahLst/>
            <a:cxnLst/>
            <a:rect l="l" t="t" r="r" b="b"/>
            <a:pathLst>
              <a:path w="148231" h="148231">
                <a:moveTo>
                  <a:pt x="74116" y="148231"/>
                </a:moveTo>
                <a:cubicBezTo>
                  <a:pt x="115021" y="148231"/>
                  <a:pt x="148231" y="115021"/>
                  <a:pt x="148231" y="74116"/>
                </a:cubicBezTo>
                <a:cubicBezTo>
                  <a:pt x="148231" y="33210"/>
                  <a:pt x="115021" y="0"/>
                  <a:pt x="74116" y="0"/>
                </a:cubicBezTo>
                <a:cubicBezTo>
                  <a:pt x="33210" y="0"/>
                  <a:pt x="0" y="33210"/>
                  <a:pt x="0" y="74116"/>
                </a:cubicBezTo>
                <a:cubicBezTo>
                  <a:pt x="0" y="115021"/>
                  <a:pt x="33210" y="148231"/>
                  <a:pt x="74116" y="148231"/>
                </a:cubicBezTo>
                <a:close/>
                <a:moveTo>
                  <a:pt x="98550" y="61580"/>
                </a:moveTo>
                <a:lnTo>
                  <a:pt x="75389" y="98637"/>
                </a:lnTo>
                <a:cubicBezTo>
                  <a:pt x="74173" y="100577"/>
                  <a:pt x="72089" y="101793"/>
                  <a:pt x="69802" y="101909"/>
                </a:cubicBezTo>
                <a:cubicBezTo>
                  <a:pt x="67515" y="102025"/>
                  <a:pt x="65314" y="100982"/>
                  <a:pt x="63954" y="99129"/>
                </a:cubicBezTo>
                <a:lnTo>
                  <a:pt x="50057" y="80601"/>
                </a:lnTo>
                <a:cubicBezTo>
                  <a:pt x="47741" y="77532"/>
                  <a:pt x="48378" y="73189"/>
                  <a:pt x="51447" y="70873"/>
                </a:cubicBezTo>
                <a:cubicBezTo>
                  <a:pt x="54515" y="68557"/>
                  <a:pt x="58858" y="69194"/>
                  <a:pt x="61174" y="72263"/>
                </a:cubicBezTo>
                <a:lnTo>
                  <a:pt x="68991" y="82685"/>
                </a:lnTo>
                <a:lnTo>
                  <a:pt x="86767" y="54226"/>
                </a:lnTo>
                <a:cubicBezTo>
                  <a:pt x="88794" y="50983"/>
                  <a:pt x="93079" y="49970"/>
                  <a:pt x="96350" y="52026"/>
                </a:cubicBezTo>
                <a:cubicBezTo>
                  <a:pt x="99622" y="54081"/>
                  <a:pt x="100606" y="58337"/>
                  <a:pt x="98550" y="61609"/>
                </a:cubicBezTo>
                <a:close/>
              </a:path>
            </a:pathLst>
          </a:custGeom>
          <a:solidFill>
            <a:srgbClr val="10B981"/>
          </a:solidFill>
          <a:ln/>
        </p:spPr>
      </p:sp>
      <p:sp>
        <p:nvSpPr>
          <p:cNvPr id="103" name="Text 101"/>
          <p:cNvSpPr/>
          <p:nvPr/>
        </p:nvSpPr>
        <p:spPr>
          <a:xfrm>
            <a:off x="7846284" y="6410991"/>
            <a:ext cx="1278492" cy="185289"/>
          </a:xfrm>
          <a:prstGeom prst="rect">
            <a:avLst/>
          </a:prstGeom>
          <a:noFill/>
          <a:ln/>
        </p:spPr>
        <p:txBody>
          <a:bodyPr wrap="square" lIns="0" tIns="0" rIns="0" bIns="0" rtlCol="0" anchor="ctr"/>
          <a:lstStyle/>
          <a:p>
            <a:pPr>
              <a:lnSpc>
                <a:spcPct val="120000"/>
              </a:lnSpc>
            </a:pPr>
            <a:r>
              <a:rPr lang="en-US" sz="1021" dirty="0">
                <a:solidFill>
                  <a:srgbClr val="1E293B"/>
                </a:solidFill>
                <a:latin typeface="Quattrocento Sans" pitchFamily="34" charset="0"/>
                <a:ea typeface="Quattrocento Sans" pitchFamily="34" charset="-122"/>
                <a:cs typeface="Quattrocento Sans" pitchFamily="34" charset="-120"/>
              </a:rPr>
              <a:t>Efficient collaboration</a:t>
            </a:r>
            <a:endParaRPr lang="en-US" sz="1600" dirty="0"/>
          </a:p>
        </p:txBody>
      </p:sp>
      <p:sp>
        <p:nvSpPr>
          <p:cNvPr id="111" name="TextBox 110">
            <a:extLst>
              <a:ext uri="{FF2B5EF4-FFF2-40B4-BE49-F238E27FC236}">
                <a16:creationId xmlns:a16="http://schemas.microsoft.com/office/drawing/2014/main" id="{EF24F382-F28D-421D-B271-324ACB28446C}"/>
              </a:ext>
            </a:extLst>
          </p:cNvPr>
          <p:cNvSpPr txBox="1"/>
          <p:nvPr/>
        </p:nvSpPr>
        <p:spPr>
          <a:xfrm>
            <a:off x="1191747" y="2740067"/>
            <a:ext cx="1590948" cy="261610"/>
          </a:xfrm>
          <a:prstGeom prst="rect">
            <a:avLst/>
          </a:prstGeom>
          <a:noFill/>
          <a:ln>
            <a:solidFill>
              <a:schemeClr val="accent1"/>
            </a:solidFill>
          </a:ln>
        </p:spPr>
        <p:txBody>
          <a:bodyPr wrap="square" rtlCol="0">
            <a:spAutoFit/>
          </a:bodyPr>
          <a:lstStyle/>
          <a:p>
            <a:r>
              <a:rPr lang="en-US" sz="1100" b="1" dirty="0">
                <a:latin typeface="Times New Roman" panose="02020603050405020304" pitchFamily="18" charset="0"/>
                <a:cs typeface="Times New Roman" panose="02020603050405020304" pitchFamily="18" charset="0"/>
              </a:rPr>
              <a:t>Backend Development</a:t>
            </a:r>
          </a:p>
        </p:txBody>
      </p:sp>
      <p:sp>
        <p:nvSpPr>
          <p:cNvPr id="112" name="TextBox 111">
            <a:extLst>
              <a:ext uri="{FF2B5EF4-FFF2-40B4-BE49-F238E27FC236}">
                <a16:creationId xmlns:a16="http://schemas.microsoft.com/office/drawing/2014/main" id="{2AFC8A2C-EDF1-4020-98C0-4751796C2ACF}"/>
              </a:ext>
            </a:extLst>
          </p:cNvPr>
          <p:cNvSpPr txBox="1"/>
          <p:nvPr/>
        </p:nvSpPr>
        <p:spPr>
          <a:xfrm>
            <a:off x="2874668" y="2750845"/>
            <a:ext cx="1598654" cy="261610"/>
          </a:xfrm>
          <a:prstGeom prst="rect">
            <a:avLst/>
          </a:prstGeom>
          <a:noFill/>
          <a:ln>
            <a:solidFill>
              <a:schemeClr val="accent1"/>
            </a:solidFill>
          </a:ln>
        </p:spPr>
        <p:txBody>
          <a:bodyPr wrap="square" rtlCol="0">
            <a:spAutoFit/>
          </a:bodyPr>
          <a:lstStyle/>
          <a:p>
            <a:r>
              <a:rPr lang="en-US" sz="1100" b="1" dirty="0">
                <a:latin typeface="Times New Roman" panose="02020603050405020304" pitchFamily="18" charset="0"/>
                <a:cs typeface="Times New Roman" panose="02020603050405020304" pitchFamily="18" charset="0"/>
              </a:rPr>
              <a:t>Frontend Development</a:t>
            </a:r>
          </a:p>
        </p:txBody>
      </p:sp>
      <p:sp>
        <p:nvSpPr>
          <p:cNvPr id="113" name="TextBox 112">
            <a:extLst>
              <a:ext uri="{FF2B5EF4-FFF2-40B4-BE49-F238E27FC236}">
                <a16:creationId xmlns:a16="http://schemas.microsoft.com/office/drawing/2014/main" id="{A3B7A054-181B-4082-B0E3-BD196833D446}"/>
              </a:ext>
            </a:extLst>
          </p:cNvPr>
          <p:cNvSpPr txBox="1"/>
          <p:nvPr/>
        </p:nvSpPr>
        <p:spPr>
          <a:xfrm>
            <a:off x="4460132" y="4012363"/>
            <a:ext cx="1192139" cy="261610"/>
          </a:xfrm>
          <a:prstGeom prst="rect">
            <a:avLst/>
          </a:prstGeom>
          <a:noFill/>
          <a:ln>
            <a:solidFill>
              <a:schemeClr val="accent1"/>
            </a:solidFill>
          </a:ln>
        </p:spPr>
        <p:txBody>
          <a:bodyPr wrap="square" rtlCol="0">
            <a:spAutoFit/>
          </a:bodyPr>
          <a:lstStyle/>
          <a:p>
            <a:r>
              <a:rPr lang="en-US" sz="1100" b="1" dirty="0">
                <a:latin typeface="Times New Roman" panose="02020603050405020304" pitchFamily="18" charset="0"/>
                <a:cs typeface="Times New Roman" panose="02020603050405020304" pitchFamily="18" charset="0"/>
              </a:rPr>
              <a:t>Database Design</a:t>
            </a:r>
          </a:p>
        </p:txBody>
      </p:sp>
      <p:sp>
        <p:nvSpPr>
          <p:cNvPr id="116" name="TextBox 115">
            <a:extLst>
              <a:ext uri="{FF2B5EF4-FFF2-40B4-BE49-F238E27FC236}">
                <a16:creationId xmlns:a16="http://schemas.microsoft.com/office/drawing/2014/main" id="{57E4E94D-5CAC-4931-93CB-323CD49F8DF4}"/>
              </a:ext>
            </a:extLst>
          </p:cNvPr>
          <p:cNvSpPr txBox="1"/>
          <p:nvPr/>
        </p:nvSpPr>
        <p:spPr>
          <a:xfrm>
            <a:off x="5825065" y="2765651"/>
            <a:ext cx="1192139" cy="261610"/>
          </a:xfrm>
          <a:prstGeom prst="rect">
            <a:avLst/>
          </a:prstGeom>
          <a:noFill/>
          <a:ln>
            <a:solidFill>
              <a:schemeClr val="accent1"/>
            </a:solidFill>
          </a:ln>
        </p:spPr>
        <p:txBody>
          <a:bodyPr wrap="square" rtlCol="0">
            <a:spAutoFit/>
          </a:bodyPr>
          <a:lstStyle/>
          <a:p>
            <a:r>
              <a:rPr lang="en-US" sz="1100" b="1" dirty="0">
                <a:latin typeface="Times New Roman" panose="02020603050405020304" pitchFamily="18" charset="0"/>
                <a:cs typeface="Times New Roman" panose="02020603050405020304" pitchFamily="18" charset="0"/>
              </a:rPr>
              <a:t>Documentation</a:t>
            </a:r>
          </a:p>
        </p:txBody>
      </p:sp>
      <p:sp>
        <p:nvSpPr>
          <p:cNvPr id="117" name="TextBox 116">
            <a:extLst>
              <a:ext uri="{FF2B5EF4-FFF2-40B4-BE49-F238E27FC236}">
                <a16:creationId xmlns:a16="http://schemas.microsoft.com/office/drawing/2014/main" id="{D262D54F-6610-41B1-B4BF-EDCAC0557FED}"/>
              </a:ext>
            </a:extLst>
          </p:cNvPr>
          <p:cNvSpPr txBox="1"/>
          <p:nvPr/>
        </p:nvSpPr>
        <p:spPr>
          <a:xfrm>
            <a:off x="762826" y="6392085"/>
            <a:ext cx="1483770" cy="261610"/>
          </a:xfrm>
          <a:prstGeom prst="rect">
            <a:avLst/>
          </a:prstGeom>
          <a:noFill/>
          <a:ln>
            <a:solidFill>
              <a:schemeClr val="accent1"/>
            </a:solidFill>
          </a:ln>
        </p:spPr>
        <p:txBody>
          <a:bodyPr wrap="square" rtlCol="0">
            <a:spAutoFit/>
          </a:bodyPr>
          <a:lstStyle/>
          <a:p>
            <a:r>
              <a:rPr lang="en-US" sz="1100" b="1" dirty="0">
                <a:latin typeface="Times New Roman" panose="02020603050405020304" pitchFamily="18" charset="0"/>
                <a:cs typeface="Times New Roman" panose="02020603050405020304" pitchFamily="18" charset="0"/>
              </a:rPr>
              <a:t>Testing &amp; Data Entry</a:t>
            </a:r>
          </a:p>
        </p:txBody>
      </p:sp>
      <p:sp>
        <p:nvSpPr>
          <p:cNvPr id="118" name="TextBox 117">
            <a:extLst>
              <a:ext uri="{FF2B5EF4-FFF2-40B4-BE49-F238E27FC236}">
                <a16:creationId xmlns:a16="http://schemas.microsoft.com/office/drawing/2014/main" id="{17CFB59F-43A7-4227-9277-B427E8EB67FE}"/>
              </a:ext>
            </a:extLst>
          </p:cNvPr>
          <p:cNvSpPr txBox="1"/>
          <p:nvPr/>
        </p:nvSpPr>
        <p:spPr>
          <a:xfrm>
            <a:off x="4006522" y="6354301"/>
            <a:ext cx="1483770" cy="261610"/>
          </a:xfrm>
          <a:prstGeom prst="rect">
            <a:avLst/>
          </a:prstGeom>
          <a:noFill/>
          <a:ln>
            <a:solidFill>
              <a:schemeClr val="accent1"/>
            </a:solidFill>
          </a:ln>
        </p:spPr>
        <p:txBody>
          <a:bodyPr wrap="square" rtlCol="0">
            <a:spAutoFit/>
          </a:bodyPr>
          <a:lstStyle/>
          <a:p>
            <a:r>
              <a:rPr lang="en-US" sz="1100" b="1" dirty="0">
                <a:latin typeface="Times New Roman" panose="02020603050405020304" pitchFamily="18" charset="0"/>
                <a:cs typeface="Times New Roman" panose="02020603050405020304" pitchFamily="18" charset="0"/>
              </a:rPr>
              <a:t>Testing &amp; Data Entry</a:t>
            </a:r>
          </a:p>
        </p:txBody>
      </p:sp>
      <p:sp>
        <p:nvSpPr>
          <p:cNvPr id="119" name="TextBox 118">
            <a:extLst>
              <a:ext uri="{FF2B5EF4-FFF2-40B4-BE49-F238E27FC236}">
                <a16:creationId xmlns:a16="http://schemas.microsoft.com/office/drawing/2014/main" id="{79AB46A1-4171-4C6B-B3E7-B2A08B18FB6F}"/>
              </a:ext>
            </a:extLst>
          </p:cNvPr>
          <p:cNvSpPr txBox="1"/>
          <p:nvPr/>
        </p:nvSpPr>
        <p:spPr>
          <a:xfrm>
            <a:off x="2730625" y="4012363"/>
            <a:ext cx="1598654" cy="261610"/>
          </a:xfrm>
          <a:prstGeom prst="rect">
            <a:avLst/>
          </a:prstGeom>
          <a:noFill/>
          <a:ln>
            <a:solidFill>
              <a:schemeClr val="accent1"/>
            </a:solidFill>
          </a:ln>
        </p:spPr>
        <p:txBody>
          <a:bodyPr wrap="square" rtlCol="0">
            <a:spAutoFit/>
          </a:bodyPr>
          <a:lstStyle/>
          <a:p>
            <a:r>
              <a:rPr lang="en-US" sz="1100" b="1" dirty="0">
                <a:latin typeface="Times New Roman" panose="02020603050405020304" pitchFamily="18" charset="0"/>
                <a:cs typeface="Times New Roman" panose="02020603050405020304" pitchFamily="18" charset="0"/>
              </a:rPr>
              <a:t>Frontend Development</a:t>
            </a:r>
          </a:p>
        </p:txBody>
      </p:sp>
      <p:sp>
        <p:nvSpPr>
          <p:cNvPr id="120" name="TextBox 119">
            <a:extLst>
              <a:ext uri="{FF2B5EF4-FFF2-40B4-BE49-F238E27FC236}">
                <a16:creationId xmlns:a16="http://schemas.microsoft.com/office/drawing/2014/main" id="{B836BE77-9B25-423E-B4CE-B386921884FC}"/>
              </a:ext>
            </a:extLst>
          </p:cNvPr>
          <p:cNvSpPr txBox="1"/>
          <p:nvPr/>
        </p:nvSpPr>
        <p:spPr>
          <a:xfrm>
            <a:off x="1037617" y="4000032"/>
            <a:ext cx="1590948" cy="261610"/>
          </a:xfrm>
          <a:prstGeom prst="rect">
            <a:avLst/>
          </a:prstGeom>
          <a:noFill/>
          <a:ln>
            <a:solidFill>
              <a:schemeClr val="accent1"/>
            </a:solidFill>
          </a:ln>
        </p:spPr>
        <p:txBody>
          <a:bodyPr wrap="square" rtlCol="0">
            <a:spAutoFit/>
          </a:bodyPr>
          <a:lstStyle/>
          <a:p>
            <a:r>
              <a:rPr lang="en-US" sz="1100" b="1" dirty="0">
                <a:latin typeface="Times New Roman" panose="02020603050405020304" pitchFamily="18" charset="0"/>
                <a:cs typeface="Times New Roman" panose="02020603050405020304" pitchFamily="18" charset="0"/>
              </a:rPr>
              <a:t>Backend Development</a:t>
            </a:r>
          </a:p>
        </p:txBody>
      </p:sp>
      <p:sp>
        <p:nvSpPr>
          <p:cNvPr id="121" name="TextBox 120">
            <a:extLst>
              <a:ext uri="{FF2B5EF4-FFF2-40B4-BE49-F238E27FC236}">
                <a16:creationId xmlns:a16="http://schemas.microsoft.com/office/drawing/2014/main" id="{5F73607E-264D-46A2-98B0-EC68FB3E0C01}"/>
              </a:ext>
            </a:extLst>
          </p:cNvPr>
          <p:cNvSpPr txBox="1"/>
          <p:nvPr/>
        </p:nvSpPr>
        <p:spPr>
          <a:xfrm>
            <a:off x="4553124" y="2748940"/>
            <a:ext cx="1192139" cy="261610"/>
          </a:xfrm>
          <a:prstGeom prst="rect">
            <a:avLst/>
          </a:prstGeom>
          <a:noFill/>
          <a:ln>
            <a:solidFill>
              <a:schemeClr val="accent1"/>
            </a:solidFill>
          </a:ln>
        </p:spPr>
        <p:txBody>
          <a:bodyPr wrap="square" rtlCol="0">
            <a:spAutoFit/>
          </a:bodyPr>
          <a:lstStyle/>
          <a:p>
            <a:r>
              <a:rPr lang="en-US" sz="1100" b="1" dirty="0">
                <a:latin typeface="Times New Roman" panose="02020603050405020304" pitchFamily="18" charset="0"/>
                <a:cs typeface="Times New Roman" panose="02020603050405020304" pitchFamily="18" charset="0"/>
              </a:rPr>
              <a:t>Database Design</a:t>
            </a:r>
          </a:p>
        </p:txBody>
      </p:sp>
      <p:sp>
        <p:nvSpPr>
          <p:cNvPr id="122" name="TextBox 121">
            <a:extLst>
              <a:ext uri="{FF2B5EF4-FFF2-40B4-BE49-F238E27FC236}">
                <a16:creationId xmlns:a16="http://schemas.microsoft.com/office/drawing/2014/main" id="{618660F1-E995-4F60-944D-456E464C31A9}"/>
              </a:ext>
            </a:extLst>
          </p:cNvPr>
          <p:cNvSpPr txBox="1"/>
          <p:nvPr/>
        </p:nvSpPr>
        <p:spPr>
          <a:xfrm>
            <a:off x="1226065" y="5174017"/>
            <a:ext cx="1483770" cy="261610"/>
          </a:xfrm>
          <a:prstGeom prst="rect">
            <a:avLst/>
          </a:prstGeom>
          <a:noFill/>
          <a:ln>
            <a:solidFill>
              <a:schemeClr val="accent1"/>
            </a:solidFill>
          </a:ln>
        </p:spPr>
        <p:txBody>
          <a:bodyPr wrap="square" rtlCol="0">
            <a:spAutoFit/>
          </a:bodyPr>
          <a:lstStyle/>
          <a:p>
            <a:r>
              <a:rPr lang="en-US" sz="1100" b="1" dirty="0">
                <a:latin typeface="Times New Roman" panose="02020603050405020304" pitchFamily="18" charset="0"/>
                <a:cs typeface="Times New Roman" panose="02020603050405020304" pitchFamily="18" charset="0"/>
              </a:rPr>
              <a:t>Testing &amp; Data Entry</a:t>
            </a:r>
          </a:p>
        </p:txBody>
      </p:sp>
      <p:sp>
        <p:nvSpPr>
          <p:cNvPr id="123" name="TextBox 122">
            <a:extLst>
              <a:ext uri="{FF2B5EF4-FFF2-40B4-BE49-F238E27FC236}">
                <a16:creationId xmlns:a16="http://schemas.microsoft.com/office/drawing/2014/main" id="{CCBBE865-B639-4D8B-B717-C9542B61AB74}"/>
              </a:ext>
            </a:extLst>
          </p:cNvPr>
          <p:cNvSpPr txBox="1"/>
          <p:nvPr/>
        </p:nvSpPr>
        <p:spPr>
          <a:xfrm>
            <a:off x="2862756" y="5186111"/>
            <a:ext cx="1590948" cy="261610"/>
          </a:xfrm>
          <a:prstGeom prst="rect">
            <a:avLst/>
          </a:prstGeom>
          <a:noFill/>
          <a:ln>
            <a:solidFill>
              <a:schemeClr val="accent1"/>
            </a:solidFill>
          </a:ln>
        </p:spPr>
        <p:txBody>
          <a:bodyPr wrap="square" rtlCol="0">
            <a:spAutoFit/>
          </a:bodyPr>
          <a:lstStyle/>
          <a:p>
            <a:r>
              <a:rPr lang="en-US" sz="1100" b="1" dirty="0">
                <a:latin typeface="Times New Roman" panose="02020603050405020304" pitchFamily="18" charset="0"/>
                <a:cs typeface="Times New Roman" panose="02020603050405020304" pitchFamily="18" charset="0"/>
              </a:rPr>
              <a:t>Backend Development</a:t>
            </a:r>
          </a:p>
        </p:txBody>
      </p:sp>
      <p:sp>
        <p:nvSpPr>
          <p:cNvPr id="124" name="TextBox 123">
            <a:extLst>
              <a:ext uri="{FF2B5EF4-FFF2-40B4-BE49-F238E27FC236}">
                <a16:creationId xmlns:a16="http://schemas.microsoft.com/office/drawing/2014/main" id="{BCB1B4C4-8A46-4CFA-B9AA-BD01D92CA820}"/>
              </a:ext>
            </a:extLst>
          </p:cNvPr>
          <p:cNvSpPr txBox="1"/>
          <p:nvPr/>
        </p:nvSpPr>
        <p:spPr>
          <a:xfrm>
            <a:off x="2278520" y="6400447"/>
            <a:ext cx="1537580" cy="261610"/>
          </a:xfrm>
          <a:prstGeom prst="rect">
            <a:avLst/>
          </a:prstGeom>
          <a:noFill/>
          <a:ln>
            <a:solidFill>
              <a:schemeClr val="accent1"/>
            </a:solidFill>
          </a:ln>
        </p:spPr>
        <p:txBody>
          <a:bodyPr wrap="square" rtlCol="0">
            <a:spAutoFit/>
          </a:bodyPr>
          <a:lstStyle/>
          <a:p>
            <a:r>
              <a:rPr lang="en-US" sz="1100" b="1" dirty="0">
                <a:latin typeface="Times New Roman" panose="02020603050405020304" pitchFamily="18" charset="0"/>
                <a:cs typeface="Times New Roman" panose="02020603050405020304" pitchFamily="18" charset="0"/>
              </a:rPr>
              <a:t>Backend Development</a:t>
            </a:r>
          </a:p>
        </p:txBody>
      </p:sp>
      <p:sp>
        <p:nvSpPr>
          <p:cNvPr id="125" name="TextBox 124">
            <a:extLst>
              <a:ext uri="{FF2B5EF4-FFF2-40B4-BE49-F238E27FC236}">
                <a16:creationId xmlns:a16="http://schemas.microsoft.com/office/drawing/2014/main" id="{B16BA87C-33FB-407C-83A9-339191A2C958}"/>
              </a:ext>
            </a:extLst>
          </p:cNvPr>
          <p:cNvSpPr txBox="1"/>
          <p:nvPr/>
        </p:nvSpPr>
        <p:spPr>
          <a:xfrm>
            <a:off x="5504785" y="6363015"/>
            <a:ext cx="1564430" cy="261610"/>
          </a:xfrm>
          <a:prstGeom prst="rect">
            <a:avLst/>
          </a:prstGeom>
          <a:noFill/>
          <a:ln>
            <a:solidFill>
              <a:schemeClr val="accent1"/>
            </a:solidFill>
          </a:ln>
        </p:spPr>
        <p:txBody>
          <a:bodyPr wrap="square" rtlCol="0">
            <a:spAutoFit/>
          </a:bodyPr>
          <a:lstStyle/>
          <a:p>
            <a:r>
              <a:rPr lang="en-US" sz="1100" b="1" dirty="0">
                <a:latin typeface="Times New Roman" panose="02020603050405020304" pitchFamily="18" charset="0"/>
                <a:cs typeface="Times New Roman" panose="02020603050405020304" pitchFamily="18" charset="0"/>
              </a:rPr>
              <a:t>Backend Development</a:t>
            </a:r>
          </a:p>
        </p:txBody>
      </p:sp>
      <p:pic>
        <p:nvPicPr>
          <p:cNvPr id="129" name="Picture 128">
            <a:extLst>
              <a:ext uri="{FF2B5EF4-FFF2-40B4-BE49-F238E27FC236}">
                <a16:creationId xmlns:a16="http://schemas.microsoft.com/office/drawing/2014/main" id="{1AA0B1FE-78A6-4F9B-A276-9C625987FF3B}"/>
              </a:ext>
            </a:extLst>
          </p:cNvPr>
          <p:cNvPicPr>
            <a:picLocks noChangeAspect="1"/>
          </p:cNvPicPr>
          <p:nvPr/>
        </p:nvPicPr>
        <p:blipFill>
          <a:blip r:embed="rId3"/>
          <a:stretch>
            <a:fillRect/>
          </a:stretch>
        </p:blipFill>
        <p:spPr>
          <a:xfrm>
            <a:off x="820255" y="4677605"/>
            <a:ext cx="425811" cy="446556"/>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31" name="Picture 130">
            <a:extLst>
              <a:ext uri="{FF2B5EF4-FFF2-40B4-BE49-F238E27FC236}">
                <a16:creationId xmlns:a16="http://schemas.microsoft.com/office/drawing/2014/main" id="{7203B4DC-58CB-4908-A43E-61CA57081ED1}"/>
              </a:ext>
            </a:extLst>
          </p:cNvPr>
          <p:cNvPicPr>
            <a:picLocks noChangeAspect="1"/>
          </p:cNvPicPr>
          <p:nvPr/>
        </p:nvPicPr>
        <p:blipFill>
          <a:blip r:embed="rId4"/>
          <a:stretch>
            <a:fillRect/>
          </a:stretch>
        </p:blipFill>
        <p:spPr>
          <a:xfrm>
            <a:off x="4033389" y="5844822"/>
            <a:ext cx="455588" cy="454996"/>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33" name="Picture 132">
            <a:extLst>
              <a:ext uri="{FF2B5EF4-FFF2-40B4-BE49-F238E27FC236}">
                <a16:creationId xmlns:a16="http://schemas.microsoft.com/office/drawing/2014/main" id="{E6012F53-8066-4548-88EC-6E8E61E0F464}"/>
              </a:ext>
            </a:extLst>
          </p:cNvPr>
          <p:cNvPicPr>
            <a:picLocks noChangeAspect="1"/>
          </p:cNvPicPr>
          <p:nvPr/>
        </p:nvPicPr>
        <p:blipFill>
          <a:blip r:embed="rId5"/>
          <a:stretch>
            <a:fillRect/>
          </a:stretch>
        </p:blipFill>
        <p:spPr>
          <a:xfrm>
            <a:off x="787754" y="5871256"/>
            <a:ext cx="408617" cy="40027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35" name="Picture 134">
            <a:extLst>
              <a:ext uri="{FF2B5EF4-FFF2-40B4-BE49-F238E27FC236}">
                <a16:creationId xmlns:a16="http://schemas.microsoft.com/office/drawing/2014/main" id="{FB66A31D-6CED-4C15-B4F1-A99F9F719249}"/>
              </a:ext>
            </a:extLst>
          </p:cNvPr>
          <p:cNvPicPr>
            <a:picLocks noChangeAspect="1"/>
          </p:cNvPicPr>
          <p:nvPr/>
        </p:nvPicPr>
        <p:blipFill>
          <a:blip r:embed="rId6"/>
          <a:stretch>
            <a:fillRect/>
          </a:stretch>
        </p:blipFill>
        <p:spPr>
          <a:xfrm>
            <a:off x="797436" y="3439542"/>
            <a:ext cx="462528" cy="45777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37" name="Picture 136">
            <a:extLst>
              <a:ext uri="{FF2B5EF4-FFF2-40B4-BE49-F238E27FC236}">
                <a16:creationId xmlns:a16="http://schemas.microsoft.com/office/drawing/2014/main" id="{4BA35B97-5465-4CF7-9223-67D3D1FA4602}"/>
              </a:ext>
            </a:extLst>
          </p:cNvPr>
          <p:cNvPicPr>
            <a:picLocks noChangeAspect="1"/>
          </p:cNvPicPr>
          <p:nvPr/>
        </p:nvPicPr>
        <p:blipFill>
          <a:blip r:embed="rId7"/>
          <a:stretch>
            <a:fillRect/>
          </a:stretch>
        </p:blipFill>
        <p:spPr>
          <a:xfrm>
            <a:off x="770764" y="2159238"/>
            <a:ext cx="558684" cy="543771"/>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43" name="Picture 142">
            <a:extLst>
              <a:ext uri="{FF2B5EF4-FFF2-40B4-BE49-F238E27FC236}">
                <a16:creationId xmlns:a16="http://schemas.microsoft.com/office/drawing/2014/main" id="{6BB29B24-E75F-4486-8858-709B238D52BE}"/>
              </a:ext>
            </a:extLst>
          </p:cNvPr>
          <p:cNvPicPr>
            <a:picLocks noChangeAspect="1"/>
          </p:cNvPicPr>
          <p:nvPr/>
        </p:nvPicPr>
        <p:blipFill>
          <a:blip r:embed="rId8"/>
          <a:stretch>
            <a:fillRect/>
          </a:stretch>
        </p:blipFill>
        <p:spPr>
          <a:xfrm>
            <a:off x="11069339" y="255233"/>
            <a:ext cx="816935" cy="1097375"/>
          </a:xfrm>
          <a:prstGeom prst="rect">
            <a:avLst/>
          </a:prstGeom>
        </p:spPr>
      </p:pic>
      <p:sp>
        <p:nvSpPr>
          <p:cNvPr id="144" name="TextBox 143">
            <a:extLst>
              <a:ext uri="{FF2B5EF4-FFF2-40B4-BE49-F238E27FC236}">
                <a16:creationId xmlns:a16="http://schemas.microsoft.com/office/drawing/2014/main" id="{3929C02F-1D2D-4AD0-8877-0301E4A341E7}"/>
              </a:ext>
            </a:extLst>
          </p:cNvPr>
          <p:cNvSpPr txBox="1"/>
          <p:nvPr/>
        </p:nvSpPr>
        <p:spPr>
          <a:xfrm>
            <a:off x="11759583" y="6489656"/>
            <a:ext cx="457200"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10</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3A5F"/>
        </a:solidFill>
        <a:effectLst/>
      </p:bgPr>
    </p:bg>
    <p:spTree>
      <p:nvGrpSpPr>
        <p:cNvPr id="1" name=""/>
        <p:cNvGrpSpPr/>
        <p:nvPr/>
      </p:nvGrpSpPr>
      <p:grpSpPr>
        <a:xfrm>
          <a:off x="0" y="0"/>
          <a:ext cx="0" cy="0"/>
          <a:chOff x="0" y="0"/>
          <a:chExt cx="0" cy="0"/>
        </a:xfrm>
      </p:grpSpPr>
      <p:pic>
        <p:nvPicPr>
          <p:cNvPr id="2" name="Image 0" descr="https://kimi-web-img.moonshot.cn/img/www.karexpert.com/7c4d02583328497919d2644d9e4eaa0e62e1aaba.webp"/>
          <p:cNvPicPr>
            <a:picLocks noChangeAspect="1"/>
          </p:cNvPicPr>
          <p:nvPr/>
        </p:nvPicPr>
        <p:blipFill>
          <a:blip r:embed="rId3">
            <a:alphaModFix amt="15000"/>
          </a:blip>
          <a:srcRect l="3348" r="3348"/>
          <a:stretch/>
        </p:blipFill>
        <p:spPr>
          <a:xfrm>
            <a:off x="0" y="0"/>
            <a:ext cx="12192000" cy="6860146"/>
          </a:xfrm>
          <a:prstGeom prst="roundRect">
            <a:avLst>
              <a:gd name="adj" fmla="val 0"/>
            </a:avLst>
          </a:prstGeom>
        </p:spPr>
      </p:pic>
      <p:sp>
        <p:nvSpPr>
          <p:cNvPr id="3" name="Shape 0"/>
          <p:cNvSpPr/>
          <p:nvPr/>
        </p:nvSpPr>
        <p:spPr>
          <a:xfrm>
            <a:off x="0" y="0"/>
            <a:ext cx="12192000" cy="6860146"/>
          </a:xfrm>
          <a:custGeom>
            <a:avLst/>
            <a:gdLst/>
            <a:ahLst/>
            <a:cxnLst/>
            <a:rect l="l" t="t" r="r" b="b"/>
            <a:pathLst>
              <a:path w="12192000" h="6860146">
                <a:moveTo>
                  <a:pt x="0" y="0"/>
                </a:moveTo>
                <a:lnTo>
                  <a:pt x="12192000" y="0"/>
                </a:lnTo>
                <a:lnTo>
                  <a:pt x="12192000" y="6860146"/>
                </a:lnTo>
                <a:lnTo>
                  <a:pt x="0" y="6860146"/>
                </a:lnTo>
                <a:lnTo>
                  <a:pt x="0" y="0"/>
                </a:lnTo>
                <a:close/>
              </a:path>
            </a:pathLst>
          </a:custGeom>
          <a:gradFill flip="none" rotWithShape="1">
            <a:gsLst>
              <a:gs pos="0">
                <a:srgbClr val="1E3A5F">
                  <a:alpha val="95000"/>
                </a:srgbClr>
              </a:gs>
              <a:gs pos="50000">
                <a:srgbClr val="1E3A5F">
                  <a:alpha val="90000"/>
                </a:srgbClr>
              </a:gs>
              <a:gs pos="100000">
                <a:srgbClr val="3B82F6">
                  <a:alpha val="85000"/>
                </a:srgbClr>
              </a:gs>
            </a:gsLst>
            <a:lin ang="2700000" scaled="1"/>
          </a:gradFill>
          <a:ln/>
        </p:spPr>
      </p:sp>
      <p:sp>
        <p:nvSpPr>
          <p:cNvPr id="4" name="Shape 1"/>
          <p:cNvSpPr/>
          <p:nvPr/>
        </p:nvSpPr>
        <p:spPr>
          <a:xfrm>
            <a:off x="5702873" y="343437"/>
            <a:ext cx="789904" cy="686873"/>
          </a:xfrm>
          <a:custGeom>
            <a:avLst/>
            <a:gdLst/>
            <a:ahLst/>
            <a:cxnLst/>
            <a:rect l="l" t="t" r="r" b="b"/>
            <a:pathLst>
              <a:path w="789904" h="686873">
                <a:moveTo>
                  <a:pt x="343437" y="0"/>
                </a:moveTo>
                <a:lnTo>
                  <a:pt x="446468" y="0"/>
                </a:lnTo>
                <a:cubicBezTo>
                  <a:pt x="636015" y="0"/>
                  <a:pt x="789904" y="153889"/>
                  <a:pt x="789904" y="343437"/>
                </a:cubicBezTo>
                <a:lnTo>
                  <a:pt x="789904" y="343437"/>
                </a:lnTo>
                <a:cubicBezTo>
                  <a:pt x="789904" y="532984"/>
                  <a:pt x="636015" y="686873"/>
                  <a:pt x="446468" y="686873"/>
                </a:cubicBezTo>
                <a:lnTo>
                  <a:pt x="343437" y="686873"/>
                </a:lnTo>
                <a:cubicBezTo>
                  <a:pt x="153889" y="686873"/>
                  <a:pt x="0" y="532984"/>
                  <a:pt x="0" y="343437"/>
                </a:cubicBezTo>
                <a:lnTo>
                  <a:pt x="0" y="343437"/>
                </a:lnTo>
                <a:cubicBezTo>
                  <a:pt x="0" y="153889"/>
                  <a:pt x="153889" y="0"/>
                  <a:pt x="343437" y="0"/>
                </a:cubicBezTo>
                <a:close/>
              </a:path>
            </a:pathLst>
          </a:custGeom>
          <a:solidFill>
            <a:srgbClr val="10B981">
              <a:alpha val="20000"/>
            </a:srgbClr>
          </a:solidFill>
          <a:ln/>
        </p:spPr>
      </p:sp>
      <p:sp>
        <p:nvSpPr>
          <p:cNvPr id="5" name="Shape 2"/>
          <p:cNvSpPr/>
          <p:nvPr/>
        </p:nvSpPr>
        <p:spPr>
          <a:xfrm>
            <a:off x="5891763" y="480811"/>
            <a:ext cx="412124" cy="412124"/>
          </a:xfrm>
          <a:custGeom>
            <a:avLst/>
            <a:gdLst/>
            <a:ahLst/>
            <a:cxnLst/>
            <a:rect l="l" t="t" r="r" b="b"/>
            <a:pathLst>
              <a:path w="412124" h="412124">
                <a:moveTo>
                  <a:pt x="206062" y="412124"/>
                </a:moveTo>
                <a:cubicBezTo>
                  <a:pt x="319791" y="412124"/>
                  <a:pt x="412124" y="319791"/>
                  <a:pt x="412124" y="206062"/>
                </a:cubicBezTo>
                <a:cubicBezTo>
                  <a:pt x="412124" y="92333"/>
                  <a:pt x="319791" y="0"/>
                  <a:pt x="206062" y="0"/>
                </a:cubicBezTo>
                <a:cubicBezTo>
                  <a:pt x="92333" y="0"/>
                  <a:pt x="0" y="92333"/>
                  <a:pt x="0" y="206062"/>
                </a:cubicBezTo>
                <a:cubicBezTo>
                  <a:pt x="0" y="319791"/>
                  <a:pt x="92333" y="412124"/>
                  <a:pt x="206062" y="412124"/>
                </a:cubicBezTo>
                <a:close/>
                <a:moveTo>
                  <a:pt x="273998" y="171209"/>
                </a:moveTo>
                <a:lnTo>
                  <a:pt x="209604" y="274240"/>
                </a:lnTo>
                <a:cubicBezTo>
                  <a:pt x="206223" y="279633"/>
                  <a:pt x="200427" y="283013"/>
                  <a:pt x="194069" y="283335"/>
                </a:cubicBezTo>
                <a:cubicBezTo>
                  <a:pt x="187710" y="283657"/>
                  <a:pt x="181592" y="280759"/>
                  <a:pt x="177809" y="275608"/>
                </a:cubicBezTo>
                <a:lnTo>
                  <a:pt x="139172" y="224092"/>
                </a:lnTo>
                <a:cubicBezTo>
                  <a:pt x="132733" y="215560"/>
                  <a:pt x="134504" y="203486"/>
                  <a:pt x="143036" y="197047"/>
                </a:cubicBezTo>
                <a:cubicBezTo>
                  <a:pt x="151568" y="190607"/>
                  <a:pt x="163642" y="192378"/>
                  <a:pt x="170082" y="200910"/>
                </a:cubicBezTo>
                <a:lnTo>
                  <a:pt x="191815" y="229888"/>
                </a:lnTo>
                <a:lnTo>
                  <a:pt x="241237" y="150763"/>
                </a:lnTo>
                <a:cubicBezTo>
                  <a:pt x="246872" y="141748"/>
                  <a:pt x="258785" y="138931"/>
                  <a:pt x="267881" y="144646"/>
                </a:cubicBezTo>
                <a:cubicBezTo>
                  <a:pt x="276976" y="150361"/>
                  <a:pt x="279713" y="162193"/>
                  <a:pt x="273998" y="171289"/>
                </a:cubicBezTo>
                <a:close/>
              </a:path>
            </a:pathLst>
          </a:custGeom>
          <a:solidFill>
            <a:srgbClr val="10B981"/>
          </a:solidFill>
          <a:ln/>
        </p:spPr>
      </p:sp>
      <p:sp>
        <p:nvSpPr>
          <p:cNvPr id="6" name="Text 3"/>
          <p:cNvSpPr/>
          <p:nvPr/>
        </p:nvSpPr>
        <p:spPr>
          <a:xfrm>
            <a:off x="240406" y="1167685"/>
            <a:ext cx="11711189" cy="412124"/>
          </a:xfrm>
          <a:prstGeom prst="rect">
            <a:avLst/>
          </a:prstGeom>
          <a:noFill/>
          <a:ln/>
        </p:spPr>
        <p:txBody>
          <a:bodyPr wrap="square" lIns="0" tIns="0" rIns="0" bIns="0" rtlCol="0" anchor="ctr"/>
          <a:lstStyle/>
          <a:p>
            <a:pPr algn="ctr">
              <a:lnSpc>
                <a:spcPct val="80000"/>
              </a:lnSpc>
            </a:pPr>
            <a:r>
              <a:rPr lang="en-US" sz="3245" b="1" dirty="0">
                <a:solidFill>
                  <a:srgbClr val="F1F5F9"/>
                </a:solidFill>
                <a:latin typeface="Liter" pitchFamily="34" charset="0"/>
                <a:ea typeface="Liter" pitchFamily="34" charset="-122"/>
                <a:cs typeface="Liter" pitchFamily="34" charset="-120"/>
              </a:rPr>
              <a:t>Conclusion</a:t>
            </a:r>
            <a:endParaRPr lang="en-US" sz="1600" dirty="0"/>
          </a:p>
        </p:txBody>
      </p:sp>
      <p:sp>
        <p:nvSpPr>
          <p:cNvPr id="7" name="Shape 4"/>
          <p:cNvSpPr/>
          <p:nvPr/>
        </p:nvSpPr>
        <p:spPr>
          <a:xfrm>
            <a:off x="5548326" y="1717183"/>
            <a:ext cx="1098997" cy="34344"/>
          </a:xfrm>
          <a:custGeom>
            <a:avLst/>
            <a:gdLst/>
            <a:ahLst/>
            <a:cxnLst/>
            <a:rect l="l" t="t" r="r" b="b"/>
            <a:pathLst>
              <a:path w="1098997" h="34344">
                <a:moveTo>
                  <a:pt x="17172" y="0"/>
                </a:moveTo>
                <a:lnTo>
                  <a:pt x="1081825" y="0"/>
                </a:lnTo>
                <a:cubicBezTo>
                  <a:pt x="1091309" y="0"/>
                  <a:pt x="1098997" y="7688"/>
                  <a:pt x="1098997" y="17172"/>
                </a:cubicBezTo>
                <a:lnTo>
                  <a:pt x="1098997" y="17172"/>
                </a:lnTo>
                <a:cubicBezTo>
                  <a:pt x="1098997" y="26656"/>
                  <a:pt x="1091309" y="34344"/>
                  <a:pt x="1081825" y="34344"/>
                </a:cubicBezTo>
                <a:lnTo>
                  <a:pt x="17172" y="34344"/>
                </a:lnTo>
                <a:cubicBezTo>
                  <a:pt x="7688" y="34344"/>
                  <a:pt x="0" y="26656"/>
                  <a:pt x="0" y="17172"/>
                </a:cubicBezTo>
                <a:lnTo>
                  <a:pt x="0" y="17172"/>
                </a:lnTo>
                <a:cubicBezTo>
                  <a:pt x="0" y="7688"/>
                  <a:pt x="7688" y="0"/>
                  <a:pt x="17172" y="0"/>
                </a:cubicBezTo>
                <a:close/>
              </a:path>
            </a:pathLst>
          </a:custGeom>
          <a:solidFill>
            <a:srgbClr val="10B981"/>
          </a:solidFill>
          <a:ln/>
        </p:spPr>
      </p:sp>
      <p:sp>
        <p:nvSpPr>
          <p:cNvPr id="8" name="Text 5"/>
          <p:cNvSpPr/>
          <p:nvPr/>
        </p:nvSpPr>
        <p:spPr>
          <a:xfrm>
            <a:off x="2208405" y="2026276"/>
            <a:ext cx="7778839" cy="558085"/>
          </a:xfrm>
          <a:prstGeom prst="rect">
            <a:avLst/>
          </a:prstGeom>
          <a:noFill/>
          <a:ln/>
        </p:spPr>
        <p:txBody>
          <a:bodyPr wrap="square" lIns="0" tIns="0" rIns="0" bIns="0" rtlCol="0" anchor="ctr"/>
          <a:lstStyle/>
          <a:p>
            <a:pPr algn="ctr">
              <a:lnSpc>
                <a:spcPct val="140000"/>
              </a:lnSpc>
            </a:pPr>
            <a:r>
              <a:rPr lang="en-US" sz="1352" dirty="0">
                <a:solidFill>
                  <a:srgbClr val="F1F5F9">
                    <a:alpha val="90000"/>
                  </a:srgbClr>
                </a:solidFill>
                <a:latin typeface="Quattrocento Sans" pitchFamily="34" charset="0"/>
                <a:ea typeface="Quattrocento Sans" pitchFamily="34" charset="-122"/>
                <a:cs typeface="Quattrocento Sans" pitchFamily="34" charset="-120"/>
              </a:rPr>
              <a:t>MediSeba provides a </a:t>
            </a:r>
            <a:r>
              <a:rPr lang="en-US" sz="1352" b="1" dirty="0">
                <a:solidFill>
                  <a:srgbClr val="10B981"/>
                </a:solidFill>
                <a:latin typeface="Quattrocento Sans" pitchFamily="34" charset="0"/>
                <a:ea typeface="Quattrocento Sans" pitchFamily="34" charset="-122"/>
                <a:cs typeface="Quattrocento Sans" pitchFamily="34" charset="-120"/>
              </a:rPr>
              <a:t>complete digital healthcare management system</a:t>
            </a:r>
            <a:r>
              <a:rPr lang="en-US" sz="1352" dirty="0">
                <a:solidFill>
                  <a:srgbClr val="F1F5F9">
                    <a:alpha val="90000"/>
                  </a:srgbClr>
                </a:solidFill>
                <a:latin typeface="Quattrocento Sans" pitchFamily="34" charset="0"/>
                <a:ea typeface="Quattrocento Sans" pitchFamily="34" charset="-122"/>
                <a:cs typeface="Quattrocento Sans" pitchFamily="34" charset="-120"/>
              </a:rPr>
              <a:t> that transforms traditional manual processes into an efficient, organized, and secure database-driven solution.</a:t>
            </a:r>
            <a:endParaRPr lang="en-US" sz="1600" dirty="0"/>
          </a:p>
        </p:txBody>
      </p:sp>
      <p:sp>
        <p:nvSpPr>
          <p:cNvPr id="9" name="Shape 6"/>
          <p:cNvSpPr/>
          <p:nvPr/>
        </p:nvSpPr>
        <p:spPr>
          <a:xfrm>
            <a:off x="2254769" y="2862544"/>
            <a:ext cx="3767500" cy="1208897"/>
          </a:xfrm>
          <a:custGeom>
            <a:avLst/>
            <a:gdLst/>
            <a:ahLst/>
            <a:cxnLst/>
            <a:rect l="l" t="t" r="r" b="b"/>
            <a:pathLst>
              <a:path w="3767500" h="1208897">
                <a:moveTo>
                  <a:pt x="103034" y="0"/>
                </a:moveTo>
                <a:lnTo>
                  <a:pt x="3664465" y="0"/>
                </a:lnTo>
                <a:cubicBezTo>
                  <a:pt x="3721370" y="0"/>
                  <a:pt x="3767500" y="46130"/>
                  <a:pt x="3767500" y="103034"/>
                </a:cubicBezTo>
                <a:lnTo>
                  <a:pt x="3767500" y="1105863"/>
                </a:lnTo>
                <a:cubicBezTo>
                  <a:pt x="3767500" y="1162767"/>
                  <a:pt x="3721370" y="1208897"/>
                  <a:pt x="3664465" y="1208897"/>
                </a:cubicBezTo>
                <a:lnTo>
                  <a:pt x="103034" y="1208897"/>
                </a:lnTo>
                <a:cubicBezTo>
                  <a:pt x="46130" y="1208897"/>
                  <a:pt x="0" y="1162767"/>
                  <a:pt x="0" y="1105863"/>
                </a:cubicBezTo>
                <a:lnTo>
                  <a:pt x="0" y="103034"/>
                </a:lnTo>
                <a:cubicBezTo>
                  <a:pt x="0" y="46130"/>
                  <a:pt x="46130" y="0"/>
                  <a:pt x="103034" y="0"/>
                </a:cubicBezTo>
                <a:close/>
              </a:path>
            </a:pathLst>
          </a:custGeom>
          <a:solidFill>
            <a:srgbClr val="FFFFFF">
              <a:alpha val="10196"/>
            </a:srgbClr>
          </a:solidFill>
          <a:ln w="10160">
            <a:solidFill>
              <a:srgbClr val="FFFFFF">
                <a:alpha val="20000"/>
              </a:srgbClr>
            </a:solidFill>
            <a:prstDash val="solid"/>
          </a:ln>
        </p:spPr>
      </p:sp>
      <p:sp>
        <p:nvSpPr>
          <p:cNvPr id="10" name="Shape 7"/>
          <p:cNvSpPr/>
          <p:nvPr/>
        </p:nvSpPr>
        <p:spPr>
          <a:xfrm>
            <a:off x="2429922" y="3037699"/>
            <a:ext cx="412124" cy="412124"/>
          </a:xfrm>
          <a:custGeom>
            <a:avLst/>
            <a:gdLst/>
            <a:ahLst/>
            <a:cxnLst/>
            <a:rect l="l" t="t" r="r" b="b"/>
            <a:pathLst>
              <a:path w="412124" h="412124">
                <a:moveTo>
                  <a:pt x="68689" y="0"/>
                </a:moveTo>
                <a:lnTo>
                  <a:pt x="343435" y="0"/>
                </a:lnTo>
                <a:cubicBezTo>
                  <a:pt x="381346" y="0"/>
                  <a:pt x="412124" y="30778"/>
                  <a:pt x="412124" y="68689"/>
                </a:cubicBezTo>
                <a:lnTo>
                  <a:pt x="412124" y="343435"/>
                </a:lnTo>
                <a:cubicBezTo>
                  <a:pt x="412124" y="381346"/>
                  <a:pt x="381346" y="412124"/>
                  <a:pt x="343435" y="412124"/>
                </a:cubicBezTo>
                <a:lnTo>
                  <a:pt x="68689" y="412124"/>
                </a:lnTo>
                <a:cubicBezTo>
                  <a:pt x="30778" y="412124"/>
                  <a:pt x="0" y="381346"/>
                  <a:pt x="0" y="343435"/>
                </a:cubicBezTo>
                <a:lnTo>
                  <a:pt x="0" y="68689"/>
                </a:lnTo>
                <a:cubicBezTo>
                  <a:pt x="0" y="30753"/>
                  <a:pt x="30753" y="0"/>
                  <a:pt x="68689" y="0"/>
                </a:cubicBezTo>
                <a:close/>
              </a:path>
            </a:pathLst>
          </a:custGeom>
          <a:solidFill>
            <a:srgbClr val="10B981">
              <a:alpha val="20000"/>
            </a:srgbClr>
          </a:solidFill>
          <a:ln/>
        </p:spPr>
      </p:sp>
      <p:sp>
        <p:nvSpPr>
          <p:cNvPr id="11" name="Shape 8"/>
          <p:cNvSpPr/>
          <p:nvPr/>
        </p:nvSpPr>
        <p:spPr>
          <a:xfrm>
            <a:off x="2560857" y="3157902"/>
            <a:ext cx="150254" cy="171718"/>
          </a:xfrm>
          <a:custGeom>
            <a:avLst/>
            <a:gdLst/>
            <a:ahLst/>
            <a:cxnLst/>
            <a:rect l="l" t="t" r="r" b="b"/>
            <a:pathLst>
              <a:path w="150254" h="171718">
                <a:moveTo>
                  <a:pt x="42930" y="0"/>
                </a:moveTo>
                <a:cubicBezTo>
                  <a:pt x="48866" y="0"/>
                  <a:pt x="53662" y="4796"/>
                  <a:pt x="53662" y="10732"/>
                </a:cubicBezTo>
                <a:lnTo>
                  <a:pt x="53662" y="21465"/>
                </a:lnTo>
                <a:lnTo>
                  <a:pt x="96592" y="21465"/>
                </a:lnTo>
                <a:lnTo>
                  <a:pt x="96592" y="10732"/>
                </a:lnTo>
                <a:cubicBezTo>
                  <a:pt x="96592" y="4796"/>
                  <a:pt x="101388" y="0"/>
                  <a:pt x="107324" y="0"/>
                </a:cubicBezTo>
                <a:cubicBezTo>
                  <a:pt x="113260" y="0"/>
                  <a:pt x="118056" y="4796"/>
                  <a:pt x="118056" y="10732"/>
                </a:cubicBezTo>
                <a:lnTo>
                  <a:pt x="118056" y="21465"/>
                </a:lnTo>
                <a:lnTo>
                  <a:pt x="128789" y="21465"/>
                </a:lnTo>
                <a:cubicBezTo>
                  <a:pt x="140628" y="21465"/>
                  <a:pt x="150254" y="31090"/>
                  <a:pt x="150254" y="42930"/>
                </a:cubicBezTo>
                <a:lnTo>
                  <a:pt x="150254" y="139521"/>
                </a:lnTo>
                <a:cubicBezTo>
                  <a:pt x="150254" y="151360"/>
                  <a:pt x="140628" y="160986"/>
                  <a:pt x="128789" y="160986"/>
                </a:cubicBezTo>
                <a:lnTo>
                  <a:pt x="21465" y="160986"/>
                </a:lnTo>
                <a:cubicBezTo>
                  <a:pt x="9626" y="160986"/>
                  <a:pt x="0" y="151360"/>
                  <a:pt x="0" y="139521"/>
                </a:cubicBezTo>
                <a:lnTo>
                  <a:pt x="0" y="42930"/>
                </a:lnTo>
                <a:cubicBezTo>
                  <a:pt x="0" y="31090"/>
                  <a:pt x="9626" y="21465"/>
                  <a:pt x="21465" y="21465"/>
                </a:cubicBezTo>
                <a:lnTo>
                  <a:pt x="32197" y="21465"/>
                </a:lnTo>
                <a:lnTo>
                  <a:pt x="32197" y="10732"/>
                </a:lnTo>
                <a:cubicBezTo>
                  <a:pt x="32197" y="4796"/>
                  <a:pt x="36993" y="0"/>
                  <a:pt x="42930" y="0"/>
                </a:cubicBezTo>
                <a:close/>
                <a:moveTo>
                  <a:pt x="103433" y="76703"/>
                </a:moveTo>
                <a:cubicBezTo>
                  <a:pt x="105781" y="72947"/>
                  <a:pt x="104641" y="67983"/>
                  <a:pt x="100885" y="65602"/>
                </a:cubicBezTo>
                <a:cubicBezTo>
                  <a:pt x="97128" y="63221"/>
                  <a:pt x="92164" y="64394"/>
                  <a:pt x="89783" y="68151"/>
                </a:cubicBezTo>
                <a:lnTo>
                  <a:pt x="69190" y="101119"/>
                </a:lnTo>
                <a:lnTo>
                  <a:pt x="60135" y="89045"/>
                </a:lnTo>
                <a:cubicBezTo>
                  <a:pt x="57452" y="85490"/>
                  <a:pt x="52421" y="84752"/>
                  <a:pt x="48866" y="87435"/>
                </a:cubicBezTo>
                <a:cubicBezTo>
                  <a:pt x="45311" y="90119"/>
                  <a:pt x="44573" y="95149"/>
                  <a:pt x="47256" y="98704"/>
                </a:cubicBezTo>
                <a:lnTo>
                  <a:pt x="63355" y="120169"/>
                </a:lnTo>
                <a:cubicBezTo>
                  <a:pt x="64931" y="122282"/>
                  <a:pt x="67480" y="123490"/>
                  <a:pt x="70129" y="123389"/>
                </a:cubicBezTo>
                <a:cubicBezTo>
                  <a:pt x="72779" y="123288"/>
                  <a:pt x="75194" y="121880"/>
                  <a:pt x="76602" y="119599"/>
                </a:cubicBezTo>
                <a:lnTo>
                  <a:pt x="103433" y="76670"/>
                </a:lnTo>
                <a:close/>
              </a:path>
            </a:pathLst>
          </a:custGeom>
          <a:solidFill>
            <a:srgbClr val="10B981"/>
          </a:solidFill>
          <a:ln/>
        </p:spPr>
      </p:sp>
      <p:sp>
        <p:nvSpPr>
          <p:cNvPr id="12" name="Text 9"/>
          <p:cNvSpPr/>
          <p:nvPr/>
        </p:nvSpPr>
        <p:spPr>
          <a:xfrm>
            <a:off x="2945076" y="3123559"/>
            <a:ext cx="1330817" cy="240406"/>
          </a:xfrm>
          <a:prstGeom prst="rect">
            <a:avLst/>
          </a:prstGeom>
          <a:noFill/>
          <a:ln/>
        </p:spPr>
        <p:txBody>
          <a:bodyPr wrap="square" lIns="0" tIns="0" rIns="0" bIns="0" rtlCol="0" anchor="ctr"/>
          <a:lstStyle/>
          <a:p>
            <a:pPr>
              <a:lnSpc>
                <a:spcPct val="130000"/>
              </a:lnSpc>
            </a:pPr>
            <a:r>
              <a:rPr lang="en-US" sz="1217" b="1" dirty="0">
                <a:solidFill>
                  <a:srgbClr val="F1F5F9"/>
                </a:solidFill>
                <a:latin typeface="Liter" pitchFamily="34" charset="0"/>
                <a:ea typeface="Liter" pitchFamily="34" charset="-122"/>
                <a:cs typeface="Liter" pitchFamily="34" charset="-120"/>
              </a:rPr>
              <a:t>Reduced Conflicts</a:t>
            </a:r>
            <a:endParaRPr lang="en-US" sz="1600" dirty="0"/>
          </a:p>
        </p:txBody>
      </p:sp>
      <p:sp>
        <p:nvSpPr>
          <p:cNvPr id="13" name="Text 10"/>
          <p:cNvSpPr/>
          <p:nvPr/>
        </p:nvSpPr>
        <p:spPr>
          <a:xfrm>
            <a:off x="2429922" y="3552854"/>
            <a:ext cx="3477296" cy="343437"/>
          </a:xfrm>
          <a:prstGeom prst="rect">
            <a:avLst/>
          </a:prstGeom>
          <a:noFill/>
          <a:ln/>
        </p:spPr>
        <p:txBody>
          <a:bodyPr wrap="square" lIns="0" tIns="0" rIns="0" bIns="0" rtlCol="0" anchor="ctr"/>
          <a:lstStyle/>
          <a:p>
            <a:pPr>
              <a:lnSpc>
                <a:spcPct val="120000"/>
              </a:lnSpc>
            </a:pPr>
            <a:r>
              <a:rPr lang="en-US" sz="946" dirty="0">
                <a:solidFill>
                  <a:srgbClr val="F1F5F9">
                    <a:alpha val="80000"/>
                  </a:srgbClr>
                </a:solidFill>
                <a:latin typeface="Quattrocento Sans" pitchFamily="34" charset="0"/>
                <a:ea typeface="Quattrocento Sans" pitchFamily="34" charset="-122"/>
                <a:cs typeface="Quattrocento Sans" pitchFamily="34" charset="-120"/>
              </a:rPr>
              <a:t>Automated token system eliminates appointment scheduling conflicts</a:t>
            </a:r>
            <a:endParaRPr lang="en-US" sz="1600" dirty="0"/>
          </a:p>
        </p:txBody>
      </p:sp>
      <p:sp>
        <p:nvSpPr>
          <p:cNvPr id="14" name="Shape 11"/>
          <p:cNvSpPr/>
          <p:nvPr/>
        </p:nvSpPr>
        <p:spPr>
          <a:xfrm>
            <a:off x="6169946" y="2862544"/>
            <a:ext cx="3767500" cy="1208897"/>
          </a:xfrm>
          <a:custGeom>
            <a:avLst/>
            <a:gdLst/>
            <a:ahLst/>
            <a:cxnLst/>
            <a:rect l="l" t="t" r="r" b="b"/>
            <a:pathLst>
              <a:path w="3767500" h="1208897">
                <a:moveTo>
                  <a:pt x="103034" y="0"/>
                </a:moveTo>
                <a:lnTo>
                  <a:pt x="3664465" y="0"/>
                </a:lnTo>
                <a:cubicBezTo>
                  <a:pt x="3721370" y="0"/>
                  <a:pt x="3767500" y="46130"/>
                  <a:pt x="3767500" y="103034"/>
                </a:cubicBezTo>
                <a:lnTo>
                  <a:pt x="3767500" y="1105863"/>
                </a:lnTo>
                <a:cubicBezTo>
                  <a:pt x="3767500" y="1162767"/>
                  <a:pt x="3721370" y="1208897"/>
                  <a:pt x="3664465" y="1208897"/>
                </a:cubicBezTo>
                <a:lnTo>
                  <a:pt x="103034" y="1208897"/>
                </a:lnTo>
                <a:cubicBezTo>
                  <a:pt x="46130" y="1208897"/>
                  <a:pt x="0" y="1162767"/>
                  <a:pt x="0" y="1105863"/>
                </a:cubicBezTo>
                <a:lnTo>
                  <a:pt x="0" y="103034"/>
                </a:lnTo>
                <a:cubicBezTo>
                  <a:pt x="0" y="46130"/>
                  <a:pt x="46130" y="0"/>
                  <a:pt x="103034" y="0"/>
                </a:cubicBezTo>
                <a:close/>
              </a:path>
            </a:pathLst>
          </a:custGeom>
          <a:solidFill>
            <a:srgbClr val="FFFFFF">
              <a:alpha val="10196"/>
            </a:srgbClr>
          </a:solidFill>
          <a:ln w="10160">
            <a:solidFill>
              <a:srgbClr val="FFFFFF">
                <a:alpha val="20000"/>
              </a:srgbClr>
            </a:solidFill>
            <a:prstDash val="solid"/>
          </a:ln>
        </p:spPr>
      </p:sp>
      <p:sp>
        <p:nvSpPr>
          <p:cNvPr id="15" name="Shape 12"/>
          <p:cNvSpPr/>
          <p:nvPr/>
        </p:nvSpPr>
        <p:spPr>
          <a:xfrm>
            <a:off x="6345099" y="3037699"/>
            <a:ext cx="412124" cy="412124"/>
          </a:xfrm>
          <a:custGeom>
            <a:avLst/>
            <a:gdLst/>
            <a:ahLst/>
            <a:cxnLst/>
            <a:rect l="l" t="t" r="r" b="b"/>
            <a:pathLst>
              <a:path w="412124" h="412124">
                <a:moveTo>
                  <a:pt x="68689" y="0"/>
                </a:moveTo>
                <a:lnTo>
                  <a:pt x="343435" y="0"/>
                </a:lnTo>
                <a:cubicBezTo>
                  <a:pt x="381346" y="0"/>
                  <a:pt x="412124" y="30778"/>
                  <a:pt x="412124" y="68689"/>
                </a:cubicBezTo>
                <a:lnTo>
                  <a:pt x="412124" y="343435"/>
                </a:lnTo>
                <a:cubicBezTo>
                  <a:pt x="412124" y="381346"/>
                  <a:pt x="381346" y="412124"/>
                  <a:pt x="343435" y="412124"/>
                </a:cubicBezTo>
                <a:lnTo>
                  <a:pt x="68689" y="412124"/>
                </a:lnTo>
                <a:cubicBezTo>
                  <a:pt x="30778" y="412124"/>
                  <a:pt x="0" y="381346"/>
                  <a:pt x="0" y="343435"/>
                </a:cubicBezTo>
                <a:lnTo>
                  <a:pt x="0" y="68689"/>
                </a:lnTo>
                <a:cubicBezTo>
                  <a:pt x="0" y="30753"/>
                  <a:pt x="30753" y="0"/>
                  <a:pt x="68689" y="0"/>
                </a:cubicBezTo>
                <a:close/>
              </a:path>
            </a:pathLst>
          </a:custGeom>
          <a:solidFill>
            <a:srgbClr val="10B981">
              <a:alpha val="20000"/>
            </a:srgbClr>
          </a:solidFill>
          <a:ln/>
        </p:spPr>
      </p:sp>
      <p:sp>
        <p:nvSpPr>
          <p:cNvPr id="16" name="Shape 13"/>
          <p:cNvSpPr/>
          <p:nvPr/>
        </p:nvSpPr>
        <p:spPr>
          <a:xfrm>
            <a:off x="6476034" y="3157902"/>
            <a:ext cx="150254" cy="171718"/>
          </a:xfrm>
          <a:custGeom>
            <a:avLst/>
            <a:gdLst/>
            <a:ahLst/>
            <a:cxnLst/>
            <a:rect l="l" t="t" r="r" b="b"/>
            <a:pathLst>
              <a:path w="150254" h="171718">
                <a:moveTo>
                  <a:pt x="75127" y="2683"/>
                </a:moveTo>
                <a:cubicBezTo>
                  <a:pt x="52914" y="2683"/>
                  <a:pt x="34880" y="20717"/>
                  <a:pt x="34880" y="42930"/>
                </a:cubicBezTo>
                <a:cubicBezTo>
                  <a:pt x="34880" y="65142"/>
                  <a:pt x="52914" y="83176"/>
                  <a:pt x="75127" y="83176"/>
                </a:cubicBezTo>
                <a:cubicBezTo>
                  <a:pt x="97339" y="83176"/>
                  <a:pt x="115373" y="65142"/>
                  <a:pt x="115373" y="42930"/>
                </a:cubicBezTo>
                <a:cubicBezTo>
                  <a:pt x="115373" y="20717"/>
                  <a:pt x="97339" y="2683"/>
                  <a:pt x="75127" y="2683"/>
                </a:cubicBezTo>
                <a:close/>
                <a:moveTo>
                  <a:pt x="95250" y="107592"/>
                </a:moveTo>
                <a:cubicBezTo>
                  <a:pt x="93439" y="107425"/>
                  <a:pt x="91561" y="107324"/>
                  <a:pt x="89683" y="107324"/>
                </a:cubicBezTo>
                <a:lnTo>
                  <a:pt x="60537" y="107324"/>
                </a:lnTo>
                <a:cubicBezTo>
                  <a:pt x="58659" y="107324"/>
                  <a:pt x="56815" y="107425"/>
                  <a:pt x="54970" y="107592"/>
                </a:cubicBezTo>
                <a:lnTo>
                  <a:pt x="54970" y="130231"/>
                </a:lnTo>
                <a:cubicBezTo>
                  <a:pt x="60504" y="132780"/>
                  <a:pt x="64361" y="138381"/>
                  <a:pt x="64361" y="144854"/>
                </a:cubicBezTo>
                <a:cubicBezTo>
                  <a:pt x="64361" y="153742"/>
                  <a:pt x="57150" y="160952"/>
                  <a:pt x="48262" y="160952"/>
                </a:cubicBezTo>
                <a:cubicBezTo>
                  <a:pt x="39374" y="160952"/>
                  <a:pt x="32164" y="153742"/>
                  <a:pt x="32164" y="144854"/>
                </a:cubicBezTo>
                <a:cubicBezTo>
                  <a:pt x="32164" y="138347"/>
                  <a:pt x="36021" y="132746"/>
                  <a:pt x="41554" y="130231"/>
                </a:cubicBezTo>
                <a:lnTo>
                  <a:pt x="41554" y="110644"/>
                </a:lnTo>
                <a:cubicBezTo>
                  <a:pt x="20459" y="118392"/>
                  <a:pt x="5366" y="138716"/>
                  <a:pt x="5366" y="162529"/>
                </a:cubicBezTo>
                <a:cubicBezTo>
                  <a:pt x="5366" y="167593"/>
                  <a:pt x="9491" y="171718"/>
                  <a:pt x="14556" y="171718"/>
                </a:cubicBezTo>
                <a:lnTo>
                  <a:pt x="135664" y="171718"/>
                </a:lnTo>
                <a:cubicBezTo>
                  <a:pt x="140729" y="171718"/>
                  <a:pt x="144854" y="167593"/>
                  <a:pt x="144854" y="162529"/>
                </a:cubicBezTo>
                <a:cubicBezTo>
                  <a:pt x="144854" y="138716"/>
                  <a:pt x="129761" y="118425"/>
                  <a:pt x="108632" y="110678"/>
                </a:cubicBezTo>
                <a:lnTo>
                  <a:pt x="108632" y="123221"/>
                </a:lnTo>
                <a:cubicBezTo>
                  <a:pt x="116446" y="125971"/>
                  <a:pt x="122047" y="133451"/>
                  <a:pt x="122047" y="142204"/>
                </a:cubicBezTo>
                <a:lnTo>
                  <a:pt x="122047" y="152937"/>
                </a:lnTo>
                <a:cubicBezTo>
                  <a:pt x="122047" y="156626"/>
                  <a:pt x="119029" y="159644"/>
                  <a:pt x="115340" y="159644"/>
                </a:cubicBezTo>
                <a:cubicBezTo>
                  <a:pt x="111650" y="159644"/>
                  <a:pt x="108632" y="156626"/>
                  <a:pt x="108632" y="152937"/>
                </a:cubicBezTo>
                <a:lnTo>
                  <a:pt x="108632" y="142204"/>
                </a:lnTo>
                <a:cubicBezTo>
                  <a:pt x="108632" y="138515"/>
                  <a:pt x="105613" y="135496"/>
                  <a:pt x="101924" y="135496"/>
                </a:cubicBezTo>
                <a:cubicBezTo>
                  <a:pt x="98235" y="135496"/>
                  <a:pt x="95216" y="138515"/>
                  <a:pt x="95216" y="142204"/>
                </a:cubicBezTo>
                <a:lnTo>
                  <a:pt x="95216" y="152937"/>
                </a:lnTo>
                <a:cubicBezTo>
                  <a:pt x="95216" y="156626"/>
                  <a:pt x="92198" y="159644"/>
                  <a:pt x="88509" y="159644"/>
                </a:cubicBezTo>
                <a:cubicBezTo>
                  <a:pt x="84819" y="159644"/>
                  <a:pt x="81801" y="156626"/>
                  <a:pt x="81801" y="152937"/>
                </a:cubicBezTo>
                <a:lnTo>
                  <a:pt x="81801" y="142204"/>
                </a:lnTo>
                <a:cubicBezTo>
                  <a:pt x="81801" y="133451"/>
                  <a:pt x="87402" y="126005"/>
                  <a:pt x="95216" y="123221"/>
                </a:cubicBezTo>
                <a:lnTo>
                  <a:pt x="95216" y="107592"/>
                </a:lnTo>
                <a:close/>
              </a:path>
            </a:pathLst>
          </a:custGeom>
          <a:solidFill>
            <a:srgbClr val="10B981"/>
          </a:solidFill>
          <a:ln/>
        </p:spPr>
      </p:sp>
      <p:sp>
        <p:nvSpPr>
          <p:cNvPr id="17" name="Text 14"/>
          <p:cNvSpPr/>
          <p:nvPr/>
        </p:nvSpPr>
        <p:spPr>
          <a:xfrm>
            <a:off x="6860254" y="3123559"/>
            <a:ext cx="1038896" cy="240406"/>
          </a:xfrm>
          <a:prstGeom prst="rect">
            <a:avLst/>
          </a:prstGeom>
          <a:noFill/>
          <a:ln/>
        </p:spPr>
        <p:txBody>
          <a:bodyPr wrap="square" lIns="0" tIns="0" rIns="0" bIns="0" rtlCol="0" anchor="ctr"/>
          <a:lstStyle/>
          <a:p>
            <a:pPr>
              <a:lnSpc>
                <a:spcPct val="130000"/>
              </a:lnSpc>
            </a:pPr>
            <a:r>
              <a:rPr lang="en-US" sz="1217" b="1" dirty="0">
                <a:solidFill>
                  <a:srgbClr val="F1F5F9"/>
                </a:solidFill>
                <a:latin typeface="Liter" pitchFamily="34" charset="0"/>
                <a:ea typeface="Liter" pitchFamily="34" charset="-122"/>
                <a:cs typeface="Liter" pitchFamily="34" charset="-120"/>
              </a:rPr>
              <a:t>Better Service</a:t>
            </a:r>
            <a:endParaRPr lang="en-US" sz="1600" dirty="0"/>
          </a:p>
        </p:txBody>
      </p:sp>
      <p:sp>
        <p:nvSpPr>
          <p:cNvPr id="18" name="Text 15"/>
          <p:cNvSpPr/>
          <p:nvPr/>
        </p:nvSpPr>
        <p:spPr>
          <a:xfrm>
            <a:off x="6345099" y="3552854"/>
            <a:ext cx="3477296" cy="171718"/>
          </a:xfrm>
          <a:prstGeom prst="rect">
            <a:avLst/>
          </a:prstGeom>
          <a:noFill/>
          <a:ln/>
        </p:spPr>
        <p:txBody>
          <a:bodyPr wrap="square" lIns="0" tIns="0" rIns="0" bIns="0" rtlCol="0" anchor="ctr"/>
          <a:lstStyle/>
          <a:p>
            <a:pPr>
              <a:lnSpc>
                <a:spcPct val="120000"/>
              </a:lnSpc>
            </a:pPr>
            <a:r>
              <a:rPr lang="en-US" sz="946" dirty="0">
                <a:solidFill>
                  <a:srgbClr val="F1F5F9">
                    <a:alpha val="80000"/>
                  </a:srgbClr>
                </a:solidFill>
                <a:latin typeface="Quattrocento Sans" pitchFamily="34" charset="0"/>
                <a:ea typeface="Quattrocento Sans" pitchFamily="34" charset="-122"/>
                <a:cs typeface="Quattrocento Sans" pitchFamily="34" charset="-120"/>
              </a:rPr>
              <a:t>Improved patient experience through streamlined processes</a:t>
            </a:r>
            <a:endParaRPr lang="en-US" sz="1600" dirty="0"/>
          </a:p>
        </p:txBody>
      </p:sp>
      <p:sp>
        <p:nvSpPr>
          <p:cNvPr id="19" name="Shape 16"/>
          <p:cNvSpPr/>
          <p:nvPr/>
        </p:nvSpPr>
        <p:spPr>
          <a:xfrm>
            <a:off x="2254769" y="4215685"/>
            <a:ext cx="3767500" cy="1037179"/>
          </a:xfrm>
          <a:custGeom>
            <a:avLst/>
            <a:gdLst/>
            <a:ahLst/>
            <a:cxnLst/>
            <a:rect l="l" t="t" r="r" b="b"/>
            <a:pathLst>
              <a:path w="3767500" h="1037179">
                <a:moveTo>
                  <a:pt x="103033" y="0"/>
                </a:moveTo>
                <a:lnTo>
                  <a:pt x="3664466" y="0"/>
                </a:lnTo>
                <a:cubicBezTo>
                  <a:pt x="3721370" y="0"/>
                  <a:pt x="3767500" y="46130"/>
                  <a:pt x="3767500" y="103033"/>
                </a:cubicBezTo>
                <a:lnTo>
                  <a:pt x="3767500" y="934145"/>
                </a:lnTo>
                <a:cubicBezTo>
                  <a:pt x="3767500" y="991049"/>
                  <a:pt x="3721370" y="1037179"/>
                  <a:pt x="3664466" y="1037179"/>
                </a:cubicBezTo>
                <a:lnTo>
                  <a:pt x="103033" y="1037179"/>
                </a:lnTo>
                <a:cubicBezTo>
                  <a:pt x="46130" y="1037179"/>
                  <a:pt x="0" y="991049"/>
                  <a:pt x="0" y="934145"/>
                </a:cubicBezTo>
                <a:lnTo>
                  <a:pt x="0" y="103033"/>
                </a:lnTo>
                <a:cubicBezTo>
                  <a:pt x="0" y="46168"/>
                  <a:pt x="46168" y="0"/>
                  <a:pt x="103033" y="0"/>
                </a:cubicBezTo>
                <a:close/>
              </a:path>
            </a:pathLst>
          </a:custGeom>
          <a:solidFill>
            <a:srgbClr val="FFFFFF">
              <a:alpha val="10196"/>
            </a:srgbClr>
          </a:solidFill>
          <a:ln w="10160">
            <a:solidFill>
              <a:srgbClr val="FFFFFF">
                <a:alpha val="20000"/>
              </a:srgbClr>
            </a:solidFill>
            <a:prstDash val="solid"/>
          </a:ln>
        </p:spPr>
      </p:sp>
      <p:sp>
        <p:nvSpPr>
          <p:cNvPr id="20" name="Shape 17"/>
          <p:cNvSpPr/>
          <p:nvPr/>
        </p:nvSpPr>
        <p:spPr>
          <a:xfrm>
            <a:off x="2429922" y="4390836"/>
            <a:ext cx="412124" cy="412124"/>
          </a:xfrm>
          <a:custGeom>
            <a:avLst/>
            <a:gdLst/>
            <a:ahLst/>
            <a:cxnLst/>
            <a:rect l="l" t="t" r="r" b="b"/>
            <a:pathLst>
              <a:path w="412124" h="412124">
                <a:moveTo>
                  <a:pt x="68689" y="0"/>
                </a:moveTo>
                <a:lnTo>
                  <a:pt x="343435" y="0"/>
                </a:lnTo>
                <a:cubicBezTo>
                  <a:pt x="381346" y="0"/>
                  <a:pt x="412124" y="30778"/>
                  <a:pt x="412124" y="68689"/>
                </a:cubicBezTo>
                <a:lnTo>
                  <a:pt x="412124" y="343435"/>
                </a:lnTo>
                <a:cubicBezTo>
                  <a:pt x="412124" y="381346"/>
                  <a:pt x="381346" y="412124"/>
                  <a:pt x="343435" y="412124"/>
                </a:cubicBezTo>
                <a:lnTo>
                  <a:pt x="68689" y="412124"/>
                </a:lnTo>
                <a:cubicBezTo>
                  <a:pt x="30778" y="412124"/>
                  <a:pt x="0" y="381346"/>
                  <a:pt x="0" y="343435"/>
                </a:cubicBezTo>
                <a:lnTo>
                  <a:pt x="0" y="68689"/>
                </a:lnTo>
                <a:cubicBezTo>
                  <a:pt x="0" y="30753"/>
                  <a:pt x="30753" y="0"/>
                  <a:pt x="68689" y="0"/>
                </a:cubicBezTo>
                <a:close/>
              </a:path>
            </a:pathLst>
          </a:custGeom>
          <a:solidFill>
            <a:srgbClr val="10B981">
              <a:alpha val="20000"/>
            </a:srgbClr>
          </a:solidFill>
          <a:ln/>
        </p:spPr>
      </p:sp>
      <p:sp>
        <p:nvSpPr>
          <p:cNvPr id="21" name="Shape 18"/>
          <p:cNvSpPr/>
          <p:nvPr/>
        </p:nvSpPr>
        <p:spPr>
          <a:xfrm>
            <a:off x="2550124" y="4511043"/>
            <a:ext cx="171718" cy="171718"/>
          </a:xfrm>
          <a:custGeom>
            <a:avLst/>
            <a:gdLst/>
            <a:ahLst/>
            <a:cxnLst/>
            <a:rect l="l" t="t" r="r" b="b"/>
            <a:pathLst>
              <a:path w="171718" h="171718">
                <a:moveTo>
                  <a:pt x="85859" y="0"/>
                </a:moveTo>
                <a:cubicBezTo>
                  <a:pt x="87402" y="0"/>
                  <a:pt x="88945" y="335"/>
                  <a:pt x="90353" y="973"/>
                </a:cubicBezTo>
                <a:lnTo>
                  <a:pt x="153540" y="27770"/>
                </a:lnTo>
                <a:cubicBezTo>
                  <a:pt x="160919" y="30889"/>
                  <a:pt x="166419" y="38167"/>
                  <a:pt x="166386" y="46954"/>
                </a:cubicBezTo>
                <a:cubicBezTo>
                  <a:pt x="166218" y="80225"/>
                  <a:pt x="152534" y="141097"/>
                  <a:pt x="94747" y="168767"/>
                </a:cubicBezTo>
                <a:cubicBezTo>
                  <a:pt x="89146" y="171450"/>
                  <a:pt x="82639" y="171450"/>
                  <a:pt x="77038" y="168767"/>
                </a:cubicBezTo>
                <a:cubicBezTo>
                  <a:pt x="19218" y="141097"/>
                  <a:pt x="5567" y="80225"/>
                  <a:pt x="5400" y="46954"/>
                </a:cubicBezTo>
                <a:cubicBezTo>
                  <a:pt x="5366" y="38167"/>
                  <a:pt x="10867" y="30889"/>
                  <a:pt x="18245" y="27770"/>
                </a:cubicBezTo>
                <a:lnTo>
                  <a:pt x="81399" y="973"/>
                </a:lnTo>
                <a:cubicBezTo>
                  <a:pt x="82807" y="335"/>
                  <a:pt x="84316" y="0"/>
                  <a:pt x="85859" y="0"/>
                </a:cubicBezTo>
                <a:close/>
                <a:moveTo>
                  <a:pt x="85859" y="22404"/>
                </a:moveTo>
                <a:lnTo>
                  <a:pt x="85859" y="149214"/>
                </a:lnTo>
                <a:cubicBezTo>
                  <a:pt x="132143" y="126810"/>
                  <a:pt x="144585" y="77173"/>
                  <a:pt x="144887" y="47457"/>
                </a:cubicBezTo>
                <a:lnTo>
                  <a:pt x="85859" y="22437"/>
                </a:lnTo>
                <a:lnTo>
                  <a:pt x="85859" y="22437"/>
                </a:lnTo>
                <a:close/>
              </a:path>
            </a:pathLst>
          </a:custGeom>
          <a:solidFill>
            <a:srgbClr val="10B981"/>
          </a:solidFill>
          <a:ln/>
        </p:spPr>
      </p:sp>
      <p:sp>
        <p:nvSpPr>
          <p:cNvPr id="22" name="Text 19"/>
          <p:cNvSpPr/>
          <p:nvPr/>
        </p:nvSpPr>
        <p:spPr>
          <a:xfrm>
            <a:off x="2945076" y="4476700"/>
            <a:ext cx="1124755" cy="240406"/>
          </a:xfrm>
          <a:prstGeom prst="rect">
            <a:avLst/>
          </a:prstGeom>
          <a:noFill/>
          <a:ln/>
        </p:spPr>
        <p:txBody>
          <a:bodyPr wrap="square" lIns="0" tIns="0" rIns="0" bIns="0" rtlCol="0" anchor="ctr"/>
          <a:lstStyle/>
          <a:p>
            <a:pPr>
              <a:lnSpc>
                <a:spcPct val="130000"/>
              </a:lnSpc>
            </a:pPr>
            <a:r>
              <a:rPr lang="en-US" sz="1217" b="1" dirty="0">
                <a:solidFill>
                  <a:srgbClr val="F1F5F9"/>
                </a:solidFill>
                <a:latin typeface="Liter" pitchFamily="34" charset="0"/>
                <a:ea typeface="Liter" pitchFamily="34" charset="-122"/>
                <a:cs typeface="Liter" pitchFamily="34" charset="-120"/>
              </a:rPr>
              <a:t>Secure Storage</a:t>
            </a:r>
            <a:endParaRPr lang="en-US" sz="1600" dirty="0"/>
          </a:p>
        </p:txBody>
      </p:sp>
      <p:sp>
        <p:nvSpPr>
          <p:cNvPr id="23" name="Text 20"/>
          <p:cNvSpPr/>
          <p:nvPr/>
        </p:nvSpPr>
        <p:spPr>
          <a:xfrm>
            <a:off x="2429922" y="4905995"/>
            <a:ext cx="3477296" cy="171718"/>
          </a:xfrm>
          <a:prstGeom prst="rect">
            <a:avLst/>
          </a:prstGeom>
          <a:noFill/>
          <a:ln/>
        </p:spPr>
        <p:txBody>
          <a:bodyPr wrap="square" lIns="0" tIns="0" rIns="0" bIns="0" rtlCol="0" anchor="ctr"/>
          <a:lstStyle/>
          <a:p>
            <a:pPr>
              <a:lnSpc>
                <a:spcPct val="120000"/>
              </a:lnSpc>
            </a:pPr>
            <a:r>
              <a:rPr lang="en-US" sz="946" dirty="0">
                <a:solidFill>
                  <a:srgbClr val="F1F5F9">
                    <a:alpha val="80000"/>
                  </a:srgbClr>
                </a:solidFill>
                <a:latin typeface="Quattrocento Sans" pitchFamily="34" charset="0"/>
                <a:ea typeface="Quattrocento Sans" pitchFamily="34" charset="-122"/>
                <a:cs typeface="Quattrocento Sans" pitchFamily="34" charset="-120"/>
              </a:rPr>
              <a:t>Medical records stored securely with proper access controls</a:t>
            </a:r>
            <a:endParaRPr lang="en-US" sz="1600" dirty="0"/>
          </a:p>
        </p:txBody>
      </p:sp>
      <p:sp>
        <p:nvSpPr>
          <p:cNvPr id="24" name="Shape 21"/>
          <p:cNvSpPr/>
          <p:nvPr/>
        </p:nvSpPr>
        <p:spPr>
          <a:xfrm>
            <a:off x="6169946" y="4215685"/>
            <a:ext cx="3767500" cy="1037179"/>
          </a:xfrm>
          <a:custGeom>
            <a:avLst/>
            <a:gdLst/>
            <a:ahLst/>
            <a:cxnLst/>
            <a:rect l="l" t="t" r="r" b="b"/>
            <a:pathLst>
              <a:path w="3767500" h="1037179">
                <a:moveTo>
                  <a:pt x="103033" y="0"/>
                </a:moveTo>
                <a:lnTo>
                  <a:pt x="3664466" y="0"/>
                </a:lnTo>
                <a:cubicBezTo>
                  <a:pt x="3721370" y="0"/>
                  <a:pt x="3767500" y="46130"/>
                  <a:pt x="3767500" y="103033"/>
                </a:cubicBezTo>
                <a:lnTo>
                  <a:pt x="3767500" y="934145"/>
                </a:lnTo>
                <a:cubicBezTo>
                  <a:pt x="3767500" y="991049"/>
                  <a:pt x="3721370" y="1037179"/>
                  <a:pt x="3664466" y="1037179"/>
                </a:cubicBezTo>
                <a:lnTo>
                  <a:pt x="103033" y="1037179"/>
                </a:lnTo>
                <a:cubicBezTo>
                  <a:pt x="46130" y="1037179"/>
                  <a:pt x="0" y="991049"/>
                  <a:pt x="0" y="934145"/>
                </a:cubicBezTo>
                <a:lnTo>
                  <a:pt x="0" y="103033"/>
                </a:lnTo>
                <a:cubicBezTo>
                  <a:pt x="0" y="46168"/>
                  <a:pt x="46168" y="0"/>
                  <a:pt x="103033" y="0"/>
                </a:cubicBezTo>
                <a:close/>
              </a:path>
            </a:pathLst>
          </a:custGeom>
          <a:solidFill>
            <a:srgbClr val="FFFFFF">
              <a:alpha val="10196"/>
            </a:srgbClr>
          </a:solidFill>
          <a:ln w="10160">
            <a:solidFill>
              <a:srgbClr val="FFFFFF">
                <a:alpha val="20000"/>
              </a:srgbClr>
            </a:solidFill>
            <a:prstDash val="solid"/>
          </a:ln>
        </p:spPr>
      </p:sp>
      <p:sp>
        <p:nvSpPr>
          <p:cNvPr id="25" name="Shape 22"/>
          <p:cNvSpPr/>
          <p:nvPr/>
        </p:nvSpPr>
        <p:spPr>
          <a:xfrm>
            <a:off x="6345099" y="4390836"/>
            <a:ext cx="412124" cy="412124"/>
          </a:xfrm>
          <a:custGeom>
            <a:avLst/>
            <a:gdLst/>
            <a:ahLst/>
            <a:cxnLst/>
            <a:rect l="l" t="t" r="r" b="b"/>
            <a:pathLst>
              <a:path w="412124" h="412124">
                <a:moveTo>
                  <a:pt x="68689" y="0"/>
                </a:moveTo>
                <a:lnTo>
                  <a:pt x="343435" y="0"/>
                </a:lnTo>
                <a:cubicBezTo>
                  <a:pt x="381346" y="0"/>
                  <a:pt x="412124" y="30778"/>
                  <a:pt x="412124" y="68689"/>
                </a:cubicBezTo>
                <a:lnTo>
                  <a:pt x="412124" y="343435"/>
                </a:lnTo>
                <a:cubicBezTo>
                  <a:pt x="412124" y="381346"/>
                  <a:pt x="381346" y="412124"/>
                  <a:pt x="343435" y="412124"/>
                </a:cubicBezTo>
                <a:lnTo>
                  <a:pt x="68689" y="412124"/>
                </a:lnTo>
                <a:cubicBezTo>
                  <a:pt x="30778" y="412124"/>
                  <a:pt x="0" y="381346"/>
                  <a:pt x="0" y="343435"/>
                </a:cubicBezTo>
                <a:lnTo>
                  <a:pt x="0" y="68689"/>
                </a:lnTo>
                <a:cubicBezTo>
                  <a:pt x="0" y="30753"/>
                  <a:pt x="30753" y="0"/>
                  <a:pt x="68689" y="0"/>
                </a:cubicBezTo>
                <a:close/>
              </a:path>
            </a:pathLst>
          </a:custGeom>
          <a:solidFill>
            <a:srgbClr val="10B981">
              <a:alpha val="20000"/>
            </a:srgbClr>
          </a:solidFill>
          <a:ln/>
        </p:spPr>
      </p:sp>
      <p:sp>
        <p:nvSpPr>
          <p:cNvPr id="26" name="Shape 23"/>
          <p:cNvSpPr/>
          <p:nvPr/>
        </p:nvSpPr>
        <p:spPr>
          <a:xfrm>
            <a:off x="6465302" y="4511043"/>
            <a:ext cx="171718" cy="171718"/>
          </a:xfrm>
          <a:custGeom>
            <a:avLst/>
            <a:gdLst/>
            <a:ahLst/>
            <a:cxnLst/>
            <a:rect l="l" t="t" r="r" b="b"/>
            <a:pathLst>
              <a:path w="171718" h="171718">
                <a:moveTo>
                  <a:pt x="0" y="42930"/>
                </a:moveTo>
                <a:lnTo>
                  <a:pt x="0" y="53662"/>
                </a:lnTo>
                <a:lnTo>
                  <a:pt x="171718" y="53662"/>
                </a:lnTo>
                <a:lnTo>
                  <a:pt x="171718" y="42930"/>
                </a:lnTo>
                <a:cubicBezTo>
                  <a:pt x="171718" y="31090"/>
                  <a:pt x="162093" y="21465"/>
                  <a:pt x="150254" y="21465"/>
                </a:cubicBezTo>
                <a:lnTo>
                  <a:pt x="21465" y="21465"/>
                </a:lnTo>
                <a:cubicBezTo>
                  <a:pt x="9626" y="21465"/>
                  <a:pt x="0" y="31090"/>
                  <a:pt x="0" y="42930"/>
                </a:cubicBezTo>
                <a:close/>
                <a:moveTo>
                  <a:pt x="0" y="69761"/>
                </a:moveTo>
                <a:lnTo>
                  <a:pt x="0" y="128789"/>
                </a:lnTo>
                <a:cubicBezTo>
                  <a:pt x="0" y="140628"/>
                  <a:pt x="9626" y="150254"/>
                  <a:pt x="21465" y="150254"/>
                </a:cubicBezTo>
                <a:lnTo>
                  <a:pt x="150254" y="150254"/>
                </a:lnTo>
                <a:cubicBezTo>
                  <a:pt x="162093" y="150254"/>
                  <a:pt x="171718" y="140628"/>
                  <a:pt x="171718" y="128789"/>
                </a:cubicBezTo>
                <a:lnTo>
                  <a:pt x="171718" y="69761"/>
                </a:lnTo>
                <a:lnTo>
                  <a:pt x="0" y="69761"/>
                </a:lnTo>
                <a:close/>
                <a:moveTo>
                  <a:pt x="21465" y="120739"/>
                </a:moveTo>
                <a:cubicBezTo>
                  <a:pt x="21465" y="116279"/>
                  <a:pt x="25053" y="112690"/>
                  <a:pt x="29514" y="112690"/>
                </a:cubicBezTo>
                <a:lnTo>
                  <a:pt x="45613" y="112690"/>
                </a:lnTo>
                <a:cubicBezTo>
                  <a:pt x="50073" y="112690"/>
                  <a:pt x="53662" y="116279"/>
                  <a:pt x="53662" y="120739"/>
                </a:cubicBezTo>
                <a:cubicBezTo>
                  <a:pt x="53662" y="125200"/>
                  <a:pt x="50073" y="128789"/>
                  <a:pt x="45613" y="128789"/>
                </a:cubicBezTo>
                <a:lnTo>
                  <a:pt x="29514" y="128789"/>
                </a:lnTo>
                <a:cubicBezTo>
                  <a:pt x="25053" y="128789"/>
                  <a:pt x="21465" y="125200"/>
                  <a:pt x="21465" y="120739"/>
                </a:cubicBezTo>
                <a:close/>
                <a:moveTo>
                  <a:pt x="69761" y="120739"/>
                </a:moveTo>
                <a:cubicBezTo>
                  <a:pt x="69761" y="116279"/>
                  <a:pt x="73349" y="112690"/>
                  <a:pt x="77810" y="112690"/>
                </a:cubicBezTo>
                <a:lnTo>
                  <a:pt x="99275" y="112690"/>
                </a:lnTo>
                <a:cubicBezTo>
                  <a:pt x="103735" y="112690"/>
                  <a:pt x="107324" y="116279"/>
                  <a:pt x="107324" y="120739"/>
                </a:cubicBezTo>
                <a:cubicBezTo>
                  <a:pt x="107324" y="125200"/>
                  <a:pt x="103735" y="128789"/>
                  <a:pt x="99275" y="128789"/>
                </a:cubicBezTo>
                <a:lnTo>
                  <a:pt x="77810" y="128789"/>
                </a:lnTo>
                <a:cubicBezTo>
                  <a:pt x="73349" y="128789"/>
                  <a:pt x="69761" y="125200"/>
                  <a:pt x="69761" y="120739"/>
                </a:cubicBezTo>
                <a:close/>
              </a:path>
            </a:pathLst>
          </a:custGeom>
          <a:solidFill>
            <a:srgbClr val="10B981"/>
          </a:solidFill>
          <a:ln/>
        </p:spPr>
      </p:sp>
      <p:sp>
        <p:nvSpPr>
          <p:cNvPr id="27" name="Text 24"/>
          <p:cNvSpPr/>
          <p:nvPr/>
        </p:nvSpPr>
        <p:spPr>
          <a:xfrm>
            <a:off x="6860254" y="4476700"/>
            <a:ext cx="1305059" cy="240406"/>
          </a:xfrm>
          <a:prstGeom prst="rect">
            <a:avLst/>
          </a:prstGeom>
          <a:noFill/>
          <a:ln/>
        </p:spPr>
        <p:txBody>
          <a:bodyPr wrap="square" lIns="0" tIns="0" rIns="0" bIns="0" rtlCol="0" anchor="ctr"/>
          <a:lstStyle/>
          <a:p>
            <a:pPr>
              <a:lnSpc>
                <a:spcPct val="130000"/>
              </a:lnSpc>
            </a:pPr>
            <a:r>
              <a:rPr lang="en-US" sz="1217" b="1" dirty="0">
                <a:solidFill>
                  <a:srgbClr val="F1F5F9"/>
                </a:solidFill>
                <a:latin typeface="Liter" pitchFamily="34" charset="0"/>
                <a:ea typeface="Liter" pitchFamily="34" charset="-122"/>
                <a:cs typeface="Liter" pitchFamily="34" charset="-120"/>
              </a:rPr>
              <a:t>Payment Tracking</a:t>
            </a:r>
            <a:endParaRPr lang="en-US" sz="1600" dirty="0"/>
          </a:p>
        </p:txBody>
      </p:sp>
      <p:sp>
        <p:nvSpPr>
          <p:cNvPr id="28" name="Text 25"/>
          <p:cNvSpPr/>
          <p:nvPr/>
        </p:nvSpPr>
        <p:spPr>
          <a:xfrm>
            <a:off x="6345099" y="4905995"/>
            <a:ext cx="3477296" cy="171718"/>
          </a:xfrm>
          <a:prstGeom prst="rect">
            <a:avLst/>
          </a:prstGeom>
          <a:noFill/>
          <a:ln/>
        </p:spPr>
        <p:txBody>
          <a:bodyPr wrap="square" lIns="0" tIns="0" rIns="0" bIns="0" rtlCol="0" anchor="ctr"/>
          <a:lstStyle/>
          <a:p>
            <a:pPr>
              <a:lnSpc>
                <a:spcPct val="120000"/>
              </a:lnSpc>
            </a:pPr>
            <a:r>
              <a:rPr lang="en-US" sz="946" dirty="0">
                <a:solidFill>
                  <a:srgbClr val="F1F5F9">
                    <a:alpha val="80000"/>
                  </a:srgbClr>
                </a:solidFill>
                <a:latin typeface="Quattrocento Sans" pitchFamily="34" charset="0"/>
                <a:ea typeface="Quattrocento Sans" pitchFamily="34" charset="-122"/>
                <a:cs typeface="Quattrocento Sans" pitchFamily="34" charset="-120"/>
              </a:rPr>
              <a:t>Efficient payment management with transaction ID tracking</a:t>
            </a:r>
            <a:endParaRPr lang="en-US" sz="1600" dirty="0"/>
          </a:p>
        </p:txBody>
      </p:sp>
      <p:sp>
        <p:nvSpPr>
          <p:cNvPr id="29" name="Shape 26"/>
          <p:cNvSpPr/>
          <p:nvPr/>
        </p:nvSpPr>
        <p:spPr>
          <a:xfrm>
            <a:off x="4660543" y="5534483"/>
            <a:ext cx="2874565" cy="831117"/>
          </a:xfrm>
          <a:custGeom>
            <a:avLst/>
            <a:gdLst/>
            <a:ahLst/>
            <a:cxnLst/>
            <a:rect l="l" t="t" r="r" b="b"/>
            <a:pathLst>
              <a:path w="2874565" h="831117">
                <a:moveTo>
                  <a:pt x="103034" y="0"/>
                </a:moveTo>
                <a:lnTo>
                  <a:pt x="2771531" y="0"/>
                </a:lnTo>
                <a:cubicBezTo>
                  <a:pt x="2828435" y="0"/>
                  <a:pt x="2874565" y="46130"/>
                  <a:pt x="2874565" y="103034"/>
                </a:cubicBezTo>
                <a:lnTo>
                  <a:pt x="2874565" y="728083"/>
                </a:lnTo>
                <a:cubicBezTo>
                  <a:pt x="2874565" y="784987"/>
                  <a:pt x="2828435" y="831117"/>
                  <a:pt x="2771531" y="831117"/>
                </a:cubicBezTo>
                <a:lnTo>
                  <a:pt x="103034" y="831117"/>
                </a:lnTo>
                <a:cubicBezTo>
                  <a:pt x="46168" y="831117"/>
                  <a:pt x="0" y="784949"/>
                  <a:pt x="0" y="728083"/>
                </a:cubicBezTo>
                <a:lnTo>
                  <a:pt x="0" y="103034"/>
                </a:lnTo>
                <a:cubicBezTo>
                  <a:pt x="0" y="46168"/>
                  <a:pt x="46168" y="0"/>
                  <a:pt x="103034" y="0"/>
                </a:cubicBezTo>
                <a:close/>
              </a:path>
            </a:pathLst>
          </a:custGeom>
          <a:solidFill>
            <a:srgbClr val="10B981">
              <a:alpha val="20000"/>
            </a:srgbClr>
          </a:solidFill>
          <a:ln w="10160">
            <a:solidFill>
              <a:srgbClr val="10B981">
                <a:alpha val="30196"/>
              </a:srgbClr>
            </a:solidFill>
            <a:prstDash val="solid"/>
          </a:ln>
        </p:spPr>
      </p:sp>
      <p:sp>
        <p:nvSpPr>
          <p:cNvPr id="30" name="Text 27"/>
          <p:cNvSpPr/>
          <p:nvPr/>
        </p:nvSpPr>
        <p:spPr>
          <a:xfrm>
            <a:off x="4900090" y="5675290"/>
            <a:ext cx="2395470" cy="240406"/>
          </a:xfrm>
          <a:prstGeom prst="rect">
            <a:avLst/>
          </a:prstGeom>
          <a:noFill/>
          <a:ln/>
        </p:spPr>
        <p:txBody>
          <a:bodyPr wrap="square" lIns="0" tIns="0" rIns="0" bIns="0" rtlCol="0" anchor="ctr"/>
          <a:lstStyle/>
          <a:p>
            <a:pPr algn="ctr">
              <a:lnSpc>
                <a:spcPct val="130000"/>
              </a:lnSpc>
            </a:pPr>
            <a:r>
              <a:rPr lang="en-US" sz="1217" b="1" dirty="0">
                <a:solidFill>
                  <a:srgbClr val="10B981"/>
                </a:solidFill>
                <a:latin typeface="Quattrocento Sans" pitchFamily="34" charset="0"/>
                <a:ea typeface="Quattrocento Sans" pitchFamily="34" charset="-122"/>
                <a:cs typeface="Quattrocento Sans" pitchFamily="34" charset="-120"/>
              </a:rPr>
              <a:t>Project Status</a:t>
            </a:r>
            <a:endParaRPr lang="en-US" sz="1600" dirty="0"/>
          </a:p>
        </p:txBody>
      </p:sp>
      <p:sp>
        <p:nvSpPr>
          <p:cNvPr id="31" name="Text 28"/>
          <p:cNvSpPr/>
          <p:nvPr/>
        </p:nvSpPr>
        <p:spPr>
          <a:xfrm>
            <a:off x="4887211" y="5950039"/>
            <a:ext cx="2421228" cy="274749"/>
          </a:xfrm>
          <a:prstGeom prst="rect">
            <a:avLst/>
          </a:prstGeom>
          <a:noFill/>
          <a:ln/>
        </p:spPr>
        <p:txBody>
          <a:bodyPr wrap="square" lIns="0" tIns="0" rIns="0" bIns="0" rtlCol="0" anchor="ctr"/>
          <a:lstStyle/>
          <a:p>
            <a:pPr algn="ctr">
              <a:lnSpc>
                <a:spcPct val="110000"/>
              </a:lnSpc>
            </a:pPr>
            <a:r>
              <a:rPr lang="en-US" sz="1623" b="1" dirty="0">
                <a:solidFill>
                  <a:srgbClr val="F1F5F9"/>
                </a:solidFill>
                <a:latin typeface="Quattrocento Sans" pitchFamily="34" charset="0"/>
                <a:ea typeface="Quattrocento Sans" pitchFamily="34" charset="-122"/>
                <a:cs typeface="Quattrocento Sans" pitchFamily="34" charset="-120"/>
              </a:rPr>
              <a:t>Ready for Implementation</a:t>
            </a:r>
            <a:endParaRPr lang="en-US" sz="1600" dirty="0"/>
          </a:p>
        </p:txBody>
      </p:sp>
      <p:sp>
        <p:nvSpPr>
          <p:cNvPr id="32" name="Shape 29"/>
          <p:cNvSpPr/>
          <p:nvPr/>
        </p:nvSpPr>
        <p:spPr>
          <a:xfrm>
            <a:off x="343437" y="6372364"/>
            <a:ext cx="11505127" cy="6869"/>
          </a:xfrm>
          <a:custGeom>
            <a:avLst/>
            <a:gdLst/>
            <a:ahLst/>
            <a:cxnLst/>
            <a:rect l="l" t="t" r="r" b="b"/>
            <a:pathLst>
              <a:path w="11505127" h="6869">
                <a:moveTo>
                  <a:pt x="0" y="0"/>
                </a:moveTo>
                <a:lnTo>
                  <a:pt x="11505127" y="0"/>
                </a:lnTo>
                <a:lnTo>
                  <a:pt x="11505127" y="6869"/>
                </a:lnTo>
                <a:lnTo>
                  <a:pt x="0" y="6869"/>
                </a:lnTo>
                <a:lnTo>
                  <a:pt x="0" y="0"/>
                </a:lnTo>
                <a:close/>
              </a:path>
            </a:pathLst>
          </a:custGeom>
          <a:solidFill>
            <a:srgbClr val="F1F5F9">
              <a:alpha val="20000"/>
            </a:srgbClr>
          </a:solidFill>
          <a:ln/>
        </p:spPr>
      </p:sp>
      <p:sp>
        <p:nvSpPr>
          <p:cNvPr id="33" name="Text 30"/>
          <p:cNvSpPr/>
          <p:nvPr/>
        </p:nvSpPr>
        <p:spPr>
          <a:xfrm>
            <a:off x="343437" y="6513172"/>
            <a:ext cx="2378299" cy="171718"/>
          </a:xfrm>
          <a:prstGeom prst="rect">
            <a:avLst/>
          </a:prstGeom>
          <a:noFill/>
          <a:ln/>
        </p:spPr>
        <p:txBody>
          <a:bodyPr wrap="square" lIns="0" tIns="0" rIns="0" bIns="0" rtlCol="0" anchor="ctr"/>
          <a:lstStyle/>
          <a:p>
            <a:pPr>
              <a:lnSpc>
                <a:spcPct val="120000"/>
              </a:lnSpc>
            </a:pPr>
            <a:r>
              <a:rPr lang="en-US" sz="946" b="1" dirty="0">
                <a:solidFill>
                  <a:srgbClr val="F1F5F9"/>
                </a:solidFill>
                <a:latin typeface="Quattrocento Sans" pitchFamily="34" charset="0"/>
                <a:ea typeface="Quattrocento Sans" pitchFamily="34" charset="-122"/>
                <a:cs typeface="Quattrocento Sans" pitchFamily="34" charset="-120"/>
              </a:rPr>
              <a:t>MediSeba Project</a:t>
            </a:r>
            <a:endParaRPr lang="en-US" sz="1600" dirty="0"/>
          </a:p>
        </p:txBody>
      </p:sp>
      <p:sp>
        <p:nvSpPr>
          <p:cNvPr id="34" name="Text 31"/>
          <p:cNvSpPr/>
          <p:nvPr/>
        </p:nvSpPr>
        <p:spPr>
          <a:xfrm>
            <a:off x="343437" y="6684890"/>
            <a:ext cx="2378299" cy="171718"/>
          </a:xfrm>
          <a:prstGeom prst="rect">
            <a:avLst/>
          </a:prstGeom>
          <a:noFill/>
          <a:ln/>
        </p:spPr>
        <p:txBody>
          <a:bodyPr wrap="square" lIns="0" tIns="0" rIns="0" bIns="0" rtlCol="0" anchor="ctr"/>
          <a:lstStyle/>
          <a:p>
            <a:pPr>
              <a:lnSpc>
                <a:spcPct val="120000"/>
              </a:lnSpc>
            </a:pPr>
            <a:r>
              <a:rPr lang="en-US" sz="946" dirty="0">
                <a:solidFill>
                  <a:srgbClr val="F1F5F9">
                    <a:alpha val="60000"/>
                  </a:srgbClr>
                </a:solidFill>
                <a:latin typeface="Quattrocento Sans" pitchFamily="34" charset="0"/>
                <a:ea typeface="Quattrocento Sans" pitchFamily="34" charset="-122"/>
                <a:cs typeface="Quattrocento Sans" pitchFamily="34" charset="-120"/>
              </a:rPr>
              <a:t>CSE312 – Database Management System Lab</a:t>
            </a:r>
            <a:endParaRPr lang="en-US" sz="1600" dirty="0"/>
          </a:p>
        </p:txBody>
      </p:sp>
      <p:sp>
        <p:nvSpPr>
          <p:cNvPr id="35" name="Text 32"/>
          <p:cNvSpPr/>
          <p:nvPr/>
        </p:nvSpPr>
        <p:spPr>
          <a:xfrm>
            <a:off x="10148982" y="6513172"/>
            <a:ext cx="1700011" cy="171718"/>
          </a:xfrm>
          <a:prstGeom prst="rect">
            <a:avLst/>
          </a:prstGeom>
          <a:noFill/>
          <a:ln/>
        </p:spPr>
        <p:txBody>
          <a:bodyPr wrap="square" lIns="0" tIns="0" rIns="0" bIns="0" rtlCol="0" anchor="ctr"/>
          <a:lstStyle/>
          <a:p>
            <a:pPr algn="r">
              <a:lnSpc>
                <a:spcPct val="120000"/>
              </a:lnSpc>
            </a:pPr>
            <a:endParaRPr lang="en-US" sz="1600" dirty="0"/>
          </a:p>
        </p:txBody>
      </p:sp>
      <p:sp>
        <p:nvSpPr>
          <p:cNvPr id="36" name="Text 33"/>
          <p:cNvSpPr/>
          <p:nvPr/>
        </p:nvSpPr>
        <p:spPr>
          <a:xfrm>
            <a:off x="10148982" y="6684890"/>
            <a:ext cx="1700011" cy="171718"/>
          </a:xfrm>
          <a:prstGeom prst="rect">
            <a:avLst/>
          </a:prstGeom>
          <a:noFill/>
          <a:ln/>
        </p:spPr>
        <p:txBody>
          <a:bodyPr wrap="square" lIns="0" tIns="0" rIns="0" bIns="0" rtlCol="0" anchor="ctr"/>
          <a:lstStyle/>
          <a:p>
            <a:pPr algn="r">
              <a:lnSpc>
                <a:spcPct val="120000"/>
              </a:lnSpc>
            </a:pPr>
            <a:endParaRPr lang="en-US" sz="1600" dirty="0"/>
          </a:p>
        </p:txBody>
      </p:sp>
      <p:pic>
        <p:nvPicPr>
          <p:cNvPr id="37" name="Picture 36">
            <a:extLst>
              <a:ext uri="{FF2B5EF4-FFF2-40B4-BE49-F238E27FC236}">
                <a16:creationId xmlns:a16="http://schemas.microsoft.com/office/drawing/2014/main" id="{15D5378D-247B-42A4-A42F-2553B6070BB8}"/>
              </a:ext>
            </a:extLst>
          </p:cNvPr>
          <p:cNvPicPr>
            <a:picLocks noChangeAspect="1"/>
          </p:cNvPicPr>
          <p:nvPr/>
        </p:nvPicPr>
        <p:blipFill>
          <a:blip r:embed="rId4"/>
          <a:stretch>
            <a:fillRect/>
          </a:stretch>
        </p:blipFill>
        <p:spPr>
          <a:xfrm>
            <a:off x="5675842" y="234083"/>
            <a:ext cx="816935" cy="1097375"/>
          </a:xfrm>
          <a:prstGeom prst="rect">
            <a:avLst/>
          </a:prstGeom>
        </p:spPr>
      </p:pic>
      <p:sp>
        <p:nvSpPr>
          <p:cNvPr id="39" name="TextBox 38">
            <a:extLst>
              <a:ext uri="{FF2B5EF4-FFF2-40B4-BE49-F238E27FC236}">
                <a16:creationId xmlns:a16="http://schemas.microsoft.com/office/drawing/2014/main" id="{6A761605-1B2D-418C-A912-D54C41825F27}"/>
              </a:ext>
            </a:extLst>
          </p:cNvPr>
          <p:cNvSpPr txBox="1"/>
          <p:nvPr/>
        </p:nvSpPr>
        <p:spPr>
          <a:xfrm>
            <a:off x="11722995" y="6414365"/>
            <a:ext cx="457200"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11</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TotalTime>
  <Words>950</Words>
  <Application>Microsoft Office PowerPoint</Application>
  <PresentationFormat>Widescreen</PresentationFormat>
  <Paragraphs>274</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Quattrocento Sans</vt:lpstr>
      <vt:lpstr>Calibri</vt:lpstr>
      <vt:lpstr>Liter</vt:lpstr>
      <vt:lpstr>Times New Roman</vt:lpstr>
      <vt:lpstr>Custom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MediSeba – Database Management System Project</dc:title>
  <dc:subject>MediSeba – Database Management System Project</dc:subject>
  <dc:creator>Kimi</dc:creator>
  <cp:lastModifiedBy>Emon Hossain</cp:lastModifiedBy>
  <cp:revision>3</cp:revision>
  <dcterms:created xsi:type="dcterms:W3CDTF">2026-03-11T19:38:27Z</dcterms:created>
  <dcterms:modified xsi:type="dcterms:W3CDTF">2026-03-14T22:43:12Z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{"Label":"MediSeba – Database Management System Project","ContentProducer":"001191110108MACG2KBH8F10000","ProduceID":"19cde66b-2362-84a9-8000-000094e4cbec","ReservedCode1":"","ContentPropagator":"001191110108MACG2KBH8F20000","PropagateID":"19cde66b-2362-84a9-8000-000094e4cbec","ReservedCode2":""}</vt:lpwstr>
  </property>
</Properties>
</file>